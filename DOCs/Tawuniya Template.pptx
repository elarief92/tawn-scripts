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2"/>
  </p:sldMasterIdLst>
  <p:notesMasterIdLst>
    <p:notesMasterId r:id="rId8"/>
  </p:notesMasterIdLst>
  <p:sldIdLst>
    <p:sldId id="256" r:id="rId3"/>
    <p:sldId id="267" r:id="rId4"/>
    <p:sldId id="271" r:id="rId5"/>
    <p:sldId id="272" r:id="rId6"/>
    <p:sldId id="262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1" userDrawn="1">
          <p15:clr>
            <a:srgbClr val="A4A3A4"/>
          </p15:clr>
        </p15:guide>
        <p15:guide id="2" pos="2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9D64"/>
    <a:srgbClr val="C74C4C"/>
    <a:srgbClr val="E6961C"/>
    <a:srgbClr val="325DCC"/>
    <a:srgbClr val="D6D1ED"/>
    <a:srgbClr val="8F73F2"/>
    <a:srgbClr val="6B47F5"/>
    <a:srgbClr val="8780F2"/>
    <a:srgbClr val="FFC7A0"/>
    <a:srgbClr val="FF7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6" autoAdjust="0"/>
    <p:restoredTop sz="94207" autoAdjust="0"/>
  </p:normalViewPr>
  <p:slideViewPr>
    <p:cSldViewPr showGuides="1">
      <p:cViewPr varScale="1">
        <p:scale>
          <a:sx n="71" d="100"/>
          <a:sy n="71" d="100"/>
        </p:scale>
        <p:origin x="666" y="72"/>
      </p:cViewPr>
      <p:guideLst>
        <p:guide orient="horz" pos="2201"/>
        <p:guide pos="29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Submitted</c:v>
                </c:pt>
              </c:strCache>
            </c:strRef>
          </c:tx>
          <c:spPr>
            <a:solidFill>
              <a:srgbClr val="169D64"/>
            </a:solidFill>
            <a:ln>
              <a:noFill/>
            </a:ln>
            <a:effectLst/>
          </c:spPr>
          <c:invertIfNegative val="0"/>
          <c:cat>
            <c:strRef>
              <c:f>Sheet1!$A$2:$A$18</c:f>
              <c:strCache>
                <c:ptCount val="17"/>
                <c:pt idx="0">
                  <c:v>Quality Control</c:v>
                </c:pt>
                <c:pt idx="1">
                  <c:v>AD Integration</c:v>
                </c:pt>
                <c:pt idx="2">
                  <c:v>DevOps</c:v>
                </c:pt>
                <c:pt idx="3">
                  <c:v>Jira Team</c:v>
                </c:pt>
                <c:pt idx="4">
                  <c:v>AD Mobility</c:v>
                </c:pt>
                <c:pt idx="5">
                  <c:v>AD Enterprise</c:v>
                </c:pt>
                <c:pt idx="6">
                  <c:v>AD General</c:v>
                </c:pt>
                <c:pt idx="7">
                  <c:v>AD CRM</c:v>
                </c:pt>
                <c:pt idx="8">
                  <c:v>AD Health</c:v>
                </c:pt>
                <c:pt idx="9">
                  <c:v>Business &amp; Project Manag.</c:v>
                </c:pt>
                <c:pt idx="10">
                  <c:v>DD Mobile</c:v>
                </c:pt>
                <c:pt idx="11">
                  <c:v>DD Website</c:v>
                </c:pt>
                <c:pt idx="12">
                  <c:v>DD Portals</c:v>
                </c:pt>
                <c:pt idx="13">
                  <c:v>DD Sharepoint</c:v>
                </c:pt>
                <c:pt idx="14">
                  <c:v>BI Team</c:v>
                </c:pt>
                <c:pt idx="15">
                  <c:v>FileNet Team</c:v>
                </c:pt>
                <c:pt idx="16">
                  <c:v>None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8</c:v>
                </c:pt>
                <c:pt idx="1">
                  <c:v>332</c:v>
                </c:pt>
                <c:pt idx="2">
                  <c:v>0</c:v>
                </c:pt>
                <c:pt idx="3">
                  <c:v>0</c:v>
                </c:pt>
                <c:pt idx="4">
                  <c:v>96</c:v>
                </c:pt>
                <c:pt idx="5">
                  <c:v>78</c:v>
                </c:pt>
                <c:pt idx="6">
                  <c:v>179</c:v>
                </c:pt>
                <c:pt idx="7">
                  <c:v>68</c:v>
                </c:pt>
                <c:pt idx="8">
                  <c:v>195</c:v>
                </c:pt>
                <c:pt idx="9">
                  <c:v>276</c:v>
                </c:pt>
                <c:pt idx="10">
                  <c:v>53</c:v>
                </c:pt>
                <c:pt idx="11">
                  <c:v>65</c:v>
                </c:pt>
                <c:pt idx="12">
                  <c:v>3</c:v>
                </c:pt>
                <c:pt idx="13">
                  <c:v>3</c:v>
                </c:pt>
                <c:pt idx="14">
                  <c:v>8</c:v>
                </c:pt>
                <c:pt idx="15">
                  <c:v>14</c:v>
                </c:pt>
                <c:pt idx="16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17-4543-8389-F7DCBB80B1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Withdrawn</c:v>
                </c:pt>
              </c:strCache>
            </c:strRef>
          </c:tx>
          <c:spPr>
            <a:solidFill>
              <a:srgbClr val="325DCC"/>
            </a:solidFill>
            <a:ln>
              <a:noFill/>
            </a:ln>
            <a:effectLst/>
          </c:spPr>
          <c:invertIfNegative val="0"/>
          <c:cat>
            <c:strRef>
              <c:f>Sheet1!$A$2:$A$18</c:f>
              <c:strCache>
                <c:ptCount val="17"/>
                <c:pt idx="0">
                  <c:v>Quality Control</c:v>
                </c:pt>
                <c:pt idx="1">
                  <c:v>AD Integration</c:v>
                </c:pt>
                <c:pt idx="2">
                  <c:v>DevOps</c:v>
                </c:pt>
                <c:pt idx="3">
                  <c:v>Jira Team</c:v>
                </c:pt>
                <c:pt idx="4">
                  <c:v>AD Mobility</c:v>
                </c:pt>
                <c:pt idx="5">
                  <c:v>AD Enterprise</c:v>
                </c:pt>
                <c:pt idx="6">
                  <c:v>AD General</c:v>
                </c:pt>
                <c:pt idx="7">
                  <c:v>AD CRM</c:v>
                </c:pt>
                <c:pt idx="8">
                  <c:v>AD Health</c:v>
                </c:pt>
                <c:pt idx="9">
                  <c:v>Business &amp; Project Manag.</c:v>
                </c:pt>
                <c:pt idx="10">
                  <c:v>DD Mobile</c:v>
                </c:pt>
                <c:pt idx="11">
                  <c:v>DD Website</c:v>
                </c:pt>
                <c:pt idx="12">
                  <c:v>DD Portals</c:v>
                </c:pt>
                <c:pt idx="13">
                  <c:v>DD Sharepoint</c:v>
                </c:pt>
                <c:pt idx="14">
                  <c:v>BI Team</c:v>
                </c:pt>
                <c:pt idx="15">
                  <c:v>FileNet Team</c:v>
                </c:pt>
                <c:pt idx="16">
                  <c:v>None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6</c:v>
                </c:pt>
                <c:pt idx="1">
                  <c:v>62</c:v>
                </c:pt>
                <c:pt idx="2">
                  <c:v>0</c:v>
                </c:pt>
                <c:pt idx="3">
                  <c:v>20</c:v>
                </c:pt>
                <c:pt idx="4">
                  <c:v>4</c:v>
                </c:pt>
                <c:pt idx="5">
                  <c:v>0</c:v>
                </c:pt>
                <c:pt idx="6">
                  <c:v>0</c:v>
                </c:pt>
                <c:pt idx="7">
                  <c:v>5</c:v>
                </c:pt>
                <c:pt idx="8">
                  <c:v>1</c:v>
                </c:pt>
                <c:pt idx="9">
                  <c:v>4</c:v>
                </c:pt>
                <c:pt idx="10">
                  <c:v>1</c:v>
                </c:pt>
                <c:pt idx="11">
                  <c:v>12</c:v>
                </c:pt>
                <c:pt idx="12">
                  <c:v>24</c:v>
                </c:pt>
                <c:pt idx="13">
                  <c:v>6</c:v>
                </c:pt>
                <c:pt idx="14">
                  <c:v>0</c:v>
                </c:pt>
                <c:pt idx="15">
                  <c:v>2</c:v>
                </c:pt>
                <c:pt idx="1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17-4543-8389-F7DCBB80B1B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Violated</c:v>
                </c:pt>
              </c:strCache>
            </c:strRef>
          </c:tx>
          <c:spPr>
            <a:solidFill>
              <a:srgbClr val="C74C4C"/>
            </a:solidFill>
            <a:ln>
              <a:noFill/>
            </a:ln>
            <a:effectLst/>
          </c:spPr>
          <c:invertIfNegative val="0"/>
          <c:cat>
            <c:strRef>
              <c:f>Sheet1!$A$2:$A$18</c:f>
              <c:strCache>
                <c:ptCount val="17"/>
                <c:pt idx="0">
                  <c:v>Quality Control</c:v>
                </c:pt>
                <c:pt idx="1">
                  <c:v>AD Integration</c:v>
                </c:pt>
                <c:pt idx="2">
                  <c:v>DevOps</c:v>
                </c:pt>
                <c:pt idx="3">
                  <c:v>Jira Team</c:v>
                </c:pt>
                <c:pt idx="4">
                  <c:v>AD Mobility</c:v>
                </c:pt>
                <c:pt idx="5">
                  <c:v>AD Enterprise</c:v>
                </c:pt>
                <c:pt idx="6">
                  <c:v>AD General</c:v>
                </c:pt>
                <c:pt idx="7">
                  <c:v>AD CRM</c:v>
                </c:pt>
                <c:pt idx="8">
                  <c:v>AD Health</c:v>
                </c:pt>
                <c:pt idx="9">
                  <c:v>Business &amp; Project Manag.</c:v>
                </c:pt>
                <c:pt idx="10">
                  <c:v>DD Mobile</c:v>
                </c:pt>
                <c:pt idx="11">
                  <c:v>DD Website</c:v>
                </c:pt>
                <c:pt idx="12">
                  <c:v>DD Portals</c:v>
                </c:pt>
                <c:pt idx="13">
                  <c:v>DD Sharepoint</c:v>
                </c:pt>
                <c:pt idx="14">
                  <c:v>BI Team</c:v>
                </c:pt>
                <c:pt idx="15">
                  <c:v>FileNet Team</c:v>
                </c:pt>
                <c:pt idx="16">
                  <c:v>None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362</c:v>
                </c:pt>
                <c:pt idx="1">
                  <c:v>181</c:v>
                </c:pt>
                <c:pt idx="2">
                  <c:v>6</c:v>
                </c:pt>
                <c:pt idx="3">
                  <c:v>12</c:v>
                </c:pt>
                <c:pt idx="4">
                  <c:v>24</c:v>
                </c:pt>
                <c:pt idx="5">
                  <c:v>32</c:v>
                </c:pt>
                <c:pt idx="6">
                  <c:v>108</c:v>
                </c:pt>
                <c:pt idx="7">
                  <c:v>21</c:v>
                </c:pt>
                <c:pt idx="8">
                  <c:v>56</c:v>
                </c:pt>
                <c:pt idx="9">
                  <c:v>92</c:v>
                </c:pt>
                <c:pt idx="10">
                  <c:v>10</c:v>
                </c:pt>
                <c:pt idx="11">
                  <c:v>19</c:v>
                </c:pt>
                <c:pt idx="12">
                  <c:v>1</c:v>
                </c:pt>
                <c:pt idx="13">
                  <c:v>1</c:v>
                </c:pt>
                <c:pt idx="14">
                  <c:v>2</c:v>
                </c:pt>
                <c:pt idx="15">
                  <c:v>5</c:v>
                </c:pt>
                <c:pt idx="1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17-4543-8389-F7DCBB80B1B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Objected</c:v>
                </c:pt>
              </c:strCache>
            </c:strRef>
          </c:tx>
          <c:spPr>
            <a:solidFill>
              <a:srgbClr val="E6961C"/>
            </a:solidFill>
            <a:ln>
              <a:noFill/>
            </a:ln>
            <a:effectLst/>
          </c:spPr>
          <c:invertIfNegative val="0"/>
          <c:cat>
            <c:strRef>
              <c:f>Sheet1!$A$2:$A$18</c:f>
              <c:strCache>
                <c:ptCount val="17"/>
                <c:pt idx="0">
                  <c:v>Quality Control</c:v>
                </c:pt>
                <c:pt idx="1">
                  <c:v>AD Integration</c:v>
                </c:pt>
                <c:pt idx="2">
                  <c:v>DevOps</c:v>
                </c:pt>
                <c:pt idx="3">
                  <c:v>Jira Team</c:v>
                </c:pt>
                <c:pt idx="4">
                  <c:v>AD Mobility</c:v>
                </c:pt>
                <c:pt idx="5">
                  <c:v>AD Enterprise</c:v>
                </c:pt>
                <c:pt idx="6">
                  <c:v>AD General</c:v>
                </c:pt>
                <c:pt idx="7">
                  <c:v>AD CRM</c:v>
                </c:pt>
                <c:pt idx="8">
                  <c:v>AD Health</c:v>
                </c:pt>
                <c:pt idx="9">
                  <c:v>Business &amp; Project Manag.</c:v>
                </c:pt>
                <c:pt idx="10">
                  <c:v>DD Mobile</c:v>
                </c:pt>
                <c:pt idx="11">
                  <c:v>DD Website</c:v>
                </c:pt>
                <c:pt idx="12">
                  <c:v>DD Portals</c:v>
                </c:pt>
                <c:pt idx="13">
                  <c:v>DD Sharepoint</c:v>
                </c:pt>
                <c:pt idx="14">
                  <c:v>BI Team</c:v>
                </c:pt>
                <c:pt idx="15">
                  <c:v>FileNet Team</c:v>
                </c:pt>
                <c:pt idx="16">
                  <c:v>None</c:v>
                </c:pt>
              </c:strCache>
            </c:strRef>
          </c:cat>
          <c:val>
            <c:numRef>
              <c:f>Sheet1!$E$2:$E$18</c:f>
              <c:numCache>
                <c:formatCode>General</c:formatCode>
                <c:ptCount val="17"/>
                <c:pt idx="0">
                  <c:v>0</c:v>
                </c:pt>
                <c:pt idx="1">
                  <c:v>10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6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417-4543-8389-F7DCBB80B1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9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t"/>
        <c:numFmt formatCode="General" sourceLinked="0"/>
        <c:majorTickMark val="none"/>
        <c:minorTickMark val="none"/>
        <c:tickLblPos val="low"/>
        <c:crossAx val="-2113994440"/>
        <c:crosses val="max"/>
        <c:auto val="0"/>
        <c:lblAlgn val="ctr"/>
        <c:lblOffset val="10"/>
        <c:noMultiLvlLbl val="0"/>
      </c:catAx>
      <c:valAx>
        <c:axId val="-2113994440"/>
        <c:scaling>
          <c:orientation val="minMax"/>
          <c:max val="6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206802733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400" b="0" i="0" u="none" strike="noStrike" kern="12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4194f20-feb4-482b-96b9-30f24c838bfc}"/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Created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Aug-25</c:v>
                </c:pt>
                <c:pt idx="1">
                  <c:v>Sep-25</c:v>
                </c:pt>
                <c:pt idx="2">
                  <c:v>Oct-25</c:v>
                </c:pt>
                <c:pt idx="3">
                  <c:v>Nov-25</c:v>
                </c:pt>
                <c:pt idx="4">
                  <c:v>Dec-25</c:v>
                </c:pt>
                <c:pt idx="5">
                  <c:v>Jan-26</c:v>
                </c:pt>
                <c:pt idx="6">
                  <c:v>Feb-26</c:v>
                </c:pt>
                <c:pt idx="7">
                  <c:v>Mar-26</c:v>
                </c:pt>
                <c:pt idx="8">
                  <c:v>Apr-26</c:v>
                </c:pt>
                <c:pt idx="9">
                  <c:v>May-26</c:v>
                </c:pt>
                <c:pt idx="10">
                  <c:v>Jun-26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74</c:v>
                </c:pt>
                <c:pt idx="1">
                  <c:v>328</c:v>
                </c:pt>
                <c:pt idx="2">
                  <c:v>159</c:v>
                </c:pt>
                <c:pt idx="3">
                  <c:v>249</c:v>
                </c:pt>
                <c:pt idx="4">
                  <c:v>179</c:v>
                </c:pt>
                <c:pt idx="5">
                  <c:v>292</c:v>
                </c:pt>
                <c:pt idx="6">
                  <c:v>271</c:v>
                </c:pt>
                <c:pt idx="7">
                  <c:v>221</c:v>
                </c:pt>
                <c:pt idx="8">
                  <c:v>358</c:v>
                </c:pt>
                <c:pt idx="9">
                  <c:v>251</c:v>
                </c:pt>
                <c:pt idx="10">
                  <c:v>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06-4F3B-8AEE-FDBB160BB2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Resolved </c:v>
                </c:pt>
              </c:strCache>
            </c:strRef>
          </c:tx>
          <c:spPr>
            <a:solidFill>
              <a:srgbClr val="169D6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Aug-25</c:v>
                </c:pt>
                <c:pt idx="1">
                  <c:v>Sep-25</c:v>
                </c:pt>
                <c:pt idx="2">
                  <c:v>Oct-25</c:v>
                </c:pt>
                <c:pt idx="3">
                  <c:v>Nov-25</c:v>
                </c:pt>
                <c:pt idx="4">
                  <c:v>Dec-25</c:v>
                </c:pt>
                <c:pt idx="5">
                  <c:v>Jan-26</c:v>
                </c:pt>
                <c:pt idx="6">
                  <c:v>Feb-26</c:v>
                </c:pt>
                <c:pt idx="7">
                  <c:v>Mar-26</c:v>
                </c:pt>
                <c:pt idx="8">
                  <c:v>Apr-26</c:v>
                </c:pt>
                <c:pt idx="9">
                  <c:v>May-26</c:v>
                </c:pt>
                <c:pt idx="10">
                  <c:v>Jun-26</c:v>
                </c:pt>
              </c:strCache>
            </c:strRef>
          </c:cat>
          <c:val>
            <c:numRef>
              <c:f>Sheet1!$C$2:$C$12</c:f>
              <c:numCache>
                <c:formatCode>@</c:formatCode>
                <c:ptCount val="11"/>
                <c:pt idx="0">
                  <c:v>74</c:v>
                </c:pt>
                <c:pt idx="1">
                  <c:v>271</c:v>
                </c:pt>
                <c:pt idx="2">
                  <c:v>139</c:v>
                </c:pt>
                <c:pt idx="3">
                  <c:v>54</c:v>
                </c:pt>
                <c:pt idx="4">
                  <c:v>78</c:v>
                </c:pt>
                <c:pt idx="5">
                  <c:v>119</c:v>
                </c:pt>
                <c:pt idx="6">
                  <c:v>91</c:v>
                </c:pt>
                <c:pt idx="7">
                  <c:v>82</c:v>
                </c:pt>
                <c:pt idx="8">
                  <c:v>87</c:v>
                </c:pt>
                <c:pt idx="9">
                  <c:v>72</c:v>
                </c:pt>
                <c:pt idx="1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BD-4B63-9517-295EEC7650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UnResolved </c:v>
                </c:pt>
              </c:strCache>
            </c:strRef>
          </c:tx>
          <c:spPr>
            <a:solidFill>
              <a:srgbClr val="C74C4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Aug-25</c:v>
                </c:pt>
                <c:pt idx="1">
                  <c:v>Sep-25</c:v>
                </c:pt>
                <c:pt idx="2">
                  <c:v>Oct-25</c:v>
                </c:pt>
                <c:pt idx="3">
                  <c:v>Nov-25</c:v>
                </c:pt>
                <c:pt idx="4">
                  <c:v>Dec-25</c:v>
                </c:pt>
                <c:pt idx="5">
                  <c:v>Jan-26</c:v>
                </c:pt>
                <c:pt idx="6">
                  <c:v>Feb-26</c:v>
                </c:pt>
                <c:pt idx="7">
                  <c:v>Mar-26</c:v>
                </c:pt>
                <c:pt idx="8">
                  <c:v>Apr-26</c:v>
                </c:pt>
                <c:pt idx="9">
                  <c:v>May-26</c:v>
                </c:pt>
                <c:pt idx="10">
                  <c:v>Jun-26</c:v>
                </c:pt>
              </c:strCache>
            </c:strRef>
          </c:cat>
          <c:val>
            <c:numRef>
              <c:f>Sheet1!$D$2:$D$12</c:f>
              <c:numCache>
                <c:formatCode>@</c:formatCode>
                <c:ptCount val="11"/>
                <c:pt idx="1">
                  <c:v>57</c:v>
                </c:pt>
                <c:pt idx="2">
                  <c:v>20</c:v>
                </c:pt>
                <c:pt idx="3">
                  <c:v>195</c:v>
                </c:pt>
                <c:pt idx="4">
                  <c:v>101</c:v>
                </c:pt>
                <c:pt idx="5">
                  <c:v>173</c:v>
                </c:pt>
                <c:pt idx="6">
                  <c:v>180</c:v>
                </c:pt>
                <c:pt idx="7">
                  <c:v>139</c:v>
                </c:pt>
                <c:pt idx="8">
                  <c:v>271</c:v>
                </c:pt>
                <c:pt idx="9">
                  <c:v>179</c:v>
                </c:pt>
                <c:pt idx="10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BD-4B63-9517-295EEC7650F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1342763280"/>
        <c:axId val="1342755120"/>
      </c:barChart>
      <c:catAx>
        <c:axId val="13427632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2755120"/>
        <c:crosses val="autoZero"/>
        <c:auto val="1"/>
        <c:lblAlgn val="ctr"/>
        <c:lblOffset val="100"/>
        <c:noMultiLvlLbl val="0"/>
      </c:catAx>
      <c:valAx>
        <c:axId val="1342755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2763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 b="1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CB5D5-E095-42EC-B8C1-D73AD4D7C4A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21DA3-7E7F-4364-BD8C-E18967705E5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7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E2C79">
                <a:alpha val="100000"/>
              </a:srgbClr>
            </a:gs>
            <a:gs pos="50000">
              <a:srgbClr val="9A84DC">
                <a:alpha val="100000"/>
              </a:srgbClr>
            </a:gs>
            <a:gs pos="100000">
              <a:srgbClr val="8F73F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6930" y="195887"/>
            <a:ext cx="3503507" cy="1052269"/>
          </a:xfrm>
          <a:custGeom>
            <a:avLst/>
            <a:gdLst/>
            <a:ahLst/>
            <a:cxnLst/>
            <a:rect l="l" t="t" r="r" b="b"/>
            <a:pathLst>
              <a:path w="3503507" h="1052269">
                <a:moveTo>
                  <a:pt x="0" y="0"/>
                </a:moveTo>
                <a:lnTo>
                  <a:pt x="3503507" y="0"/>
                </a:lnTo>
                <a:lnTo>
                  <a:pt x="3503507" y="1052269"/>
                </a:lnTo>
                <a:lnTo>
                  <a:pt x="0" y="10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" y="3289685"/>
            <a:ext cx="964662" cy="964662"/>
          </a:xfrm>
          <a:custGeom>
            <a:avLst/>
            <a:gdLst/>
            <a:ahLst/>
            <a:cxnLst/>
            <a:rect l="l" t="t" r="r" b="b"/>
            <a:pathLst>
              <a:path w="964662" h="964662">
                <a:moveTo>
                  <a:pt x="0" y="0"/>
                </a:moveTo>
                <a:lnTo>
                  <a:pt x="964662" y="0"/>
                </a:lnTo>
                <a:lnTo>
                  <a:pt x="964662" y="964662"/>
                </a:lnTo>
                <a:lnTo>
                  <a:pt x="0" y="964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>
              <a:latin typeface="+mj-lt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2587519" y="0"/>
            <a:ext cx="5690956" cy="10287000"/>
            <a:chOff x="0" y="0"/>
            <a:chExt cx="7631832" cy="13795338"/>
          </a:xfrm>
        </p:grpSpPr>
        <p:sp>
          <p:nvSpPr>
            <p:cNvPr id="5" name="Freeform 5" descr="Image"/>
            <p:cNvSpPr/>
            <p:nvPr/>
          </p:nvSpPr>
          <p:spPr>
            <a:xfrm>
              <a:off x="0" y="0"/>
              <a:ext cx="7631811" cy="13795375"/>
            </a:xfrm>
            <a:custGeom>
              <a:avLst/>
              <a:gdLst/>
              <a:ahLst/>
              <a:cxnLst/>
              <a:rect l="l" t="t" r="r" b="b"/>
              <a:pathLst>
                <a:path w="7631811" h="13795375">
                  <a:moveTo>
                    <a:pt x="0" y="0"/>
                  </a:moveTo>
                  <a:lnTo>
                    <a:pt x="7631811" y="0"/>
                  </a:lnTo>
                  <a:lnTo>
                    <a:pt x="7631811" y="13795375"/>
                  </a:lnTo>
                  <a:lnTo>
                    <a:pt x="0" y="13795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b="-74"/>
              </a:stretch>
            </a:blipFill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65734" y="4448175"/>
            <a:ext cx="6506666" cy="23852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1" dirty="0">
                <a:solidFill>
                  <a:srgbClr val="FFFFFF"/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SonarQube Implementation Report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69462" y="6833443"/>
            <a:ext cx="1447800" cy="288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sz="1890" b="1" dirty="0">
                <a:solidFill>
                  <a:srgbClr val="FFFFFF">
                    <a:alpha val="68627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10/06/2026</a:t>
            </a:r>
          </a:p>
        </p:txBody>
      </p:sp>
      <p:sp>
        <p:nvSpPr>
          <p:cNvPr id="8" name="GTBClassificationH1190887526"/>
          <p:cNvSpPr txBox="1"/>
          <p:nvPr/>
        </p:nvSpPr>
        <p:spPr>
          <a:xfrm>
            <a:off x="0" y="0"/>
            <a:ext cx="18288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dirty="0">
                <a:solidFill>
                  <a:srgbClr val="000000">
                    <a:alpha val="70000"/>
                  </a:srgbClr>
                </a:solidFill>
                <a:latin typeface="+mj-lt"/>
              </a:rPr>
              <a:t>Classification:</a:t>
            </a:r>
            <a:r>
              <a:rPr lang="en-US" sz="1400" dirty="0">
                <a:solidFill>
                  <a:srgbClr val="000000">
                    <a:alpha val="70000"/>
                  </a:srgbClr>
                </a:solidFill>
                <a:latin typeface="+mj-lt"/>
              </a:rPr>
              <a:t> </a:t>
            </a:r>
            <a:r>
              <a:rPr lang="en-US" sz="1400" b="1" dirty="0">
                <a:solidFill>
                  <a:srgbClr val="6A1B9A">
                    <a:alpha val="70000"/>
                  </a:srgbClr>
                </a:solidFill>
                <a:latin typeface="+mj-lt"/>
              </a:rPr>
              <a:t>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6550704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DIGITAL &amp; TECHNOLOGY COMMITTEE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329045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A1A5C8"/>
                </a:solidFill>
                <a:latin typeface="Aptos Display" pitchFamily="34" charset="0"/>
              </a:rPr>
              <a:t>VIOLATION</a:t>
            </a:r>
            <a:r>
              <a:rPr sz="2400" b="1" dirty="0">
                <a:solidFill>
                  <a:srgbClr val="A1A5C8"/>
                </a:solidFill>
                <a:latin typeface="Aptos Display" pitchFamily="34" charset="0"/>
              </a:rPr>
              <a:t> DASHBOARD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3117850"/>
            <a:ext cx="16623411" cy="674143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1152525" y="3390900"/>
            <a:ext cx="3461385" cy="2273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i="0" dirty="0">
                <a:solidFill>
                  <a:srgbClr val="172B4D"/>
                </a:solidFill>
                <a:effectLst/>
                <a:latin typeface="-apple-system"/>
              </a:rPr>
              <a:t>Violation</a:t>
            </a:r>
            <a:r>
              <a:rPr sz="2000" b="1" dirty="0">
                <a:solidFill>
                  <a:srgbClr val="2D2B46"/>
                </a:solidFill>
                <a:latin typeface="Aptos"/>
              </a:rPr>
              <a:t> by </a:t>
            </a:r>
            <a:r>
              <a:rPr lang="en-US" sz="2000" b="1" dirty="0">
                <a:solidFill>
                  <a:srgbClr val="2D2B46"/>
                </a:solidFill>
                <a:latin typeface="Aptos"/>
              </a:rPr>
              <a:t>assigning team</a:t>
            </a:r>
            <a:endParaRPr sz="2000" b="1" dirty="0">
              <a:solidFill>
                <a:srgbClr val="2D2B46"/>
              </a:solidFill>
              <a:latin typeface="Aptos"/>
            </a:endParaRPr>
          </a:p>
        </p:txBody>
      </p:sp>
      <p:graphicFrame>
        <p:nvGraphicFramePr>
          <p:cNvPr id="40" name="Chart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608598"/>
              </p:ext>
            </p:extLst>
          </p:nvPr>
        </p:nvGraphicFramePr>
        <p:xfrm>
          <a:off x="1088390" y="3973830"/>
          <a:ext cx="16132810" cy="5665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B6618BF4-2208-F633-1450-A4C9A7845C79}"/>
              </a:ext>
            </a:extLst>
          </p:cNvPr>
          <p:cNvGrpSpPr/>
          <p:nvPr/>
        </p:nvGrpSpPr>
        <p:grpSpPr>
          <a:xfrm>
            <a:off x="3697894" y="1566633"/>
            <a:ext cx="1853565" cy="1216025"/>
            <a:chOff x="990600" y="1729105"/>
            <a:chExt cx="1853565" cy="1216025"/>
          </a:xfrm>
        </p:grpSpPr>
        <p:sp>
          <p:nvSpPr>
            <p:cNvPr id="205" name="Rounded Rectangle 204"/>
            <p:cNvSpPr/>
            <p:nvPr/>
          </p:nvSpPr>
          <p:spPr>
            <a:xfrm>
              <a:off x="990600" y="1729105"/>
              <a:ext cx="1853565" cy="1216025"/>
            </a:xfrm>
            <a:prstGeom prst="roundRect">
              <a:avLst/>
            </a:prstGeom>
            <a:solidFill>
              <a:srgbClr val="F7F7FC"/>
            </a:solidFill>
            <a:ln w="7620">
              <a:solidFill>
                <a:srgbClr val="E5E5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/>
            </a:p>
          </p:txBody>
        </p:sp>
        <p:sp>
          <p:nvSpPr>
            <p:cNvPr id="206" name="TextBox 9"/>
            <p:cNvSpPr txBox="1"/>
            <p:nvPr/>
          </p:nvSpPr>
          <p:spPr>
            <a:xfrm>
              <a:off x="1210310" y="1948180"/>
              <a:ext cx="154686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400" b="1" dirty="0">
                  <a:solidFill>
                    <a:srgbClr val="707491"/>
                  </a:solidFill>
                  <a:latin typeface="Aptos"/>
                </a:rPr>
                <a:t>Total </a:t>
              </a:r>
              <a:r>
                <a:rPr lang="en-US" sz="1400" b="1" dirty="0">
                  <a:solidFill>
                    <a:srgbClr val="707491"/>
                  </a:solidFill>
                  <a:latin typeface="Aptos"/>
                </a:rPr>
                <a:t>Violations</a:t>
              </a:r>
              <a:endParaRPr sz="1400" b="1" dirty="0">
                <a:solidFill>
                  <a:srgbClr val="707491"/>
                </a:solidFill>
                <a:latin typeface="Aptos"/>
              </a:endParaRPr>
            </a:p>
          </p:txBody>
        </p:sp>
        <p:sp>
          <p:nvSpPr>
            <p:cNvPr id="207" name="TextBox 10"/>
            <p:cNvSpPr txBox="1"/>
            <p:nvPr/>
          </p:nvSpPr>
          <p:spPr>
            <a:xfrm>
              <a:off x="1210183" y="2166366"/>
              <a:ext cx="1396275" cy="5539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6F51EB"/>
                  </a:solidFill>
                  <a:latin typeface="Aptos"/>
                </a:rPr>
                <a:t>2490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167D0D5-0748-D496-F144-81267CA9214C}"/>
              </a:ext>
            </a:extLst>
          </p:cNvPr>
          <p:cNvGrpSpPr/>
          <p:nvPr/>
        </p:nvGrpSpPr>
        <p:grpSpPr>
          <a:xfrm>
            <a:off x="6067714" y="1566633"/>
            <a:ext cx="1853565" cy="1216025"/>
            <a:chOff x="3360420" y="1729105"/>
            <a:chExt cx="1853565" cy="1216025"/>
          </a:xfrm>
        </p:grpSpPr>
        <p:sp>
          <p:nvSpPr>
            <p:cNvPr id="209" name="Rounded Rectangle 208"/>
            <p:cNvSpPr/>
            <p:nvPr/>
          </p:nvSpPr>
          <p:spPr>
            <a:xfrm>
              <a:off x="3360420" y="1729105"/>
              <a:ext cx="1853565" cy="1216025"/>
            </a:xfrm>
            <a:prstGeom prst="roundRect">
              <a:avLst/>
            </a:prstGeom>
            <a:solidFill>
              <a:srgbClr val="F7F7FC"/>
            </a:solidFill>
            <a:ln w="7620">
              <a:solidFill>
                <a:srgbClr val="E5E5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/>
            </a:p>
          </p:txBody>
        </p:sp>
        <p:sp>
          <p:nvSpPr>
            <p:cNvPr id="210" name="TextBox 13"/>
            <p:cNvSpPr txBox="1"/>
            <p:nvPr/>
          </p:nvSpPr>
          <p:spPr>
            <a:xfrm>
              <a:off x="3580130" y="1948180"/>
              <a:ext cx="150876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707491"/>
                  </a:solidFill>
                  <a:latin typeface="Aptos"/>
                </a:rPr>
                <a:t>Submitted</a:t>
              </a:r>
              <a:endParaRPr sz="1400" b="1" dirty="0">
                <a:solidFill>
                  <a:srgbClr val="707491"/>
                </a:solidFill>
                <a:latin typeface="Aptos"/>
              </a:endParaRPr>
            </a:p>
          </p:txBody>
        </p:sp>
        <p:sp>
          <p:nvSpPr>
            <p:cNvPr id="211" name="TextBox 14"/>
            <p:cNvSpPr txBox="1"/>
            <p:nvPr/>
          </p:nvSpPr>
          <p:spPr>
            <a:xfrm>
              <a:off x="3580003" y="2166366"/>
              <a:ext cx="1220597" cy="5539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169D64"/>
                  </a:solidFill>
                  <a:latin typeface="Aptos"/>
                </a:rPr>
                <a:t>1390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5461D06-CAE0-837F-8450-6CBD6D9A4460}"/>
              </a:ext>
            </a:extLst>
          </p:cNvPr>
          <p:cNvGrpSpPr/>
          <p:nvPr/>
        </p:nvGrpSpPr>
        <p:grpSpPr>
          <a:xfrm>
            <a:off x="8437534" y="1566633"/>
            <a:ext cx="1853565" cy="1216025"/>
            <a:chOff x="5730240" y="1729105"/>
            <a:chExt cx="1853565" cy="1216025"/>
          </a:xfrm>
        </p:grpSpPr>
        <p:sp>
          <p:nvSpPr>
            <p:cNvPr id="213" name="Rounded Rectangle 212"/>
            <p:cNvSpPr/>
            <p:nvPr/>
          </p:nvSpPr>
          <p:spPr>
            <a:xfrm>
              <a:off x="5730240" y="1729105"/>
              <a:ext cx="1853565" cy="1216025"/>
            </a:xfrm>
            <a:prstGeom prst="roundRect">
              <a:avLst/>
            </a:prstGeom>
            <a:solidFill>
              <a:srgbClr val="F7F7FC"/>
            </a:solidFill>
            <a:ln w="7620">
              <a:solidFill>
                <a:srgbClr val="E5E5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/>
            </a:p>
          </p:txBody>
        </p:sp>
        <p:sp>
          <p:nvSpPr>
            <p:cNvPr id="214" name="TextBox 17"/>
            <p:cNvSpPr txBox="1"/>
            <p:nvPr/>
          </p:nvSpPr>
          <p:spPr>
            <a:xfrm>
              <a:off x="5949950" y="1948180"/>
              <a:ext cx="154686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707491"/>
                  </a:solidFill>
                  <a:latin typeface="Aptos"/>
                </a:rPr>
                <a:t>Violated</a:t>
              </a:r>
              <a:endParaRPr sz="1400" b="1" dirty="0">
                <a:solidFill>
                  <a:srgbClr val="707491"/>
                </a:solidFill>
                <a:latin typeface="Aptos"/>
              </a:endParaRPr>
            </a:p>
          </p:txBody>
        </p:sp>
        <p:sp>
          <p:nvSpPr>
            <p:cNvPr id="215" name="TextBox 18"/>
            <p:cNvSpPr txBox="1"/>
            <p:nvPr/>
          </p:nvSpPr>
          <p:spPr>
            <a:xfrm>
              <a:off x="5949950" y="2166620"/>
              <a:ext cx="1546860" cy="5539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C74C4C"/>
                  </a:solidFill>
                  <a:latin typeface="Aptos"/>
                </a:rPr>
                <a:t>935</a:t>
              </a:r>
              <a:endParaRPr sz="3600" b="1" dirty="0">
                <a:solidFill>
                  <a:srgbClr val="C74C4C"/>
                </a:solidFill>
                <a:latin typeface="Apto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9127703-58EC-10A5-E399-2CCB0E938E24}"/>
              </a:ext>
            </a:extLst>
          </p:cNvPr>
          <p:cNvGrpSpPr/>
          <p:nvPr/>
        </p:nvGrpSpPr>
        <p:grpSpPr>
          <a:xfrm>
            <a:off x="10807354" y="1566633"/>
            <a:ext cx="1853565" cy="1216025"/>
            <a:chOff x="8100060" y="1729105"/>
            <a:chExt cx="1853565" cy="1216025"/>
          </a:xfrm>
        </p:grpSpPr>
        <p:sp>
          <p:nvSpPr>
            <p:cNvPr id="217" name="Rounded Rectangle 216"/>
            <p:cNvSpPr/>
            <p:nvPr/>
          </p:nvSpPr>
          <p:spPr>
            <a:xfrm>
              <a:off x="8100060" y="1729105"/>
              <a:ext cx="1853565" cy="1216025"/>
            </a:xfrm>
            <a:prstGeom prst="roundRect">
              <a:avLst/>
            </a:prstGeom>
            <a:solidFill>
              <a:srgbClr val="F7F7FC"/>
            </a:solidFill>
            <a:ln w="7620">
              <a:solidFill>
                <a:srgbClr val="E5E5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/>
            </a:p>
          </p:txBody>
        </p:sp>
        <p:sp>
          <p:nvSpPr>
            <p:cNvPr id="218" name="TextBox 21"/>
            <p:cNvSpPr txBox="1"/>
            <p:nvPr/>
          </p:nvSpPr>
          <p:spPr>
            <a:xfrm>
              <a:off x="8319770" y="1948180"/>
              <a:ext cx="153924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707491"/>
                  </a:solidFill>
                  <a:latin typeface="Aptos"/>
                </a:rPr>
                <a:t>Withdrawn</a:t>
              </a:r>
              <a:endParaRPr sz="1400" b="1" dirty="0">
                <a:solidFill>
                  <a:srgbClr val="707491"/>
                </a:solidFill>
                <a:latin typeface="Aptos"/>
              </a:endParaRPr>
            </a:p>
          </p:txBody>
        </p:sp>
        <p:sp>
          <p:nvSpPr>
            <p:cNvPr id="219" name="TextBox 22"/>
            <p:cNvSpPr txBox="1"/>
            <p:nvPr/>
          </p:nvSpPr>
          <p:spPr>
            <a:xfrm>
              <a:off x="8319770" y="2166620"/>
              <a:ext cx="1539240" cy="5539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325DCC"/>
                  </a:solidFill>
                  <a:latin typeface="Aptos"/>
                </a:rPr>
                <a:t>147</a:t>
              </a:r>
              <a:endParaRPr sz="3600" b="1" dirty="0">
                <a:solidFill>
                  <a:srgbClr val="325DCC"/>
                </a:solidFill>
                <a:latin typeface="Apto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BEF8B1B-9C13-7D6B-0E06-2B6882293D12}"/>
              </a:ext>
            </a:extLst>
          </p:cNvPr>
          <p:cNvGrpSpPr/>
          <p:nvPr/>
        </p:nvGrpSpPr>
        <p:grpSpPr>
          <a:xfrm>
            <a:off x="13177174" y="1566633"/>
            <a:ext cx="1853565" cy="1216025"/>
            <a:chOff x="10469880" y="1729105"/>
            <a:chExt cx="1853565" cy="1216025"/>
          </a:xfrm>
        </p:grpSpPr>
        <p:sp>
          <p:nvSpPr>
            <p:cNvPr id="221" name="Rounded Rectangle 220"/>
            <p:cNvSpPr/>
            <p:nvPr/>
          </p:nvSpPr>
          <p:spPr>
            <a:xfrm>
              <a:off x="10469880" y="1729105"/>
              <a:ext cx="1853565" cy="1216025"/>
            </a:xfrm>
            <a:prstGeom prst="roundRect">
              <a:avLst/>
            </a:prstGeom>
            <a:solidFill>
              <a:srgbClr val="F7F7FC"/>
            </a:solidFill>
            <a:ln w="7620">
              <a:solidFill>
                <a:srgbClr val="E5E5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/>
            </a:p>
          </p:txBody>
        </p:sp>
        <p:sp>
          <p:nvSpPr>
            <p:cNvPr id="222" name="TextBox 25"/>
            <p:cNvSpPr txBox="1"/>
            <p:nvPr/>
          </p:nvSpPr>
          <p:spPr>
            <a:xfrm>
              <a:off x="10689590" y="1948180"/>
              <a:ext cx="150495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707491"/>
                  </a:solidFill>
                  <a:latin typeface="Aptos"/>
                </a:rPr>
                <a:t>Objected</a:t>
              </a:r>
              <a:endParaRPr sz="1400" b="1" dirty="0">
                <a:solidFill>
                  <a:srgbClr val="707491"/>
                </a:solidFill>
                <a:latin typeface="Aptos"/>
              </a:endParaRPr>
            </a:p>
          </p:txBody>
        </p:sp>
        <p:sp>
          <p:nvSpPr>
            <p:cNvPr id="223" name="TextBox 26"/>
            <p:cNvSpPr txBox="1"/>
            <p:nvPr/>
          </p:nvSpPr>
          <p:spPr>
            <a:xfrm>
              <a:off x="10689590" y="2166620"/>
              <a:ext cx="1504950" cy="5539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E6961C"/>
                  </a:solidFill>
                  <a:latin typeface="Aptos"/>
                </a:rPr>
                <a:t>18</a:t>
              </a:r>
              <a:endParaRPr sz="3600" b="1" dirty="0">
                <a:solidFill>
                  <a:srgbClr val="E6961C"/>
                </a:solidFill>
                <a:latin typeface="Aptos"/>
              </a:endParaRPr>
            </a:p>
          </p:txBody>
        </p:sp>
      </p:grp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6550704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DIGITAL &amp; TECHNOLOGY COMMITTEE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329045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A1A5C8"/>
                </a:solidFill>
                <a:latin typeface="Aptos Display" pitchFamily="34" charset="0"/>
              </a:rPr>
              <a:t>VIOLATION</a:t>
            </a:r>
            <a:r>
              <a:rPr sz="2400" b="1" dirty="0">
                <a:solidFill>
                  <a:srgbClr val="A1A5C8"/>
                </a:solidFill>
                <a:latin typeface="Aptos Display" pitchFamily="34" charset="0"/>
              </a:rPr>
              <a:t> DASHBOARD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3117850"/>
            <a:ext cx="16623411" cy="674143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1152525" y="3390900"/>
            <a:ext cx="3461385" cy="2273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i="0" dirty="0">
                <a:solidFill>
                  <a:srgbClr val="172B4D"/>
                </a:solidFill>
                <a:effectLst/>
                <a:latin typeface="-apple-system"/>
              </a:rPr>
              <a:t>Violation</a:t>
            </a:r>
            <a:r>
              <a:rPr sz="2000" b="1" dirty="0">
                <a:solidFill>
                  <a:srgbClr val="2D2B46"/>
                </a:solidFill>
                <a:latin typeface="Aptos"/>
              </a:rPr>
              <a:t> by </a:t>
            </a:r>
            <a:r>
              <a:rPr lang="en-US" sz="2000" b="1" dirty="0">
                <a:solidFill>
                  <a:srgbClr val="2D2B46"/>
                </a:solidFill>
                <a:latin typeface="Aptos"/>
              </a:rPr>
              <a:t>period</a:t>
            </a:r>
            <a:endParaRPr sz="2000" b="1" dirty="0">
              <a:solidFill>
                <a:srgbClr val="2D2B46"/>
              </a:solidFill>
              <a:latin typeface="Aptos"/>
            </a:endParaRPr>
          </a:p>
        </p:txBody>
      </p:sp>
      <p:graphicFrame>
        <p:nvGraphicFramePr>
          <p:cNvPr id="40" name="Chart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55435"/>
              </p:ext>
            </p:extLst>
          </p:nvPr>
        </p:nvGraphicFramePr>
        <p:xfrm>
          <a:off x="1088390" y="3973830"/>
          <a:ext cx="16132810" cy="5665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B6618BF4-2208-F633-1450-A4C9A7845C79}"/>
              </a:ext>
            </a:extLst>
          </p:cNvPr>
          <p:cNvGrpSpPr/>
          <p:nvPr/>
        </p:nvGrpSpPr>
        <p:grpSpPr>
          <a:xfrm>
            <a:off x="5039288" y="1522476"/>
            <a:ext cx="2306666" cy="1216025"/>
            <a:chOff x="990600" y="1729105"/>
            <a:chExt cx="1853565" cy="1216025"/>
          </a:xfrm>
        </p:grpSpPr>
        <p:sp>
          <p:nvSpPr>
            <p:cNvPr id="205" name="Rounded Rectangle 204"/>
            <p:cNvSpPr/>
            <p:nvPr/>
          </p:nvSpPr>
          <p:spPr>
            <a:xfrm>
              <a:off x="990600" y="1729105"/>
              <a:ext cx="1853565" cy="1216025"/>
            </a:xfrm>
            <a:prstGeom prst="roundRect">
              <a:avLst/>
            </a:prstGeom>
            <a:solidFill>
              <a:srgbClr val="F7F7FC"/>
            </a:solidFill>
            <a:ln w="7620">
              <a:solidFill>
                <a:srgbClr val="E5E5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/>
            </a:p>
          </p:txBody>
        </p:sp>
        <p:sp>
          <p:nvSpPr>
            <p:cNvPr id="206" name="TextBox 9"/>
            <p:cNvSpPr txBox="1"/>
            <p:nvPr/>
          </p:nvSpPr>
          <p:spPr>
            <a:xfrm>
              <a:off x="1210310" y="1948180"/>
              <a:ext cx="154686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400" b="1" dirty="0">
                  <a:solidFill>
                    <a:srgbClr val="707491"/>
                  </a:solidFill>
                  <a:latin typeface="Aptos"/>
                </a:rPr>
                <a:t>Total </a:t>
              </a:r>
              <a:r>
                <a:rPr lang="en-US" sz="1400" b="1" dirty="0">
                  <a:solidFill>
                    <a:srgbClr val="707491"/>
                  </a:solidFill>
                  <a:latin typeface="Aptos"/>
                </a:rPr>
                <a:t>Violation Created</a:t>
              </a:r>
              <a:endParaRPr sz="1400" b="1" dirty="0">
                <a:solidFill>
                  <a:srgbClr val="707491"/>
                </a:solidFill>
                <a:latin typeface="Aptos"/>
              </a:endParaRPr>
            </a:p>
          </p:txBody>
        </p:sp>
        <p:sp>
          <p:nvSpPr>
            <p:cNvPr id="207" name="TextBox 10"/>
            <p:cNvSpPr txBox="1"/>
            <p:nvPr/>
          </p:nvSpPr>
          <p:spPr>
            <a:xfrm>
              <a:off x="1210183" y="2166366"/>
              <a:ext cx="1396275" cy="5539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6F51EB"/>
                  </a:solidFill>
                  <a:latin typeface="Aptos"/>
                </a:rPr>
                <a:t>2490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167D0D5-0748-D496-F144-81267CA9214C}"/>
              </a:ext>
            </a:extLst>
          </p:cNvPr>
          <p:cNvGrpSpPr/>
          <p:nvPr/>
        </p:nvGrpSpPr>
        <p:grpSpPr>
          <a:xfrm>
            <a:off x="7561508" y="1522476"/>
            <a:ext cx="2306666" cy="1216025"/>
            <a:chOff x="3360420" y="1729105"/>
            <a:chExt cx="1853565" cy="1216025"/>
          </a:xfrm>
        </p:grpSpPr>
        <p:sp>
          <p:nvSpPr>
            <p:cNvPr id="209" name="Rounded Rectangle 208"/>
            <p:cNvSpPr/>
            <p:nvPr/>
          </p:nvSpPr>
          <p:spPr>
            <a:xfrm>
              <a:off x="3360420" y="1729105"/>
              <a:ext cx="1853565" cy="1216025"/>
            </a:xfrm>
            <a:prstGeom prst="roundRect">
              <a:avLst/>
            </a:prstGeom>
            <a:solidFill>
              <a:srgbClr val="F7F7FC"/>
            </a:solidFill>
            <a:ln w="7620">
              <a:solidFill>
                <a:srgbClr val="E5E5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/>
            </a:p>
          </p:txBody>
        </p:sp>
        <p:sp>
          <p:nvSpPr>
            <p:cNvPr id="210" name="TextBox 13"/>
            <p:cNvSpPr txBox="1"/>
            <p:nvPr/>
          </p:nvSpPr>
          <p:spPr>
            <a:xfrm>
              <a:off x="3580130" y="1948180"/>
              <a:ext cx="150876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707491"/>
                  </a:solidFill>
                  <a:latin typeface="Aptos"/>
                </a:rPr>
                <a:t>Resolved </a:t>
              </a:r>
              <a:endParaRPr sz="1400" b="1" dirty="0">
                <a:solidFill>
                  <a:srgbClr val="707491"/>
                </a:solidFill>
                <a:latin typeface="Aptos"/>
              </a:endParaRPr>
            </a:p>
          </p:txBody>
        </p:sp>
        <p:sp>
          <p:nvSpPr>
            <p:cNvPr id="211" name="TextBox 14"/>
            <p:cNvSpPr txBox="1"/>
            <p:nvPr/>
          </p:nvSpPr>
          <p:spPr>
            <a:xfrm>
              <a:off x="3580003" y="2166366"/>
              <a:ext cx="1220597" cy="5539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169D64"/>
                  </a:solidFill>
                  <a:latin typeface="Aptos"/>
                </a:rPr>
                <a:t>1082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5461D06-CAE0-837F-8450-6CBD6D9A4460}"/>
              </a:ext>
            </a:extLst>
          </p:cNvPr>
          <p:cNvGrpSpPr/>
          <p:nvPr/>
        </p:nvGrpSpPr>
        <p:grpSpPr>
          <a:xfrm>
            <a:off x="10083728" y="1522476"/>
            <a:ext cx="2306666" cy="1216025"/>
            <a:chOff x="5730240" y="1729105"/>
            <a:chExt cx="1853565" cy="1216025"/>
          </a:xfrm>
        </p:grpSpPr>
        <p:sp>
          <p:nvSpPr>
            <p:cNvPr id="213" name="Rounded Rectangle 212"/>
            <p:cNvSpPr/>
            <p:nvPr/>
          </p:nvSpPr>
          <p:spPr>
            <a:xfrm>
              <a:off x="5730240" y="1729105"/>
              <a:ext cx="1853565" cy="1216025"/>
            </a:xfrm>
            <a:prstGeom prst="roundRect">
              <a:avLst/>
            </a:prstGeom>
            <a:solidFill>
              <a:srgbClr val="F7F7FC"/>
            </a:solidFill>
            <a:ln w="7620">
              <a:solidFill>
                <a:srgbClr val="E5E5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/>
            </a:p>
          </p:txBody>
        </p:sp>
        <p:sp>
          <p:nvSpPr>
            <p:cNvPr id="214" name="TextBox 17"/>
            <p:cNvSpPr txBox="1"/>
            <p:nvPr/>
          </p:nvSpPr>
          <p:spPr>
            <a:xfrm>
              <a:off x="5949950" y="1948180"/>
              <a:ext cx="154686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1400" b="1" dirty="0">
                  <a:solidFill>
                    <a:srgbClr val="707491"/>
                  </a:solidFill>
                  <a:latin typeface="Aptos"/>
                </a:rPr>
                <a:t>Un Resolved </a:t>
              </a:r>
              <a:endParaRPr sz="1400" b="1" dirty="0">
                <a:solidFill>
                  <a:srgbClr val="707491"/>
                </a:solidFill>
                <a:latin typeface="Aptos"/>
              </a:endParaRPr>
            </a:p>
          </p:txBody>
        </p:sp>
        <p:sp>
          <p:nvSpPr>
            <p:cNvPr id="215" name="TextBox 18"/>
            <p:cNvSpPr txBox="1"/>
            <p:nvPr/>
          </p:nvSpPr>
          <p:spPr>
            <a:xfrm>
              <a:off x="5949950" y="2166620"/>
              <a:ext cx="1546860" cy="5539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C74C4C"/>
                  </a:solidFill>
                  <a:latin typeface="Aptos"/>
                </a:rPr>
                <a:t>1408</a:t>
              </a:r>
              <a:endParaRPr sz="3600" b="1" dirty="0">
                <a:solidFill>
                  <a:srgbClr val="C74C4C"/>
                </a:solidFill>
                <a:latin typeface="Aptos"/>
              </a:endParaRPr>
            </a:p>
          </p:txBody>
        </p:sp>
      </p:grp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1088778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6550704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DIGITAL &amp; TECHNOLOGY COMMITTEE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295189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A1A5C8"/>
                </a:solidFill>
                <a:latin typeface="Aptos Display" pitchFamily="34" charset="0"/>
              </a:rPr>
              <a:t>VIOLATION</a:t>
            </a:r>
            <a:r>
              <a:rPr sz="2400" b="1" dirty="0">
                <a:solidFill>
                  <a:srgbClr val="A1A5C8"/>
                </a:solidFill>
                <a:latin typeface="Aptos Display" pitchFamily="34" charset="0"/>
              </a:rPr>
              <a:t> </a:t>
            </a:r>
            <a:r>
              <a:rPr lang="en-US" sz="2400" b="1" dirty="0">
                <a:solidFill>
                  <a:srgbClr val="A1A5C8"/>
                </a:solidFill>
                <a:latin typeface="Aptos Display" pitchFamily="34" charset="0"/>
              </a:rPr>
              <a:t>SUMMARY</a:t>
            </a:r>
            <a:endParaRPr sz="2400" b="1" dirty="0">
              <a:solidFill>
                <a:srgbClr val="A1A5C8"/>
              </a:solidFill>
              <a:latin typeface="Aptos Display" pitchFamily="34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1152525" y="2095500"/>
            <a:ext cx="15916275" cy="7391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000" dirty="0"/>
              <a:t>A total of </a:t>
            </a:r>
            <a:r>
              <a:rPr lang="en-US" sz="2000" b="1" dirty="0"/>
              <a:t>2,490 violations</a:t>
            </a:r>
            <a:r>
              <a:rPr lang="en-US" sz="2000" dirty="0"/>
              <a:t> were recorded during the reporting period, with </a:t>
            </a:r>
            <a:r>
              <a:rPr lang="en-US" sz="2000" b="1" dirty="0"/>
              <a:t>Quality Control (362)</a:t>
            </a:r>
            <a:r>
              <a:rPr lang="en-US" sz="2000" dirty="0"/>
              <a:t>, </a:t>
            </a:r>
            <a:r>
              <a:rPr lang="en-US" sz="2000" b="1" dirty="0"/>
              <a:t>AD Integration (181)</a:t>
            </a:r>
            <a:r>
              <a:rPr lang="en-US" sz="2000" dirty="0"/>
              <a:t>, </a:t>
            </a:r>
            <a:r>
              <a:rPr lang="en-US" sz="2000" b="1" dirty="0"/>
              <a:t>AD General (108)</a:t>
            </a:r>
            <a:r>
              <a:rPr lang="en-US" sz="2000" dirty="0"/>
              <a:t>, and </a:t>
            </a:r>
            <a:r>
              <a:rPr lang="en-US" sz="2000" b="1" dirty="0"/>
              <a:t>Business &amp; Project Management (92)</a:t>
            </a:r>
            <a:r>
              <a:rPr lang="en-US" sz="2000" dirty="0"/>
              <a:t> being the primary contributors. Violation volumes increased significantly throughout 2026, reaching a peak of </a:t>
            </a:r>
            <a:r>
              <a:rPr lang="en-US" sz="2000" b="1" dirty="0"/>
              <a:t>358 violations in April 2026</a:t>
            </a:r>
            <a:r>
              <a:rPr lang="en-US" sz="2000" dirty="0"/>
              <a:t>.</a:t>
            </a:r>
          </a:p>
          <a:p>
            <a:r>
              <a:rPr lang="en-US" sz="2000" dirty="0"/>
              <a:t>Despite ongoing resolution efforts, violation closure rates did not keep pace with new violations, resulting in a growing backlog. As of </a:t>
            </a:r>
            <a:r>
              <a:rPr lang="en-US" sz="2000" b="1" dirty="0"/>
              <a:t>June 2026</a:t>
            </a:r>
            <a:r>
              <a:rPr lang="en-US" sz="2000" dirty="0"/>
              <a:t>, unresolved violations reached </a:t>
            </a:r>
            <a:r>
              <a:rPr lang="en-US" sz="2000" b="1" dirty="0"/>
              <a:t>1,408 open items</a:t>
            </a:r>
            <a:r>
              <a:rPr lang="en-US" sz="2000" dirty="0"/>
              <a:t>, representing approximately </a:t>
            </a:r>
            <a:r>
              <a:rPr lang="en-US" sz="2000" b="1" dirty="0"/>
              <a:t>55% of all violations created since September 2025</a:t>
            </a:r>
            <a:r>
              <a:rPr lang="en-US" sz="2000" dirty="0"/>
              <a:t>. The trend highlights the need for targeted corrective actions, stronger compliance controls, and accelerated backlog reduction initiatives.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Key observations: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Quality Control and AD Integration contribute nearly </a:t>
            </a:r>
            <a:r>
              <a:rPr lang="en-US" sz="2000" b="1" dirty="0"/>
              <a:t>22% of all violations</a:t>
            </a:r>
            <a:r>
              <a:rPr lang="en-US" sz="2000" dirty="0"/>
              <a:t> and should be prioritized for corrective action plans.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Violation creation has increased considerably since late 2025, indicating rising compliance or delivery challenges.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Resolution performance has remained below demand levels, leading to a continuously growing backlog.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Immediate focus is recommended on backlog reduction, root cause analysis, and preventive quality measures to avoid further accumulation of unresolved violations.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E2C79">
                <a:alpha val="100000"/>
              </a:srgbClr>
            </a:gs>
            <a:gs pos="50000">
              <a:srgbClr val="9A84DC">
                <a:alpha val="100000"/>
              </a:srgbClr>
            </a:gs>
            <a:gs pos="100000">
              <a:srgbClr val="8F73F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6930" y="195887"/>
            <a:ext cx="3503507" cy="1052269"/>
          </a:xfrm>
          <a:custGeom>
            <a:avLst/>
            <a:gdLst/>
            <a:ahLst/>
            <a:cxnLst/>
            <a:rect l="l" t="t" r="r" b="b"/>
            <a:pathLst>
              <a:path w="3503507" h="1052269">
                <a:moveTo>
                  <a:pt x="0" y="0"/>
                </a:moveTo>
                <a:lnTo>
                  <a:pt x="3503507" y="0"/>
                </a:lnTo>
                <a:lnTo>
                  <a:pt x="3503507" y="1052269"/>
                </a:lnTo>
                <a:lnTo>
                  <a:pt x="0" y="10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>
              <a:latin typeface="+mj-lt"/>
            </a:endParaRP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2587519" y="0"/>
            <a:ext cx="5690956" cy="10287000"/>
            <a:chOff x="0" y="0"/>
            <a:chExt cx="7631832" cy="13795338"/>
          </a:xfrm>
        </p:grpSpPr>
        <p:sp>
          <p:nvSpPr>
            <p:cNvPr id="4" name="Freeform 4" descr="Image"/>
            <p:cNvSpPr/>
            <p:nvPr/>
          </p:nvSpPr>
          <p:spPr>
            <a:xfrm>
              <a:off x="0" y="0"/>
              <a:ext cx="7631811" cy="13795375"/>
            </a:xfrm>
            <a:custGeom>
              <a:avLst/>
              <a:gdLst/>
              <a:ahLst/>
              <a:cxnLst/>
              <a:rect l="l" t="t" r="r" b="b"/>
              <a:pathLst>
                <a:path w="7631811" h="13795375">
                  <a:moveTo>
                    <a:pt x="0" y="0"/>
                  </a:moveTo>
                  <a:lnTo>
                    <a:pt x="7631811" y="0"/>
                  </a:lnTo>
                  <a:lnTo>
                    <a:pt x="7631811" y="13795375"/>
                  </a:lnTo>
                  <a:lnTo>
                    <a:pt x="0" y="13795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4" b="-74"/>
              </a:stretch>
            </a:blipFill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067680"/>
            <a:ext cx="5690940" cy="1295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25"/>
              </a:lnSpc>
              <a:spcBef>
                <a:spcPct val="0"/>
              </a:spcBef>
            </a:pPr>
            <a:r>
              <a:rPr lang="en-US" sz="8440" b="1" dirty="0">
                <a:solidFill>
                  <a:srgbClr val="FFFFFF"/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143" y="5369305"/>
            <a:ext cx="5257857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30"/>
              </a:lnSpc>
            </a:pPr>
            <a:r>
              <a:rPr lang="en-US" sz="2610" b="1" dirty="0">
                <a:solidFill>
                  <a:srgbClr val="FFFFFF">
                    <a:alpha val="40000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Taking the Technology &amp; Digital</a:t>
            </a:r>
          </a:p>
          <a:p>
            <a:pPr algn="ctr">
              <a:lnSpc>
                <a:spcPts val="3130"/>
              </a:lnSpc>
              <a:spcBef>
                <a:spcPct val="0"/>
              </a:spcBef>
            </a:pPr>
            <a:r>
              <a:rPr lang="en-US" sz="2610" b="1" dirty="0">
                <a:solidFill>
                  <a:srgbClr val="FFFFFF">
                    <a:alpha val="40000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to the Next Level</a:t>
            </a:r>
          </a:p>
        </p:txBody>
      </p:sp>
      <p:sp>
        <p:nvSpPr>
          <p:cNvPr id="7" name="GTBClassificationH331034338"/>
          <p:cNvSpPr txBox="1"/>
          <p:nvPr/>
        </p:nvSpPr>
        <p:spPr>
          <a:xfrm>
            <a:off x="0" y="0"/>
            <a:ext cx="18288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dirty="0">
                <a:solidFill>
                  <a:srgbClr val="000000">
                    <a:alpha val="70000"/>
                  </a:srgbClr>
                </a:solidFill>
                <a:latin typeface="+mj-lt"/>
              </a:rPr>
              <a:t>Classification:</a:t>
            </a:r>
            <a:r>
              <a:rPr lang="en-US" sz="1400" dirty="0">
                <a:solidFill>
                  <a:srgbClr val="000000">
                    <a:alpha val="70000"/>
                  </a:srgbClr>
                </a:solidFill>
                <a:latin typeface="+mj-lt"/>
              </a:rPr>
              <a:t> </a:t>
            </a:r>
            <a:r>
              <a:rPr lang="en-US" sz="1400" b="1" dirty="0">
                <a:solidFill>
                  <a:srgbClr val="6A1B9A">
                    <a:alpha val="70000"/>
                  </a:srgbClr>
                </a:solidFill>
                <a:latin typeface="+mj-lt"/>
              </a:rPr>
              <a:t>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Internal</attrValue>
  <customPropName>Classification</customPropName>
  <timestamp>02/08/47 04:32:15 م</timestamp>
  <userName>TAWN\VDR000322</userName>
  <computerName>LTHQISD-A2X1143.TAWN.COM</computerName>
  <guid>{487a4754-da0f-4ebb-9a6d-ab42203ba5de}</guid>
  <hd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/>
    </r>
    <r>
      <fontName>arial</fontName>
      <fontColor>6A1B9A</fontColor>
      <fontSize>14</fontSize>
      <b/>
      <text xml:space="preserve">Internal</text>
    </r>
  </hdr>
</GTBClassification>
</file>

<file path=customXml/itemProps1.xml><?xml version="1.0" encoding="utf-8"?>
<ds:datastoreItem xmlns:ds="http://schemas.openxmlformats.org/officeDocument/2006/customXml" ds:itemID="{F31BFC59-43D1-4653-9F61-0840CF994A9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3672</TotalTime>
  <Words>269</Words>
  <Application>Microsoft Office PowerPoint</Application>
  <PresentationFormat>Custom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 Display</vt:lpstr>
      <vt:lpstr>Arial</vt:lpstr>
      <vt:lpstr>-apple-system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T&amp;D QC Weekly Report 21 Jan</dc:title>
  <dc:creator>Yara Aldughaim</dc:creator>
  <cp:keywords>ClassificationData:&lt;Classification:Internal&gt;</cp:keywords>
  <cp:lastModifiedBy>Mohamed Elarief</cp:lastModifiedBy>
  <cp:revision>66</cp:revision>
  <dcterms:created xsi:type="dcterms:W3CDTF">2026-05-12T05:42:29Z</dcterms:created>
  <dcterms:modified xsi:type="dcterms:W3CDTF">2026-06-10T08:33:58Z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Internal</vt:lpwstr>
  </property>
  <property fmtid="{D5CDD505-2E9C-101B-9397-08002B2CF9AE}" pid="3" name="ClassifiedBy">
    <vt:lpwstr>TAWN\VDR000322</vt:lpwstr>
  </property>
  <property fmtid="{D5CDD505-2E9C-101B-9397-08002B2CF9AE}" pid="4" name="ClassificationHost">
    <vt:lpwstr>LTHQISD-A2X1143.TAWN.COM</vt:lpwstr>
  </property>
  <property fmtid="{D5CDD505-2E9C-101B-9397-08002B2CF9AE}" pid="5" name="ClassificationDate">
    <vt:lpwstr>02/08/47 04:32:15 م</vt:lpwstr>
  </property>
  <property fmtid="{D5CDD505-2E9C-101B-9397-08002B2CF9AE}" pid="6" name="ClassificationGUID">
    <vt:lpwstr>{487a4754-da0f-4ebb-9a6d-ab42203ba5de}</vt:lpwstr>
  </property>
  <property fmtid="{D5CDD505-2E9C-101B-9397-08002B2CF9AE}" pid="7" name="KSOProductBuildVer">
    <vt:lpwstr>1033-12.1.25880.25880</vt:lpwstr>
  </property>
  <property fmtid="{D5CDD505-2E9C-101B-9397-08002B2CF9AE}" pid="8" name="ICV">
    <vt:lpwstr>7C7C2032D2F5AB1308BC026ACD429EA4_42</vt:lpwstr>
  </property>
</Properties>
</file>