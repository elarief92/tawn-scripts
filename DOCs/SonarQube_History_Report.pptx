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1.xml" ContentType="application/vnd.openxmlformats-officedocument.drawingml.chart+xml"/>
  <Override PartName="/ppt/notesSlides/notesSlide10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8.xml" ContentType="application/vnd.openxmlformats-officedocument.drawingml.chart+xml"/>
  <Override PartName="/ppt/notesSlides/notesSlide13.xml" ContentType="application/vnd.openxmlformats-officedocument.presentationml.notes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32.xml" ContentType="application/vnd.openxmlformats-officedocument.drawingml.chart+xml"/>
  <Override PartName="/ppt/notesSlides/notesSlide22.xml" ContentType="application/vnd.openxmlformats-officedocument.presentationml.notesSlide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39.xml" ContentType="application/vnd.openxmlformats-officedocument.drawingml.chart+xml"/>
  <Override PartName="/ppt/notesSlides/notesSlide25.xml" ContentType="application/vnd.openxmlformats-officedocument.presentationml.notesSlide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135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308-4EE0-92A7-01B66BEB8A2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308-4EE0-92A7-01B66BEB8A2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308-4EE0-92A7-01B66BEB8A2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308-4EE0-92A7-01B66BEB8A2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308-4EE0-92A7-01B66BEB8A2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7308-4EE0-92A7-01B66BEB8A2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308-4EE0-92A7-01B66BEB8A2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BFF Web</c:v>
                </c:pt>
                <c:pt idx="1">
                  <c:v>Recovery Portal</c:v>
                </c:pt>
                <c:pt idx="2">
                  <c:v>Workshop Portal</c:v>
                </c:pt>
                <c:pt idx="3">
                  <c:v>Life OTP</c:v>
                </c:pt>
                <c:pt idx="4">
                  <c:v>Sales Motor</c:v>
                </c:pt>
                <c:pt idx="5">
                  <c:v>Visit Visa</c:v>
                </c:pt>
                <c:pt idx="6">
                  <c:v>Travel Insurance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45.6</c:v>
                </c:pt>
                <c:pt idx="1">
                  <c:v>42.7</c:v>
                </c:pt>
                <c:pt idx="2">
                  <c:v>43.2</c:v>
                </c:pt>
                <c:pt idx="3">
                  <c:v>85.6</c:v>
                </c:pt>
                <c:pt idx="4">
                  <c:v>50.4</c:v>
                </c:pt>
                <c:pt idx="5">
                  <c:v>55.3</c:v>
                </c:pt>
                <c:pt idx="6">
                  <c:v>44.3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308-4EE0-92A7-01B66BEB8A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Duplication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811-4ECD-BA76-77500750F548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11-4ECD-BA76-77500750F548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811-4ECD-BA76-77500750F548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811-4ECD-BA76-77500750F548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811-4ECD-BA76-77500750F548}"/>
              </c:ext>
            </c:extLst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811-4ECD-BA76-77500750F548}"/>
              </c:ext>
            </c:extLst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811-4ECD-BA76-77500750F54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BFF Web</c:v>
                </c:pt>
                <c:pt idx="1">
                  <c:v>Recovery Portal</c:v>
                </c:pt>
                <c:pt idx="2">
                  <c:v>Workshop Portal</c:v>
                </c:pt>
                <c:pt idx="3">
                  <c:v>Life OTP</c:v>
                </c:pt>
                <c:pt idx="4">
                  <c:v>Sales Motor</c:v>
                </c:pt>
                <c:pt idx="5">
                  <c:v>Visit Visa</c:v>
                </c:pt>
                <c:pt idx="6">
                  <c:v>Travel Insurance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7.5</c:v>
                </c:pt>
                <c:pt idx="1">
                  <c:v>11.4</c:v>
                </c:pt>
                <c:pt idx="2">
                  <c:v>12</c:v>
                </c:pt>
                <c:pt idx="3">
                  <c:v>0</c:v>
                </c:pt>
                <c:pt idx="4">
                  <c:v>16.100000000000001</c:v>
                </c:pt>
                <c:pt idx="5">
                  <c:v>1.5</c:v>
                </c:pt>
                <c:pt idx="6">
                  <c:v>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811-4ECD-BA76-77500750F5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Issues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DDB-434E-BA44-C0065F80B40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DDB-434E-BA44-C0065F80B408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DB-434E-BA44-C0065F80B40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DDB-434E-BA44-C0065F80B408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DDB-434E-BA44-C0065F80B408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DDB-434E-BA44-C0065F80B408}"/>
              </c:ext>
            </c:extLst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DDB-434E-BA44-C0065F80B40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5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BFF Web</c:v>
                </c:pt>
                <c:pt idx="1">
                  <c:v>Recovery Portal</c:v>
                </c:pt>
                <c:pt idx="2">
                  <c:v>Workshop Portal</c:v>
                </c:pt>
                <c:pt idx="3">
                  <c:v>Life OTP</c:v>
                </c:pt>
                <c:pt idx="4">
                  <c:v>Sales Motor</c:v>
                </c:pt>
                <c:pt idx="5">
                  <c:v>Visit Visa</c:v>
                </c:pt>
                <c:pt idx="6">
                  <c:v>Travel Insurance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28</c:v>
                </c:pt>
                <c:pt idx="2">
                  <c:v>67</c:v>
                </c:pt>
                <c:pt idx="3">
                  <c:v>39</c:v>
                </c:pt>
                <c:pt idx="4">
                  <c:v>102</c:v>
                </c:pt>
                <c:pt idx="5">
                  <c:v>93</c:v>
                </c:pt>
                <c:pt idx="6">
                  <c:v>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DDB-434E-BA44-C0065F80B4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8575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36-4525-8200-43E7EF1477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8575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36-4525-8200-43E7EF1477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8575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13</c:v>
                </c:pt>
                <c:pt idx="1">
                  <c:v>13</c:v>
                </c:pt>
                <c:pt idx="2">
                  <c:v>14</c:v>
                </c:pt>
                <c:pt idx="3">
                  <c:v>14</c:v>
                </c:pt>
                <c:pt idx="4">
                  <c:v>86</c:v>
                </c:pt>
                <c:pt idx="5">
                  <c:v>78</c:v>
                </c:pt>
                <c:pt idx="6">
                  <c:v>78</c:v>
                </c:pt>
                <c:pt idx="7">
                  <c:v>78</c:v>
                </c:pt>
                <c:pt idx="8">
                  <c:v>78</c:v>
                </c:pt>
                <c:pt idx="9">
                  <c:v>45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46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23</c:v>
                </c:pt>
                <c:pt idx="22">
                  <c:v>20</c:v>
                </c:pt>
                <c:pt idx="23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936-4525-8200-43E7EF14774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8575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936-4525-8200-43E7EF14774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8575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Sheet1!$F$2:$F$25</c:f>
              <c:numCache>
                <c:formatCode>General</c:formatCode>
                <c:ptCount val="24"/>
                <c:pt idx="0">
                  <c:v>24.3</c:v>
                </c:pt>
                <c:pt idx="1">
                  <c:v>24.3</c:v>
                </c:pt>
                <c:pt idx="2">
                  <c:v>28.8</c:v>
                </c:pt>
                <c:pt idx="3">
                  <c:v>28.8</c:v>
                </c:pt>
                <c:pt idx="4">
                  <c:v>45.7</c:v>
                </c:pt>
                <c:pt idx="5">
                  <c:v>45.7</c:v>
                </c:pt>
                <c:pt idx="6">
                  <c:v>45.7</c:v>
                </c:pt>
                <c:pt idx="7">
                  <c:v>45.7</c:v>
                </c:pt>
                <c:pt idx="8">
                  <c:v>45.7</c:v>
                </c:pt>
                <c:pt idx="9">
                  <c:v>45.7</c:v>
                </c:pt>
                <c:pt idx="10">
                  <c:v>45.7</c:v>
                </c:pt>
                <c:pt idx="11">
                  <c:v>45.7</c:v>
                </c:pt>
                <c:pt idx="12">
                  <c:v>45.7</c:v>
                </c:pt>
                <c:pt idx="13">
                  <c:v>45.7</c:v>
                </c:pt>
                <c:pt idx="14">
                  <c:v>45.7</c:v>
                </c:pt>
                <c:pt idx="15">
                  <c:v>45.7</c:v>
                </c:pt>
                <c:pt idx="16">
                  <c:v>45.7</c:v>
                </c:pt>
                <c:pt idx="17">
                  <c:v>45.6</c:v>
                </c:pt>
                <c:pt idx="18">
                  <c:v>45.6</c:v>
                </c:pt>
                <c:pt idx="19">
                  <c:v>45.6</c:v>
                </c:pt>
                <c:pt idx="20">
                  <c:v>45.6</c:v>
                </c:pt>
                <c:pt idx="21">
                  <c:v>45.6</c:v>
                </c:pt>
                <c:pt idx="22">
                  <c:v>45.6</c:v>
                </c:pt>
                <c:pt idx="23">
                  <c:v>45.6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936-4525-8200-43E7EF14774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Duplication (%)</c:v>
                </c:pt>
              </c:strCache>
            </c:strRef>
          </c:tx>
          <c:spPr>
            <a:ln w="28575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Sheet1!$G$2:$G$25</c:f>
              <c:numCache>
                <c:formatCode>General</c:formatCode>
                <c:ptCount val="24"/>
                <c:pt idx="0">
                  <c:v>8.1999999999999993</c:v>
                </c:pt>
                <c:pt idx="1">
                  <c:v>8.1999999999999993</c:v>
                </c:pt>
                <c:pt idx="2">
                  <c:v>8.1999999999999993</c:v>
                </c:pt>
                <c:pt idx="3">
                  <c:v>8.1999999999999993</c:v>
                </c:pt>
                <c:pt idx="4">
                  <c:v>8.1999999999999993</c:v>
                </c:pt>
                <c:pt idx="5">
                  <c:v>7.7</c:v>
                </c:pt>
                <c:pt idx="6">
                  <c:v>7.7</c:v>
                </c:pt>
                <c:pt idx="7">
                  <c:v>7.7</c:v>
                </c:pt>
                <c:pt idx="8">
                  <c:v>7.7</c:v>
                </c:pt>
                <c:pt idx="9">
                  <c:v>7.5</c:v>
                </c:pt>
                <c:pt idx="10">
                  <c:v>7.5</c:v>
                </c:pt>
                <c:pt idx="11">
                  <c:v>7.5</c:v>
                </c:pt>
                <c:pt idx="12">
                  <c:v>7.5</c:v>
                </c:pt>
                <c:pt idx="13">
                  <c:v>7.5</c:v>
                </c:pt>
                <c:pt idx="14">
                  <c:v>7.5</c:v>
                </c:pt>
                <c:pt idx="15">
                  <c:v>7.5</c:v>
                </c:pt>
                <c:pt idx="16">
                  <c:v>7.5</c:v>
                </c:pt>
                <c:pt idx="17">
                  <c:v>7.5</c:v>
                </c:pt>
                <c:pt idx="18">
                  <c:v>7.5</c:v>
                </c:pt>
                <c:pt idx="19">
                  <c:v>7.5</c:v>
                </c:pt>
                <c:pt idx="20">
                  <c:v>7.5</c:v>
                </c:pt>
                <c:pt idx="21">
                  <c:v>7.5</c:v>
                </c:pt>
                <c:pt idx="22">
                  <c:v>7.5</c:v>
                </c:pt>
                <c:pt idx="23">
                  <c:v>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936-4525-8200-43E7EF1477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4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4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D8-4F5B-80AA-85A8469C39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CF-4646-A722-1925F43A80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13</c:v>
                </c:pt>
                <c:pt idx="1">
                  <c:v>13</c:v>
                </c:pt>
                <c:pt idx="2">
                  <c:v>14</c:v>
                </c:pt>
                <c:pt idx="3">
                  <c:v>14</c:v>
                </c:pt>
                <c:pt idx="4">
                  <c:v>86</c:v>
                </c:pt>
                <c:pt idx="5">
                  <c:v>78</c:v>
                </c:pt>
                <c:pt idx="6">
                  <c:v>78</c:v>
                </c:pt>
                <c:pt idx="7">
                  <c:v>78</c:v>
                </c:pt>
                <c:pt idx="8">
                  <c:v>78</c:v>
                </c:pt>
                <c:pt idx="9">
                  <c:v>45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46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23</c:v>
                </c:pt>
                <c:pt idx="22">
                  <c:v>20</c:v>
                </c:pt>
                <c:pt idx="23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12-4C9C-9B7A-5915CB07AC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5400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F7-4B53-830D-1B7729911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24.3</c:v>
                </c:pt>
                <c:pt idx="1">
                  <c:v>24.3</c:v>
                </c:pt>
                <c:pt idx="2">
                  <c:v>28.8</c:v>
                </c:pt>
                <c:pt idx="3">
                  <c:v>28.8</c:v>
                </c:pt>
                <c:pt idx="4">
                  <c:v>45.7</c:v>
                </c:pt>
                <c:pt idx="5">
                  <c:v>45.7</c:v>
                </c:pt>
                <c:pt idx="6">
                  <c:v>45.7</c:v>
                </c:pt>
                <c:pt idx="7">
                  <c:v>45.7</c:v>
                </c:pt>
                <c:pt idx="8">
                  <c:v>45.7</c:v>
                </c:pt>
                <c:pt idx="9">
                  <c:v>45.7</c:v>
                </c:pt>
                <c:pt idx="10">
                  <c:v>45.7</c:v>
                </c:pt>
                <c:pt idx="11">
                  <c:v>45.7</c:v>
                </c:pt>
                <c:pt idx="12">
                  <c:v>45.7</c:v>
                </c:pt>
                <c:pt idx="13">
                  <c:v>45.7</c:v>
                </c:pt>
                <c:pt idx="14">
                  <c:v>45.7</c:v>
                </c:pt>
                <c:pt idx="15">
                  <c:v>45.7</c:v>
                </c:pt>
                <c:pt idx="16">
                  <c:v>45.7</c:v>
                </c:pt>
                <c:pt idx="17">
                  <c:v>45.6</c:v>
                </c:pt>
                <c:pt idx="18">
                  <c:v>45.6</c:v>
                </c:pt>
                <c:pt idx="19">
                  <c:v>45.6</c:v>
                </c:pt>
                <c:pt idx="20">
                  <c:v>45.6</c:v>
                </c:pt>
                <c:pt idx="21">
                  <c:v>45.6</c:v>
                </c:pt>
                <c:pt idx="22">
                  <c:v>45.6</c:v>
                </c:pt>
                <c:pt idx="23">
                  <c:v>45.6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7E-42A7-AB08-C6ADE2C366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Duplication (%)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8.1999999999999993</c:v>
                </c:pt>
                <c:pt idx="1">
                  <c:v>8.1999999999999993</c:v>
                </c:pt>
                <c:pt idx="2">
                  <c:v>8.1999999999999993</c:v>
                </c:pt>
                <c:pt idx="3">
                  <c:v>8.1999999999999993</c:v>
                </c:pt>
                <c:pt idx="4">
                  <c:v>8.1999999999999993</c:v>
                </c:pt>
                <c:pt idx="5">
                  <c:v>7.7</c:v>
                </c:pt>
                <c:pt idx="6">
                  <c:v>7.7</c:v>
                </c:pt>
                <c:pt idx="7">
                  <c:v>7.7</c:v>
                </c:pt>
                <c:pt idx="8">
                  <c:v>7.7</c:v>
                </c:pt>
                <c:pt idx="9">
                  <c:v>7.5</c:v>
                </c:pt>
                <c:pt idx="10">
                  <c:v>7.5</c:v>
                </c:pt>
                <c:pt idx="11">
                  <c:v>7.5</c:v>
                </c:pt>
                <c:pt idx="12">
                  <c:v>7.5</c:v>
                </c:pt>
                <c:pt idx="13">
                  <c:v>7.5</c:v>
                </c:pt>
                <c:pt idx="14">
                  <c:v>7.5</c:v>
                </c:pt>
                <c:pt idx="15">
                  <c:v>7.5</c:v>
                </c:pt>
                <c:pt idx="16">
                  <c:v>7.5</c:v>
                </c:pt>
                <c:pt idx="17">
                  <c:v>7.5</c:v>
                </c:pt>
                <c:pt idx="18">
                  <c:v>7.5</c:v>
                </c:pt>
                <c:pt idx="19">
                  <c:v>7.5</c:v>
                </c:pt>
                <c:pt idx="20">
                  <c:v>7.5</c:v>
                </c:pt>
                <c:pt idx="21">
                  <c:v>7.5</c:v>
                </c:pt>
                <c:pt idx="22">
                  <c:v>7.5</c:v>
                </c:pt>
                <c:pt idx="23">
                  <c:v>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F5-4FA9-82F0-C225A36300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8575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4B-4D90-BFCE-2BB31799FE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8575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4B-4D90-BFCE-2BB31799FE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8575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221</c:v>
                </c:pt>
                <c:pt idx="1">
                  <c:v>222</c:v>
                </c:pt>
                <c:pt idx="2">
                  <c:v>222</c:v>
                </c:pt>
                <c:pt idx="3">
                  <c:v>318</c:v>
                </c:pt>
                <c:pt idx="4">
                  <c:v>23</c:v>
                </c:pt>
                <c:pt idx="5">
                  <c:v>23</c:v>
                </c:pt>
                <c:pt idx="6">
                  <c:v>23</c:v>
                </c:pt>
                <c:pt idx="7">
                  <c:v>23</c:v>
                </c:pt>
                <c:pt idx="8">
                  <c:v>23</c:v>
                </c:pt>
                <c:pt idx="9">
                  <c:v>23</c:v>
                </c:pt>
                <c:pt idx="10">
                  <c:v>28</c:v>
                </c:pt>
                <c:pt idx="11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4B-4D90-BFCE-2BB31799FE2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8575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E4B-4D90-BFCE-2BB31799FE2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8575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39.299999999999997</c:v>
                </c:pt>
                <c:pt idx="1">
                  <c:v>39.299999999999997</c:v>
                </c:pt>
                <c:pt idx="2">
                  <c:v>39.299999999999997</c:v>
                </c:pt>
                <c:pt idx="3">
                  <c:v>41.8</c:v>
                </c:pt>
                <c:pt idx="4">
                  <c:v>42.5</c:v>
                </c:pt>
                <c:pt idx="5">
                  <c:v>42.5</c:v>
                </c:pt>
                <c:pt idx="6">
                  <c:v>42.5</c:v>
                </c:pt>
                <c:pt idx="7">
                  <c:v>42.5</c:v>
                </c:pt>
                <c:pt idx="8">
                  <c:v>42.5</c:v>
                </c:pt>
                <c:pt idx="9">
                  <c:v>42.5</c:v>
                </c:pt>
                <c:pt idx="10">
                  <c:v>42.7</c:v>
                </c:pt>
                <c:pt idx="11">
                  <c:v>42.7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E4B-4D90-BFCE-2BB31799FE2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Duplication (%)</c:v>
                </c:pt>
              </c:strCache>
            </c:strRef>
          </c:tx>
          <c:spPr>
            <a:ln w="28575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10.9</c:v>
                </c:pt>
                <c:pt idx="1">
                  <c:v>10.9</c:v>
                </c:pt>
                <c:pt idx="2">
                  <c:v>10.9</c:v>
                </c:pt>
                <c:pt idx="3">
                  <c:v>10.9</c:v>
                </c:pt>
                <c:pt idx="4">
                  <c:v>11.3</c:v>
                </c:pt>
                <c:pt idx="5">
                  <c:v>11.3</c:v>
                </c:pt>
                <c:pt idx="6">
                  <c:v>11.3</c:v>
                </c:pt>
                <c:pt idx="7">
                  <c:v>11.3</c:v>
                </c:pt>
                <c:pt idx="8">
                  <c:v>11.3</c:v>
                </c:pt>
                <c:pt idx="9">
                  <c:v>11.3</c:v>
                </c:pt>
                <c:pt idx="10">
                  <c:v>11.4</c:v>
                </c:pt>
                <c:pt idx="11">
                  <c:v>11.4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E4B-4D90-BFCE-2BB31799FE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4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4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96-4550-8564-51CC32BC5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3D-4FD3-A69A-28C76C352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221</c:v>
                </c:pt>
                <c:pt idx="1">
                  <c:v>222</c:v>
                </c:pt>
                <c:pt idx="2">
                  <c:v>222</c:v>
                </c:pt>
                <c:pt idx="3">
                  <c:v>318</c:v>
                </c:pt>
                <c:pt idx="4">
                  <c:v>23</c:v>
                </c:pt>
                <c:pt idx="5">
                  <c:v>23</c:v>
                </c:pt>
                <c:pt idx="6">
                  <c:v>23</c:v>
                </c:pt>
                <c:pt idx="7">
                  <c:v>23</c:v>
                </c:pt>
                <c:pt idx="8">
                  <c:v>23</c:v>
                </c:pt>
                <c:pt idx="9">
                  <c:v>23</c:v>
                </c:pt>
                <c:pt idx="10">
                  <c:v>28</c:v>
                </c:pt>
                <c:pt idx="11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31-4AFA-801E-D4B33EFC4C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5400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B6-49DA-AA8D-BA3095A2AE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39.299999999999997</c:v>
                </c:pt>
                <c:pt idx="1">
                  <c:v>39.299999999999997</c:v>
                </c:pt>
                <c:pt idx="2">
                  <c:v>39.299999999999997</c:v>
                </c:pt>
                <c:pt idx="3">
                  <c:v>41.8</c:v>
                </c:pt>
                <c:pt idx="4">
                  <c:v>42.5</c:v>
                </c:pt>
                <c:pt idx="5">
                  <c:v>42.5</c:v>
                </c:pt>
                <c:pt idx="6">
                  <c:v>42.5</c:v>
                </c:pt>
                <c:pt idx="7">
                  <c:v>42.5</c:v>
                </c:pt>
                <c:pt idx="8">
                  <c:v>42.5</c:v>
                </c:pt>
                <c:pt idx="9">
                  <c:v>42.5</c:v>
                </c:pt>
                <c:pt idx="10">
                  <c:v>42.7</c:v>
                </c:pt>
                <c:pt idx="11">
                  <c:v>42.7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EF-41E8-8AC4-24E7A45F60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Duplication (%)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10.9</c:v>
                </c:pt>
                <c:pt idx="1">
                  <c:v>10.9</c:v>
                </c:pt>
                <c:pt idx="2">
                  <c:v>10.9</c:v>
                </c:pt>
                <c:pt idx="3">
                  <c:v>10.9</c:v>
                </c:pt>
                <c:pt idx="4">
                  <c:v>11.3</c:v>
                </c:pt>
                <c:pt idx="5">
                  <c:v>11.3</c:v>
                </c:pt>
                <c:pt idx="6">
                  <c:v>11.3</c:v>
                </c:pt>
                <c:pt idx="7">
                  <c:v>11.3</c:v>
                </c:pt>
                <c:pt idx="8">
                  <c:v>11.3</c:v>
                </c:pt>
                <c:pt idx="9">
                  <c:v>11.3</c:v>
                </c:pt>
                <c:pt idx="10">
                  <c:v>11.4</c:v>
                </c:pt>
                <c:pt idx="11">
                  <c:v>11.4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12-48C0-B014-E1BED87870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8575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28</c:v>
                </c:pt>
                <c:pt idx="1">
                  <c:v>28</c:v>
                </c:pt>
                <c:pt idx="2">
                  <c:v>26</c:v>
                </c:pt>
                <c:pt idx="3">
                  <c:v>15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2</c:v>
                </c:pt>
                <c:pt idx="8">
                  <c:v>131</c:v>
                </c:pt>
                <c:pt idx="9">
                  <c:v>131</c:v>
                </c:pt>
                <c:pt idx="10">
                  <c:v>2</c:v>
                </c:pt>
                <c:pt idx="11">
                  <c:v>131</c:v>
                </c:pt>
                <c:pt idx="12">
                  <c:v>2</c:v>
                </c:pt>
                <c:pt idx="13">
                  <c:v>131</c:v>
                </c:pt>
                <c:pt idx="14">
                  <c:v>131</c:v>
                </c:pt>
                <c:pt idx="15">
                  <c:v>131</c:v>
                </c:pt>
                <c:pt idx="16">
                  <c:v>2</c:v>
                </c:pt>
                <c:pt idx="17">
                  <c:v>131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6</c:v>
                </c:pt>
                <c:pt idx="30">
                  <c:v>6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8F-480E-8150-A2376F0401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8575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Sheet1!$C$2:$C$35</c:f>
              <c:numCache>
                <c:formatCode>General</c:formatCode>
                <c:ptCount val="3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8F-480E-8150-A2376F0401B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8575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Sheet1!$D$2:$D$35</c:f>
              <c:numCache>
                <c:formatCode>General</c:formatCode>
                <c:ptCount val="34"/>
                <c:pt idx="0">
                  <c:v>267</c:v>
                </c:pt>
                <c:pt idx="1">
                  <c:v>267</c:v>
                </c:pt>
                <c:pt idx="2">
                  <c:v>212</c:v>
                </c:pt>
                <c:pt idx="3">
                  <c:v>191</c:v>
                </c:pt>
                <c:pt idx="4">
                  <c:v>62</c:v>
                </c:pt>
                <c:pt idx="5">
                  <c:v>62</c:v>
                </c:pt>
                <c:pt idx="6">
                  <c:v>62</c:v>
                </c:pt>
                <c:pt idx="7">
                  <c:v>3</c:v>
                </c:pt>
                <c:pt idx="8">
                  <c:v>27414</c:v>
                </c:pt>
                <c:pt idx="9">
                  <c:v>27414</c:v>
                </c:pt>
                <c:pt idx="10">
                  <c:v>3</c:v>
                </c:pt>
                <c:pt idx="11">
                  <c:v>27414</c:v>
                </c:pt>
                <c:pt idx="12">
                  <c:v>3</c:v>
                </c:pt>
                <c:pt idx="13">
                  <c:v>27414</c:v>
                </c:pt>
                <c:pt idx="14">
                  <c:v>27414</c:v>
                </c:pt>
                <c:pt idx="15">
                  <c:v>27414</c:v>
                </c:pt>
                <c:pt idx="16">
                  <c:v>3</c:v>
                </c:pt>
                <c:pt idx="17">
                  <c:v>27414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179</c:v>
                </c:pt>
                <c:pt idx="27">
                  <c:v>179</c:v>
                </c:pt>
                <c:pt idx="28">
                  <c:v>179</c:v>
                </c:pt>
                <c:pt idx="29">
                  <c:v>179</c:v>
                </c:pt>
                <c:pt idx="30">
                  <c:v>179</c:v>
                </c:pt>
                <c:pt idx="31">
                  <c:v>179</c:v>
                </c:pt>
                <c:pt idx="32">
                  <c:v>168</c:v>
                </c:pt>
                <c:pt idx="33">
                  <c:v>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8F-480E-8150-A2376F0401B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8575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Sheet1!$E$2:$E$35</c:f>
              <c:numCache>
                <c:formatCode>General</c:formatCode>
                <c:ptCount val="34"/>
                <c:pt idx="0">
                  <c:v>4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68F-480E-8150-A2376F0401B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8575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Sheet1!$F$2:$F$35</c:f>
              <c:numCache>
                <c:formatCode>General</c:formatCode>
                <c:ptCount val="3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43</c:v>
                </c:pt>
                <c:pt idx="25">
                  <c:v>43</c:v>
                </c:pt>
                <c:pt idx="26">
                  <c:v>43</c:v>
                </c:pt>
                <c:pt idx="27">
                  <c:v>43</c:v>
                </c:pt>
                <c:pt idx="28">
                  <c:v>43</c:v>
                </c:pt>
                <c:pt idx="29">
                  <c:v>0</c:v>
                </c:pt>
                <c:pt idx="30">
                  <c:v>43</c:v>
                </c:pt>
                <c:pt idx="31">
                  <c:v>43</c:v>
                </c:pt>
                <c:pt idx="32">
                  <c:v>43.2</c:v>
                </c:pt>
                <c:pt idx="33">
                  <c:v>43.2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68F-480E-8150-A2376F0401B8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Duplication (%)</c:v>
                </c:pt>
              </c:strCache>
            </c:strRef>
          </c:tx>
          <c:spPr>
            <a:ln w="28575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Sheet1!$G$2:$G$35</c:f>
              <c:numCache>
                <c:formatCode>General</c:formatCode>
                <c:ptCount val="34"/>
                <c:pt idx="0">
                  <c:v>17</c:v>
                </c:pt>
                <c:pt idx="1">
                  <c:v>17</c:v>
                </c:pt>
                <c:pt idx="2">
                  <c:v>17</c:v>
                </c:pt>
                <c:pt idx="3">
                  <c:v>17.100000000000001</c:v>
                </c:pt>
                <c:pt idx="4">
                  <c:v>17.100000000000001</c:v>
                </c:pt>
                <c:pt idx="5">
                  <c:v>17.100000000000001</c:v>
                </c:pt>
                <c:pt idx="6">
                  <c:v>16.3</c:v>
                </c:pt>
                <c:pt idx="7">
                  <c:v>11.3</c:v>
                </c:pt>
                <c:pt idx="8">
                  <c:v>31.4</c:v>
                </c:pt>
                <c:pt idx="9">
                  <c:v>31.4</c:v>
                </c:pt>
                <c:pt idx="10">
                  <c:v>11.3</c:v>
                </c:pt>
                <c:pt idx="11">
                  <c:v>31.4</c:v>
                </c:pt>
                <c:pt idx="12">
                  <c:v>11.3</c:v>
                </c:pt>
                <c:pt idx="13">
                  <c:v>31.4</c:v>
                </c:pt>
                <c:pt idx="14">
                  <c:v>31.4</c:v>
                </c:pt>
                <c:pt idx="15">
                  <c:v>31.4</c:v>
                </c:pt>
                <c:pt idx="16">
                  <c:v>11.3</c:v>
                </c:pt>
                <c:pt idx="17">
                  <c:v>31.4</c:v>
                </c:pt>
                <c:pt idx="18">
                  <c:v>11.8</c:v>
                </c:pt>
                <c:pt idx="19">
                  <c:v>11.8</c:v>
                </c:pt>
                <c:pt idx="20">
                  <c:v>11.8</c:v>
                </c:pt>
                <c:pt idx="21">
                  <c:v>11.8</c:v>
                </c:pt>
                <c:pt idx="22">
                  <c:v>11.8</c:v>
                </c:pt>
                <c:pt idx="23">
                  <c:v>11.8</c:v>
                </c:pt>
                <c:pt idx="24">
                  <c:v>11.8</c:v>
                </c:pt>
                <c:pt idx="25">
                  <c:v>11.8</c:v>
                </c:pt>
                <c:pt idx="26">
                  <c:v>11.8</c:v>
                </c:pt>
                <c:pt idx="27">
                  <c:v>11.8</c:v>
                </c:pt>
                <c:pt idx="28">
                  <c:v>11.8</c:v>
                </c:pt>
                <c:pt idx="29">
                  <c:v>11.8</c:v>
                </c:pt>
                <c:pt idx="30">
                  <c:v>11.8</c:v>
                </c:pt>
                <c:pt idx="31">
                  <c:v>11.9</c:v>
                </c:pt>
                <c:pt idx="32">
                  <c:v>12</c:v>
                </c:pt>
                <c:pt idx="33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68F-480E-8150-A2376F0401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4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4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28</c:v>
                </c:pt>
                <c:pt idx="1">
                  <c:v>28</c:v>
                </c:pt>
                <c:pt idx="2">
                  <c:v>26</c:v>
                </c:pt>
                <c:pt idx="3">
                  <c:v>15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2</c:v>
                </c:pt>
                <c:pt idx="8">
                  <c:v>131</c:v>
                </c:pt>
                <c:pt idx="9">
                  <c:v>131</c:v>
                </c:pt>
                <c:pt idx="10">
                  <c:v>2</c:v>
                </c:pt>
                <c:pt idx="11">
                  <c:v>131</c:v>
                </c:pt>
                <c:pt idx="12">
                  <c:v>2</c:v>
                </c:pt>
                <c:pt idx="13">
                  <c:v>131</c:v>
                </c:pt>
                <c:pt idx="14">
                  <c:v>131</c:v>
                </c:pt>
                <c:pt idx="15">
                  <c:v>131</c:v>
                </c:pt>
                <c:pt idx="16">
                  <c:v>2</c:v>
                </c:pt>
                <c:pt idx="17">
                  <c:v>131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6</c:v>
                </c:pt>
                <c:pt idx="30">
                  <c:v>6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9C-4FB6-B425-2B99FC2A10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43-4514-9F66-D9E7727706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267</c:v>
                </c:pt>
                <c:pt idx="1">
                  <c:v>267</c:v>
                </c:pt>
                <c:pt idx="2">
                  <c:v>212</c:v>
                </c:pt>
                <c:pt idx="3">
                  <c:v>191</c:v>
                </c:pt>
                <c:pt idx="4">
                  <c:v>62</c:v>
                </c:pt>
                <c:pt idx="5">
                  <c:v>62</c:v>
                </c:pt>
                <c:pt idx="6">
                  <c:v>62</c:v>
                </c:pt>
                <c:pt idx="7">
                  <c:v>3</c:v>
                </c:pt>
                <c:pt idx="8">
                  <c:v>27414</c:v>
                </c:pt>
                <c:pt idx="9">
                  <c:v>27414</c:v>
                </c:pt>
                <c:pt idx="10">
                  <c:v>3</c:v>
                </c:pt>
                <c:pt idx="11">
                  <c:v>27414</c:v>
                </c:pt>
                <c:pt idx="12">
                  <c:v>3</c:v>
                </c:pt>
                <c:pt idx="13">
                  <c:v>27414</c:v>
                </c:pt>
                <c:pt idx="14">
                  <c:v>27414</c:v>
                </c:pt>
                <c:pt idx="15">
                  <c:v>27414</c:v>
                </c:pt>
                <c:pt idx="16">
                  <c:v>3</c:v>
                </c:pt>
                <c:pt idx="17">
                  <c:v>27414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179</c:v>
                </c:pt>
                <c:pt idx="27">
                  <c:v>179</c:v>
                </c:pt>
                <c:pt idx="28">
                  <c:v>179</c:v>
                </c:pt>
                <c:pt idx="29">
                  <c:v>179</c:v>
                </c:pt>
                <c:pt idx="30">
                  <c:v>179</c:v>
                </c:pt>
                <c:pt idx="31">
                  <c:v>179</c:v>
                </c:pt>
                <c:pt idx="32">
                  <c:v>168</c:v>
                </c:pt>
                <c:pt idx="33">
                  <c:v>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9C-4261-BF89-CCB0BA7AEF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5400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4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4F-4179-97FF-F49177C206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43</c:v>
                </c:pt>
                <c:pt idx="25">
                  <c:v>43</c:v>
                </c:pt>
                <c:pt idx="26">
                  <c:v>43</c:v>
                </c:pt>
                <c:pt idx="27">
                  <c:v>43</c:v>
                </c:pt>
                <c:pt idx="28">
                  <c:v>43</c:v>
                </c:pt>
                <c:pt idx="29">
                  <c:v>0</c:v>
                </c:pt>
                <c:pt idx="30">
                  <c:v>43</c:v>
                </c:pt>
                <c:pt idx="31">
                  <c:v>43</c:v>
                </c:pt>
                <c:pt idx="32">
                  <c:v>43.2</c:v>
                </c:pt>
                <c:pt idx="33">
                  <c:v>43.2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3A-463F-9706-C7349BA0AD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Duplication (%)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17</c:v>
                </c:pt>
                <c:pt idx="1">
                  <c:v>17</c:v>
                </c:pt>
                <c:pt idx="2">
                  <c:v>17</c:v>
                </c:pt>
                <c:pt idx="3">
                  <c:v>17.100000000000001</c:v>
                </c:pt>
                <c:pt idx="4">
                  <c:v>17.100000000000001</c:v>
                </c:pt>
                <c:pt idx="5">
                  <c:v>17.100000000000001</c:v>
                </c:pt>
                <c:pt idx="6">
                  <c:v>16.3</c:v>
                </c:pt>
                <c:pt idx="7">
                  <c:v>11.3</c:v>
                </c:pt>
                <c:pt idx="8">
                  <c:v>31.4</c:v>
                </c:pt>
                <c:pt idx="9">
                  <c:v>31.4</c:v>
                </c:pt>
                <c:pt idx="10">
                  <c:v>11.3</c:v>
                </c:pt>
                <c:pt idx="11">
                  <c:v>31.4</c:v>
                </c:pt>
                <c:pt idx="12">
                  <c:v>11.3</c:v>
                </c:pt>
                <c:pt idx="13">
                  <c:v>31.4</c:v>
                </c:pt>
                <c:pt idx="14">
                  <c:v>31.4</c:v>
                </c:pt>
                <c:pt idx="15">
                  <c:v>31.4</c:v>
                </c:pt>
                <c:pt idx="16">
                  <c:v>11.3</c:v>
                </c:pt>
                <c:pt idx="17">
                  <c:v>31.4</c:v>
                </c:pt>
                <c:pt idx="18">
                  <c:v>11.8</c:v>
                </c:pt>
                <c:pt idx="19">
                  <c:v>11.8</c:v>
                </c:pt>
                <c:pt idx="20">
                  <c:v>11.8</c:v>
                </c:pt>
                <c:pt idx="21">
                  <c:v>11.8</c:v>
                </c:pt>
                <c:pt idx="22">
                  <c:v>11.8</c:v>
                </c:pt>
                <c:pt idx="23">
                  <c:v>11.8</c:v>
                </c:pt>
                <c:pt idx="24">
                  <c:v>11.8</c:v>
                </c:pt>
                <c:pt idx="25">
                  <c:v>11.8</c:v>
                </c:pt>
                <c:pt idx="26">
                  <c:v>11.8</c:v>
                </c:pt>
                <c:pt idx="27">
                  <c:v>11.8</c:v>
                </c:pt>
                <c:pt idx="28">
                  <c:v>11.8</c:v>
                </c:pt>
                <c:pt idx="29">
                  <c:v>11.8</c:v>
                </c:pt>
                <c:pt idx="30">
                  <c:v>11.8</c:v>
                </c:pt>
                <c:pt idx="31">
                  <c:v>11.9</c:v>
                </c:pt>
                <c:pt idx="32">
                  <c:v>12</c:v>
                </c:pt>
                <c:pt idx="33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26-4FFE-8A5B-3EDB7CA612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8575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64</c:v>
                </c:pt>
                <c:pt idx="1">
                  <c:v>64</c:v>
                </c:pt>
                <c:pt idx="2">
                  <c:v>64</c:v>
                </c:pt>
                <c:pt idx="3">
                  <c:v>64</c:v>
                </c:pt>
                <c:pt idx="4">
                  <c:v>64</c:v>
                </c:pt>
                <c:pt idx="5">
                  <c:v>64</c:v>
                </c:pt>
                <c:pt idx="6">
                  <c:v>64</c:v>
                </c:pt>
                <c:pt idx="7">
                  <c:v>64</c:v>
                </c:pt>
                <c:pt idx="8">
                  <c:v>64</c:v>
                </c:pt>
                <c:pt idx="9">
                  <c:v>64</c:v>
                </c:pt>
                <c:pt idx="10">
                  <c:v>64</c:v>
                </c:pt>
                <c:pt idx="11">
                  <c:v>7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84-4CB4-82D7-3896E3C072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8575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84-4CB4-82D7-3896E3C072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8575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581</c:v>
                </c:pt>
                <c:pt idx="1">
                  <c:v>581</c:v>
                </c:pt>
                <c:pt idx="2">
                  <c:v>581</c:v>
                </c:pt>
                <c:pt idx="3">
                  <c:v>581</c:v>
                </c:pt>
                <c:pt idx="4">
                  <c:v>581</c:v>
                </c:pt>
                <c:pt idx="5">
                  <c:v>581</c:v>
                </c:pt>
                <c:pt idx="6">
                  <c:v>581</c:v>
                </c:pt>
                <c:pt idx="7">
                  <c:v>581</c:v>
                </c:pt>
                <c:pt idx="8">
                  <c:v>433</c:v>
                </c:pt>
                <c:pt idx="9">
                  <c:v>433</c:v>
                </c:pt>
                <c:pt idx="10">
                  <c:v>433</c:v>
                </c:pt>
                <c:pt idx="11">
                  <c:v>112</c:v>
                </c:pt>
                <c:pt idx="12">
                  <c:v>99</c:v>
                </c:pt>
                <c:pt idx="13">
                  <c:v>99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102</c:v>
                </c:pt>
                <c:pt idx="19">
                  <c:v>97</c:v>
                </c:pt>
                <c:pt idx="2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084-4CB4-82D7-3896E3C0726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8575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084-4CB4-82D7-3896E3C0726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8575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Sheet1!$F$2:$F$22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56.7</c:v>
                </c:pt>
                <c:pt idx="10">
                  <c:v>56.7</c:v>
                </c:pt>
                <c:pt idx="11">
                  <c:v>50.6</c:v>
                </c:pt>
                <c:pt idx="12">
                  <c:v>50.6</c:v>
                </c:pt>
                <c:pt idx="13">
                  <c:v>50.6</c:v>
                </c:pt>
                <c:pt idx="14">
                  <c:v>50.5</c:v>
                </c:pt>
                <c:pt idx="15">
                  <c:v>50.5</c:v>
                </c:pt>
                <c:pt idx="16">
                  <c:v>50.5</c:v>
                </c:pt>
                <c:pt idx="17">
                  <c:v>50.5</c:v>
                </c:pt>
                <c:pt idx="18">
                  <c:v>50.5</c:v>
                </c:pt>
                <c:pt idx="19">
                  <c:v>50.4</c:v>
                </c:pt>
                <c:pt idx="20">
                  <c:v>50.4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084-4CB4-82D7-3896E3C0726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Duplication (%)</c:v>
                </c:pt>
              </c:strCache>
            </c:strRef>
          </c:tx>
          <c:spPr>
            <a:ln w="28575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Sheet1!$G$2:$G$22</c:f>
              <c:numCache>
                <c:formatCode>General</c:formatCode>
                <c:ptCount val="21"/>
                <c:pt idx="0">
                  <c:v>22.7</c:v>
                </c:pt>
                <c:pt idx="1">
                  <c:v>22.7</c:v>
                </c:pt>
                <c:pt idx="2">
                  <c:v>22.7</c:v>
                </c:pt>
                <c:pt idx="3">
                  <c:v>22.7</c:v>
                </c:pt>
                <c:pt idx="4">
                  <c:v>22.7</c:v>
                </c:pt>
                <c:pt idx="5">
                  <c:v>22.7</c:v>
                </c:pt>
                <c:pt idx="6">
                  <c:v>22.7</c:v>
                </c:pt>
                <c:pt idx="7">
                  <c:v>22.7</c:v>
                </c:pt>
                <c:pt idx="8">
                  <c:v>22.5</c:v>
                </c:pt>
                <c:pt idx="9">
                  <c:v>22.5</c:v>
                </c:pt>
                <c:pt idx="10">
                  <c:v>22.5</c:v>
                </c:pt>
                <c:pt idx="11">
                  <c:v>15.2</c:v>
                </c:pt>
                <c:pt idx="12">
                  <c:v>15.2</c:v>
                </c:pt>
                <c:pt idx="13">
                  <c:v>15.2</c:v>
                </c:pt>
                <c:pt idx="14">
                  <c:v>16.2</c:v>
                </c:pt>
                <c:pt idx="15">
                  <c:v>16.2</c:v>
                </c:pt>
                <c:pt idx="16">
                  <c:v>16.2</c:v>
                </c:pt>
                <c:pt idx="17">
                  <c:v>16.2</c:v>
                </c:pt>
                <c:pt idx="18">
                  <c:v>16.2</c:v>
                </c:pt>
                <c:pt idx="19">
                  <c:v>16.100000000000001</c:v>
                </c:pt>
                <c:pt idx="20">
                  <c:v>16.100000000000001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084-4CB4-82D7-3896E3C072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4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4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64</c:v>
                </c:pt>
                <c:pt idx="1">
                  <c:v>64</c:v>
                </c:pt>
                <c:pt idx="2">
                  <c:v>64</c:v>
                </c:pt>
                <c:pt idx="3">
                  <c:v>64</c:v>
                </c:pt>
                <c:pt idx="4">
                  <c:v>64</c:v>
                </c:pt>
                <c:pt idx="5">
                  <c:v>64</c:v>
                </c:pt>
                <c:pt idx="6">
                  <c:v>64</c:v>
                </c:pt>
                <c:pt idx="7">
                  <c:v>64</c:v>
                </c:pt>
                <c:pt idx="8">
                  <c:v>64</c:v>
                </c:pt>
                <c:pt idx="9">
                  <c:v>64</c:v>
                </c:pt>
                <c:pt idx="10">
                  <c:v>64</c:v>
                </c:pt>
                <c:pt idx="11">
                  <c:v>7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6B3-459B-B409-1F10B3A8C6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AB-40AE-8D65-8D4FE1EC6C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581</c:v>
                </c:pt>
                <c:pt idx="1">
                  <c:v>581</c:v>
                </c:pt>
                <c:pt idx="2">
                  <c:v>581</c:v>
                </c:pt>
                <c:pt idx="3">
                  <c:v>581</c:v>
                </c:pt>
                <c:pt idx="4">
                  <c:v>581</c:v>
                </c:pt>
                <c:pt idx="5">
                  <c:v>581</c:v>
                </c:pt>
                <c:pt idx="6">
                  <c:v>581</c:v>
                </c:pt>
                <c:pt idx="7">
                  <c:v>581</c:v>
                </c:pt>
                <c:pt idx="8">
                  <c:v>433</c:v>
                </c:pt>
                <c:pt idx="9">
                  <c:v>433</c:v>
                </c:pt>
                <c:pt idx="10">
                  <c:v>433</c:v>
                </c:pt>
                <c:pt idx="11">
                  <c:v>112</c:v>
                </c:pt>
                <c:pt idx="12">
                  <c:v>99</c:v>
                </c:pt>
                <c:pt idx="13">
                  <c:v>99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102</c:v>
                </c:pt>
                <c:pt idx="19">
                  <c:v>97</c:v>
                </c:pt>
                <c:pt idx="2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B7-4B5F-AFE6-D22CDC92B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5400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02-4D5C-B983-094A54CC15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56.7</c:v>
                </c:pt>
                <c:pt idx="10">
                  <c:v>56.7</c:v>
                </c:pt>
                <c:pt idx="11">
                  <c:v>50.6</c:v>
                </c:pt>
                <c:pt idx="12">
                  <c:v>50.6</c:v>
                </c:pt>
                <c:pt idx="13">
                  <c:v>50.6</c:v>
                </c:pt>
                <c:pt idx="14">
                  <c:v>50.5</c:v>
                </c:pt>
                <c:pt idx="15">
                  <c:v>50.5</c:v>
                </c:pt>
                <c:pt idx="16">
                  <c:v>50.5</c:v>
                </c:pt>
                <c:pt idx="17">
                  <c:v>50.5</c:v>
                </c:pt>
                <c:pt idx="18">
                  <c:v>50.5</c:v>
                </c:pt>
                <c:pt idx="19">
                  <c:v>50.4</c:v>
                </c:pt>
                <c:pt idx="20">
                  <c:v>50.4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B7-443F-957F-8F720A3EE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Duplication (%)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22.7</c:v>
                </c:pt>
                <c:pt idx="1">
                  <c:v>22.7</c:v>
                </c:pt>
                <c:pt idx="2">
                  <c:v>22.7</c:v>
                </c:pt>
                <c:pt idx="3">
                  <c:v>22.7</c:v>
                </c:pt>
                <c:pt idx="4">
                  <c:v>22.7</c:v>
                </c:pt>
                <c:pt idx="5">
                  <c:v>22.7</c:v>
                </c:pt>
                <c:pt idx="6">
                  <c:v>22.7</c:v>
                </c:pt>
                <c:pt idx="7">
                  <c:v>22.7</c:v>
                </c:pt>
                <c:pt idx="8">
                  <c:v>22.5</c:v>
                </c:pt>
                <c:pt idx="9">
                  <c:v>22.5</c:v>
                </c:pt>
                <c:pt idx="10">
                  <c:v>22.5</c:v>
                </c:pt>
                <c:pt idx="11">
                  <c:v>15.2</c:v>
                </c:pt>
                <c:pt idx="12">
                  <c:v>15.2</c:v>
                </c:pt>
                <c:pt idx="13">
                  <c:v>15.2</c:v>
                </c:pt>
                <c:pt idx="14">
                  <c:v>16.2</c:v>
                </c:pt>
                <c:pt idx="15">
                  <c:v>16.2</c:v>
                </c:pt>
                <c:pt idx="16">
                  <c:v>16.2</c:v>
                </c:pt>
                <c:pt idx="17">
                  <c:v>16.2</c:v>
                </c:pt>
                <c:pt idx="18">
                  <c:v>16.2</c:v>
                </c:pt>
                <c:pt idx="19">
                  <c:v>16.100000000000001</c:v>
                </c:pt>
                <c:pt idx="20">
                  <c:v>16.100000000000001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3A-42DA-8A70-43A9E66BDC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8575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3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01-4258-B389-7D04110495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8575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01-4258-B389-7D04110495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8575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104</c:v>
                </c:pt>
                <c:pt idx="1">
                  <c:v>104</c:v>
                </c:pt>
                <c:pt idx="2">
                  <c:v>104</c:v>
                </c:pt>
                <c:pt idx="3">
                  <c:v>104</c:v>
                </c:pt>
                <c:pt idx="4">
                  <c:v>93</c:v>
                </c:pt>
                <c:pt idx="5">
                  <c:v>93</c:v>
                </c:pt>
                <c:pt idx="6">
                  <c:v>91</c:v>
                </c:pt>
                <c:pt idx="7">
                  <c:v>91</c:v>
                </c:pt>
                <c:pt idx="8">
                  <c:v>93</c:v>
                </c:pt>
                <c:pt idx="9">
                  <c:v>93</c:v>
                </c:pt>
                <c:pt idx="10">
                  <c:v>93</c:v>
                </c:pt>
                <c:pt idx="11">
                  <c:v>93</c:v>
                </c:pt>
                <c:pt idx="12">
                  <c:v>91</c:v>
                </c:pt>
                <c:pt idx="13">
                  <c:v>92</c:v>
                </c:pt>
                <c:pt idx="14">
                  <c:v>92</c:v>
                </c:pt>
                <c:pt idx="15">
                  <c:v>93</c:v>
                </c:pt>
                <c:pt idx="16">
                  <c:v>91</c:v>
                </c:pt>
                <c:pt idx="17">
                  <c:v>91</c:v>
                </c:pt>
                <c:pt idx="18">
                  <c:v>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901-4258-B389-7D04110495C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8575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901-4258-B389-7D04110495C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8575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55.6</c:v>
                </c:pt>
                <c:pt idx="5">
                  <c:v>55.6</c:v>
                </c:pt>
                <c:pt idx="6">
                  <c:v>55.3</c:v>
                </c:pt>
                <c:pt idx="7">
                  <c:v>55.3</c:v>
                </c:pt>
                <c:pt idx="8">
                  <c:v>55.6</c:v>
                </c:pt>
                <c:pt idx="9">
                  <c:v>55.6</c:v>
                </c:pt>
                <c:pt idx="10">
                  <c:v>55.6</c:v>
                </c:pt>
                <c:pt idx="11">
                  <c:v>55.6</c:v>
                </c:pt>
                <c:pt idx="12">
                  <c:v>55.3</c:v>
                </c:pt>
                <c:pt idx="13">
                  <c:v>51.8</c:v>
                </c:pt>
                <c:pt idx="14">
                  <c:v>51.8</c:v>
                </c:pt>
                <c:pt idx="15">
                  <c:v>55.6</c:v>
                </c:pt>
                <c:pt idx="16">
                  <c:v>55.3</c:v>
                </c:pt>
                <c:pt idx="17">
                  <c:v>55.3</c:v>
                </c:pt>
                <c:pt idx="18">
                  <c:v>55.3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901-4258-B389-7D04110495C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Duplication (%)</c:v>
                </c:pt>
              </c:strCache>
            </c:strRef>
          </c:tx>
          <c:spPr>
            <a:ln w="28575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Sheet1!$G$2:$G$20</c:f>
              <c:numCache>
                <c:formatCode>General</c:formatCode>
                <c:ptCount val="19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39.9</c:v>
                </c:pt>
                <c:pt idx="5">
                  <c:v>39.9</c:v>
                </c:pt>
                <c:pt idx="6">
                  <c:v>40.200000000000003</c:v>
                </c:pt>
                <c:pt idx="7">
                  <c:v>40.200000000000003</c:v>
                </c:pt>
                <c:pt idx="8">
                  <c:v>39.9</c:v>
                </c:pt>
                <c:pt idx="9">
                  <c:v>39.9</c:v>
                </c:pt>
                <c:pt idx="10">
                  <c:v>39.9</c:v>
                </c:pt>
                <c:pt idx="11">
                  <c:v>39.9</c:v>
                </c:pt>
                <c:pt idx="12">
                  <c:v>39.6</c:v>
                </c:pt>
                <c:pt idx="13">
                  <c:v>38.1</c:v>
                </c:pt>
                <c:pt idx="14">
                  <c:v>38.1</c:v>
                </c:pt>
                <c:pt idx="15">
                  <c:v>1.5</c:v>
                </c:pt>
                <c:pt idx="16">
                  <c:v>1.5</c:v>
                </c:pt>
                <c:pt idx="17">
                  <c:v>1.5</c:v>
                </c:pt>
                <c:pt idx="18">
                  <c:v>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901-4258-B389-7D041104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4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4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3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53-48AB-8CCF-F9A389F27E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F8-427F-A7F4-F516621344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104</c:v>
                </c:pt>
                <c:pt idx="1">
                  <c:v>104</c:v>
                </c:pt>
                <c:pt idx="2">
                  <c:v>104</c:v>
                </c:pt>
                <c:pt idx="3">
                  <c:v>104</c:v>
                </c:pt>
                <c:pt idx="4">
                  <c:v>93</c:v>
                </c:pt>
                <c:pt idx="5">
                  <c:v>93</c:v>
                </c:pt>
                <c:pt idx="6">
                  <c:v>91</c:v>
                </c:pt>
                <c:pt idx="7">
                  <c:v>91</c:v>
                </c:pt>
                <c:pt idx="8">
                  <c:v>93</c:v>
                </c:pt>
                <c:pt idx="9">
                  <c:v>93</c:v>
                </c:pt>
                <c:pt idx="10">
                  <c:v>93</c:v>
                </c:pt>
                <c:pt idx="11">
                  <c:v>93</c:v>
                </c:pt>
                <c:pt idx="12">
                  <c:v>91</c:v>
                </c:pt>
                <c:pt idx="13">
                  <c:v>92</c:v>
                </c:pt>
                <c:pt idx="14">
                  <c:v>92</c:v>
                </c:pt>
                <c:pt idx="15">
                  <c:v>93</c:v>
                </c:pt>
                <c:pt idx="16">
                  <c:v>91</c:v>
                </c:pt>
                <c:pt idx="17">
                  <c:v>91</c:v>
                </c:pt>
                <c:pt idx="18">
                  <c:v>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E3-4849-B47C-8BC438E4D0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5400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84-463C-AFD3-3D1FB51A67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55.6</c:v>
                </c:pt>
                <c:pt idx="5">
                  <c:v>55.6</c:v>
                </c:pt>
                <c:pt idx="6">
                  <c:v>55.3</c:v>
                </c:pt>
                <c:pt idx="7">
                  <c:v>55.3</c:v>
                </c:pt>
                <c:pt idx="8">
                  <c:v>55.6</c:v>
                </c:pt>
                <c:pt idx="9">
                  <c:v>55.6</c:v>
                </c:pt>
                <c:pt idx="10">
                  <c:v>55.6</c:v>
                </c:pt>
                <c:pt idx="11">
                  <c:v>55.6</c:v>
                </c:pt>
                <c:pt idx="12">
                  <c:v>55.3</c:v>
                </c:pt>
                <c:pt idx="13">
                  <c:v>51.8</c:v>
                </c:pt>
                <c:pt idx="14">
                  <c:v>51.8</c:v>
                </c:pt>
                <c:pt idx="15">
                  <c:v>55.6</c:v>
                </c:pt>
                <c:pt idx="16">
                  <c:v>55.3</c:v>
                </c:pt>
                <c:pt idx="17">
                  <c:v>55.3</c:v>
                </c:pt>
                <c:pt idx="18">
                  <c:v>55.3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6B-40FC-9B1C-5A48C058E6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Duplication (%)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39.9</c:v>
                </c:pt>
                <c:pt idx="5">
                  <c:v>39.9</c:v>
                </c:pt>
                <c:pt idx="6">
                  <c:v>40.200000000000003</c:v>
                </c:pt>
                <c:pt idx="7">
                  <c:v>40.200000000000003</c:v>
                </c:pt>
                <c:pt idx="8">
                  <c:v>39.9</c:v>
                </c:pt>
                <c:pt idx="9">
                  <c:v>39.9</c:v>
                </c:pt>
                <c:pt idx="10">
                  <c:v>39.9</c:v>
                </c:pt>
                <c:pt idx="11">
                  <c:v>39.9</c:v>
                </c:pt>
                <c:pt idx="12">
                  <c:v>39.6</c:v>
                </c:pt>
                <c:pt idx="13">
                  <c:v>38.1</c:v>
                </c:pt>
                <c:pt idx="14">
                  <c:v>38.1</c:v>
                </c:pt>
                <c:pt idx="15">
                  <c:v>1.5</c:v>
                </c:pt>
                <c:pt idx="16">
                  <c:v>1.5</c:v>
                </c:pt>
                <c:pt idx="17">
                  <c:v>1.5</c:v>
                </c:pt>
                <c:pt idx="18">
                  <c:v>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19-4E13-8EAF-B6ECC02598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8575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13</c:v>
                </c:pt>
                <c:pt idx="1">
                  <c:v>13</c:v>
                </c:pt>
                <c:pt idx="2">
                  <c:v>14</c:v>
                </c:pt>
                <c:pt idx="3">
                  <c:v>14</c:v>
                </c:pt>
                <c:pt idx="4">
                  <c:v>13</c:v>
                </c:pt>
                <c:pt idx="5">
                  <c:v>13</c:v>
                </c:pt>
                <c:pt idx="6">
                  <c:v>13</c:v>
                </c:pt>
                <c:pt idx="7">
                  <c:v>13</c:v>
                </c:pt>
                <c:pt idx="8">
                  <c:v>13</c:v>
                </c:pt>
                <c:pt idx="9">
                  <c:v>12</c:v>
                </c:pt>
                <c:pt idx="10">
                  <c:v>13</c:v>
                </c:pt>
                <c:pt idx="11">
                  <c:v>13</c:v>
                </c:pt>
                <c:pt idx="12">
                  <c:v>13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7E-4702-8453-DF3C24735C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8575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C7E-4702-8453-DF3C24735CE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8575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290</c:v>
                </c:pt>
                <c:pt idx="1">
                  <c:v>290</c:v>
                </c:pt>
                <c:pt idx="2">
                  <c:v>293</c:v>
                </c:pt>
                <c:pt idx="3">
                  <c:v>203</c:v>
                </c:pt>
                <c:pt idx="4">
                  <c:v>180</c:v>
                </c:pt>
                <c:pt idx="5">
                  <c:v>160</c:v>
                </c:pt>
                <c:pt idx="6">
                  <c:v>160</c:v>
                </c:pt>
                <c:pt idx="7">
                  <c:v>133</c:v>
                </c:pt>
                <c:pt idx="8">
                  <c:v>133</c:v>
                </c:pt>
                <c:pt idx="9">
                  <c:v>154</c:v>
                </c:pt>
                <c:pt idx="10">
                  <c:v>133</c:v>
                </c:pt>
                <c:pt idx="11">
                  <c:v>133</c:v>
                </c:pt>
                <c:pt idx="12">
                  <c:v>133</c:v>
                </c:pt>
                <c:pt idx="13">
                  <c:v>131</c:v>
                </c:pt>
                <c:pt idx="14">
                  <c:v>131</c:v>
                </c:pt>
                <c:pt idx="15">
                  <c:v>131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C7E-4702-8453-DF3C24735CE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8575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C7E-4702-8453-DF3C24735CE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8575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41.7</c:v>
                </c:pt>
                <c:pt idx="7">
                  <c:v>44.7</c:v>
                </c:pt>
                <c:pt idx="8">
                  <c:v>44.7</c:v>
                </c:pt>
                <c:pt idx="9">
                  <c:v>41.9</c:v>
                </c:pt>
                <c:pt idx="10">
                  <c:v>44.7</c:v>
                </c:pt>
                <c:pt idx="11">
                  <c:v>44.7</c:v>
                </c:pt>
                <c:pt idx="12">
                  <c:v>44.7</c:v>
                </c:pt>
                <c:pt idx="13">
                  <c:v>44.3</c:v>
                </c:pt>
                <c:pt idx="14">
                  <c:v>44.3</c:v>
                </c:pt>
                <c:pt idx="15">
                  <c:v>44.3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C7E-4702-8453-DF3C24735CE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Duplication (%)</c:v>
                </c:pt>
              </c:strCache>
            </c:strRef>
          </c:tx>
          <c:spPr>
            <a:ln w="28575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Sheet1!$G$2:$G$17</c:f>
              <c:numCache>
                <c:formatCode>General</c:formatCode>
                <c:ptCount val="16"/>
                <c:pt idx="0">
                  <c:v>6.8</c:v>
                </c:pt>
                <c:pt idx="1">
                  <c:v>6.8</c:v>
                </c:pt>
                <c:pt idx="2">
                  <c:v>7.4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6.8</c:v>
                </c:pt>
                <c:pt idx="8">
                  <c:v>6.8</c:v>
                </c:pt>
                <c:pt idx="9">
                  <c:v>7.2</c:v>
                </c:pt>
                <c:pt idx="10">
                  <c:v>6.8</c:v>
                </c:pt>
                <c:pt idx="11">
                  <c:v>6.8</c:v>
                </c:pt>
                <c:pt idx="12">
                  <c:v>6.8</c:v>
                </c:pt>
                <c:pt idx="13">
                  <c:v>6.9</c:v>
                </c:pt>
                <c:pt idx="14">
                  <c:v>6.9</c:v>
                </c:pt>
                <c:pt idx="15">
                  <c:v>6.9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EC7E-4702-8453-DF3C24735C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4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4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13</c:v>
                </c:pt>
                <c:pt idx="1">
                  <c:v>13</c:v>
                </c:pt>
                <c:pt idx="2">
                  <c:v>14</c:v>
                </c:pt>
                <c:pt idx="3">
                  <c:v>14</c:v>
                </c:pt>
                <c:pt idx="4">
                  <c:v>13</c:v>
                </c:pt>
                <c:pt idx="5">
                  <c:v>13</c:v>
                </c:pt>
                <c:pt idx="6">
                  <c:v>13</c:v>
                </c:pt>
                <c:pt idx="7">
                  <c:v>13</c:v>
                </c:pt>
                <c:pt idx="8">
                  <c:v>13</c:v>
                </c:pt>
                <c:pt idx="9">
                  <c:v>12</c:v>
                </c:pt>
                <c:pt idx="10">
                  <c:v>13</c:v>
                </c:pt>
                <c:pt idx="11">
                  <c:v>13</c:v>
                </c:pt>
                <c:pt idx="12">
                  <c:v>13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79-4F6C-8045-31C440EB3B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B7-49F4-989F-6BEED6B742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290</c:v>
                </c:pt>
                <c:pt idx="1">
                  <c:v>290</c:v>
                </c:pt>
                <c:pt idx="2">
                  <c:v>293</c:v>
                </c:pt>
                <c:pt idx="3">
                  <c:v>203</c:v>
                </c:pt>
                <c:pt idx="4">
                  <c:v>180</c:v>
                </c:pt>
                <c:pt idx="5">
                  <c:v>160</c:v>
                </c:pt>
                <c:pt idx="6">
                  <c:v>160</c:v>
                </c:pt>
                <c:pt idx="7">
                  <c:v>133</c:v>
                </c:pt>
                <c:pt idx="8">
                  <c:v>133</c:v>
                </c:pt>
                <c:pt idx="9">
                  <c:v>154</c:v>
                </c:pt>
                <c:pt idx="10">
                  <c:v>133</c:v>
                </c:pt>
                <c:pt idx="11">
                  <c:v>133</c:v>
                </c:pt>
                <c:pt idx="12">
                  <c:v>133</c:v>
                </c:pt>
                <c:pt idx="13">
                  <c:v>131</c:v>
                </c:pt>
                <c:pt idx="14">
                  <c:v>131</c:v>
                </c:pt>
                <c:pt idx="15">
                  <c:v>131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C7-45FF-A840-9D4908630B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5400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B1-4CE7-BF65-9D680F64D8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41.7</c:v>
                </c:pt>
                <c:pt idx="7">
                  <c:v>44.7</c:v>
                </c:pt>
                <c:pt idx="8">
                  <c:v>44.7</c:v>
                </c:pt>
                <c:pt idx="9">
                  <c:v>41.9</c:v>
                </c:pt>
                <c:pt idx="10">
                  <c:v>44.7</c:v>
                </c:pt>
                <c:pt idx="11">
                  <c:v>44.7</c:v>
                </c:pt>
                <c:pt idx="12">
                  <c:v>44.7</c:v>
                </c:pt>
                <c:pt idx="13">
                  <c:v>44.3</c:v>
                </c:pt>
                <c:pt idx="14">
                  <c:v>44.3</c:v>
                </c:pt>
                <c:pt idx="15">
                  <c:v>44.3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F0-4D11-BF2F-4AEC034460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Duplication (%)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6.8</c:v>
                </c:pt>
                <c:pt idx="1">
                  <c:v>6.8</c:v>
                </c:pt>
                <c:pt idx="2">
                  <c:v>7.4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6.8</c:v>
                </c:pt>
                <c:pt idx="8">
                  <c:v>6.8</c:v>
                </c:pt>
                <c:pt idx="9">
                  <c:v>7.2</c:v>
                </c:pt>
                <c:pt idx="10">
                  <c:v>6.8</c:v>
                </c:pt>
                <c:pt idx="11">
                  <c:v>6.8</c:v>
                </c:pt>
                <c:pt idx="12">
                  <c:v>6.8</c:v>
                </c:pt>
                <c:pt idx="13">
                  <c:v>6.9</c:v>
                </c:pt>
                <c:pt idx="14">
                  <c:v>6.9</c:v>
                </c:pt>
                <c:pt idx="15">
                  <c:v>6.9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6B-42C8-91E9-0515BF03CD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48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image" Target="../media/image1.png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Relationship Id="rId9" Type="http://schemas.openxmlformats.org/officeDocument/2006/relationships/chart" Target="../charts/char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6.xml"/><Relationship Id="rId3" Type="http://schemas.openxmlformats.org/officeDocument/2006/relationships/image" Target="../media/image1.png"/><Relationship Id="rId7" Type="http://schemas.openxmlformats.org/officeDocument/2006/relationships/chart" Target="../charts/chart1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Relationship Id="rId9" Type="http://schemas.openxmlformats.org/officeDocument/2006/relationships/chart" Target="../charts/char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3.xml"/><Relationship Id="rId3" Type="http://schemas.openxmlformats.org/officeDocument/2006/relationships/image" Target="../media/image1.png"/><Relationship Id="rId7" Type="http://schemas.openxmlformats.org/officeDocument/2006/relationships/chart" Target="../charts/chart2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1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Relationship Id="rId9" Type="http://schemas.openxmlformats.org/officeDocument/2006/relationships/chart" Target="../charts/char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0.xml"/><Relationship Id="rId3" Type="http://schemas.openxmlformats.org/officeDocument/2006/relationships/image" Target="../media/image1.png"/><Relationship Id="rId7" Type="http://schemas.openxmlformats.org/officeDocument/2006/relationships/chart" Target="../charts/chart2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8.xml"/><Relationship Id="rId5" Type="http://schemas.openxmlformats.org/officeDocument/2006/relationships/chart" Target="../charts/chart27.xml"/><Relationship Id="rId4" Type="http://schemas.openxmlformats.org/officeDocument/2006/relationships/chart" Target="../charts/chart26.xml"/><Relationship Id="rId9" Type="http://schemas.openxmlformats.org/officeDocument/2006/relationships/chart" Target="../charts/chart3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7.xml"/><Relationship Id="rId3" Type="http://schemas.openxmlformats.org/officeDocument/2006/relationships/image" Target="../media/image1.png"/><Relationship Id="rId7" Type="http://schemas.openxmlformats.org/officeDocument/2006/relationships/chart" Target="../charts/chart3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5.xml"/><Relationship Id="rId5" Type="http://schemas.openxmlformats.org/officeDocument/2006/relationships/chart" Target="../charts/chart34.xml"/><Relationship Id="rId4" Type="http://schemas.openxmlformats.org/officeDocument/2006/relationships/chart" Target="../charts/chart33.xml"/><Relationship Id="rId9" Type="http://schemas.openxmlformats.org/officeDocument/2006/relationships/chart" Target="../charts/chart3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4.xml"/><Relationship Id="rId3" Type="http://schemas.openxmlformats.org/officeDocument/2006/relationships/image" Target="../media/image1.png"/><Relationship Id="rId7" Type="http://schemas.openxmlformats.org/officeDocument/2006/relationships/chart" Target="../charts/chart4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2.xml"/><Relationship Id="rId5" Type="http://schemas.openxmlformats.org/officeDocument/2006/relationships/chart" Target="../charts/chart41.xml"/><Relationship Id="rId4" Type="http://schemas.openxmlformats.org/officeDocument/2006/relationships/chart" Target="../charts/chart40.xml"/><Relationship Id="rId9" Type="http://schemas.openxmlformats.org/officeDocument/2006/relationships/chart" Target="../charts/chart4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1737360" cy="52120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2331720"/>
            <a:ext cx="502920" cy="502920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5" name="Text 1"/>
          <p:cNvSpPr/>
          <p:nvPr/>
        </p:nvSpPr>
        <p:spPr>
          <a:xfrm>
            <a:off x="5029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02920" y="301752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Report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502920" y="4617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Reliability &amp; Security Trends Across DXP Projects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01/07/2026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900" dirty="0"/>
          </a:p>
        </p:txBody>
      </p:sp>
      <p:pic>
        <p:nvPicPr>
          <p:cNvPr id="10" name="Image 0" descr="/home/claude/build/swirl.png">
            <a:extLst>
              <a:ext uri="{FF2B5EF4-FFF2-40B4-BE49-F238E27FC236}">
                <a16:creationId xmlns:a16="http://schemas.microsoft.com/office/drawing/2014/main" id="{A29DDD57-6920-BC43-012E-F426CC029F7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9071810" y="15880"/>
            <a:ext cx="3200400" cy="6842120"/>
          </a:xfrm>
          <a:prstGeom prst="rect">
            <a:avLst/>
          </a:prstGeom>
        </p:spPr>
      </p:pic>
      <p:sp>
        <p:nvSpPr>
          <p:cNvPr id="11" name="GTBClassificationH345138498">
            <a:extLst>
              <a:ext uri="{FF2B5EF4-FFF2-40B4-BE49-F238E27FC236}">
                <a16:creationId xmlns:a16="http://schemas.microsoft.com/office/drawing/2014/main" id="{60E1CDC7-5C18-0D3A-BC6D-9E48C50BF1B0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GUIDE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SonarQube Metrics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metrics captured in every scan and used throughout this report.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35935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" y="1627632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52704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issues that may cause incorrect behavior or application failures.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2633472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— 0 is ideal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42232" y="1463040"/>
            <a:ext cx="35935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6824" y="1627632"/>
            <a:ext cx="146304" cy="14630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152704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325112" y="1920240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security vulnerabilities detected in the source code.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325112" y="2633472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— 0 is ideal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827264" y="1463040"/>
            <a:ext cx="35935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91856" y="162763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8211312" y="152704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10144" y="1920240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issues — bad structure, duplicated logic, unused code, or poor practices.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010144" y="2633472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035808"/>
            <a:ext cx="35935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1792" y="3200400"/>
            <a:ext cx="146304" cy="146304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3099816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40080" y="3493008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Security-sensitive code that needs manual review. Not confirmed vulnerabilities.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080" y="4206240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Lower, and all reviewed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42232" y="3035808"/>
            <a:ext cx="35935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306824" y="3200400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5"/>
          <p:cNvSpPr/>
          <p:nvPr/>
        </p:nvSpPr>
        <p:spPr>
          <a:xfrm>
            <a:off x="4526280" y="3099816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325112" y="3493008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code covered by unit tests.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325112" y="4206240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827264" y="3035808"/>
            <a:ext cx="35935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991856" y="320040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0"/>
          <p:cNvSpPr/>
          <p:nvPr/>
        </p:nvSpPr>
        <p:spPr>
          <a:xfrm>
            <a:off x="8211312" y="3099816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8010144" y="3493008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duplicated lines or blocks in the codebase.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8010144" y="4206240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7200" y="4608576"/>
            <a:ext cx="35935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21792" y="4773168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8" name="Text 35"/>
          <p:cNvSpPr/>
          <p:nvPr/>
        </p:nvSpPr>
        <p:spPr>
          <a:xfrm>
            <a:off x="841248" y="4672584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Issues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40080" y="5065776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Bugs + Vulnerabilities + Code Smells + Security Hotspots.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40080" y="5779008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— 0 is ideal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42232" y="4608576"/>
            <a:ext cx="35935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306824" y="477316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3" name="Text 40"/>
          <p:cNvSpPr/>
          <p:nvPr/>
        </p:nvSpPr>
        <p:spPr>
          <a:xfrm>
            <a:off x="4526280" y="4672584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/ Security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Maintainability Rating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4325112" y="5065776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(A–E) reflecting code health across three dimensions.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4325112" y="5779008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best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827264" y="4608576"/>
            <a:ext cx="35935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7991856" y="4773168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8" name="Text 45"/>
          <p:cNvSpPr/>
          <p:nvPr/>
        </p:nvSpPr>
        <p:spPr>
          <a:xfrm>
            <a:off x="8211312" y="4672584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Status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8010144" y="5065776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result for the scan. Common values are OK or ERROR.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8010144" y="5779008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is the goal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Guide</a:t>
            </a:r>
            <a:endParaRPr lang="en-US" sz="800" dirty="0"/>
          </a:p>
        </p:txBody>
      </p:sp>
      <p:sp>
        <p:nvSpPr>
          <p:cNvPr id="53" name="GTBClassificationH866328747">
            <a:extLst>
              <a:ext uri="{FF2B5EF4-FFF2-40B4-BE49-F238E27FC236}">
                <a16:creationId xmlns:a16="http://schemas.microsoft.com/office/drawing/2014/main" id="{8B56CF95-F963-0834-DA65-F6AC39D85E98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— All Projects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1887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Tracked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670048" y="1097280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70048" y="11887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761488" y="17373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Passing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82896" y="1097280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82896" y="11887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974336" y="17373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Open Issues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095744" y="1097280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95744" y="11887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52.4%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187184" y="17373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Coverage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308592" y="1097280"/>
            <a:ext cx="2103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308592" y="11887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9400032" y="17373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Duplication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018520" cy="3291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Hotspots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Issues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BFF Web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Portal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Workshop Portal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OTP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4CC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Motor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Visa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Insurance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800" dirty="0"/>
          </a:p>
        </p:txBody>
      </p:sp>
      <p:sp>
        <p:nvSpPr>
          <p:cNvPr id="23" name="GTBClassificationH62364933">
            <a:extLst>
              <a:ext uri="{FF2B5EF4-FFF2-40B4-BE49-F238E27FC236}">
                <a16:creationId xmlns:a16="http://schemas.microsoft.com/office/drawing/2014/main" id="{49F50652-BEB5-62A8-F985-98466CC9FAA9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COMPARISON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Values — Coverage, Duplication &amp; Total Issues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scan values for each project across the three key health metrics.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47472" y="1389888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12064" y="150876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2064" y="1700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 — target ≥ 40%</a:t>
            </a:r>
            <a:endParaRPr lang="en-US" sz="9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84048" y="1920240"/>
          <a:ext cx="3584448" cy="2578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384048" y="3639312"/>
            <a:ext cx="3584448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dash"/>
          </a:ln>
        </p:spPr>
      </p:sp>
      <p:sp>
        <p:nvSpPr>
          <p:cNvPr id="12" name="Text 8"/>
          <p:cNvSpPr/>
          <p:nvPr/>
        </p:nvSpPr>
        <p:spPr>
          <a:xfrm>
            <a:off x="402336" y="3456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target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251960" y="1389888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16552" y="150876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1"/>
          <p:cNvSpPr/>
          <p:nvPr/>
        </p:nvSpPr>
        <p:spPr>
          <a:xfrm>
            <a:off x="4599432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(%)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416552" y="1700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 — target ≤ 20%</a:t>
            </a:r>
            <a:endParaRPr lang="en-US" sz="900" dirty="0"/>
          </a:p>
        </p:txBody>
      </p:sp>
      <p:graphicFrame>
        <p:nvGraphicFramePr>
          <p:cNvPr id="17" name="Chart 1"/>
          <p:cNvGraphicFramePr/>
          <p:nvPr/>
        </p:nvGraphicFramePr>
        <p:xfrm>
          <a:off x="4288536" y="1920240"/>
          <a:ext cx="3584448" cy="2578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Shape 13"/>
          <p:cNvSpPr/>
          <p:nvPr/>
        </p:nvSpPr>
        <p:spPr>
          <a:xfrm>
            <a:off x="8156448" y="1389888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21040" y="150876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5"/>
          <p:cNvSpPr/>
          <p:nvPr/>
        </p:nvSpPr>
        <p:spPr>
          <a:xfrm>
            <a:off x="8503920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321040" y="17007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+ Vulnerabilities + Smells + Hotspots</a:t>
            </a:r>
            <a:endParaRPr lang="en-US" sz="850" dirty="0"/>
          </a:p>
        </p:txBody>
      </p:sp>
      <p:graphicFrame>
        <p:nvGraphicFramePr>
          <p:cNvPr id="22" name="Chart 2"/>
          <p:cNvGraphicFramePr/>
          <p:nvPr/>
        </p:nvGraphicFramePr>
        <p:xfrm>
          <a:off x="8193024" y="1920240"/>
          <a:ext cx="3584448" cy="2578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3" name="Shape 17"/>
          <p:cNvSpPr/>
          <p:nvPr/>
        </p:nvSpPr>
        <p:spPr>
          <a:xfrm>
            <a:off x="457200" y="4773168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18"/>
          <p:cNvSpPr/>
          <p:nvPr/>
        </p:nvSpPr>
        <p:spPr>
          <a:xfrm>
            <a:off x="640080" y="47365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≥ 40% (good)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2834640" y="4773168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0"/>
          <p:cNvSpPr/>
          <p:nvPr/>
        </p:nvSpPr>
        <p:spPr>
          <a:xfrm>
            <a:off x="3017520" y="47365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&lt; 40% / Duplication 10-20% (attention)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5212080" y="4773168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2"/>
          <p:cNvSpPr/>
          <p:nvPr/>
        </p:nvSpPr>
        <p:spPr>
          <a:xfrm>
            <a:off x="5394960" y="47365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&gt; 20% / Issues &gt; 100 (critical)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7589520" y="477316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4"/>
          <p:cNvSpPr/>
          <p:nvPr/>
        </p:nvSpPr>
        <p:spPr>
          <a:xfrm>
            <a:off x="7772400" y="47365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≤ 10% (good)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9966960" y="4773168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26"/>
          <p:cNvSpPr/>
          <p:nvPr/>
        </p:nvSpPr>
        <p:spPr>
          <a:xfrm>
            <a:off x="10149840" y="47365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Issues ≤ 50 (good)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457200" y="507492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40080" y="5230368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29"/>
          <p:cNvSpPr/>
          <p:nvPr/>
        </p:nvSpPr>
        <p:spPr>
          <a:xfrm>
            <a:off x="640080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1115568" y="5257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Coverage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115568" y="55412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OTP: 85.6%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1115568" y="5852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scan value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4370832" y="507492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4553712" y="523036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5"/>
          <p:cNvSpPr/>
          <p:nvPr/>
        </p:nvSpPr>
        <p:spPr>
          <a:xfrm>
            <a:off x="4553712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42" name="Text 36"/>
          <p:cNvSpPr/>
          <p:nvPr/>
        </p:nvSpPr>
        <p:spPr>
          <a:xfrm>
            <a:off x="5029200" y="5257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Duplication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5029200" y="55412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OTP: 0%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5029200" y="5852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scan value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8284464" y="507492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8467344" y="5230368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7" name="Text 41"/>
          <p:cNvSpPr/>
          <p:nvPr/>
        </p:nvSpPr>
        <p:spPr>
          <a:xfrm>
            <a:off x="8467344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8942832" y="5257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Issues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8942832" y="55412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Web: 20</a:t>
            </a:r>
            <a:endParaRPr lang="en-US" sz="1300" dirty="0"/>
          </a:p>
        </p:txBody>
      </p:sp>
      <p:sp>
        <p:nvSpPr>
          <p:cNvPr id="50" name="Text 44"/>
          <p:cNvSpPr/>
          <p:nvPr/>
        </p:nvSpPr>
        <p:spPr>
          <a:xfrm>
            <a:off x="8942832" y="5852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scan value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Comparison</a:t>
            </a:r>
            <a:endParaRPr lang="en-US" sz="800" dirty="0"/>
          </a:p>
        </p:txBody>
      </p:sp>
      <p:sp>
        <p:nvSpPr>
          <p:cNvPr id="53" name="GTBClassificationH262752584">
            <a:extLst>
              <a:ext uri="{FF2B5EF4-FFF2-40B4-BE49-F238E27FC236}">
                <a16:creationId xmlns:a16="http://schemas.microsoft.com/office/drawing/2014/main" id="{C667DC00-77CD-868A-242C-363EC31813C8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55448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DXP-BFF-WEB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RECORDED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10896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10896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COVERAGE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71500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71500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DUPLICATION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32104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32104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800" dirty="0"/>
          </a:p>
        </p:txBody>
      </p:sp>
      <p:pic>
        <p:nvPicPr>
          <p:cNvPr id="16" name="Image 0" descr="/home/claude/build/swirl.png">
            <a:extLst>
              <a:ext uri="{FF2B5EF4-FFF2-40B4-BE49-F238E27FC236}">
                <a16:creationId xmlns:a16="http://schemas.microsoft.com/office/drawing/2014/main" id="{4C5655DA-3301-DDF7-7011-4D04AF7F50C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9071810" y="15880"/>
            <a:ext cx="3200400" cy="6842120"/>
          </a:xfrm>
          <a:prstGeom prst="rect">
            <a:avLst/>
          </a:prstGeom>
        </p:spPr>
      </p:pic>
      <p:sp>
        <p:nvSpPr>
          <p:cNvPr id="17" name="GTBClassificationH913770630">
            <a:extLst>
              <a:ext uri="{FF2B5EF4-FFF2-40B4-BE49-F238E27FC236}">
                <a16:creationId xmlns:a16="http://schemas.microsoft.com/office/drawing/2014/main" id="{E557405F-65CA-9F0F-0AD4-921EC1D92F4C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Combined Trend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73152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95528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156448" y="130759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156448" y="1554480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28, 2026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8156448" y="19476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8339328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339328" y="1892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56448" y="2258568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9"/>
          <p:cNvSpPr/>
          <p:nvPr/>
        </p:nvSpPr>
        <p:spPr>
          <a:xfrm>
            <a:off x="8339328" y="22037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339328" y="22037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56448" y="2569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8339328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339328" y="2514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56448" y="2880360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19" name="Text 15"/>
          <p:cNvSpPr/>
          <p:nvPr/>
        </p:nvSpPr>
        <p:spPr>
          <a:xfrm>
            <a:off x="8339328" y="2825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339328" y="28254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56448" y="319125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8339328" y="3136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8339328" y="3136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156448" y="350215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1"/>
          <p:cNvSpPr/>
          <p:nvPr/>
        </p:nvSpPr>
        <p:spPr>
          <a:xfrm>
            <a:off x="8339328" y="3447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339328" y="3447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45.6%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56448" y="38130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4"/>
          <p:cNvSpPr/>
          <p:nvPr/>
        </p:nvSpPr>
        <p:spPr>
          <a:xfrm>
            <a:off x="8339328" y="3758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8339328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156448" y="4142232"/>
            <a:ext cx="3346704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467344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8"/>
          <p:cNvSpPr/>
          <p:nvPr/>
        </p:nvSpPr>
        <p:spPr>
          <a:xfrm>
            <a:off x="8467344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8156448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9582912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31"/>
          <p:cNvSpPr/>
          <p:nvPr/>
        </p:nvSpPr>
        <p:spPr>
          <a:xfrm>
            <a:off x="9582912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9272016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10698480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8" name="Text 34"/>
          <p:cNvSpPr/>
          <p:nvPr/>
        </p:nvSpPr>
        <p:spPr>
          <a:xfrm>
            <a:off x="10698480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10387584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8156448" y="5175504"/>
            <a:ext cx="3346704" cy="438912"/>
          </a:xfrm>
          <a:prstGeom prst="roundRect">
            <a:avLst>
              <a:gd name="adj" fmla="val 14583"/>
            </a:avLst>
          </a:prstGeom>
          <a:solidFill>
            <a:srgbClr val="EAFBF1"/>
          </a:solidFill>
          <a:ln/>
        </p:spPr>
      </p:sp>
      <p:sp>
        <p:nvSpPr>
          <p:cNvPr id="41" name="Text 37"/>
          <p:cNvSpPr/>
          <p:nvPr/>
        </p:nvSpPr>
        <p:spPr>
          <a:xfrm>
            <a:off x="8156448" y="517550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OK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800" dirty="0"/>
          </a:p>
        </p:txBody>
      </p:sp>
      <p:sp>
        <p:nvSpPr>
          <p:cNvPr id="44" name="GTBClassificationH594538643">
            <a:extLst>
              <a:ext uri="{FF2B5EF4-FFF2-40B4-BE49-F238E27FC236}">
                <a16:creationId xmlns:a16="http://schemas.microsoft.com/office/drawing/2014/main" id="{B96E2DF6-B114-F162-637F-D1CDF0998640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Trends — Individual Breakdown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2529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154680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30352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279392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16552" y="1225296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8"/>
          <p:cNvSpPr/>
          <p:nvPr/>
        </p:nvSpPr>
        <p:spPr>
          <a:xfrm>
            <a:off x="4590288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976872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352544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Shape 10"/>
          <p:cNvSpPr/>
          <p:nvPr/>
        </p:nvSpPr>
        <p:spPr>
          <a:xfrm>
            <a:off x="8101584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38744" y="122529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/>
          <p:nvPr/>
        </p:nvSpPr>
        <p:spPr>
          <a:xfrm>
            <a:off x="8412480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799064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8174736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Shape 14"/>
          <p:cNvSpPr/>
          <p:nvPr/>
        </p:nvSpPr>
        <p:spPr>
          <a:xfrm>
            <a:off x="457200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" y="334670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2" name="Text 16"/>
          <p:cNvSpPr/>
          <p:nvPr/>
        </p:nvSpPr>
        <p:spPr>
          <a:xfrm>
            <a:off x="768096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154680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24" name="Chart 3"/>
          <p:cNvGraphicFramePr/>
          <p:nvPr/>
        </p:nvGraphicFramePr>
        <p:xfrm>
          <a:off x="530352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4279392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16552" y="334670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0"/>
          <p:cNvSpPr/>
          <p:nvPr/>
        </p:nvSpPr>
        <p:spPr>
          <a:xfrm>
            <a:off x="4590288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976872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45.6%</a:t>
            </a:r>
            <a:endParaRPr lang="en-US" sz="1300" dirty="0"/>
          </a:p>
        </p:txBody>
      </p:sp>
      <p:graphicFrame>
        <p:nvGraphicFramePr>
          <p:cNvPr id="29" name="Chart 4"/>
          <p:cNvGraphicFramePr/>
          <p:nvPr/>
        </p:nvGraphicFramePr>
        <p:xfrm>
          <a:off x="4352544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Shape 22"/>
          <p:cNvSpPr/>
          <p:nvPr/>
        </p:nvSpPr>
        <p:spPr>
          <a:xfrm>
            <a:off x="8101584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38744" y="334670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24"/>
          <p:cNvSpPr/>
          <p:nvPr/>
        </p:nvSpPr>
        <p:spPr>
          <a:xfrm>
            <a:off x="8412480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(%)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10799064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300" dirty="0"/>
          </a:p>
        </p:txBody>
      </p:sp>
      <p:graphicFrame>
        <p:nvGraphicFramePr>
          <p:cNvPr id="34" name="Chart 5"/>
          <p:cNvGraphicFramePr/>
          <p:nvPr/>
        </p:nvGraphicFramePr>
        <p:xfrm>
          <a:off x="8174736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5" name="Text 26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800" dirty="0"/>
          </a:p>
        </p:txBody>
      </p:sp>
      <p:sp>
        <p:nvSpPr>
          <p:cNvPr id="37" name="GTBClassificationH1029076154">
            <a:extLst>
              <a:ext uri="{FF2B5EF4-FFF2-40B4-BE49-F238E27FC236}">
                <a16:creationId xmlns:a16="http://schemas.microsoft.com/office/drawing/2014/main" id="{D4225540-4B87-84FE-D3E6-7FEB1A8C31F9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swirl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9071810" y="15880"/>
            <a:ext cx="3200400" cy="6842120"/>
          </a:xfrm>
          <a:prstGeom prst="rect">
            <a:avLst/>
          </a:prstGeom>
        </p:spPr>
      </p:pic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760"/>
            <a:ext cx="155448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DXP-DH-RECOVERY-PORTAL-V3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Portal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RECORDED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10896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10896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COVERAGE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71500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71500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DUPLICATION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32104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32104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Portal</a:t>
            </a:r>
            <a:endParaRPr lang="en-US" sz="800" dirty="0"/>
          </a:p>
        </p:txBody>
      </p:sp>
      <p:sp>
        <p:nvSpPr>
          <p:cNvPr id="16" name="GTBClassificationH2038521881">
            <a:extLst>
              <a:ext uri="{FF2B5EF4-FFF2-40B4-BE49-F238E27FC236}">
                <a16:creationId xmlns:a16="http://schemas.microsoft.com/office/drawing/2014/main" id="{2594DD34-B654-6867-C23B-D0DD8BC87272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PORTAL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Combined Trend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73152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95528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156448" y="130759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156448" y="1554480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4, 2026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8156448" y="19476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8339328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339328" y="1892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56448" y="2258568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9"/>
          <p:cNvSpPr/>
          <p:nvPr/>
        </p:nvSpPr>
        <p:spPr>
          <a:xfrm>
            <a:off x="8339328" y="22037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339328" y="22037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56448" y="2569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8339328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339328" y="2514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56448" y="2880360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19" name="Text 15"/>
          <p:cNvSpPr/>
          <p:nvPr/>
        </p:nvSpPr>
        <p:spPr>
          <a:xfrm>
            <a:off x="8339328" y="2825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339328" y="28254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56448" y="319125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8339328" y="3136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8339328" y="3136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156448" y="350215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1"/>
          <p:cNvSpPr/>
          <p:nvPr/>
        </p:nvSpPr>
        <p:spPr>
          <a:xfrm>
            <a:off x="8339328" y="3447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339328" y="3447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56448" y="38130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4"/>
          <p:cNvSpPr/>
          <p:nvPr/>
        </p:nvSpPr>
        <p:spPr>
          <a:xfrm>
            <a:off x="8339328" y="3758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8339328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156448" y="4142232"/>
            <a:ext cx="3346704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467344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8"/>
          <p:cNvSpPr/>
          <p:nvPr/>
        </p:nvSpPr>
        <p:spPr>
          <a:xfrm>
            <a:off x="8467344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8156448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9582912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31"/>
          <p:cNvSpPr/>
          <p:nvPr/>
        </p:nvSpPr>
        <p:spPr>
          <a:xfrm>
            <a:off x="9582912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9272016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10698480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8" name="Text 34"/>
          <p:cNvSpPr/>
          <p:nvPr/>
        </p:nvSpPr>
        <p:spPr>
          <a:xfrm>
            <a:off x="10698480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10387584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8156448" y="5175504"/>
            <a:ext cx="3346704" cy="438912"/>
          </a:xfrm>
          <a:prstGeom prst="roundRect">
            <a:avLst>
              <a:gd name="adj" fmla="val 14583"/>
            </a:avLst>
          </a:prstGeom>
          <a:solidFill>
            <a:srgbClr val="EAFBF1"/>
          </a:solidFill>
          <a:ln/>
        </p:spPr>
      </p:sp>
      <p:sp>
        <p:nvSpPr>
          <p:cNvPr id="41" name="Text 37"/>
          <p:cNvSpPr/>
          <p:nvPr/>
        </p:nvSpPr>
        <p:spPr>
          <a:xfrm>
            <a:off x="8156448" y="517550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OK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Portal</a:t>
            </a:r>
            <a:endParaRPr lang="en-US" sz="800" dirty="0"/>
          </a:p>
        </p:txBody>
      </p:sp>
      <p:sp>
        <p:nvSpPr>
          <p:cNvPr id="44" name="GTBClassificationH1369709275">
            <a:extLst>
              <a:ext uri="{FF2B5EF4-FFF2-40B4-BE49-F238E27FC236}">
                <a16:creationId xmlns:a16="http://schemas.microsoft.com/office/drawing/2014/main" id="{6F0EFF97-B6C4-5B18-6CCB-CDB2589E47D0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PORTAL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Trends — Individual Breakdown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2529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154680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30352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279392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16552" y="1225296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8"/>
          <p:cNvSpPr/>
          <p:nvPr/>
        </p:nvSpPr>
        <p:spPr>
          <a:xfrm>
            <a:off x="4590288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976872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352544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Shape 10"/>
          <p:cNvSpPr/>
          <p:nvPr/>
        </p:nvSpPr>
        <p:spPr>
          <a:xfrm>
            <a:off x="8101584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38744" y="122529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/>
          <p:nvPr/>
        </p:nvSpPr>
        <p:spPr>
          <a:xfrm>
            <a:off x="8412480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799064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8174736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Shape 14"/>
          <p:cNvSpPr/>
          <p:nvPr/>
        </p:nvSpPr>
        <p:spPr>
          <a:xfrm>
            <a:off x="457200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" y="334670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2" name="Text 16"/>
          <p:cNvSpPr/>
          <p:nvPr/>
        </p:nvSpPr>
        <p:spPr>
          <a:xfrm>
            <a:off x="768096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154680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24" name="Chart 3"/>
          <p:cNvGraphicFramePr/>
          <p:nvPr/>
        </p:nvGraphicFramePr>
        <p:xfrm>
          <a:off x="530352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4279392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16552" y="334670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0"/>
          <p:cNvSpPr/>
          <p:nvPr/>
        </p:nvSpPr>
        <p:spPr>
          <a:xfrm>
            <a:off x="4590288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976872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1300" dirty="0"/>
          </a:p>
        </p:txBody>
      </p:sp>
      <p:graphicFrame>
        <p:nvGraphicFramePr>
          <p:cNvPr id="29" name="Chart 4"/>
          <p:cNvGraphicFramePr/>
          <p:nvPr/>
        </p:nvGraphicFramePr>
        <p:xfrm>
          <a:off x="4352544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Shape 22"/>
          <p:cNvSpPr/>
          <p:nvPr/>
        </p:nvSpPr>
        <p:spPr>
          <a:xfrm>
            <a:off x="8101584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38744" y="334670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24"/>
          <p:cNvSpPr/>
          <p:nvPr/>
        </p:nvSpPr>
        <p:spPr>
          <a:xfrm>
            <a:off x="8412480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(%)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10799064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1300" dirty="0"/>
          </a:p>
        </p:txBody>
      </p:sp>
      <p:graphicFrame>
        <p:nvGraphicFramePr>
          <p:cNvPr id="34" name="Chart 5"/>
          <p:cNvGraphicFramePr/>
          <p:nvPr/>
        </p:nvGraphicFramePr>
        <p:xfrm>
          <a:off x="8174736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5" name="Text 26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Portal</a:t>
            </a:r>
            <a:endParaRPr lang="en-US" sz="800" dirty="0"/>
          </a:p>
        </p:txBody>
      </p:sp>
      <p:sp>
        <p:nvSpPr>
          <p:cNvPr id="37" name="GTBClassificationH443580142">
            <a:extLst>
              <a:ext uri="{FF2B5EF4-FFF2-40B4-BE49-F238E27FC236}">
                <a16:creationId xmlns:a16="http://schemas.microsoft.com/office/drawing/2014/main" id="{A87D9A57-5C87-26C8-C3E4-D05810163B88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55448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DXP-DH-WORKSHOP-PORTAL-V3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Portal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RECORDED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10896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10896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COVERAGE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71500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71500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DUPLICATION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32104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32104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Portal</a:t>
            </a:r>
            <a:endParaRPr lang="en-US" sz="800" dirty="0"/>
          </a:p>
        </p:txBody>
      </p:sp>
      <p:pic>
        <p:nvPicPr>
          <p:cNvPr id="16" name="Image 0" descr="/home/claude/build/swirl.png">
            <a:extLst>
              <a:ext uri="{FF2B5EF4-FFF2-40B4-BE49-F238E27FC236}">
                <a16:creationId xmlns:a16="http://schemas.microsoft.com/office/drawing/2014/main" id="{E4EB599C-DDD0-95E0-EDFA-448EBD8FBC1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9071810" y="15880"/>
            <a:ext cx="3200400" cy="6842120"/>
          </a:xfrm>
          <a:prstGeom prst="rect">
            <a:avLst/>
          </a:prstGeom>
        </p:spPr>
      </p:pic>
      <p:sp>
        <p:nvSpPr>
          <p:cNvPr id="17" name="GTBClassificationH1550927319">
            <a:extLst>
              <a:ext uri="{FF2B5EF4-FFF2-40B4-BE49-F238E27FC236}">
                <a16:creationId xmlns:a16="http://schemas.microsoft.com/office/drawing/2014/main" id="{CC5E20CC-D030-9669-6AF6-978E87501402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PORTAL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Combined Trend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73152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95528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156448" y="130759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156448" y="1554480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23, 2026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8156448" y="19476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8339328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339328" y="1892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56448" y="2258568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9"/>
          <p:cNvSpPr/>
          <p:nvPr/>
        </p:nvSpPr>
        <p:spPr>
          <a:xfrm>
            <a:off x="8339328" y="22037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339328" y="22037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56448" y="2569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8339328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339328" y="2514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56448" y="2880360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19" name="Text 15"/>
          <p:cNvSpPr/>
          <p:nvPr/>
        </p:nvSpPr>
        <p:spPr>
          <a:xfrm>
            <a:off x="8339328" y="2825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339328" y="28254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56448" y="319125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8339328" y="3136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8339328" y="3136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156448" y="350215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1"/>
          <p:cNvSpPr/>
          <p:nvPr/>
        </p:nvSpPr>
        <p:spPr>
          <a:xfrm>
            <a:off x="8339328" y="3447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339328" y="3447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43.2%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56448" y="38130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4"/>
          <p:cNvSpPr/>
          <p:nvPr/>
        </p:nvSpPr>
        <p:spPr>
          <a:xfrm>
            <a:off x="8339328" y="3758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8339328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156448" y="4142232"/>
            <a:ext cx="3346704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467344" y="4279392"/>
            <a:ext cx="493776" cy="4937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28"/>
          <p:cNvSpPr/>
          <p:nvPr/>
        </p:nvSpPr>
        <p:spPr>
          <a:xfrm>
            <a:off x="8467344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8156448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9582912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31"/>
          <p:cNvSpPr/>
          <p:nvPr/>
        </p:nvSpPr>
        <p:spPr>
          <a:xfrm>
            <a:off x="9582912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9272016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10698480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8" name="Text 34"/>
          <p:cNvSpPr/>
          <p:nvPr/>
        </p:nvSpPr>
        <p:spPr>
          <a:xfrm>
            <a:off x="10698480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10387584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8156448" y="5175504"/>
            <a:ext cx="3346704" cy="438912"/>
          </a:xfrm>
          <a:prstGeom prst="roundRect">
            <a:avLst>
              <a:gd name="adj" fmla="val 14583"/>
            </a:avLst>
          </a:prstGeom>
          <a:solidFill>
            <a:srgbClr val="EAFBF1"/>
          </a:solidFill>
          <a:ln/>
        </p:spPr>
      </p:sp>
      <p:sp>
        <p:nvSpPr>
          <p:cNvPr id="41" name="Text 37"/>
          <p:cNvSpPr/>
          <p:nvPr/>
        </p:nvSpPr>
        <p:spPr>
          <a:xfrm>
            <a:off x="8156448" y="517550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OK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Portal</a:t>
            </a:r>
            <a:endParaRPr lang="en-US" sz="800" dirty="0"/>
          </a:p>
        </p:txBody>
      </p:sp>
      <p:sp>
        <p:nvSpPr>
          <p:cNvPr id="44" name="GTBClassificationH379547160">
            <a:extLst>
              <a:ext uri="{FF2B5EF4-FFF2-40B4-BE49-F238E27FC236}">
                <a16:creationId xmlns:a16="http://schemas.microsoft.com/office/drawing/2014/main" id="{9BE34DEC-B002-3380-6E9F-0A2CE13D5D00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PORTAL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Trends — Individual Breakdown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2529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154680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30352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279392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16552" y="1225296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8"/>
          <p:cNvSpPr/>
          <p:nvPr/>
        </p:nvSpPr>
        <p:spPr>
          <a:xfrm>
            <a:off x="4590288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976872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352544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Shape 10"/>
          <p:cNvSpPr/>
          <p:nvPr/>
        </p:nvSpPr>
        <p:spPr>
          <a:xfrm>
            <a:off x="8101584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38744" y="122529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/>
          <p:nvPr/>
        </p:nvSpPr>
        <p:spPr>
          <a:xfrm>
            <a:off x="8412480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799064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30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8174736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Shape 14"/>
          <p:cNvSpPr/>
          <p:nvPr/>
        </p:nvSpPr>
        <p:spPr>
          <a:xfrm>
            <a:off x="457200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" y="334670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2" name="Text 16"/>
          <p:cNvSpPr/>
          <p:nvPr/>
        </p:nvSpPr>
        <p:spPr>
          <a:xfrm>
            <a:off x="768096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154680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24" name="Chart 3"/>
          <p:cNvGraphicFramePr/>
          <p:nvPr/>
        </p:nvGraphicFramePr>
        <p:xfrm>
          <a:off x="530352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4279392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16552" y="334670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0"/>
          <p:cNvSpPr/>
          <p:nvPr/>
        </p:nvSpPr>
        <p:spPr>
          <a:xfrm>
            <a:off x="4590288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976872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43.2%</a:t>
            </a:r>
            <a:endParaRPr lang="en-US" sz="1300" dirty="0"/>
          </a:p>
        </p:txBody>
      </p:sp>
      <p:graphicFrame>
        <p:nvGraphicFramePr>
          <p:cNvPr id="29" name="Chart 4"/>
          <p:cNvGraphicFramePr/>
          <p:nvPr/>
        </p:nvGraphicFramePr>
        <p:xfrm>
          <a:off x="4352544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Shape 22"/>
          <p:cNvSpPr/>
          <p:nvPr/>
        </p:nvSpPr>
        <p:spPr>
          <a:xfrm>
            <a:off x="8101584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38744" y="334670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24"/>
          <p:cNvSpPr/>
          <p:nvPr/>
        </p:nvSpPr>
        <p:spPr>
          <a:xfrm>
            <a:off x="8412480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(%)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10799064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300" dirty="0"/>
          </a:p>
        </p:txBody>
      </p:sp>
      <p:graphicFrame>
        <p:nvGraphicFramePr>
          <p:cNvPr id="34" name="Chart 5"/>
          <p:cNvGraphicFramePr/>
          <p:nvPr/>
        </p:nvGraphicFramePr>
        <p:xfrm>
          <a:off x="8174736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5" name="Text 26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Portal</a:t>
            </a:r>
            <a:endParaRPr lang="en-US" sz="800" dirty="0"/>
          </a:p>
        </p:txBody>
      </p:sp>
      <p:sp>
        <p:nvSpPr>
          <p:cNvPr id="37" name="GTBClassificationH1905476166">
            <a:extLst>
              <a:ext uri="{FF2B5EF4-FFF2-40B4-BE49-F238E27FC236}">
                <a16:creationId xmlns:a16="http://schemas.microsoft.com/office/drawing/2014/main" id="{3BE0E300-DE30-BD15-7412-A9D0087F30BC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55448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DXP-FE-Life-OTP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OTP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RECORDED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10896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10896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COVERAGE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71500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71500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DUPLICATION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32104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32104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OTP</a:t>
            </a:r>
            <a:endParaRPr lang="en-US" sz="800" dirty="0"/>
          </a:p>
        </p:txBody>
      </p:sp>
      <p:pic>
        <p:nvPicPr>
          <p:cNvPr id="16" name="Image 0" descr="/home/claude/build/swirl.png">
            <a:extLst>
              <a:ext uri="{FF2B5EF4-FFF2-40B4-BE49-F238E27FC236}">
                <a16:creationId xmlns:a16="http://schemas.microsoft.com/office/drawing/2014/main" id="{460071D1-4823-E516-2787-A5C5AE21C97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9071810" y="15880"/>
            <a:ext cx="3200400" cy="6842120"/>
          </a:xfrm>
          <a:prstGeom prst="rect">
            <a:avLst/>
          </a:prstGeom>
        </p:spPr>
      </p:pic>
      <p:sp>
        <p:nvSpPr>
          <p:cNvPr id="17" name="GTBClassificationH1073756435">
            <a:extLst>
              <a:ext uri="{FF2B5EF4-FFF2-40B4-BE49-F238E27FC236}">
                <a16:creationId xmlns:a16="http://schemas.microsoft.com/office/drawing/2014/main" id="{A5EAEB0C-D025-5FC9-04F5-8BA22C7048B8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OTP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Combined Trend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73152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2004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scan recorded for this project — trend chart requires multiple data points.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5528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156448" y="130759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56448" y="1554480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9, 2026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156448" y="19476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8339328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339328" y="1892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56448" y="2258568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4" name="Text 11"/>
          <p:cNvSpPr/>
          <p:nvPr/>
        </p:nvSpPr>
        <p:spPr>
          <a:xfrm>
            <a:off x="8339328" y="22037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339328" y="22037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56448" y="2569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8339328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339328" y="2514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156448" y="2880360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0" name="Text 17"/>
          <p:cNvSpPr/>
          <p:nvPr/>
        </p:nvSpPr>
        <p:spPr>
          <a:xfrm>
            <a:off x="8339328" y="2825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339328" y="28254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156448" y="319125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8339328" y="3136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339328" y="3136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156448" y="350215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3"/>
          <p:cNvSpPr/>
          <p:nvPr/>
        </p:nvSpPr>
        <p:spPr>
          <a:xfrm>
            <a:off x="8339328" y="3447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339328" y="3447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85.6%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156448" y="38130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6"/>
          <p:cNvSpPr/>
          <p:nvPr/>
        </p:nvSpPr>
        <p:spPr>
          <a:xfrm>
            <a:off x="8339328" y="3758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339328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156448" y="4142232"/>
            <a:ext cx="3346704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67344" y="4279392"/>
            <a:ext cx="493776" cy="493776"/>
          </a:xfrm>
          <a:prstGeom prst="ellipse">
            <a:avLst/>
          </a:prstGeom>
          <a:solidFill>
            <a:srgbClr val="84CC16"/>
          </a:solidFill>
          <a:ln/>
        </p:spPr>
      </p:sp>
      <p:sp>
        <p:nvSpPr>
          <p:cNvPr id="33" name="Text 30"/>
          <p:cNvSpPr/>
          <p:nvPr/>
        </p:nvSpPr>
        <p:spPr>
          <a:xfrm>
            <a:off x="8467344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156448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9582912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6" name="Text 33"/>
          <p:cNvSpPr/>
          <p:nvPr/>
        </p:nvSpPr>
        <p:spPr>
          <a:xfrm>
            <a:off x="9582912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9272016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10698480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9" name="Text 36"/>
          <p:cNvSpPr/>
          <p:nvPr/>
        </p:nvSpPr>
        <p:spPr>
          <a:xfrm>
            <a:off x="10698480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0387584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8156448" y="5175504"/>
            <a:ext cx="3346704" cy="438912"/>
          </a:xfrm>
          <a:prstGeom prst="roundRect">
            <a:avLst>
              <a:gd name="adj" fmla="val 14583"/>
            </a:avLst>
          </a:prstGeom>
          <a:solidFill>
            <a:srgbClr val="EAFBF1"/>
          </a:solidFill>
          <a:ln/>
        </p:spPr>
      </p:sp>
      <p:sp>
        <p:nvSpPr>
          <p:cNvPr id="42" name="Text 39"/>
          <p:cNvSpPr/>
          <p:nvPr/>
        </p:nvSpPr>
        <p:spPr>
          <a:xfrm>
            <a:off x="8156448" y="517550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OK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OTP</a:t>
            </a:r>
            <a:endParaRPr lang="en-US" sz="800" dirty="0"/>
          </a:p>
        </p:txBody>
      </p:sp>
      <p:sp>
        <p:nvSpPr>
          <p:cNvPr id="45" name="GTBClassificationH939656730">
            <a:extLst>
              <a:ext uri="{FF2B5EF4-FFF2-40B4-BE49-F238E27FC236}">
                <a16:creationId xmlns:a16="http://schemas.microsoft.com/office/drawing/2014/main" id="{2C2F357C-906C-053A-43DB-BD674C2C5316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OTP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Trends — Individual Breakdown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2529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154680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938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point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79392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16552" y="1225296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9"/>
          <p:cNvSpPr/>
          <p:nvPr/>
        </p:nvSpPr>
        <p:spPr>
          <a:xfrm>
            <a:off x="4590288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976872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62272" y="1938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point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01584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38744" y="122529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0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799064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84464" y="1938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point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34670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2" name="Text 19"/>
          <p:cNvSpPr/>
          <p:nvPr/>
        </p:nvSpPr>
        <p:spPr>
          <a:xfrm>
            <a:off x="768096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154680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0080" y="40599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point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279392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16552" y="334670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4"/>
          <p:cNvSpPr/>
          <p:nvPr/>
        </p:nvSpPr>
        <p:spPr>
          <a:xfrm>
            <a:off x="4590288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976872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85.6%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462272" y="40599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point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101584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238744" y="334670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29"/>
          <p:cNvSpPr/>
          <p:nvPr/>
        </p:nvSpPr>
        <p:spPr>
          <a:xfrm>
            <a:off x="8412480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(%)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799064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84464" y="40599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point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OTP</a:t>
            </a:r>
            <a:endParaRPr lang="en-US" sz="800" dirty="0"/>
          </a:p>
        </p:txBody>
      </p:sp>
      <p:sp>
        <p:nvSpPr>
          <p:cNvPr id="37" name="GTBClassificationH947800267">
            <a:extLst>
              <a:ext uri="{FF2B5EF4-FFF2-40B4-BE49-F238E27FC236}">
                <a16:creationId xmlns:a16="http://schemas.microsoft.com/office/drawing/2014/main" id="{CCC05BCE-EA8E-E79C-B819-B41BBBD4D9C2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55448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DXP-FE-SALES-MOTOR-V3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Motor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RECORDED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10896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10896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COVERAGE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71500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71500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DUPLICATION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32104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32104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Motor</a:t>
            </a:r>
            <a:endParaRPr lang="en-US" sz="800" dirty="0"/>
          </a:p>
        </p:txBody>
      </p:sp>
      <p:pic>
        <p:nvPicPr>
          <p:cNvPr id="16" name="Image 0" descr="/home/claude/build/swirl.png">
            <a:extLst>
              <a:ext uri="{FF2B5EF4-FFF2-40B4-BE49-F238E27FC236}">
                <a16:creationId xmlns:a16="http://schemas.microsoft.com/office/drawing/2014/main" id="{50383059-5DEE-89FD-EAD6-D3ABB050FA6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9071810" y="15880"/>
            <a:ext cx="3200400" cy="6842120"/>
          </a:xfrm>
          <a:prstGeom prst="rect">
            <a:avLst/>
          </a:prstGeom>
        </p:spPr>
      </p:pic>
      <p:sp>
        <p:nvSpPr>
          <p:cNvPr id="17" name="GTBClassificationH1161812599">
            <a:extLst>
              <a:ext uri="{FF2B5EF4-FFF2-40B4-BE49-F238E27FC236}">
                <a16:creationId xmlns:a16="http://schemas.microsoft.com/office/drawing/2014/main" id="{628B5839-BAAF-B82B-00EE-53B1322A1406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MOTOR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Combined Trend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73152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95528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156448" y="130759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156448" y="1554480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29, 2026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8156448" y="19476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8339328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339328" y="1892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56448" y="2258568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9"/>
          <p:cNvSpPr/>
          <p:nvPr/>
        </p:nvSpPr>
        <p:spPr>
          <a:xfrm>
            <a:off x="8339328" y="22037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339328" y="22037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56448" y="2569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8339328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339328" y="2514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56448" y="2880360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19" name="Text 15"/>
          <p:cNvSpPr/>
          <p:nvPr/>
        </p:nvSpPr>
        <p:spPr>
          <a:xfrm>
            <a:off x="8339328" y="2825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339328" y="28254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56448" y="319125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8339328" y="3136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8339328" y="3136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156448" y="350215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1"/>
          <p:cNvSpPr/>
          <p:nvPr/>
        </p:nvSpPr>
        <p:spPr>
          <a:xfrm>
            <a:off x="8339328" y="3447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339328" y="3447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50.4%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56448" y="38130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4"/>
          <p:cNvSpPr/>
          <p:nvPr/>
        </p:nvSpPr>
        <p:spPr>
          <a:xfrm>
            <a:off x="8339328" y="3758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8339328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156448" y="4142232"/>
            <a:ext cx="3346704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467344" y="4279392"/>
            <a:ext cx="493776" cy="4937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28"/>
          <p:cNvSpPr/>
          <p:nvPr/>
        </p:nvSpPr>
        <p:spPr>
          <a:xfrm>
            <a:off x="8467344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8156448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9582912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31"/>
          <p:cNvSpPr/>
          <p:nvPr/>
        </p:nvSpPr>
        <p:spPr>
          <a:xfrm>
            <a:off x="9582912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9272016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10698480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8" name="Text 34"/>
          <p:cNvSpPr/>
          <p:nvPr/>
        </p:nvSpPr>
        <p:spPr>
          <a:xfrm>
            <a:off x="10698480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10387584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8156448" y="5175504"/>
            <a:ext cx="3346704" cy="438912"/>
          </a:xfrm>
          <a:prstGeom prst="roundRect">
            <a:avLst>
              <a:gd name="adj" fmla="val 14583"/>
            </a:avLst>
          </a:prstGeom>
          <a:solidFill>
            <a:srgbClr val="EAFBF1"/>
          </a:solidFill>
          <a:ln/>
        </p:spPr>
      </p:sp>
      <p:sp>
        <p:nvSpPr>
          <p:cNvPr id="41" name="Text 37"/>
          <p:cNvSpPr/>
          <p:nvPr/>
        </p:nvSpPr>
        <p:spPr>
          <a:xfrm>
            <a:off x="8156448" y="517550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OK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Motor</a:t>
            </a:r>
            <a:endParaRPr lang="en-US" sz="800" dirty="0"/>
          </a:p>
        </p:txBody>
      </p:sp>
      <p:sp>
        <p:nvSpPr>
          <p:cNvPr id="44" name="GTBClassificationH620949751">
            <a:extLst>
              <a:ext uri="{FF2B5EF4-FFF2-40B4-BE49-F238E27FC236}">
                <a16:creationId xmlns:a16="http://schemas.microsoft.com/office/drawing/2014/main" id="{3D88D9A9-5823-2CA1-1B26-1FA9EDD1B535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MOTOR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Trends — Individual Breakdown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2529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154680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30352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279392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16552" y="1225296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8"/>
          <p:cNvSpPr/>
          <p:nvPr/>
        </p:nvSpPr>
        <p:spPr>
          <a:xfrm>
            <a:off x="4590288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976872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352544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Shape 10"/>
          <p:cNvSpPr/>
          <p:nvPr/>
        </p:nvSpPr>
        <p:spPr>
          <a:xfrm>
            <a:off x="8101584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38744" y="122529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/>
          <p:nvPr/>
        </p:nvSpPr>
        <p:spPr>
          <a:xfrm>
            <a:off x="8412480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799064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30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8174736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Shape 14"/>
          <p:cNvSpPr/>
          <p:nvPr/>
        </p:nvSpPr>
        <p:spPr>
          <a:xfrm>
            <a:off x="457200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" y="334670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2" name="Text 16"/>
          <p:cNvSpPr/>
          <p:nvPr/>
        </p:nvSpPr>
        <p:spPr>
          <a:xfrm>
            <a:off x="768096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154680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24" name="Chart 3"/>
          <p:cNvGraphicFramePr/>
          <p:nvPr/>
        </p:nvGraphicFramePr>
        <p:xfrm>
          <a:off x="530352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4279392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16552" y="334670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0"/>
          <p:cNvSpPr/>
          <p:nvPr/>
        </p:nvSpPr>
        <p:spPr>
          <a:xfrm>
            <a:off x="4590288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976872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50.4%</a:t>
            </a:r>
            <a:endParaRPr lang="en-US" sz="1300" dirty="0"/>
          </a:p>
        </p:txBody>
      </p:sp>
      <p:graphicFrame>
        <p:nvGraphicFramePr>
          <p:cNvPr id="29" name="Chart 4"/>
          <p:cNvGraphicFramePr/>
          <p:nvPr/>
        </p:nvGraphicFramePr>
        <p:xfrm>
          <a:off x="4352544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Shape 22"/>
          <p:cNvSpPr/>
          <p:nvPr/>
        </p:nvSpPr>
        <p:spPr>
          <a:xfrm>
            <a:off x="8101584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38744" y="334670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24"/>
          <p:cNvSpPr/>
          <p:nvPr/>
        </p:nvSpPr>
        <p:spPr>
          <a:xfrm>
            <a:off x="8412480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(%)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10799064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1300" dirty="0"/>
          </a:p>
        </p:txBody>
      </p:sp>
      <p:graphicFrame>
        <p:nvGraphicFramePr>
          <p:cNvPr id="34" name="Chart 5"/>
          <p:cNvGraphicFramePr/>
          <p:nvPr/>
        </p:nvGraphicFramePr>
        <p:xfrm>
          <a:off x="8174736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5" name="Text 26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Motor</a:t>
            </a:r>
            <a:endParaRPr lang="en-US" sz="800" dirty="0"/>
          </a:p>
        </p:txBody>
      </p:sp>
      <p:sp>
        <p:nvSpPr>
          <p:cNvPr id="37" name="GTBClassificationH1692922914">
            <a:extLst>
              <a:ext uri="{FF2B5EF4-FFF2-40B4-BE49-F238E27FC236}">
                <a16:creationId xmlns:a16="http://schemas.microsoft.com/office/drawing/2014/main" id="{9075F377-A75B-2AB5-9B6A-22CE53A933F4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55448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DXP-FE-SALES-VISIT-VISA-V3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Visa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RECORDED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10896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10896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COVERAGE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71500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71500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DUPLICATION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32104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32104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Visa</a:t>
            </a:r>
            <a:endParaRPr lang="en-US" sz="800" dirty="0"/>
          </a:p>
        </p:txBody>
      </p:sp>
      <p:pic>
        <p:nvPicPr>
          <p:cNvPr id="16" name="Image 0" descr="/home/claude/build/swirl.png">
            <a:extLst>
              <a:ext uri="{FF2B5EF4-FFF2-40B4-BE49-F238E27FC236}">
                <a16:creationId xmlns:a16="http://schemas.microsoft.com/office/drawing/2014/main" id="{595846C8-8E83-2135-47B4-AA128E223F3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9071810" y="15880"/>
            <a:ext cx="3200400" cy="6842120"/>
          </a:xfrm>
          <a:prstGeom prst="rect">
            <a:avLst/>
          </a:prstGeom>
        </p:spPr>
      </p:pic>
      <p:sp>
        <p:nvSpPr>
          <p:cNvPr id="17" name="GTBClassificationH1293874077">
            <a:extLst>
              <a:ext uri="{FF2B5EF4-FFF2-40B4-BE49-F238E27FC236}">
                <a16:creationId xmlns:a16="http://schemas.microsoft.com/office/drawing/2014/main" id="{2ACF0405-FE93-FD44-AFB7-E9C55E67F0E9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VISA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Combined Trend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73152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95528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156448" y="130759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156448" y="1554480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4, 2026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8156448" y="19476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8339328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339328" y="1892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56448" y="2258568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9"/>
          <p:cNvSpPr/>
          <p:nvPr/>
        </p:nvSpPr>
        <p:spPr>
          <a:xfrm>
            <a:off x="8339328" y="22037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339328" y="22037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56448" y="2569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8339328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339328" y="2514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56448" y="2880360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19" name="Text 15"/>
          <p:cNvSpPr/>
          <p:nvPr/>
        </p:nvSpPr>
        <p:spPr>
          <a:xfrm>
            <a:off x="8339328" y="2825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339328" y="28254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56448" y="319125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8339328" y="3136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8339328" y="3136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156448" y="350215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1"/>
          <p:cNvSpPr/>
          <p:nvPr/>
        </p:nvSpPr>
        <p:spPr>
          <a:xfrm>
            <a:off x="8339328" y="3447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339328" y="3447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56448" y="38130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4"/>
          <p:cNvSpPr/>
          <p:nvPr/>
        </p:nvSpPr>
        <p:spPr>
          <a:xfrm>
            <a:off x="8339328" y="3758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8339328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156448" y="4142232"/>
            <a:ext cx="3346704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467344" y="4279392"/>
            <a:ext cx="493776" cy="4937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28"/>
          <p:cNvSpPr/>
          <p:nvPr/>
        </p:nvSpPr>
        <p:spPr>
          <a:xfrm>
            <a:off x="8467344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8156448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9582912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31"/>
          <p:cNvSpPr/>
          <p:nvPr/>
        </p:nvSpPr>
        <p:spPr>
          <a:xfrm>
            <a:off x="9582912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9272016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10698480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8" name="Text 34"/>
          <p:cNvSpPr/>
          <p:nvPr/>
        </p:nvSpPr>
        <p:spPr>
          <a:xfrm>
            <a:off x="10698480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10387584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8156448" y="5175504"/>
            <a:ext cx="3346704" cy="438912"/>
          </a:xfrm>
          <a:prstGeom prst="roundRect">
            <a:avLst>
              <a:gd name="adj" fmla="val 14583"/>
            </a:avLst>
          </a:prstGeom>
          <a:solidFill>
            <a:srgbClr val="EAFBF1"/>
          </a:solidFill>
          <a:ln/>
        </p:spPr>
      </p:sp>
      <p:sp>
        <p:nvSpPr>
          <p:cNvPr id="41" name="Text 37"/>
          <p:cNvSpPr/>
          <p:nvPr/>
        </p:nvSpPr>
        <p:spPr>
          <a:xfrm>
            <a:off x="8156448" y="517550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OK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Visa</a:t>
            </a:r>
            <a:endParaRPr lang="en-US" sz="800" dirty="0"/>
          </a:p>
        </p:txBody>
      </p:sp>
      <p:sp>
        <p:nvSpPr>
          <p:cNvPr id="44" name="GTBClassificationH1430846119">
            <a:extLst>
              <a:ext uri="{FF2B5EF4-FFF2-40B4-BE49-F238E27FC236}">
                <a16:creationId xmlns:a16="http://schemas.microsoft.com/office/drawing/2014/main" id="{36C01A50-8E52-FB07-A9E4-EA92208B8A84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VISA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Trends — Individual Breakdown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2529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154680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30352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279392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16552" y="1225296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8"/>
          <p:cNvSpPr/>
          <p:nvPr/>
        </p:nvSpPr>
        <p:spPr>
          <a:xfrm>
            <a:off x="4590288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976872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352544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Shape 10"/>
          <p:cNvSpPr/>
          <p:nvPr/>
        </p:nvSpPr>
        <p:spPr>
          <a:xfrm>
            <a:off x="8101584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38744" y="122529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/>
          <p:nvPr/>
        </p:nvSpPr>
        <p:spPr>
          <a:xfrm>
            <a:off x="8412480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799064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30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8174736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Shape 14"/>
          <p:cNvSpPr/>
          <p:nvPr/>
        </p:nvSpPr>
        <p:spPr>
          <a:xfrm>
            <a:off x="457200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" y="334670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2" name="Text 16"/>
          <p:cNvSpPr/>
          <p:nvPr/>
        </p:nvSpPr>
        <p:spPr>
          <a:xfrm>
            <a:off x="768096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154680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24" name="Chart 3"/>
          <p:cNvGraphicFramePr/>
          <p:nvPr/>
        </p:nvGraphicFramePr>
        <p:xfrm>
          <a:off x="530352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4279392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16552" y="334670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0"/>
          <p:cNvSpPr/>
          <p:nvPr/>
        </p:nvSpPr>
        <p:spPr>
          <a:xfrm>
            <a:off x="4590288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976872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</a:t>
            </a:r>
            <a:endParaRPr lang="en-US" sz="1300" dirty="0"/>
          </a:p>
        </p:txBody>
      </p:sp>
      <p:graphicFrame>
        <p:nvGraphicFramePr>
          <p:cNvPr id="29" name="Chart 4"/>
          <p:cNvGraphicFramePr/>
          <p:nvPr/>
        </p:nvGraphicFramePr>
        <p:xfrm>
          <a:off x="4352544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Shape 22"/>
          <p:cNvSpPr/>
          <p:nvPr/>
        </p:nvSpPr>
        <p:spPr>
          <a:xfrm>
            <a:off x="8101584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38744" y="334670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24"/>
          <p:cNvSpPr/>
          <p:nvPr/>
        </p:nvSpPr>
        <p:spPr>
          <a:xfrm>
            <a:off x="8412480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(%)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10799064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300" dirty="0"/>
          </a:p>
        </p:txBody>
      </p:sp>
      <p:graphicFrame>
        <p:nvGraphicFramePr>
          <p:cNvPr id="34" name="Chart 5"/>
          <p:cNvGraphicFramePr/>
          <p:nvPr/>
        </p:nvGraphicFramePr>
        <p:xfrm>
          <a:off x="8174736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5" name="Text 26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Visa</a:t>
            </a:r>
            <a:endParaRPr lang="en-US" sz="800" dirty="0"/>
          </a:p>
        </p:txBody>
      </p:sp>
      <p:sp>
        <p:nvSpPr>
          <p:cNvPr id="37" name="GTBClassificationH1622327704">
            <a:extLst>
              <a:ext uri="{FF2B5EF4-FFF2-40B4-BE49-F238E27FC236}">
                <a16:creationId xmlns:a16="http://schemas.microsoft.com/office/drawing/2014/main" id="{E3E7515C-D2CB-0F6D-9406-5E164DBCB364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155448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DXP-FE-TRAVEL-INSURANCE-V3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RECORDED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10896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10896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COVERAGE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71500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71500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DUPLICATION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32104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32104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</a:t>
            </a:r>
            <a:endParaRPr lang="en-US" sz="800" dirty="0"/>
          </a:p>
        </p:txBody>
      </p:sp>
      <p:pic>
        <p:nvPicPr>
          <p:cNvPr id="16" name="Image 0" descr="/home/claude/build/swirl.png">
            <a:extLst>
              <a:ext uri="{FF2B5EF4-FFF2-40B4-BE49-F238E27FC236}">
                <a16:creationId xmlns:a16="http://schemas.microsoft.com/office/drawing/2014/main" id="{66785891-5497-AC23-62B9-CB1303CB295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9071810" y="15880"/>
            <a:ext cx="3200400" cy="6842120"/>
          </a:xfrm>
          <a:prstGeom prst="rect">
            <a:avLst/>
          </a:prstGeom>
        </p:spPr>
      </p:pic>
      <p:sp>
        <p:nvSpPr>
          <p:cNvPr id="17" name="GTBClassificationH423500043">
            <a:extLst>
              <a:ext uri="{FF2B5EF4-FFF2-40B4-BE49-F238E27FC236}">
                <a16:creationId xmlns:a16="http://schemas.microsoft.com/office/drawing/2014/main" id="{7C9BD420-41BD-6A0E-5728-5D800A86B3E2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Combined Trend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73152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95528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156448" y="130759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156448" y="1554480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4, 2026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8156448" y="19476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8339328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339328" y="1892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56448" y="2258568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9"/>
          <p:cNvSpPr/>
          <p:nvPr/>
        </p:nvSpPr>
        <p:spPr>
          <a:xfrm>
            <a:off x="8339328" y="22037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339328" y="22037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56448" y="2569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8339328" y="2514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339328" y="2514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56448" y="2880360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19" name="Text 15"/>
          <p:cNvSpPr/>
          <p:nvPr/>
        </p:nvSpPr>
        <p:spPr>
          <a:xfrm>
            <a:off x="8339328" y="2825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339328" y="28254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56448" y="319125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8339328" y="3136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8339328" y="3136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156448" y="350215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1"/>
          <p:cNvSpPr/>
          <p:nvPr/>
        </p:nvSpPr>
        <p:spPr>
          <a:xfrm>
            <a:off x="8339328" y="3447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339328" y="3447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56448" y="38130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4"/>
          <p:cNvSpPr/>
          <p:nvPr/>
        </p:nvSpPr>
        <p:spPr>
          <a:xfrm>
            <a:off x="8339328" y="3758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8339328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156448" y="4142232"/>
            <a:ext cx="3346704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467344" y="4279392"/>
            <a:ext cx="493776" cy="4937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28"/>
          <p:cNvSpPr/>
          <p:nvPr/>
        </p:nvSpPr>
        <p:spPr>
          <a:xfrm>
            <a:off x="8467344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8156448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9582912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31"/>
          <p:cNvSpPr/>
          <p:nvPr/>
        </p:nvSpPr>
        <p:spPr>
          <a:xfrm>
            <a:off x="9582912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9272016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10698480" y="4279392"/>
            <a:ext cx="493776" cy="49377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8" name="Text 34"/>
          <p:cNvSpPr/>
          <p:nvPr/>
        </p:nvSpPr>
        <p:spPr>
          <a:xfrm>
            <a:off x="10698480" y="4279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10387584" y="48097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8156448" y="5175504"/>
            <a:ext cx="3346704" cy="438912"/>
          </a:xfrm>
          <a:prstGeom prst="roundRect">
            <a:avLst>
              <a:gd name="adj" fmla="val 14583"/>
            </a:avLst>
          </a:prstGeom>
          <a:solidFill>
            <a:srgbClr val="EAFBF1"/>
          </a:solidFill>
          <a:ln/>
        </p:spPr>
      </p:sp>
      <p:sp>
        <p:nvSpPr>
          <p:cNvPr id="41" name="Text 37"/>
          <p:cNvSpPr/>
          <p:nvPr/>
        </p:nvSpPr>
        <p:spPr>
          <a:xfrm>
            <a:off x="8156448" y="5175504"/>
            <a:ext cx="3346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OK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</a:t>
            </a:r>
            <a:endParaRPr lang="en-US" sz="800" dirty="0"/>
          </a:p>
        </p:txBody>
      </p:sp>
      <p:sp>
        <p:nvSpPr>
          <p:cNvPr id="44" name="GTBClassificationH1541959436">
            <a:extLst>
              <a:ext uri="{FF2B5EF4-FFF2-40B4-BE49-F238E27FC236}">
                <a16:creationId xmlns:a16="http://schemas.microsoft.com/office/drawing/2014/main" id="{41115B56-A956-7BE8-B664-EC295F2B1CD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Trends — Individual Breakdown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2529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154680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30352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279392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16552" y="1225296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8"/>
          <p:cNvSpPr/>
          <p:nvPr/>
        </p:nvSpPr>
        <p:spPr>
          <a:xfrm>
            <a:off x="4590288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976872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352544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Shape 10"/>
          <p:cNvSpPr/>
          <p:nvPr/>
        </p:nvSpPr>
        <p:spPr>
          <a:xfrm>
            <a:off x="8101584" y="1115568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38744" y="122529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/>
          <p:nvPr/>
        </p:nvSpPr>
        <p:spPr>
          <a:xfrm>
            <a:off x="8412480" y="1170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799064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30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8174736" y="1426464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Shape 14"/>
          <p:cNvSpPr/>
          <p:nvPr/>
        </p:nvSpPr>
        <p:spPr>
          <a:xfrm>
            <a:off x="457200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" y="334670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2" name="Text 16"/>
          <p:cNvSpPr/>
          <p:nvPr/>
        </p:nvSpPr>
        <p:spPr>
          <a:xfrm>
            <a:off x="768096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154680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24" name="Chart 3"/>
          <p:cNvGraphicFramePr/>
          <p:nvPr/>
        </p:nvGraphicFramePr>
        <p:xfrm>
          <a:off x="530352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4279392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16552" y="334670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0"/>
          <p:cNvSpPr/>
          <p:nvPr/>
        </p:nvSpPr>
        <p:spPr>
          <a:xfrm>
            <a:off x="4590288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976872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</a:t>
            </a:r>
            <a:endParaRPr lang="en-US" sz="1300" dirty="0"/>
          </a:p>
        </p:txBody>
      </p:sp>
      <p:graphicFrame>
        <p:nvGraphicFramePr>
          <p:cNvPr id="29" name="Chart 4"/>
          <p:cNvGraphicFramePr/>
          <p:nvPr/>
        </p:nvGraphicFramePr>
        <p:xfrm>
          <a:off x="4352544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Shape 22"/>
          <p:cNvSpPr/>
          <p:nvPr/>
        </p:nvSpPr>
        <p:spPr>
          <a:xfrm>
            <a:off x="8101584" y="3236976"/>
            <a:ext cx="3657600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38744" y="334670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24"/>
          <p:cNvSpPr/>
          <p:nvPr/>
        </p:nvSpPr>
        <p:spPr>
          <a:xfrm>
            <a:off x="8412480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(%)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10799064" y="3264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300" dirty="0"/>
          </a:p>
        </p:txBody>
      </p:sp>
      <p:graphicFrame>
        <p:nvGraphicFramePr>
          <p:cNvPr id="34" name="Chart 5"/>
          <p:cNvGraphicFramePr/>
          <p:nvPr/>
        </p:nvGraphicFramePr>
        <p:xfrm>
          <a:off x="8174736" y="3547872"/>
          <a:ext cx="3511296" cy="1591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5" name="Text 26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</a:t>
            </a:r>
            <a:endParaRPr lang="en-US" sz="800" dirty="0"/>
          </a:p>
        </p:txBody>
      </p:sp>
      <p:sp>
        <p:nvSpPr>
          <p:cNvPr id="37" name="GTBClassificationH34831772">
            <a:extLst>
              <a:ext uri="{FF2B5EF4-FFF2-40B4-BE49-F238E27FC236}">
                <a16:creationId xmlns:a16="http://schemas.microsoft.com/office/drawing/2014/main" id="{3CA409C4-03F8-2C61-8993-3B79A50CEB1E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1737360" cy="5212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8346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5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</a:t>
            </a:r>
            <a:endParaRPr lang="en-US" sz="5200" dirty="0"/>
          </a:p>
        </p:txBody>
      </p:sp>
      <p:sp>
        <p:nvSpPr>
          <p:cNvPr id="5" name="Text 1"/>
          <p:cNvSpPr/>
          <p:nvPr/>
        </p:nvSpPr>
        <p:spPr>
          <a:xfrm>
            <a:off x="502920" y="4709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Technology &amp; Digital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Next Level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0292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900" dirty="0"/>
          </a:p>
        </p:txBody>
      </p:sp>
      <p:pic>
        <p:nvPicPr>
          <p:cNvPr id="7" name="Image 0" descr="/home/claude/build/swirl.png">
            <a:extLst>
              <a:ext uri="{FF2B5EF4-FFF2-40B4-BE49-F238E27FC236}">
                <a16:creationId xmlns:a16="http://schemas.microsoft.com/office/drawing/2014/main" id="{5C7D8C22-6367-7959-4F7A-C3D7F71366C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9071810" y="15880"/>
            <a:ext cx="3200400" cy="6842120"/>
          </a:xfrm>
          <a:prstGeom prst="rect">
            <a:avLst/>
          </a:prstGeom>
        </p:spPr>
      </p:pic>
      <p:sp>
        <p:nvSpPr>
          <p:cNvPr id="8" name="GTBClassificationH1004843699">
            <a:extLst>
              <a:ext uri="{FF2B5EF4-FFF2-40B4-BE49-F238E27FC236}">
                <a16:creationId xmlns:a16="http://schemas.microsoft.com/office/drawing/2014/main" id="{731EB8B0-3A62-0EF3-E073-71D92AEF2CD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16/01/48 01:51:09 م</timestamp>
  <userName>TAWN\VDR000691</userName>
  <computerName>LTHQISD-A2Y480.TAWN.COM</computerName>
  <guid>{eaead2fd-532e-4ed4-bcb2-3f688a3c1882}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6A1B9A</fontColor>
      <fontSize>14</fontSize>
      <b/>
      <text xml:space="preserve">Internal</text>
    </r>
  </hdr>
</GTBClassification>
</file>

<file path=customXml/itemProps1.xml><?xml version="1.0" encoding="utf-8"?>
<ds:datastoreItem xmlns:ds="http://schemas.openxmlformats.org/officeDocument/2006/customXml" ds:itemID="{44657D08-580D-47F0-A858-F5BB202996F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1335</Words>
  <Application>Microsoft Office PowerPoint</Application>
  <PresentationFormat>Widescreen</PresentationFormat>
  <Paragraphs>627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SonarQube History Report</dc:title>
  <dc:subject>PptxGenJS Presentation</dc:subject>
  <dc:creator>Tawuniya DXP</dc:creator>
  <cp:keywords>ClassificationData:&lt;Classification:Internal&gt;</cp:keywords>
  <cp:lastModifiedBy>Mohamed Elarief</cp:lastModifiedBy>
  <cp:revision>2</cp:revision>
  <dcterms:created xsi:type="dcterms:W3CDTF">2026-07-01T10:44:29Z</dcterms:created>
  <dcterms:modified xsi:type="dcterms:W3CDTF">2026-07-01T10:51:10Z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ClassifiedBy">
    <vt:lpwstr>TAWN\VDR000691</vt:lpwstr>
  </property>
  <property fmtid="{D5CDD505-2E9C-101B-9397-08002B2CF9AE}" pid="4" name="ClassificationHost">
    <vt:lpwstr>LTHQISD-A2Y480.TAWN.COM</vt:lpwstr>
  </property>
  <property fmtid="{D5CDD505-2E9C-101B-9397-08002B2CF9AE}" pid="5" name="ClassificationDate">
    <vt:lpwstr>16/01/48 01:51:09 م</vt:lpwstr>
  </property>
  <property fmtid="{D5CDD505-2E9C-101B-9397-08002B2CF9AE}" pid="6" name="ClassificationGUID">
    <vt:lpwstr>{eaead2fd-532e-4ed4-bcb2-3f688a3c1882}</vt:lpwstr>
  </property>
</Properties>
</file>