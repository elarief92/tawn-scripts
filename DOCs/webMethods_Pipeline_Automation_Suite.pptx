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2"/>
  </p:sldMasterIdLst>
  <p:notesMasterIdLst>
    <p:notesMasterId r:id="rId8"/>
  </p:notesMasterIdLst>
  <p:sldIdLst>
    <p:sldId id="256" r:id="rId3"/>
    <p:sldId id="272" r:id="rId6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62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1" userDrawn="1">
          <p15:clr>
            <a:srgbClr val="A4A3A4"/>
          </p15:clr>
        </p15:guide>
        <p15:guide id="2" pos="2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9D64"/>
    <a:srgbClr val="C74C4C"/>
    <a:srgbClr val="E6961C"/>
    <a:srgbClr val="325DCC"/>
    <a:srgbClr val="D6D1ED"/>
    <a:srgbClr val="8F73F2"/>
    <a:srgbClr val="6B47F5"/>
    <a:srgbClr val="8780F2"/>
    <a:srgbClr val="FFC7A0"/>
    <a:srgbClr val="FF7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6" autoAdjust="0"/>
    <p:restoredTop sz="94207" autoAdjust="0"/>
  </p:normalViewPr>
  <p:slideViewPr>
    <p:cSldViewPr showGuides="1">
      <p:cViewPr varScale="1">
        <p:scale>
          <a:sx n="71" d="100"/>
          <a:sy n="71" d="100"/>
        </p:scale>
        <p:origin x="666" y="72"/>
      </p:cViewPr>
      <p:guideLst>
        <p:guide orient="horz" pos="2201"/>
        <p:guide pos="29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  <Relationship Id="rId13" Type="http://schemas.openxmlformats.org/officeDocument/2006/relationships/slide" Target="slides/slide6.xml"/>
  <Relationship Id="rId14" Type="http://schemas.openxmlformats.org/officeDocument/2006/relationships/slide" Target="slides/slide7.xml"/>
  <Relationship Id="rId15" Type="http://schemas.openxmlformats.org/officeDocument/2006/relationships/slide" Target="slides/slide8.xml"/>
  <Relationship Id="rId16" Type="http://schemas.openxmlformats.org/officeDocument/2006/relationships/slide" Target="slides/slide9.xml"/>
  <Relationship Id="rId17" Type="http://schemas.openxmlformats.org/officeDocument/2006/relationships/slide" Target="slides/slide10.xml"/>
  <Relationship Id="rId18" Type="http://schemas.openxmlformats.org/officeDocument/2006/relationships/slide" Target="slides/slide11.xml"/>
  <Relationship Id="rId19" Type="http://schemas.openxmlformats.org/officeDocument/2006/relationships/slide" Target="slides/slide12.xml"/>
  <Relationship Id="rId20" Type="http://schemas.openxmlformats.org/officeDocument/2006/relationships/slide" Target="slides/slide13.xml"/>
  <Relationship Id="rId21" Type="http://schemas.openxmlformats.org/officeDocument/2006/relationships/slide" Target="slides/slide14.xml"/>
  <Relationship Id="rId22" Type="http://schemas.openxmlformats.org/officeDocument/2006/relationships/slide" Target="slides/slide15.xml"/>
  <Relationship Id="rId23" Type="http://schemas.openxmlformats.org/officeDocument/2006/relationships/slide" Target="slides/slide16.xml"/>
  <Relationship Id="rId24" Type="http://schemas.openxmlformats.org/officeDocument/2006/relationships/slide" Target="slides/slide17.xml"/>
  <Relationship Id="rId25" Type="http://schemas.openxmlformats.org/officeDocument/2006/relationships/slide" Target="slides/slide18.xml"/>
  <Relationship Id="rId26" Type="http://schemas.openxmlformats.org/officeDocument/2006/relationships/slide" Target="slides/slide19.xml"/>
  <Relationship Id="rId27" Type="http://schemas.openxmlformats.org/officeDocument/2006/relationships/slide" Target="slides/slide20.xml"/>
  <Relationship Id="rId28" Type="http://schemas.openxmlformats.org/officeDocument/2006/relationships/slide" Target="slides/slide21.xml"/>
  <Relationship Id="rId29" Type="http://schemas.openxmlformats.org/officeDocument/2006/relationships/slide" Target="slides/slide22.xml"/>
  <Relationship Id="rId30" Type="http://schemas.openxmlformats.org/officeDocument/2006/relationships/slide" Target="slides/slide23.xml"/>
  <Relationship Id="rId31" Type="http://schemas.openxmlformats.org/officeDocument/2006/relationships/slide" Target="slides/slide24.xml"/>
  <Relationship Id="rId32" Type="http://schemas.openxmlformats.org/officeDocument/2006/relationships/slide" Target="slides/slide25.xml"/>
  <Relationship Id="rId33" Type="http://schemas.openxmlformats.org/officeDocument/2006/relationships/slide" Target="slides/slide26.xml"/>
  <Relationship Id="rId34" Type="http://schemas.openxmlformats.org/officeDocument/2006/relationships/slide" Target="slides/slide27.xml"/>
  <Relationship Id="rId35" Type="http://schemas.openxmlformats.org/officeDocument/2006/relationships/slide" Target="slides/slide2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CB5D5-E095-42EC-B8C1-D73AD4D7C4A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E21DA3-7E7F-4364-BD8C-E18967705E5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7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2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E2C79">
                <a:alpha val="100000"/>
              </a:srgbClr>
            </a:gs>
            <a:gs pos="50000">
              <a:srgbClr val="9A84DC">
                <a:alpha val="100000"/>
              </a:srgbClr>
            </a:gs>
            <a:gs pos="100000">
              <a:srgbClr val="8F73F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6930" y="195887"/>
            <a:ext cx="3503507" cy="1052269"/>
          </a:xfrm>
          <a:custGeom>
            <a:avLst/>
            <a:gdLst/>
            <a:ahLst/>
            <a:cxnLst/>
            <a:rect l="l" t="t" r="r" b="b"/>
            <a:pathLst>
              <a:path w="3503507" h="1052269">
                <a:moveTo>
                  <a:pt x="0" y="0"/>
                </a:moveTo>
                <a:lnTo>
                  <a:pt x="3503507" y="0"/>
                </a:lnTo>
                <a:lnTo>
                  <a:pt x="3503507" y="1052269"/>
                </a:lnTo>
                <a:lnTo>
                  <a:pt x="0" y="10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28700" y="3289685"/>
            <a:ext cx="964662" cy="964662"/>
          </a:xfrm>
          <a:custGeom>
            <a:avLst/>
            <a:gdLst/>
            <a:ahLst/>
            <a:cxnLst/>
            <a:rect l="l" t="t" r="r" b="b"/>
            <a:pathLst>
              <a:path w="964662" h="964662">
                <a:moveTo>
                  <a:pt x="0" y="0"/>
                </a:moveTo>
                <a:lnTo>
                  <a:pt x="964662" y="0"/>
                </a:lnTo>
                <a:lnTo>
                  <a:pt x="964662" y="964662"/>
                </a:lnTo>
                <a:lnTo>
                  <a:pt x="0" y="964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>
              <a:latin typeface="+mj-lt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2587519" y="0"/>
            <a:ext cx="5690956" cy="10287000"/>
            <a:chOff x="0" y="0"/>
            <a:chExt cx="7631832" cy="13795338"/>
          </a:xfrm>
        </p:grpSpPr>
        <p:sp>
          <p:nvSpPr>
            <p:cNvPr id="5" name="Freeform 5" descr="Image"/>
            <p:cNvSpPr/>
            <p:nvPr/>
          </p:nvSpPr>
          <p:spPr>
            <a:xfrm>
              <a:off x="0" y="0"/>
              <a:ext cx="7631811" cy="13795375"/>
            </a:xfrm>
            <a:custGeom>
              <a:avLst/>
              <a:gdLst/>
              <a:ahLst/>
              <a:cxnLst/>
              <a:rect l="l" t="t" r="r" b="b"/>
              <a:pathLst>
                <a:path w="7631811" h="13795375">
                  <a:moveTo>
                    <a:pt x="0" y="0"/>
                  </a:moveTo>
                  <a:lnTo>
                    <a:pt x="7631811" y="0"/>
                  </a:lnTo>
                  <a:lnTo>
                    <a:pt x="7631811" y="13795375"/>
                  </a:lnTo>
                  <a:lnTo>
                    <a:pt x="0" y="13795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b="-74"/>
              </a:stretch>
            </a:blipFill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644000" y="4100000"/>
            <a:ext cx="11000000" cy="270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400" b="1" dirty="0">
                <a:solidFill>
                  <a:srgbClr val="FFFFFF"/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webMethods Pipeline Automation Suite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44000" y="7000000"/>
            <a:ext cx="11000000" cy="45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65"/>
              </a:lnSpc>
              <a:spcBef>
                <a:spcPct val="0"/>
              </a:spcBef>
            </a:pPr>
            <a:r>
              <a:rPr lang="en-US" sz="1890" b="1" dirty="0">
                <a:solidFill>
                  <a:srgbClr val="FFFFFF">
                    <a:alpha val="68627"/>
                  </a:srgbClr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DEV Synchronization • Target Environment Deployment • Manual Rollback</a:t>
            </a:r>
          </a:p>
        </p:txBody>
      </p:sp>
      <p:sp>
        <p:nvSpPr>
          <p:cNvPr id="8" name="GTBClassificationH1190887526"/>
          <p:cNvSpPr txBox="1"/>
          <p:nvPr/>
        </p:nvSpPr>
        <p:spPr>
          <a:xfrm>
            <a:off x="0" y="0"/>
            <a:ext cx="18288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dirty="0">
                <a:solidFill>
                  <a:srgbClr val="000000">
                    <a:alpha val="70000"/>
                  </a:srgbClr>
                </a:solidFill>
                <a:latin typeface="+mj-lt"/>
              </a:rPr>
              <a:t>Classification:</a:t>
            </a:r>
            <a:r>
              <a:rPr lang="en-US" sz="1400" dirty="0">
                <a:solidFill>
                  <a:srgbClr val="000000">
                    <a:alpha val="70000"/>
                  </a:srgbClr>
                </a:solidFill>
                <a:latin typeface="+mj-lt"/>
              </a:rPr>
              <a:t> </a:t>
            </a:r>
            <a:r>
              <a:rPr lang="en-US" sz="1400" b="1" dirty="0">
                <a:solidFill>
                  <a:srgbClr val="6A1B9A">
                    <a:alpha val="70000"/>
                  </a:srgbClr>
                </a:solidFill>
                <a:latin typeface="+mj-lt"/>
              </a:rPr>
              <a:t>Internal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PIPELINE AUTOMATION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THREE JOBS, ONE PIPELINE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01" name="TextBox"/>
          <p:cNvSpPr txBox="1"/>
          <p:nvPr/>
        </p:nvSpPr>
        <p:spPr>
          <a:xfrm>
            <a:off x="1417320" y="2331720"/>
            <a:ext cx="153619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50" dirty="0">
                <a:solidFill>
                  <a:srgbClr val="5B5F73"/>
                </a:solidFill>
                <a:latin typeface="Aptos" pitchFamily="34" charset="0"/>
              </a:rPr>
              <a:t>Three independent Jenkins jobs work together to move webMethods packages safely from DEV through to production.</a:t>
            </a:r>
          </a:p>
        </p:txBody>
      </p:sp>
      <p:sp>
        <p:nvSpPr>
          <p:cNvPr id="1002" name="Box"/>
          <p:cNvSpPr/>
          <p:nvPr/>
        </p:nvSpPr>
        <p:spPr>
          <a:xfrm>
            <a:off x="1417320" y="3840480"/>
            <a:ext cx="4876800" cy="466344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03" name="Badge"/>
          <p:cNvSpPr/>
          <p:nvPr/>
        </p:nvSpPr>
        <p:spPr>
          <a:xfrm>
            <a:off x="1623060" y="4046220"/>
            <a:ext cx="502920" cy="50292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</a:rPr>
              <a:t>1</a:t>
            </a:r>
          </a:p>
        </p:txBody>
      </p:sp>
      <p:sp>
        <p:nvSpPr>
          <p:cNvPr id="1004" name="TextBox"/>
          <p:cNvSpPr txBox="1"/>
          <p:nvPr/>
        </p:nvSpPr>
        <p:spPr>
          <a:xfrm>
            <a:off x="2286000" y="4041648"/>
            <a:ext cx="38252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450" b="1" dirty="0">
                <a:solidFill>
                  <a:srgbClr val="252545"/>
                </a:solidFill>
                <a:latin typeface="Aptos" pitchFamily="34" charset="0"/>
              </a:rPr>
              <a:t>DEV Synchronization</a:t>
            </a:r>
          </a:p>
        </p:txBody>
      </p:sp>
      <p:sp>
        <p:nvSpPr>
          <p:cNvPr id="1005" name="TextBox"/>
          <p:cNvSpPr txBox="1"/>
          <p:nvPr/>
        </p:nvSpPr>
        <p:spPr>
          <a:xfrm>
            <a:off x="1709928" y="4709160"/>
            <a:ext cx="4291584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5B5F73"/>
                </a:solidFill>
                <a:latin typeface="Aptos" pitchFamily="34" charset="0"/>
              </a:rPr>
              <a:t>Keeps Bitbucket in sync with the DEV Integration Server.</a:t>
            </a:r>
          </a:p>
        </p:txBody>
      </p:sp>
      <p:sp>
        <p:nvSpPr>
          <p:cNvPr id="1006" name="TextBox"/>
          <p:cNvSpPr txBox="1"/>
          <p:nvPr/>
        </p:nvSpPr>
        <p:spPr>
          <a:xfrm>
            <a:off x="1709928" y="5486400"/>
            <a:ext cx="4291584" cy="2834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52545"/>
                </a:solidFill>
                <a:latin typeface="Aptos" pitchFamily="34" charset="0"/>
              </a:rPr>
              <a:t>Runs daily at 9:00 PM (or manually)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52545"/>
                </a:solidFill>
                <a:latin typeface="Aptos" pitchFamily="34" charset="0"/>
              </a:rPr>
              <a:t>Sync only — never deploys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52545"/>
                </a:solidFill>
                <a:latin typeface="Aptos" pitchFamily="34" charset="0"/>
              </a:rPr>
              <a:t>Commits only when packages changed</a:t>
            </a:r>
          </a:p>
        </p:txBody>
      </p:sp>
      <p:sp>
        <p:nvSpPr>
          <p:cNvPr id="1007" name="Box"/>
          <p:cNvSpPr/>
          <p:nvPr/>
        </p:nvSpPr>
        <p:spPr>
          <a:xfrm>
            <a:off x="6659880" y="3840480"/>
            <a:ext cx="4876800" cy="466344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08" name="Badge"/>
          <p:cNvSpPr/>
          <p:nvPr/>
        </p:nvSpPr>
        <p:spPr>
          <a:xfrm>
            <a:off x="6865620" y="4046220"/>
            <a:ext cx="502920" cy="502920"/>
          </a:xfrm>
          <a:prstGeom prst="ellipse">
            <a:avLst/>
          </a:prstGeom>
          <a:solidFill>
            <a:srgbClr val="6B4FB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</a:rPr>
              <a:t>2</a:t>
            </a:r>
          </a:p>
        </p:txBody>
      </p:sp>
      <p:sp>
        <p:nvSpPr>
          <p:cNvPr id="1009" name="TextBox"/>
          <p:cNvSpPr txBox="1"/>
          <p:nvPr/>
        </p:nvSpPr>
        <p:spPr>
          <a:xfrm>
            <a:off x="7528560" y="4041648"/>
            <a:ext cx="38252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450" b="1" dirty="0">
                <a:solidFill>
                  <a:srgbClr val="252545"/>
                </a:solidFill>
                <a:latin typeface="Aptos" pitchFamily="34" charset="0"/>
              </a:rPr>
              <a:t>Target Environment Deployment</a:t>
            </a:r>
          </a:p>
        </p:txBody>
      </p:sp>
      <p:sp>
        <p:nvSpPr>
          <p:cNvPr id="1010" name="TextBox"/>
          <p:cNvSpPr txBox="1"/>
          <p:nvPr/>
        </p:nvSpPr>
        <p:spPr>
          <a:xfrm>
            <a:off x="6952488" y="4709160"/>
            <a:ext cx="4291584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5B5F73"/>
                </a:solidFill>
                <a:latin typeface="Aptos" pitchFamily="34" charset="0"/>
              </a:rPr>
              <a:t>Builds and deploys selected packages to QC, UAT, or PROD.</a:t>
            </a:r>
          </a:p>
        </p:txBody>
      </p:sp>
      <p:sp>
        <p:nvSpPr>
          <p:cNvPr id="1011" name="TextBox"/>
          <p:cNvSpPr txBox="1"/>
          <p:nvPr/>
        </p:nvSpPr>
        <p:spPr>
          <a:xfrm>
            <a:off x="6952488" y="5486400"/>
            <a:ext cx="4291584" cy="2834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52545"/>
                </a:solidFill>
                <a:latin typeface="Aptos" pitchFamily="34" charset="0"/>
              </a:rPr>
              <a:t>Same pipeline for all three environments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52545"/>
                </a:solidFill>
                <a:latin typeface="Aptos" pitchFamily="34" charset="0"/>
              </a:rPr>
              <a:t>Packages discovered automatically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52545"/>
                </a:solidFill>
                <a:latin typeface="Aptos" pitchFamily="34" charset="0"/>
              </a:rPr>
              <a:t>Snapshot + automatic rollback on failure</a:t>
            </a:r>
          </a:p>
        </p:txBody>
      </p:sp>
      <p:sp>
        <p:nvSpPr>
          <p:cNvPr id="1012" name="Box"/>
          <p:cNvSpPr/>
          <p:nvPr/>
        </p:nvSpPr>
        <p:spPr>
          <a:xfrm>
            <a:off x="11902440" y="3840480"/>
            <a:ext cx="4876800" cy="466344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13" name="Badge"/>
          <p:cNvSpPr/>
          <p:nvPr/>
        </p:nvSpPr>
        <p:spPr>
          <a:xfrm>
            <a:off x="12108180" y="4046220"/>
            <a:ext cx="502920" cy="502920"/>
          </a:xfrm>
          <a:prstGeom prst="ellipse">
            <a:avLst/>
          </a:prstGeom>
          <a:solidFill>
            <a:srgbClr val="A02B6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</a:rPr>
              <a:t>3</a:t>
            </a:r>
          </a:p>
        </p:txBody>
      </p:sp>
      <p:sp>
        <p:nvSpPr>
          <p:cNvPr id="1014" name="TextBox"/>
          <p:cNvSpPr txBox="1"/>
          <p:nvPr/>
        </p:nvSpPr>
        <p:spPr>
          <a:xfrm>
            <a:off x="12771120" y="4041648"/>
            <a:ext cx="38252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450" b="1" dirty="0">
                <a:solidFill>
                  <a:srgbClr val="252545"/>
                </a:solidFill>
                <a:latin typeface="Aptos" pitchFamily="34" charset="0"/>
              </a:rPr>
              <a:t>Manual Rollback</a:t>
            </a:r>
          </a:p>
        </p:txBody>
      </p:sp>
      <p:sp>
        <p:nvSpPr>
          <p:cNvPr id="1015" name="TextBox"/>
          <p:cNvSpPr txBox="1"/>
          <p:nvPr/>
        </p:nvSpPr>
        <p:spPr>
          <a:xfrm>
            <a:off x="12195048" y="4709160"/>
            <a:ext cx="4291584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5B5F73"/>
                </a:solidFill>
                <a:latin typeface="Aptos" pitchFamily="34" charset="0"/>
              </a:rPr>
              <a:t>Lets an authorized user restore a prior deployment snapshot on demand.</a:t>
            </a:r>
          </a:p>
        </p:txBody>
      </p:sp>
      <p:sp>
        <p:nvSpPr>
          <p:cNvPr id="1016" name="TextBox"/>
          <p:cNvSpPr txBox="1"/>
          <p:nvPr/>
        </p:nvSpPr>
        <p:spPr>
          <a:xfrm>
            <a:off x="12195048" y="5486400"/>
            <a:ext cx="4291584" cy="2834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52545"/>
                </a:solidFill>
                <a:latin typeface="Aptos" pitchFamily="34" charset="0"/>
              </a:rPr>
              <a:t>Uses the same EPIC as the original deployment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52545"/>
                </a:solidFill>
                <a:latin typeface="Aptos" pitchFamily="34" charset="0"/>
              </a:rPr>
              <a:t>Requires explicit confirmation + approval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52545"/>
                </a:solidFill>
                <a:latin typeface="Aptos" pitchFamily="34" charset="0"/>
              </a:rPr>
              <a:t>Separate from the automatic in-pipeline rollback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E2C79">
                <a:alpha val="100000"/>
              </a:srgbClr>
            </a:gs>
            <a:gs pos="50000">
              <a:srgbClr val="9A84DC">
                <a:alpha val="100000"/>
              </a:srgbClr>
            </a:gs>
            <a:gs pos="100000">
              <a:srgbClr val="8F73F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6930" y="195887"/>
            <a:ext cx="3503507" cy="1052269"/>
          </a:xfrm>
          <a:custGeom>
            <a:avLst/>
            <a:gdLst/>
            <a:ahLst/>
            <a:cxnLst/>
            <a:rect l="l" t="t" r="r" b="b"/>
            <a:pathLst>
              <a:path w="3503507" h="1052269">
                <a:moveTo>
                  <a:pt x="0" y="0"/>
                </a:moveTo>
                <a:lnTo>
                  <a:pt x="3503507" y="0"/>
                </a:lnTo>
                <a:lnTo>
                  <a:pt x="3503507" y="1052269"/>
                </a:lnTo>
                <a:lnTo>
                  <a:pt x="0" y="10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>
              <a:latin typeface="+mj-lt"/>
            </a:endParaRP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2587519" y="0"/>
            <a:ext cx="5690956" cy="10287000"/>
            <a:chOff x="0" y="0"/>
            <a:chExt cx="7631832" cy="13795338"/>
          </a:xfrm>
        </p:grpSpPr>
        <p:sp>
          <p:nvSpPr>
            <p:cNvPr id="4" name="Freeform 4" descr="Image"/>
            <p:cNvSpPr/>
            <p:nvPr/>
          </p:nvSpPr>
          <p:spPr>
            <a:xfrm>
              <a:off x="0" y="0"/>
              <a:ext cx="7631811" cy="13795375"/>
            </a:xfrm>
            <a:custGeom>
              <a:avLst/>
              <a:gdLst/>
              <a:ahLst/>
              <a:cxnLst/>
              <a:rect l="l" t="t" r="r" b="b"/>
              <a:pathLst>
                <a:path w="7631811" h="13795375">
                  <a:moveTo>
                    <a:pt x="0" y="0"/>
                  </a:moveTo>
                  <a:lnTo>
                    <a:pt x="7631811" y="0"/>
                  </a:lnTo>
                  <a:lnTo>
                    <a:pt x="7631811" y="13795375"/>
                  </a:lnTo>
                  <a:lnTo>
                    <a:pt x="0" y="13795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4" b="-74"/>
              </a:stretch>
            </a:blipFill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067680"/>
            <a:ext cx="5690940" cy="1295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25"/>
              </a:lnSpc>
              <a:spcBef>
                <a:spcPct val="0"/>
              </a:spcBef>
            </a:pPr>
            <a:r>
              <a:rPr lang="en-US" sz="8440" b="1" dirty="0">
                <a:solidFill>
                  <a:srgbClr val="FFFFFF"/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143" y="5369305"/>
            <a:ext cx="5257857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30"/>
              </a:lnSpc>
            </a:pPr>
            <a:r>
              <a:rPr lang="en-US" sz="2610" b="1" dirty="0">
                <a:solidFill>
                  <a:srgbClr val="FFFFFF">
                    <a:alpha val="40000"/>
                  </a:srgbClr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Questions &amp; Discussion</a:t>
            </a:r>
          </a:p>
          <a:p>
            <a:pPr algn="ctr">
              <a:lnSpc>
                <a:spcPts val="3130"/>
              </a:lnSpc>
              <a:spcBef>
                <a:spcPct val="0"/>
              </a:spcBef>
            </a:pPr>
            <a:r>
              <a:rPr lang="en-US" sz="2610" b="1" dirty="0">
                <a:solidFill>
                  <a:srgbClr val="FFFFFF">
                    <a:alpha val="40000"/>
                  </a:srgbClr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webMethods Pipeline Automation Suite</a:t>
            </a:r>
          </a:p>
        </p:txBody>
      </p:sp>
      <p:sp>
        <p:nvSpPr>
          <p:cNvPr id="7" name="GTBClassificationH331034338"/>
          <p:cNvSpPr txBox="1"/>
          <p:nvPr/>
        </p:nvSpPr>
        <p:spPr>
          <a:xfrm>
            <a:off x="0" y="0"/>
            <a:ext cx="18288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dirty="0">
                <a:solidFill>
                  <a:srgbClr val="000000">
                    <a:alpha val="70000"/>
                  </a:srgbClr>
                </a:solidFill>
                <a:latin typeface="+mj-lt"/>
              </a:rPr>
              <a:t>Classification:</a:t>
            </a:r>
            <a:r>
              <a:rPr lang="en-US" sz="1400" dirty="0">
                <a:solidFill>
                  <a:srgbClr val="000000">
                    <a:alpha val="70000"/>
                  </a:srgbClr>
                </a:solidFill>
                <a:latin typeface="+mj-lt"/>
              </a:rPr>
              <a:t> </a:t>
            </a:r>
            <a:r>
              <a:rPr lang="en-US" sz="1400" b="1" dirty="0">
                <a:solidFill>
                  <a:srgbClr val="6A1B9A">
                    <a:alpha val="70000"/>
                  </a:srgbClr>
                </a:solidFill>
                <a:latin typeface="+mj-lt"/>
              </a:rPr>
              <a:t>Internal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E2C79">
                <a:alpha val="100000"/>
              </a:srgbClr>
            </a:gs>
            <a:gs pos="50000">
              <a:srgbClr val="9A84DC">
                <a:alpha val="100000"/>
              </a:srgbClr>
            </a:gs>
            <a:gs pos="100000">
              <a:srgbClr val="8F73F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6930" y="195887"/>
            <a:ext cx="3503507" cy="1052269"/>
          </a:xfrm>
          <a:custGeom>
            <a:avLst/>
            <a:gdLst/>
            <a:ahLst/>
            <a:cxnLst/>
            <a:rect l="l" t="t" r="r" b="b"/>
            <a:pathLst>
              <a:path w="3503507" h="1052269">
                <a:moveTo>
                  <a:pt x="0" y="0"/>
                </a:moveTo>
                <a:lnTo>
                  <a:pt x="3503507" y="0"/>
                </a:lnTo>
                <a:lnTo>
                  <a:pt x="3503507" y="1052269"/>
                </a:lnTo>
                <a:lnTo>
                  <a:pt x="0" y="10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28700" y="3289685"/>
            <a:ext cx="964662" cy="964662"/>
          </a:xfrm>
          <a:custGeom>
            <a:avLst/>
            <a:gdLst/>
            <a:ahLst/>
            <a:cxnLst/>
            <a:rect l="l" t="t" r="r" b="b"/>
            <a:pathLst>
              <a:path w="964662" h="964662">
                <a:moveTo>
                  <a:pt x="0" y="0"/>
                </a:moveTo>
                <a:lnTo>
                  <a:pt x="964662" y="0"/>
                </a:lnTo>
                <a:lnTo>
                  <a:pt x="964662" y="964662"/>
                </a:lnTo>
                <a:lnTo>
                  <a:pt x="0" y="964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>
              <a:latin typeface="+mj-lt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2587519" y="0"/>
            <a:ext cx="5690956" cy="10287000"/>
            <a:chOff x="0" y="0"/>
            <a:chExt cx="7631832" cy="13795338"/>
          </a:xfrm>
        </p:grpSpPr>
        <p:sp>
          <p:nvSpPr>
            <p:cNvPr id="5" name="Freeform 5" descr="Image"/>
            <p:cNvSpPr/>
            <p:nvPr/>
          </p:nvSpPr>
          <p:spPr>
            <a:xfrm>
              <a:off x="0" y="0"/>
              <a:ext cx="7631811" cy="13795375"/>
            </a:xfrm>
            <a:custGeom>
              <a:avLst/>
              <a:gdLst/>
              <a:ahLst/>
              <a:cxnLst/>
              <a:rect l="l" t="t" r="r" b="b"/>
              <a:pathLst>
                <a:path w="7631811" h="13795375">
                  <a:moveTo>
                    <a:pt x="0" y="0"/>
                  </a:moveTo>
                  <a:lnTo>
                    <a:pt x="7631811" y="0"/>
                  </a:lnTo>
                  <a:lnTo>
                    <a:pt x="7631811" y="13795375"/>
                  </a:lnTo>
                  <a:lnTo>
                    <a:pt x="0" y="13795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b="-74"/>
              </a:stretch>
            </a:blipFill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644000" y="4300000"/>
            <a:ext cx="11000000" cy="220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68"/>
              </a:lnSpc>
            </a:pPr>
            <a:r>
              <a:rPr lang="en-US" sz="4400" b="1" dirty="0">
                <a:solidFill>
                  <a:srgbClr val="FFFFFF"/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DEV Synchronization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44000" y="6650000"/>
            <a:ext cx="11000000" cy="45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65"/>
              </a:lnSpc>
              <a:spcBef>
                <a:spcPct val="0"/>
              </a:spcBef>
            </a:pPr>
            <a:r>
              <a:rPr lang="en-US" sz="1890" b="1" dirty="0">
                <a:solidFill>
                  <a:srgbClr val="FFFFFF">
                    <a:alpha val="68627"/>
                  </a:srgbClr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DEV Integration Server → Bitbucket DEV Branch</a:t>
            </a:r>
          </a:p>
        </p:txBody>
      </p:sp>
      <p:sp>
        <p:nvSpPr>
          <p:cNvPr id="8" name="GTBClassificationH1190887526"/>
          <p:cNvSpPr txBox="1"/>
          <p:nvPr/>
        </p:nvSpPr>
        <p:spPr>
          <a:xfrm>
            <a:off x="0" y="0"/>
            <a:ext cx="18288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dirty="0">
                <a:solidFill>
                  <a:srgbClr val="000000">
                    <a:alpha val="70000"/>
                  </a:srgbClr>
                </a:solidFill>
                <a:latin typeface="+mj-lt"/>
              </a:rPr>
              <a:t>Classification:</a:t>
            </a:r>
            <a:r>
              <a:rPr lang="en-US" sz="1400" dirty="0">
                <a:solidFill>
                  <a:srgbClr val="000000">
                    <a:alpha val="70000"/>
                  </a:srgbClr>
                </a:solidFill>
                <a:latin typeface="+mj-lt"/>
              </a:rPr>
              <a:t> </a:t>
            </a:r>
            <a:r>
              <a:rPr lang="en-US" sz="1400" b="1" dirty="0">
                <a:solidFill>
                  <a:srgbClr val="6A1B9A">
                    <a:alpha val="70000"/>
                  </a:srgbClr>
                </a:solidFill>
                <a:latin typeface="+mj-lt"/>
              </a:rPr>
              <a:t>Internal</a:t>
            </a:r>
          </a:p>
        </p:txBody>
      </p:sp>
      <p:sp>
        <p:nvSpPr>
          <p:cNvPr id="9001" name="KickerLabel"/>
          <p:cNvSpPr txBox="1"/>
          <p:nvPr/>
        </p:nvSpPr>
        <p:spPr>
          <a:xfrm>
            <a:off x="3644000" y="3780000"/>
            <a:ext cx="110000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600" b="1" dirty="0">
                <a:solidFill>
                  <a:srgbClr val="FFFFFF">
                    <a:alpha val="70000"/>
                  </a:srgbClr>
                </a:solidFill>
                <a:latin typeface="+mj-lt"/>
              </a:rPr>
              <a:t>PART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PIPELINE AUTOMATION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PART 1 • PURPOSE &amp; CONFIGURATION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17" name="TextBox"/>
          <p:cNvSpPr txBox="1"/>
          <p:nvPr/>
        </p:nvSpPr>
        <p:spPr>
          <a:xfrm>
            <a:off x="1417320" y="2331720"/>
            <a:ext cx="153619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5B5F73"/>
                </a:solidFill>
                <a:latin typeface="Aptos" pitchFamily="34" charset="0"/>
              </a:rPr>
              <a:t>Syncs webMethods business packages from the DEV Integration Server to the Bitbucket DEV branch. Sync only — this job never deploys.</a:t>
            </a:r>
          </a:p>
        </p:txBody>
      </p:sp>
      <p:sp>
        <p:nvSpPr>
          <p:cNvPr id="1018" name="Box"/>
          <p:cNvSpPr/>
          <p:nvPr/>
        </p:nvSpPr>
        <p:spPr>
          <a:xfrm>
            <a:off x="1417320" y="3108960"/>
            <a:ext cx="1536192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19" name="TextBox"/>
          <p:cNvSpPr txBox="1"/>
          <p:nvPr/>
        </p:nvSpPr>
        <p:spPr>
          <a:xfrm>
            <a:off x="1737360" y="3337560"/>
            <a:ext cx="14721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5B5F73"/>
                </a:solidFill>
                <a:latin typeface="Aptos" pitchFamily="34" charset="0"/>
              </a:rPr>
              <a:t>CONFIGURATION</a:t>
            </a:r>
          </a:p>
        </p:txBody>
      </p:sp>
      <p:sp>
        <p:nvSpPr>
          <p:cNvPr id="1020" name="TextBox"/>
          <p:cNvSpPr txBox="1"/>
          <p:nvPr/>
        </p:nvSpPr>
        <p:spPr>
          <a:xfrm>
            <a:off x="1737360" y="3794760"/>
            <a:ext cx="3014777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5B5F73"/>
                </a:solidFill>
                <a:latin typeface="Aptos" pitchFamily="34" charset="0"/>
              </a:rPr>
              <a:t>Jenkins agent &amp; DEV server</a:t>
            </a:r>
          </a:p>
        </p:txBody>
      </p:sp>
      <p:sp>
        <p:nvSpPr>
          <p:cNvPr id="1021" name="TextBox"/>
          <p:cNvSpPr txBox="1"/>
          <p:nvPr/>
        </p:nvSpPr>
        <p:spPr>
          <a:xfrm>
            <a:off x="4752137" y="3794760"/>
            <a:ext cx="4163263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252545"/>
                </a:solidFill>
                <a:latin typeface="Courier New" pitchFamily="34" charset="0"/>
              </a:rPr>
              <a:t>DRV-SAG-IPD01</a:t>
            </a:r>
          </a:p>
        </p:txBody>
      </p:sp>
      <p:sp>
        <p:nvSpPr>
          <p:cNvPr id="1022" name="TextBox"/>
          <p:cNvSpPr txBox="1"/>
          <p:nvPr/>
        </p:nvSpPr>
        <p:spPr>
          <a:xfrm>
            <a:off x="9098280" y="3794760"/>
            <a:ext cx="3014777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5B5F73"/>
                </a:solidFill>
                <a:latin typeface="Aptos" pitchFamily="34" charset="0"/>
              </a:rPr>
              <a:t>Package source</a:t>
            </a:r>
          </a:p>
        </p:txBody>
      </p:sp>
      <p:sp>
        <p:nvSpPr>
          <p:cNvPr id="1023" name="TextBox"/>
          <p:cNvSpPr txBox="1"/>
          <p:nvPr/>
        </p:nvSpPr>
        <p:spPr>
          <a:xfrm>
            <a:off x="12113057" y="3794760"/>
            <a:ext cx="4163263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252545"/>
                </a:solidFill>
                <a:latin typeface="Courier New" pitchFamily="34" charset="0"/>
              </a:rPr>
              <a:t>/sag/dbp1011/IntegrationServer/instances/default/packages</a:t>
            </a:r>
          </a:p>
        </p:txBody>
      </p:sp>
      <p:sp>
        <p:nvSpPr>
          <p:cNvPr id="1024" name="TextBox"/>
          <p:cNvSpPr txBox="1"/>
          <p:nvPr/>
        </p:nvSpPr>
        <p:spPr>
          <a:xfrm>
            <a:off x="1737360" y="4306824"/>
            <a:ext cx="3014777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5B5F73"/>
                </a:solidFill>
                <a:latin typeface="Aptos" pitchFamily="34" charset="0"/>
              </a:rPr>
              <a:t>Bitbucket project</a:t>
            </a:r>
          </a:p>
        </p:txBody>
      </p:sp>
      <p:sp>
        <p:nvSpPr>
          <p:cNvPr id="1025" name="TextBox"/>
          <p:cNvSpPr txBox="1"/>
          <p:nvPr/>
        </p:nvSpPr>
        <p:spPr>
          <a:xfrm>
            <a:off x="4752137" y="4306824"/>
            <a:ext cx="4163263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EI</a:t>
            </a:r>
          </a:p>
        </p:txBody>
      </p:sp>
      <p:sp>
        <p:nvSpPr>
          <p:cNvPr id="1026" name="TextBox"/>
          <p:cNvSpPr txBox="1"/>
          <p:nvPr/>
        </p:nvSpPr>
        <p:spPr>
          <a:xfrm>
            <a:off x="9098280" y="4306824"/>
            <a:ext cx="3014777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5B5F73"/>
                </a:solidFill>
                <a:latin typeface="Aptos" pitchFamily="34" charset="0"/>
              </a:rPr>
              <a:t>Repository</a:t>
            </a:r>
          </a:p>
        </p:txBody>
      </p:sp>
      <p:sp>
        <p:nvSpPr>
          <p:cNvPr id="1027" name="TextBox"/>
          <p:cNvSpPr txBox="1"/>
          <p:nvPr/>
        </p:nvSpPr>
        <p:spPr>
          <a:xfrm>
            <a:off x="12113057" y="4306824"/>
            <a:ext cx="4163263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252545"/>
                </a:solidFill>
                <a:latin typeface="Courier New" pitchFamily="34" charset="0"/>
              </a:rPr>
              <a:t>webmethods-source-code</a:t>
            </a:r>
          </a:p>
        </p:txBody>
      </p:sp>
      <p:sp>
        <p:nvSpPr>
          <p:cNvPr id="1028" name="TextBox"/>
          <p:cNvSpPr txBox="1"/>
          <p:nvPr/>
        </p:nvSpPr>
        <p:spPr>
          <a:xfrm>
            <a:off x="1737360" y="4818888"/>
            <a:ext cx="3014777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5B5F73"/>
                </a:solidFill>
                <a:latin typeface="Aptos" pitchFamily="34" charset="0"/>
              </a:rPr>
              <a:t>Target branch</a:t>
            </a:r>
          </a:p>
        </p:txBody>
      </p:sp>
      <p:sp>
        <p:nvSpPr>
          <p:cNvPr id="1029" name="TextBox"/>
          <p:cNvSpPr txBox="1"/>
          <p:nvPr/>
        </p:nvSpPr>
        <p:spPr>
          <a:xfrm>
            <a:off x="4752137" y="4818888"/>
            <a:ext cx="4163263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DEV</a:t>
            </a:r>
          </a:p>
        </p:txBody>
      </p:sp>
      <p:sp>
        <p:nvSpPr>
          <p:cNvPr id="1030" name="TextBox"/>
          <p:cNvSpPr txBox="1"/>
          <p:nvPr/>
        </p:nvSpPr>
        <p:spPr>
          <a:xfrm>
            <a:off x="9098280" y="4818888"/>
            <a:ext cx="3014777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5B5F73"/>
                </a:solidFill>
                <a:latin typeface="Aptos" pitchFamily="34" charset="0"/>
              </a:rPr>
              <a:t>Repository package directory</a:t>
            </a:r>
          </a:p>
        </p:txBody>
      </p:sp>
      <p:sp>
        <p:nvSpPr>
          <p:cNvPr id="1031" name="TextBox"/>
          <p:cNvSpPr txBox="1"/>
          <p:nvPr/>
        </p:nvSpPr>
        <p:spPr>
          <a:xfrm>
            <a:off x="12113057" y="4818888"/>
            <a:ext cx="4163263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252545"/>
                </a:solidFill>
                <a:latin typeface="Courier New" pitchFamily="34" charset="0"/>
              </a:rPr>
              <a:t>IS/</a:t>
            </a:r>
          </a:p>
        </p:txBody>
      </p:sp>
      <p:sp>
        <p:nvSpPr>
          <p:cNvPr id="1032" name="TextBox"/>
          <p:cNvSpPr txBox="1"/>
          <p:nvPr/>
        </p:nvSpPr>
        <p:spPr>
          <a:xfrm>
            <a:off x="1737360" y="5330952"/>
            <a:ext cx="3014777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5B5F73"/>
                </a:solidFill>
                <a:latin typeface="Aptos" pitchFamily="34" charset="0"/>
              </a:rPr>
              <a:t>Bitbucket credential</a:t>
            </a:r>
          </a:p>
        </p:txBody>
      </p:sp>
      <p:sp>
        <p:nvSpPr>
          <p:cNvPr id="1033" name="TextBox"/>
          <p:cNvSpPr txBox="1"/>
          <p:nvPr/>
        </p:nvSpPr>
        <p:spPr>
          <a:xfrm>
            <a:off x="4752137" y="5330952"/>
            <a:ext cx="4163263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252545"/>
                </a:solidFill>
                <a:latin typeface="Courier New" pitchFamily="34" charset="0"/>
              </a:rPr>
              <a:t>Admin_Bitbucket</a:t>
            </a:r>
          </a:p>
        </p:txBody>
      </p:sp>
      <p:sp>
        <p:nvSpPr>
          <p:cNvPr id="1034" name="TextBox"/>
          <p:cNvSpPr txBox="1"/>
          <p:nvPr/>
        </p:nvSpPr>
        <p:spPr>
          <a:xfrm>
            <a:off x="9098280" y="5330952"/>
            <a:ext cx="3014777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5B5F73"/>
                </a:solidFill>
                <a:latin typeface="Aptos" pitchFamily="34" charset="0"/>
              </a:rPr>
              <a:t>Schedule</a:t>
            </a:r>
          </a:p>
        </p:txBody>
      </p:sp>
      <p:sp>
        <p:nvSpPr>
          <p:cNvPr id="1035" name="TextBox"/>
          <p:cNvSpPr txBox="1"/>
          <p:nvPr/>
        </p:nvSpPr>
        <p:spPr>
          <a:xfrm>
            <a:off x="12113057" y="5330952"/>
            <a:ext cx="4163263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Daily at 9:00 PM</a:t>
            </a:r>
          </a:p>
        </p:txBody>
      </p:sp>
      <p:sp>
        <p:nvSpPr>
          <p:cNvPr id="1036" name="TextBox"/>
          <p:cNvSpPr txBox="1"/>
          <p:nvPr/>
        </p:nvSpPr>
        <p:spPr>
          <a:xfrm>
            <a:off x="1737360" y="5843016"/>
            <a:ext cx="3014777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5B5F73"/>
                </a:solidFill>
                <a:latin typeface="Aptos" pitchFamily="34" charset="0"/>
              </a:rPr>
              <a:t>Notification recipient</a:t>
            </a:r>
          </a:p>
        </p:txBody>
      </p:sp>
      <p:sp>
        <p:nvSpPr>
          <p:cNvPr id="1037" name="TextBox"/>
          <p:cNvSpPr txBox="1"/>
          <p:nvPr/>
        </p:nvSpPr>
        <p:spPr>
          <a:xfrm>
            <a:off x="4752137" y="5843016"/>
            <a:ext cx="4163263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252545"/>
                </a:solidFill>
                <a:latin typeface="Courier New" pitchFamily="34" charset="0"/>
              </a:rPr>
              <a:t>melarief@tawuniya.com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PIPELINE AUTOMATION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PART 1 • ARCHITECTURE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38" name="TextBox"/>
          <p:cNvSpPr txBox="1"/>
          <p:nvPr/>
        </p:nvSpPr>
        <p:spPr>
          <a:xfrm>
            <a:off x="1417320" y="2331720"/>
            <a:ext cx="153619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5B5F73"/>
                </a:solidFill>
                <a:latin typeface="Aptos" pitchFamily="34" charset="0"/>
              </a:rPr>
              <a:t>A single Jenkins agent pulls from the DEV server and pushes straight to Bitbucket — no intermediate build or deployment step.</a:t>
            </a:r>
          </a:p>
        </p:txBody>
      </p:sp>
      <p:sp>
        <p:nvSpPr>
          <p:cNvPr id="1039" name="Box"/>
          <p:cNvSpPr/>
          <p:nvPr/>
        </p:nvSpPr>
        <p:spPr>
          <a:xfrm>
            <a:off x="1417320" y="3794760"/>
            <a:ext cx="4450080" cy="1828800"/>
          </a:xfrm>
          <a:prstGeom prst="roundRect">
            <a:avLst>
              <a:gd name="adj" fmla="val 12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252545"/>
                </a:solidFill>
                <a:latin typeface="Aptos" pitchFamily="34" charset="0"/>
              </a:rPr>
              <a:t>DEV Integration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252545"/>
                </a:solidFill>
                <a:latin typeface="Aptos" pitchFamily="34" charset="0"/>
              </a:rPr>
              <a:t>Server</a:t>
            </a:r>
          </a:p>
        </p:txBody>
      </p:sp>
      <p:sp>
        <p:nvSpPr>
          <p:cNvPr id="1040" name="Box"/>
          <p:cNvSpPr/>
          <p:nvPr/>
        </p:nvSpPr>
        <p:spPr>
          <a:xfrm>
            <a:off x="6873240" y="3794760"/>
            <a:ext cx="4450080" cy="1828800"/>
          </a:xfrm>
          <a:prstGeom prst="roundRect">
            <a:avLst>
              <a:gd name="adj" fmla="val 12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</a:rPr>
              <a:t>Jenkins Agent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</a:rPr>
              <a:t>DRV-SAG-IPD01</a:t>
            </a:r>
          </a:p>
        </p:txBody>
      </p:sp>
      <p:cxnSp>
        <p:nvCxnSpPr>
          <p:cNvPr id="1041" name="Connector"/>
          <p:cNvCxnSpPr/>
          <p:nvPr/>
        </p:nvCxnSpPr>
        <p:spPr>
          <a:xfrm>
            <a:off x="5913120" y="4709160"/>
            <a:ext cx="914400" cy="457"/>
          </a:xfrm>
          <a:prstGeom prst="line">
            <a:avLst/>
          </a:prstGeom>
          <a:ln w="2540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Box"/>
          <p:cNvSpPr/>
          <p:nvPr/>
        </p:nvSpPr>
        <p:spPr>
          <a:xfrm>
            <a:off x="12329160" y="3794760"/>
            <a:ext cx="4450080" cy="1828800"/>
          </a:xfrm>
          <a:prstGeom prst="roundRect">
            <a:avLst>
              <a:gd name="adj" fmla="val 12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252545"/>
                </a:solidFill>
                <a:latin typeface="Aptos" pitchFamily="34" charset="0"/>
              </a:rPr>
              <a:t>Bitbucket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252545"/>
                </a:solidFill>
                <a:latin typeface="Aptos" pitchFamily="34" charset="0"/>
              </a:rPr>
              <a:t>DEV Branch</a:t>
            </a:r>
          </a:p>
        </p:txBody>
      </p:sp>
      <p:cxnSp>
        <p:nvCxnSpPr>
          <p:cNvPr id="1043" name="Connector"/>
          <p:cNvCxnSpPr/>
          <p:nvPr/>
        </p:nvCxnSpPr>
        <p:spPr>
          <a:xfrm>
            <a:off x="11369040" y="4709160"/>
            <a:ext cx="914400" cy="457"/>
          </a:xfrm>
          <a:prstGeom prst="line">
            <a:avLst/>
          </a:prstGeom>
          <a:ln w="2540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Box"/>
          <p:cNvSpPr/>
          <p:nvPr/>
        </p:nvSpPr>
        <p:spPr>
          <a:xfrm>
            <a:off x="1417320" y="6172200"/>
            <a:ext cx="15361920" cy="822960"/>
          </a:xfrm>
          <a:prstGeom prst="roundRect">
            <a:avLst>
              <a:gd name="adj" fmla="val 14000"/>
            </a:avLst>
          </a:prstGeom>
          <a:solidFill>
            <a:srgbClr val="FFF8E8"/>
          </a:solidFill>
          <a:ln w="9525">
            <a:solidFill>
              <a:srgbClr val="F0DFAF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7A5B12"/>
                </a:solidFill>
                <a:latin typeface="Aptos" pitchFamily="34" charset="0"/>
              </a:rPr>
              <a:t>Admin_Bitbucket is retrieved securely from the Jenkins credential store at run time — it is never stored in the pipeline or written to logs.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PIPELINE AUTOMATION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PART 1 • SYNCHRONIZATION WORKFLOW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45" name="TextBox"/>
          <p:cNvSpPr txBox="1"/>
          <p:nvPr/>
        </p:nvSpPr>
        <p:spPr>
          <a:xfrm>
            <a:off x="1417320" y="2331720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5B5F73"/>
                </a:solidFill>
                <a:latin typeface="Aptos" pitchFamily="34" charset="0"/>
              </a:rPr>
              <a:t>Every run follows the same nine steps before the change-detection decision.</a:t>
            </a:r>
          </a:p>
        </p:txBody>
      </p:sp>
      <p:sp>
        <p:nvSpPr>
          <p:cNvPr id="1046" name="Step"/>
          <p:cNvSpPr/>
          <p:nvPr/>
        </p:nvSpPr>
        <p:spPr>
          <a:xfrm>
            <a:off x="1417320" y="3653028"/>
            <a:ext cx="4937760" cy="141732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047" name="Badge"/>
          <p:cNvSpPr/>
          <p:nvPr/>
        </p:nvSpPr>
        <p:spPr>
          <a:xfrm>
            <a:off x="1536192" y="3771900"/>
            <a:ext cx="384048" cy="384048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1</a:t>
            </a:r>
          </a:p>
        </p:txBody>
      </p:sp>
      <p:sp>
        <p:nvSpPr>
          <p:cNvPr id="1048" name="TextBox"/>
          <p:cNvSpPr txBox="1"/>
          <p:nvPr/>
        </p:nvSpPr>
        <p:spPr>
          <a:xfrm>
            <a:off x="1984248" y="3781044"/>
            <a:ext cx="4251960" cy="1179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Trigger job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5B5F73"/>
                </a:solidFill>
                <a:latin typeface="Aptos" pitchFamily="34" charset="0"/>
              </a:rPr>
              <a:t>Runs automatically at 9:00 PM, or manually on demand.</a:t>
            </a:r>
          </a:p>
        </p:txBody>
      </p:sp>
      <p:cxnSp>
        <p:nvCxnSpPr>
          <p:cNvPr id="1049" name="Connector"/>
          <p:cNvCxnSpPr/>
          <p:nvPr/>
        </p:nvCxnSpPr>
        <p:spPr>
          <a:xfrm>
            <a:off x="6355080" y="4361688"/>
            <a:ext cx="274320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" name="Step"/>
          <p:cNvSpPr/>
          <p:nvPr/>
        </p:nvSpPr>
        <p:spPr>
          <a:xfrm>
            <a:off x="6629400" y="3653028"/>
            <a:ext cx="4937760" cy="141732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051" name="Badge"/>
          <p:cNvSpPr/>
          <p:nvPr/>
        </p:nvSpPr>
        <p:spPr>
          <a:xfrm>
            <a:off x="6748272" y="3771900"/>
            <a:ext cx="384048" cy="384048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2</a:t>
            </a:r>
          </a:p>
        </p:txBody>
      </p:sp>
      <p:sp>
        <p:nvSpPr>
          <p:cNvPr id="1052" name="TextBox"/>
          <p:cNvSpPr txBox="1"/>
          <p:nvPr/>
        </p:nvSpPr>
        <p:spPr>
          <a:xfrm>
            <a:off x="7196328" y="3781044"/>
            <a:ext cx="4251960" cy="1179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Validate package directory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5B5F73"/>
                </a:solidFill>
                <a:latin typeface="Aptos" pitchFamily="34" charset="0"/>
              </a:rPr>
              <a:t>Confirms the DEV package path exists and is readable.</a:t>
            </a:r>
          </a:p>
        </p:txBody>
      </p:sp>
      <p:cxnSp>
        <p:nvCxnSpPr>
          <p:cNvPr id="1053" name="Connector"/>
          <p:cNvCxnSpPr/>
          <p:nvPr/>
        </p:nvCxnSpPr>
        <p:spPr>
          <a:xfrm>
            <a:off x="11567160" y="4361688"/>
            <a:ext cx="274320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4" name="Step"/>
          <p:cNvSpPr/>
          <p:nvPr/>
        </p:nvSpPr>
        <p:spPr>
          <a:xfrm>
            <a:off x="11841480" y="3653028"/>
            <a:ext cx="4937760" cy="141732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055" name="Badge"/>
          <p:cNvSpPr/>
          <p:nvPr/>
        </p:nvSpPr>
        <p:spPr>
          <a:xfrm>
            <a:off x="11960352" y="3771900"/>
            <a:ext cx="384048" cy="384048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3</a:t>
            </a:r>
          </a:p>
        </p:txBody>
      </p:sp>
      <p:sp>
        <p:nvSpPr>
          <p:cNvPr id="1056" name="TextBox"/>
          <p:cNvSpPr txBox="1"/>
          <p:nvPr/>
        </p:nvSpPr>
        <p:spPr>
          <a:xfrm>
            <a:off x="12408408" y="3781044"/>
            <a:ext cx="4251960" cy="1179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Checkout &amp; reset DEV branch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5B5F73"/>
                </a:solidFill>
                <a:latin typeface="Aptos" pitchFamily="34" charset="0"/>
              </a:rPr>
              <a:t>Checks out Bitbucket DEV and resets it to a clean state.</a:t>
            </a:r>
          </a:p>
        </p:txBody>
      </p:sp>
      <p:cxnSp>
        <p:nvCxnSpPr>
          <p:cNvPr id="1057" name="Connector"/>
          <p:cNvCxnSpPr/>
          <p:nvPr/>
        </p:nvCxnSpPr>
        <p:spPr>
          <a:xfrm>
            <a:off x="14310360" y="5070348"/>
            <a:ext cx="457" cy="256032"/>
          </a:xfrm>
          <a:prstGeom prst="line">
            <a:avLst/>
          </a:prstGeom>
          <a:ln w="15875">
            <a:solidFill>
              <a:srgbClr val="C7C9E4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8" name="Step"/>
          <p:cNvSpPr/>
          <p:nvPr/>
        </p:nvSpPr>
        <p:spPr>
          <a:xfrm>
            <a:off x="1417320" y="5326380"/>
            <a:ext cx="4937760" cy="141732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059" name="Badge"/>
          <p:cNvSpPr/>
          <p:nvPr/>
        </p:nvSpPr>
        <p:spPr>
          <a:xfrm>
            <a:off x="1536192" y="5445252"/>
            <a:ext cx="384048" cy="384048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4</a:t>
            </a:r>
          </a:p>
        </p:txBody>
      </p:sp>
      <p:sp>
        <p:nvSpPr>
          <p:cNvPr id="1060" name="TextBox"/>
          <p:cNvSpPr txBox="1"/>
          <p:nvPr/>
        </p:nvSpPr>
        <p:spPr>
          <a:xfrm>
            <a:off x="1984248" y="5454396"/>
            <a:ext cx="4251960" cy="1179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Create temp sync directory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5B5F73"/>
                </a:solidFill>
                <a:latin typeface="Aptos" pitchFamily="34" charset="0"/>
              </a:rPr>
              <a:t>Prepares a scratch location for the comparison.</a:t>
            </a:r>
          </a:p>
        </p:txBody>
      </p:sp>
      <p:cxnSp>
        <p:nvCxnSpPr>
          <p:cNvPr id="1061" name="Connector"/>
          <p:cNvCxnSpPr/>
          <p:nvPr/>
        </p:nvCxnSpPr>
        <p:spPr>
          <a:xfrm>
            <a:off x="6355080" y="6035040"/>
            <a:ext cx="274320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2" name="Step"/>
          <p:cNvSpPr/>
          <p:nvPr/>
        </p:nvSpPr>
        <p:spPr>
          <a:xfrm>
            <a:off x="6629400" y="5326380"/>
            <a:ext cx="4937760" cy="141732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063" name="Badge"/>
          <p:cNvSpPr/>
          <p:nvPr/>
        </p:nvSpPr>
        <p:spPr>
          <a:xfrm>
            <a:off x="6748272" y="5445252"/>
            <a:ext cx="384048" cy="384048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5</a:t>
            </a:r>
          </a:p>
        </p:txBody>
      </p:sp>
      <p:sp>
        <p:nvSpPr>
          <p:cNvPr id="1064" name="TextBox"/>
          <p:cNvSpPr txBox="1"/>
          <p:nvPr/>
        </p:nvSpPr>
        <p:spPr>
          <a:xfrm>
            <a:off x="7196328" y="5454396"/>
            <a:ext cx="4251960" cy="1179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Copy business packages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5B5F73"/>
                </a:solidFill>
                <a:latin typeface="Aptos" pitchFamily="34" charset="0"/>
              </a:rPr>
              <a:t>Copies packages from the DEV Integration Server.</a:t>
            </a:r>
          </a:p>
        </p:txBody>
      </p:sp>
      <p:cxnSp>
        <p:nvCxnSpPr>
          <p:cNvPr id="1065" name="Connector"/>
          <p:cNvCxnSpPr/>
          <p:nvPr/>
        </p:nvCxnSpPr>
        <p:spPr>
          <a:xfrm>
            <a:off x="11567160" y="6035040"/>
            <a:ext cx="274320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6" name="Step"/>
          <p:cNvSpPr/>
          <p:nvPr/>
        </p:nvSpPr>
        <p:spPr>
          <a:xfrm>
            <a:off x="11841480" y="5326380"/>
            <a:ext cx="4937760" cy="141732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067" name="Badge"/>
          <p:cNvSpPr/>
          <p:nvPr/>
        </p:nvSpPr>
        <p:spPr>
          <a:xfrm>
            <a:off x="11960352" y="5445252"/>
            <a:ext cx="384048" cy="384048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6</a:t>
            </a:r>
          </a:p>
        </p:txBody>
      </p:sp>
      <p:sp>
        <p:nvSpPr>
          <p:cNvPr id="1068" name="TextBox"/>
          <p:cNvSpPr txBox="1"/>
          <p:nvPr/>
        </p:nvSpPr>
        <p:spPr>
          <a:xfrm>
            <a:off x="12408408" y="5454396"/>
            <a:ext cx="4251960" cy="1179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Exclude system &amp; runtime content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5B5F73"/>
                </a:solidFill>
                <a:latin typeface="Aptos" pitchFamily="34" charset="0"/>
              </a:rPr>
              <a:t>Removes Default, Wm*, Wx*, logs, cache, temp/lock/backup files, audit &amp; stats dirs.</a:t>
            </a:r>
          </a:p>
        </p:txBody>
      </p:sp>
      <p:cxnSp>
        <p:nvCxnSpPr>
          <p:cNvPr id="1069" name="Connector"/>
          <p:cNvCxnSpPr/>
          <p:nvPr/>
        </p:nvCxnSpPr>
        <p:spPr>
          <a:xfrm>
            <a:off x="14310360" y="6743700"/>
            <a:ext cx="457" cy="256032"/>
          </a:xfrm>
          <a:prstGeom prst="line">
            <a:avLst/>
          </a:prstGeom>
          <a:ln w="15875">
            <a:solidFill>
              <a:srgbClr val="C7C9E4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0" name="Step"/>
          <p:cNvSpPr/>
          <p:nvPr/>
        </p:nvSpPr>
        <p:spPr>
          <a:xfrm>
            <a:off x="1417320" y="6999732"/>
            <a:ext cx="4937760" cy="141732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071" name="Badge"/>
          <p:cNvSpPr/>
          <p:nvPr/>
        </p:nvSpPr>
        <p:spPr>
          <a:xfrm>
            <a:off x="1536192" y="7118604"/>
            <a:ext cx="384048" cy="384048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7</a:t>
            </a:r>
          </a:p>
        </p:txBody>
      </p:sp>
      <p:sp>
        <p:nvSpPr>
          <p:cNvPr id="1072" name="TextBox"/>
          <p:cNvSpPr txBox="1"/>
          <p:nvPr/>
        </p:nvSpPr>
        <p:spPr>
          <a:xfrm>
            <a:off x="1984248" y="7127748"/>
            <a:ext cx="4251960" cy="1179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Replace repository IS/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5B5F73"/>
                </a:solidFill>
                <a:latin typeface="Aptos" pitchFamily="34" charset="0"/>
              </a:rPr>
              <a:t>Overwrites the repo's IS/ directory with the cleaned server content.</a:t>
            </a:r>
          </a:p>
        </p:txBody>
      </p:sp>
      <p:cxnSp>
        <p:nvCxnSpPr>
          <p:cNvPr id="1073" name="Connector"/>
          <p:cNvCxnSpPr/>
          <p:nvPr/>
        </p:nvCxnSpPr>
        <p:spPr>
          <a:xfrm>
            <a:off x="6355080" y="7708392"/>
            <a:ext cx="274320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4" name="Step"/>
          <p:cNvSpPr/>
          <p:nvPr/>
        </p:nvSpPr>
        <p:spPr>
          <a:xfrm>
            <a:off x="6629400" y="6999732"/>
            <a:ext cx="4937760" cy="141732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075" name="Badge"/>
          <p:cNvSpPr/>
          <p:nvPr/>
        </p:nvSpPr>
        <p:spPr>
          <a:xfrm>
            <a:off x="6748272" y="7118604"/>
            <a:ext cx="384048" cy="384048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8</a:t>
            </a:r>
          </a:p>
        </p:txBody>
      </p:sp>
      <p:sp>
        <p:nvSpPr>
          <p:cNvPr id="1076" name="TextBox"/>
          <p:cNvSpPr txBox="1"/>
          <p:nvPr/>
        </p:nvSpPr>
        <p:spPr>
          <a:xfrm>
            <a:off x="7196328" y="7127748"/>
            <a:ext cx="4251960" cy="1179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Stage changes with Git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5B5F73"/>
                </a:solidFill>
                <a:latin typeface="Aptos" pitchFamily="34" charset="0"/>
              </a:rPr>
              <a:t>Stages the IS/ differences for commit.</a:t>
            </a:r>
          </a:p>
        </p:txBody>
      </p:sp>
      <p:cxnSp>
        <p:nvCxnSpPr>
          <p:cNvPr id="1077" name="Connector"/>
          <p:cNvCxnSpPr/>
          <p:nvPr/>
        </p:nvCxnSpPr>
        <p:spPr>
          <a:xfrm>
            <a:off x="11567160" y="7708392"/>
            <a:ext cx="274320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8" name="Step"/>
          <p:cNvSpPr/>
          <p:nvPr/>
        </p:nvSpPr>
        <p:spPr>
          <a:xfrm>
            <a:off x="11841480" y="6999732"/>
            <a:ext cx="4937760" cy="141732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079" name="Badge"/>
          <p:cNvSpPr/>
          <p:nvPr/>
        </p:nvSpPr>
        <p:spPr>
          <a:xfrm>
            <a:off x="11960352" y="7118604"/>
            <a:ext cx="384048" cy="384048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9</a:t>
            </a:r>
          </a:p>
        </p:txBody>
      </p:sp>
      <p:sp>
        <p:nvSpPr>
          <p:cNvPr id="1080" name="TextBox"/>
          <p:cNvSpPr txBox="1"/>
          <p:nvPr/>
        </p:nvSpPr>
        <p:spPr>
          <a:xfrm>
            <a:off x="12408408" y="7127748"/>
            <a:ext cx="4251960" cy="1179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Compare for differences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5B5F73"/>
                </a:solidFill>
                <a:latin typeface="Aptos" pitchFamily="34" charset="0"/>
              </a:rPr>
              <a:t>Checks whether any staged changes actually exist.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PIPELINE AUTOMATION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PART 1 • CHANGE-DETECTION DECISION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81" name="TextBox"/>
          <p:cNvSpPr txBox="1"/>
          <p:nvPr/>
        </p:nvSpPr>
        <p:spPr>
          <a:xfrm>
            <a:off x="1417320" y="2331720"/>
            <a:ext cx="153619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5B5F73"/>
                </a:solidFill>
                <a:latin typeface="Aptos" pitchFamily="34" charset="0"/>
              </a:rPr>
              <a:t>After comparing the repository against the DEV server, the job takes one of three paths.</a:t>
            </a:r>
          </a:p>
        </p:txBody>
      </p:sp>
      <p:sp>
        <p:nvSpPr>
          <p:cNvPr id="1082" name="Box"/>
          <p:cNvSpPr/>
          <p:nvPr/>
        </p:nvSpPr>
        <p:spPr>
          <a:xfrm>
            <a:off x="6172200" y="3108960"/>
            <a:ext cx="5852160" cy="777240"/>
          </a:xfrm>
          <a:prstGeom prst="roundRect">
            <a:avLst>
              <a:gd name="adj" fmla="val 16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</a:rPr>
              <a:t>Compare Repository vs. DEV Server</a:t>
            </a:r>
          </a:p>
        </p:txBody>
      </p:sp>
      <p:cxnSp>
        <p:nvCxnSpPr>
          <p:cNvPr id="1083" name="Connector"/>
          <p:cNvCxnSpPr/>
          <p:nvPr/>
        </p:nvCxnSpPr>
        <p:spPr>
          <a:xfrm>
            <a:off x="9098280" y="3886200"/>
            <a:ext cx="457" cy="137160"/>
          </a:xfrm>
          <a:prstGeom prst="line">
            <a:avLst/>
          </a:prstGeom>
          <a:ln w="15875">
            <a:solidFill>
              <a:srgbClr val="B9BBD6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Connector"/>
          <p:cNvCxnSpPr/>
          <p:nvPr/>
        </p:nvCxnSpPr>
        <p:spPr>
          <a:xfrm flipH="1">
            <a:off x="3855720" y="4023360"/>
            <a:ext cx="5242560" cy="457"/>
          </a:xfrm>
          <a:prstGeom prst="line">
            <a:avLst/>
          </a:prstGeom>
          <a:ln w="15875">
            <a:solidFill>
              <a:srgbClr val="B9BBD6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Connector"/>
          <p:cNvCxnSpPr/>
          <p:nvPr/>
        </p:nvCxnSpPr>
        <p:spPr>
          <a:xfrm>
            <a:off x="3855720" y="4023360"/>
            <a:ext cx="457" cy="137160"/>
          </a:xfrm>
          <a:prstGeom prst="line">
            <a:avLst/>
          </a:prstGeom>
          <a:ln w="15875">
            <a:solidFill>
              <a:srgbClr val="B9BBD6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Connector"/>
          <p:cNvCxnSpPr/>
          <p:nvPr/>
        </p:nvCxnSpPr>
        <p:spPr>
          <a:xfrm>
            <a:off x="9098280" y="3886200"/>
            <a:ext cx="457" cy="137160"/>
          </a:xfrm>
          <a:prstGeom prst="line">
            <a:avLst/>
          </a:prstGeom>
          <a:ln w="15875">
            <a:solidFill>
              <a:srgbClr val="B9BBD6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Connector"/>
          <p:cNvCxnSpPr/>
          <p:nvPr/>
        </p:nvCxnSpPr>
        <p:spPr>
          <a:xfrm flipH="1">
            <a:off x="9098280" y="4023360"/>
            <a:ext cx="457" cy="457"/>
          </a:xfrm>
          <a:prstGeom prst="line">
            <a:avLst/>
          </a:prstGeom>
          <a:ln w="15875">
            <a:solidFill>
              <a:srgbClr val="B9BBD6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Connector"/>
          <p:cNvCxnSpPr/>
          <p:nvPr/>
        </p:nvCxnSpPr>
        <p:spPr>
          <a:xfrm>
            <a:off x="9098280" y="4023360"/>
            <a:ext cx="457" cy="137160"/>
          </a:xfrm>
          <a:prstGeom prst="line">
            <a:avLst/>
          </a:prstGeom>
          <a:ln w="15875">
            <a:solidFill>
              <a:srgbClr val="B9BBD6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Connector"/>
          <p:cNvCxnSpPr/>
          <p:nvPr/>
        </p:nvCxnSpPr>
        <p:spPr>
          <a:xfrm>
            <a:off x="9098280" y="3886200"/>
            <a:ext cx="457" cy="137160"/>
          </a:xfrm>
          <a:prstGeom prst="line">
            <a:avLst/>
          </a:prstGeom>
          <a:ln w="15875">
            <a:solidFill>
              <a:srgbClr val="B9BBD6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Connector"/>
          <p:cNvCxnSpPr/>
          <p:nvPr/>
        </p:nvCxnSpPr>
        <p:spPr>
          <a:xfrm>
            <a:off x="9098280" y="4023360"/>
            <a:ext cx="5242560" cy="457"/>
          </a:xfrm>
          <a:prstGeom prst="line">
            <a:avLst/>
          </a:prstGeom>
          <a:ln w="15875">
            <a:solidFill>
              <a:srgbClr val="B9BBD6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1" name="Connector"/>
          <p:cNvCxnSpPr/>
          <p:nvPr/>
        </p:nvCxnSpPr>
        <p:spPr>
          <a:xfrm>
            <a:off x="14340840" y="4023360"/>
            <a:ext cx="457" cy="137160"/>
          </a:xfrm>
          <a:prstGeom prst="line">
            <a:avLst/>
          </a:prstGeom>
          <a:ln w="15875">
            <a:solidFill>
              <a:srgbClr val="B9BBD6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2" name="Chip"/>
          <p:cNvSpPr/>
          <p:nvPr/>
        </p:nvSpPr>
        <p:spPr>
          <a:xfrm>
            <a:off x="2575560" y="41605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5B5F73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</a:rPr>
              <a:t>NO CHANGES</a:t>
            </a:r>
          </a:p>
        </p:txBody>
      </p:sp>
      <p:sp>
        <p:nvSpPr>
          <p:cNvPr id="1093" name="Box"/>
          <p:cNvSpPr/>
          <p:nvPr/>
        </p:nvSpPr>
        <p:spPr>
          <a:xfrm>
            <a:off x="1417320" y="4709160"/>
            <a:ext cx="4876800" cy="548640"/>
          </a:xfrm>
          <a:prstGeom prst="roundRect">
            <a:avLst>
              <a:gd name="adj" fmla="val 1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52545"/>
                </a:solidFill>
                <a:latin typeface="Aptos" pitchFamily="34" charset="0"/>
              </a:rPr>
              <a:t>No commit created</a:t>
            </a:r>
          </a:p>
        </p:txBody>
      </p:sp>
      <p:sp>
        <p:nvSpPr>
          <p:cNvPr id="1094" name="Box"/>
          <p:cNvSpPr/>
          <p:nvPr/>
        </p:nvSpPr>
        <p:spPr>
          <a:xfrm>
            <a:off x="1417320" y="5367528"/>
            <a:ext cx="4876800" cy="548640"/>
          </a:xfrm>
          <a:prstGeom prst="roundRect">
            <a:avLst>
              <a:gd name="adj" fmla="val 1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52545"/>
                </a:solidFill>
                <a:latin typeface="Aptos" pitchFamily="34" charset="0"/>
              </a:rPr>
              <a:t>No push to Bitbucket</a:t>
            </a:r>
          </a:p>
        </p:txBody>
      </p:sp>
      <p:sp>
        <p:nvSpPr>
          <p:cNvPr id="1095" name="Box"/>
          <p:cNvSpPr/>
          <p:nvPr/>
        </p:nvSpPr>
        <p:spPr>
          <a:xfrm>
            <a:off x="1417320" y="6025896"/>
            <a:ext cx="4876800" cy="548640"/>
          </a:xfrm>
          <a:prstGeom prst="roundRect">
            <a:avLst>
              <a:gd name="adj" fmla="val 1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52545"/>
                </a:solidFill>
                <a:latin typeface="Aptos" pitchFamily="34" charset="0"/>
              </a:rPr>
              <a:t>Job marked successful</a:t>
            </a:r>
          </a:p>
        </p:txBody>
      </p:sp>
      <p:sp>
        <p:nvSpPr>
          <p:cNvPr id="1096" name="Box"/>
          <p:cNvSpPr/>
          <p:nvPr/>
        </p:nvSpPr>
        <p:spPr>
          <a:xfrm>
            <a:off x="1417320" y="6684264"/>
            <a:ext cx="4876800" cy="548640"/>
          </a:xfrm>
          <a:prstGeom prst="roundRect">
            <a:avLst>
              <a:gd name="adj" fmla="val 1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52545"/>
                </a:solidFill>
                <a:latin typeface="Aptos" pitchFamily="34" charset="0"/>
              </a:rPr>
              <a:t>Email: no changes found</a:t>
            </a:r>
          </a:p>
        </p:txBody>
      </p:sp>
      <p:sp>
        <p:nvSpPr>
          <p:cNvPr id="1097" name="Chip"/>
          <p:cNvSpPr/>
          <p:nvPr/>
        </p:nvSpPr>
        <p:spPr>
          <a:xfrm>
            <a:off x="7818120" y="41605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</a:rPr>
              <a:t>CHANGES DETECTED</a:t>
            </a:r>
          </a:p>
        </p:txBody>
      </p:sp>
      <p:sp>
        <p:nvSpPr>
          <p:cNvPr id="1098" name="Box"/>
          <p:cNvSpPr/>
          <p:nvPr/>
        </p:nvSpPr>
        <p:spPr>
          <a:xfrm>
            <a:off x="6659880" y="4709160"/>
            <a:ext cx="4876800" cy="548640"/>
          </a:xfrm>
          <a:prstGeom prst="roundRect">
            <a:avLst>
              <a:gd name="adj" fmla="val 18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52545"/>
                </a:solidFill>
                <a:latin typeface="Aptos" pitchFamily="34" charset="0"/>
              </a:rPr>
              <a:t>Display Git change summary</a:t>
            </a:r>
          </a:p>
        </p:txBody>
      </p:sp>
      <p:sp>
        <p:nvSpPr>
          <p:cNvPr id="1099" name="Box"/>
          <p:cNvSpPr/>
          <p:nvPr/>
        </p:nvSpPr>
        <p:spPr>
          <a:xfrm>
            <a:off x="6659880" y="5367528"/>
            <a:ext cx="4876800" cy="548640"/>
          </a:xfrm>
          <a:prstGeom prst="roundRect">
            <a:avLst>
              <a:gd name="adj" fmla="val 18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52545"/>
                </a:solidFill>
                <a:latin typeface="Aptos" pitchFamily="34" charset="0"/>
              </a:rPr>
              <a:t>Create automatic commit</a:t>
            </a:r>
          </a:p>
        </p:txBody>
      </p:sp>
      <p:sp>
        <p:nvSpPr>
          <p:cNvPr id="1100" name="Box"/>
          <p:cNvSpPr/>
          <p:nvPr/>
        </p:nvSpPr>
        <p:spPr>
          <a:xfrm>
            <a:off x="6659880" y="6025896"/>
            <a:ext cx="4876800" cy="548640"/>
          </a:xfrm>
          <a:prstGeom prst="roundRect">
            <a:avLst>
              <a:gd name="adj" fmla="val 18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52545"/>
                </a:solidFill>
                <a:latin typeface="Aptos" pitchFamily="34" charset="0"/>
              </a:rPr>
              <a:t>Push commit to DEV branch</a:t>
            </a:r>
          </a:p>
        </p:txBody>
      </p:sp>
      <p:sp>
        <p:nvSpPr>
          <p:cNvPr id="1101" name="Box"/>
          <p:cNvSpPr/>
          <p:nvPr/>
        </p:nvSpPr>
        <p:spPr>
          <a:xfrm>
            <a:off x="6659880" y="6684264"/>
            <a:ext cx="4876800" cy="548640"/>
          </a:xfrm>
          <a:prstGeom prst="roundRect">
            <a:avLst>
              <a:gd name="adj" fmla="val 18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52545"/>
                </a:solidFill>
                <a:latin typeface="Aptos" pitchFamily="34" charset="0"/>
              </a:rPr>
              <a:t>Record new commit ID</a:t>
            </a:r>
          </a:p>
        </p:txBody>
      </p:sp>
      <p:sp>
        <p:nvSpPr>
          <p:cNvPr id="1102" name="Box"/>
          <p:cNvSpPr/>
          <p:nvPr/>
        </p:nvSpPr>
        <p:spPr>
          <a:xfrm>
            <a:off x="6659880" y="7342632"/>
            <a:ext cx="4876800" cy="548640"/>
          </a:xfrm>
          <a:prstGeom prst="roundRect">
            <a:avLst>
              <a:gd name="adj" fmla="val 18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52545"/>
                </a:solidFill>
                <a:latin typeface="Aptos" pitchFamily="34" charset="0"/>
              </a:rPr>
              <a:t>Email: sync successful</a:t>
            </a:r>
          </a:p>
        </p:txBody>
      </p:sp>
      <p:sp>
        <p:nvSpPr>
          <p:cNvPr id="1103" name="Chip"/>
          <p:cNvSpPr/>
          <p:nvPr/>
        </p:nvSpPr>
        <p:spPr>
          <a:xfrm>
            <a:off x="13060680" y="41605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</a:rPr>
              <a:t>ERROR</a:t>
            </a:r>
          </a:p>
        </p:txBody>
      </p:sp>
      <p:sp>
        <p:nvSpPr>
          <p:cNvPr id="1104" name="Box"/>
          <p:cNvSpPr/>
          <p:nvPr/>
        </p:nvSpPr>
        <p:spPr>
          <a:xfrm>
            <a:off x="11902440" y="4709160"/>
            <a:ext cx="4876800" cy="548640"/>
          </a:xfrm>
          <a:prstGeom prst="roundRect">
            <a:avLst>
              <a:gd name="adj" fmla="val 18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52545"/>
                </a:solidFill>
                <a:latin typeface="Aptos" pitchFamily="34" charset="0"/>
              </a:rPr>
              <a:t>Jenkins job marked failed</a:t>
            </a:r>
          </a:p>
        </p:txBody>
      </p:sp>
      <p:sp>
        <p:nvSpPr>
          <p:cNvPr id="1105" name="Box"/>
          <p:cNvSpPr/>
          <p:nvPr/>
        </p:nvSpPr>
        <p:spPr>
          <a:xfrm>
            <a:off x="11902440" y="5367528"/>
            <a:ext cx="4876800" cy="548640"/>
          </a:xfrm>
          <a:prstGeom prst="roundRect">
            <a:avLst>
              <a:gd name="adj" fmla="val 18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52545"/>
                </a:solidFill>
                <a:latin typeface="Aptos" pitchFamily="34" charset="0"/>
              </a:rPr>
              <a:t>Failure notification sent</a:t>
            </a:r>
          </a:p>
        </p:txBody>
      </p:sp>
      <p:sp>
        <p:nvSpPr>
          <p:cNvPr id="1106" name="Box"/>
          <p:cNvSpPr/>
          <p:nvPr/>
        </p:nvSpPr>
        <p:spPr>
          <a:xfrm>
            <a:off x="11902440" y="6025896"/>
            <a:ext cx="4876800" cy="548640"/>
          </a:xfrm>
          <a:prstGeom prst="roundRect">
            <a:avLst>
              <a:gd name="adj" fmla="val 18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52545"/>
                </a:solidFill>
                <a:latin typeface="Aptos" pitchFamily="34" charset="0"/>
              </a:rPr>
              <a:t>Console log kept for troubleshooting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PIPELINE AUTOMATION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PART 1 • NOTIFICATIONS &amp; SECURITY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07" name="TextBox"/>
          <p:cNvSpPr txBox="1"/>
          <p:nvPr/>
        </p:nvSpPr>
        <p:spPr>
          <a:xfrm>
            <a:off x="1417320" y="2331720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5B5F73"/>
                </a:solidFill>
                <a:latin typeface="Aptos" pitchFamily="34" charset="0"/>
              </a:rPr>
              <a:t>Every run closes with a status email, and the Bitbucket credential is never exposed along the way.</a:t>
            </a:r>
          </a:p>
        </p:txBody>
      </p:sp>
      <p:sp>
        <p:nvSpPr>
          <p:cNvPr id="1108" name="Box"/>
          <p:cNvSpPr/>
          <p:nvPr/>
        </p:nvSpPr>
        <p:spPr>
          <a:xfrm>
            <a:off x="1417320" y="3017520"/>
            <a:ext cx="8449056" cy="617220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09" name="TextBox"/>
          <p:cNvSpPr txBox="1"/>
          <p:nvPr/>
        </p:nvSpPr>
        <p:spPr>
          <a:xfrm>
            <a:off x="1709928" y="324612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5B5F73"/>
                </a:solidFill>
                <a:latin typeface="Aptos" pitchFamily="34" charset="0"/>
              </a:rPr>
              <a:t>SYNCHRONIZATION EMAIL CONTAINS</a:t>
            </a:r>
          </a:p>
        </p:txBody>
      </p:sp>
      <p:sp>
        <p:nvSpPr>
          <p:cNvPr id="1110" name="Chip"/>
          <p:cNvSpPr/>
          <p:nvPr/>
        </p:nvSpPr>
        <p:spPr>
          <a:xfrm>
            <a:off x="1709928" y="3730752"/>
            <a:ext cx="38176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Source server</a:t>
            </a:r>
          </a:p>
        </p:txBody>
      </p:sp>
      <p:sp>
        <p:nvSpPr>
          <p:cNvPr id="1111" name="Chip"/>
          <p:cNvSpPr/>
          <p:nvPr/>
        </p:nvSpPr>
        <p:spPr>
          <a:xfrm>
            <a:off x="5756148" y="3730752"/>
            <a:ext cx="38176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Repository</a:t>
            </a:r>
          </a:p>
        </p:txBody>
      </p:sp>
      <p:sp>
        <p:nvSpPr>
          <p:cNvPr id="1112" name="Chip"/>
          <p:cNvSpPr/>
          <p:nvPr/>
        </p:nvSpPr>
        <p:spPr>
          <a:xfrm>
            <a:off x="1709928" y="4206240"/>
            <a:ext cx="38176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Branch</a:t>
            </a:r>
          </a:p>
        </p:txBody>
      </p:sp>
      <p:sp>
        <p:nvSpPr>
          <p:cNvPr id="1113" name="Chip"/>
          <p:cNvSpPr/>
          <p:nvPr/>
        </p:nvSpPr>
        <p:spPr>
          <a:xfrm>
            <a:off x="5756148" y="4206240"/>
            <a:ext cx="38176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Synchronization result</a:t>
            </a:r>
          </a:p>
        </p:txBody>
      </p:sp>
      <p:sp>
        <p:nvSpPr>
          <p:cNvPr id="1114" name="Chip"/>
          <p:cNvSpPr/>
          <p:nvPr/>
        </p:nvSpPr>
        <p:spPr>
          <a:xfrm>
            <a:off x="1709928" y="4681728"/>
            <a:ext cx="38176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Commit ID (if created)</a:t>
            </a:r>
          </a:p>
        </p:txBody>
      </p:sp>
      <p:sp>
        <p:nvSpPr>
          <p:cNvPr id="1115" name="Chip"/>
          <p:cNvSpPr/>
          <p:nvPr/>
        </p:nvSpPr>
        <p:spPr>
          <a:xfrm>
            <a:off x="5756148" y="4681728"/>
            <a:ext cx="38176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Date and time</a:t>
            </a:r>
          </a:p>
        </p:txBody>
      </p:sp>
      <p:sp>
        <p:nvSpPr>
          <p:cNvPr id="1116" name="Chip"/>
          <p:cNvSpPr/>
          <p:nvPr/>
        </p:nvSpPr>
        <p:spPr>
          <a:xfrm>
            <a:off x="1709928" y="5157216"/>
            <a:ext cx="38176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Jenkins build link</a:t>
            </a:r>
          </a:p>
        </p:txBody>
      </p:sp>
      <p:sp>
        <p:nvSpPr>
          <p:cNvPr id="1117" name="Box"/>
          <p:cNvSpPr/>
          <p:nvPr/>
        </p:nvSpPr>
        <p:spPr>
          <a:xfrm>
            <a:off x="10232136" y="3017520"/>
            <a:ext cx="6547104" cy="617220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F0DFAF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18" name="TextBox"/>
          <p:cNvSpPr txBox="1"/>
          <p:nvPr/>
        </p:nvSpPr>
        <p:spPr>
          <a:xfrm>
            <a:off x="10524744" y="3246120"/>
            <a:ext cx="596188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7A5B12"/>
                </a:solidFill>
                <a:latin typeface="Aptos" pitchFamily="34" charset="0"/>
              </a:rPr>
              <a:t>CREDENTIAL SECURITY</a:t>
            </a:r>
          </a:p>
        </p:txBody>
      </p:sp>
      <p:sp>
        <p:nvSpPr>
          <p:cNvPr id="1119" name="TextBox"/>
          <p:cNvSpPr txBox="1"/>
          <p:nvPr/>
        </p:nvSpPr>
        <p:spPr>
          <a:xfrm>
            <a:off x="10524744" y="3703320"/>
            <a:ext cx="5961888" cy="525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7A5B12"/>
                </a:solidFill>
                <a:latin typeface="Aptos" pitchFamily="34" charset="0"/>
              </a:rPr>
              <a:t>Admin_Bitbucket is pulled from the Jenkins credential store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7A5B12"/>
                </a:solidFill>
                <a:latin typeface="Aptos" pitchFamily="34" charset="0"/>
              </a:rPr>
              <a:t>Never hard-coded in the pipeline definition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7A5B12"/>
                </a:solidFill>
                <a:latin typeface="Aptos" pitchFamily="34" charset="0"/>
              </a:rPr>
              <a:t>Never printed to the Jenkins console log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E2C79">
                <a:alpha val="100000"/>
              </a:srgbClr>
            </a:gs>
            <a:gs pos="50000">
              <a:srgbClr val="9A84DC">
                <a:alpha val="100000"/>
              </a:srgbClr>
            </a:gs>
            <a:gs pos="100000">
              <a:srgbClr val="8F73F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6930" y="195887"/>
            <a:ext cx="3503507" cy="1052269"/>
          </a:xfrm>
          <a:custGeom>
            <a:avLst/>
            <a:gdLst/>
            <a:ahLst/>
            <a:cxnLst/>
            <a:rect l="l" t="t" r="r" b="b"/>
            <a:pathLst>
              <a:path w="3503507" h="1052269">
                <a:moveTo>
                  <a:pt x="0" y="0"/>
                </a:moveTo>
                <a:lnTo>
                  <a:pt x="3503507" y="0"/>
                </a:lnTo>
                <a:lnTo>
                  <a:pt x="3503507" y="1052269"/>
                </a:lnTo>
                <a:lnTo>
                  <a:pt x="0" y="10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28700" y="3289685"/>
            <a:ext cx="964662" cy="964662"/>
          </a:xfrm>
          <a:custGeom>
            <a:avLst/>
            <a:gdLst/>
            <a:ahLst/>
            <a:cxnLst/>
            <a:rect l="l" t="t" r="r" b="b"/>
            <a:pathLst>
              <a:path w="964662" h="964662">
                <a:moveTo>
                  <a:pt x="0" y="0"/>
                </a:moveTo>
                <a:lnTo>
                  <a:pt x="964662" y="0"/>
                </a:lnTo>
                <a:lnTo>
                  <a:pt x="964662" y="964662"/>
                </a:lnTo>
                <a:lnTo>
                  <a:pt x="0" y="964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>
              <a:latin typeface="+mj-lt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2587519" y="0"/>
            <a:ext cx="5690956" cy="10287000"/>
            <a:chOff x="0" y="0"/>
            <a:chExt cx="7631832" cy="13795338"/>
          </a:xfrm>
        </p:grpSpPr>
        <p:sp>
          <p:nvSpPr>
            <p:cNvPr id="5" name="Freeform 5" descr="Image"/>
            <p:cNvSpPr/>
            <p:nvPr/>
          </p:nvSpPr>
          <p:spPr>
            <a:xfrm>
              <a:off x="0" y="0"/>
              <a:ext cx="7631811" cy="13795375"/>
            </a:xfrm>
            <a:custGeom>
              <a:avLst/>
              <a:gdLst/>
              <a:ahLst/>
              <a:cxnLst/>
              <a:rect l="l" t="t" r="r" b="b"/>
              <a:pathLst>
                <a:path w="7631811" h="13795375">
                  <a:moveTo>
                    <a:pt x="0" y="0"/>
                  </a:moveTo>
                  <a:lnTo>
                    <a:pt x="7631811" y="0"/>
                  </a:lnTo>
                  <a:lnTo>
                    <a:pt x="7631811" y="13795375"/>
                  </a:lnTo>
                  <a:lnTo>
                    <a:pt x="0" y="13795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b="-74"/>
              </a:stretch>
            </a:blipFill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644000" y="4200000"/>
            <a:ext cx="11000000" cy="160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36"/>
              </a:lnSpc>
            </a:pPr>
            <a:r>
              <a:rPr lang="en-US" sz="3800" b="1" dirty="0">
                <a:solidFill>
                  <a:srgbClr val="FFFFFF"/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Target Environment Deployment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44000" y="5950000"/>
            <a:ext cx="11000000" cy="45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65"/>
              </a:lnSpc>
              <a:spcBef>
                <a:spcPct val="0"/>
              </a:spcBef>
            </a:pPr>
            <a:r>
              <a:rPr lang="en-US" sz="1890" b="1" dirty="0">
                <a:solidFill>
                  <a:srgbClr val="FFFFFF">
                    <a:alpha val="68627"/>
                  </a:srgbClr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QC • UAT • PROD — same pipeline, different target</a:t>
            </a:r>
          </a:p>
        </p:txBody>
      </p:sp>
      <p:sp>
        <p:nvSpPr>
          <p:cNvPr id="8" name="GTBClassificationH1190887526"/>
          <p:cNvSpPr txBox="1"/>
          <p:nvPr/>
        </p:nvSpPr>
        <p:spPr>
          <a:xfrm>
            <a:off x="0" y="0"/>
            <a:ext cx="18288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dirty="0">
                <a:solidFill>
                  <a:srgbClr val="000000">
                    <a:alpha val="70000"/>
                  </a:srgbClr>
                </a:solidFill>
                <a:latin typeface="+mj-lt"/>
              </a:rPr>
              <a:t>Classification:</a:t>
            </a:r>
            <a:r>
              <a:rPr lang="en-US" sz="1400" dirty="0">
                <a:solidFill>
                  <a:srgbClr val="000000">
                    <a:alpha val="70000"/>
                  </a:srgbClr>
                </a:solidFill>
                <a:latin typeface="+mj-lt"/>
              </a:rPr>
              <a:t> </a:t>
            </a:r>
            <a:r>
              <a:rPr lang="en-US" sz="1400" b="1" dirty="0">
                <a:solidFill>
                  <a:srgbClr val="6A1B9A">
                    <a:alpha val="70000"/>
                  </a:srgbClr>
                </a:solidFill>
                <a:latin typeface="+mj-lt"/>
              </a:rPr>
              <a:t>Internal</a:t>
            </a:r>
          </a:p>
        </p:txBody>
      </p:sp>
      <p:sp>
        <p:nvSpPr>
          <p:cNvPr id="9001" name="KickerLabel"/>
          <p:cNvSpPr txBox="1"/>
          <p:nvPr/>
        </p:nvSpPr>
        <p:spPr>
          <a:xfrm>
            <a:off x="3644000" y="3680000"/>
            <a:ext cx="110000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600" b="1" dirty="0">
                <a:solidFill>
                  <a:srgbClr val="FFFFFF">
                    <a:alpha val="70000"/>
                  </a:srgbClr>
                </a:solidFill>
                <a:latin typeface="+mj-lt"/>
              </a:rPr>
              <a:t>PART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PIPELINE AUTOMATION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PART 2 • PURPOSE &amp; ENVIRONMENT MODEL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20" name="TextBox"/>
          <p:cNvSpPr txBox="1"/>
          <p:nvPr/>
        </p:nvSpPr>
        <p:spPr>
          <a:xfrm>
            <a:off x="1417320" y="2331720"/>
            <a:ext cx="153619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450" dirty="0">
                <a:solidFill>
                  <a:srgbClr val="252545"/>
                </a:solidFill>
                <a:latin typeface="Aptos" pitchFamily="34" charset="0"/>
              </a:rPr>
              <a:t>Builds selected packages from the Target Environment branch and deploys them through webMethods Deployer. The same process represents QC, UAT, and PROD.</a:t>
            </a:r>
          </a:p>
        </p:txBody>
      </p:sp>
      <p:sp>
        <p:nvSpPr>
          <p:cNvPr id="1121" name="Box"/>
          <p:cNvSpPr/>
          <p:nvPr/>
        </p:nvSpPr>
        <p:spPr>
          <a:xfrm>
            <a:off x="1417320" y="3337560"/>
            <a:ext cx="15361920" cy="283464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22" name="TextBox"/>
          <p:cNvSpPr txBox="1"/>
          <p:nvPr/>
        </p:nvSpPr>
        <p:spPr>
          <a:xfrm>
            <a:off x="1709928" y="3520440"/>
            <a:ext cx="1477670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5B5F73"/>
                </a:solidFill>
                <a:latin typeface="Aptos" pitchFamily="34" charset="0"/>
              </a:rPr>
              <a:t>EACH TARGET ENVIRONMENT PROVIDES ITS OWN</a:t>
            </a:r>
          </a:p>
        </p:txBody>
      </p:sp>
      <p:sp>
        <p:nvSpPr>
          <p:cNvPr id="1123" name="Box"/>
          <p:cNvSpPr/>
          <p:nvPr/>
        </p:nvSpPr>
        <p:spPr>
          <a:xfrm>
            <a:off x="1709928" y="4023360"/>
            <a:ext cx="1954203" cy="1920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Environment branch</a:t>
            </a:r>
          </a:p>
        </p:txBody>
      </p:sp>
      <p:sp>
        <p:nvSpPr>
          <p:cNvPr id="1124" name="Box"/>
          <p:cNvSpPr/>
          <p:nvPr/>
        </p:nvSpPr>
        <p:spPr>
          <a:xfrm>
            <a:off x="3847011" y="4023360"/>
            <a:ext cx="1954203" cy="1920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Jenkins agent</a:t>
            </a:r>
          </a:p>
        </p:txBody>
      </p:sp>
      <p:sp>
        <p:nvSpPr>
          <p:cNvPr id="1125" name="Box"/>
          <p:cNvSpPr/>
          <p:nvPr/>
        </p:nvSpPr>
        <p:spPr>
          <a:xfrm>
            <a:off x="5984095" y="4023360"/>
            <a:ext cx="1954203" cy="1920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Deployer server</a:t>
            </a:r>
          </a:p>
        </p:txBody>
      </p:sp>
      <p:sp>
        <p:nvSpPr>
          <p:cNvPr id="1126" name="Box"/>
          <p:cNvSpPr/>
          <p:nvPr/>
        </p:nvSpPr>
        <p:spPr>
          <a:xfrm>
            <a:off x="8121178" y="4023360"/>
            <a:ext cx="1954203" cy="1920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Target server</a:t>
            </a:r>
          </a:p>
        </p:txBody>
      </p:sp>
      <p:sp>
        <p:nvSpPr>
          <p:cNvPr id="1127" name="Box"/>
          <p:cNvSpPr/>
          <p:nvPr/>
        </p:nvSpPr>
        <p:spPr>
          <a:xfrm>
            <a:off x="10258262" y="4023360"/>
            <a:ext cx="1954203" cy="1920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Target alias</a:t>
            </a:r>
          </a:p>
        </p:txBody>
      </p:sp>
      <p:sp>
        <p:nvSpPr>
          <p:cNvPr id="1128" name="Box"/>
          <p:cNvSpPr/>
          <p:nvPr/>
        </p:nvSpPr>
        <p:spPr>
          <a:xfrm>
            <a:off x="12395345" y="4023360"/>
            <a:ext cx="1954203" cy="1920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Network configuration</a:t>
            </a:r>
          </a:p>
        </p:txBody>
      </p:sp>
      <p:sp>
        <p:nvSpPr>
          <p:cNvPr id="1129" name="Box"/>
          <p:cNvSpPr/>
          <p:nvPr/>
        </p:nvSpPr>
        <p:spPr>
          <a:xfrm>
            <a:off x="14532429" y="4023360"/>
            <a:ext cx="1954203" cy="1920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52545"/>
                </a:solidFill>
                <a:latin typeface="Aptos" pitchFamily="34" charset="0"/>
              </a:rPr>
              <a:t>Approval rules</a:t>
            </a:r>
          </a:p>
        </p:txBody>
      </p:sp>
      <p:sp>
        <p:nvSpPr>
          <p:cNvPr id="1130" name="TextBox"/>
          <p:cNvSpPr txBox="1"/>
          <p:nvPr/>
        </p:nvSpPr>
        <p:spPr>
          <a:xfrm>
            <a:off x="1417320" y="6537960"/>
            <a:ext cx="153619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5B5F73"/>
                </a:solidFill>
                <a:latin typeface="Aptos" pitchFamily="34" charset="0"/>
              </a:rPr>
              <a:t>PIPELINE INPUTS</a:t>
            </a:r>
          </a:p>
        </p:txBody>
      </p:sp>
      <p:sp>
        <p:nvSpPr>
          <p:cNvPr id="1131" name="Box"/>
          <p:cNvSpPr/>
          <p:nvPr/>
        </p:nvSpPr>
        <p:spPr>
          <a:xfrm>
            <a:off x="1417320" y="6949440"/>
            <a:ext cx="48768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32" name="TextBox"/>
          <p:cNvSpPr txBox="1"/>
          <p:nvPr/>
        </p:nvSpPr>
        <p:spPr>
          <a:xfrm>
            <a:off x="1645920" y="7114032"/>
            <a:ext cx="4419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5B4FE0"/>
                </a:solidFill>
                <a:latin typeface="Courier New" pitchFamily="34" charset="0"/>
              </a:rPr>
              <a:t>EPIC_NAME</a:t>
            </a:r>
          </a:p>
        </p:txBody>
      </p:sp>
      <p:sp>
        <p:nvSpPr>
          <p:cNvPr id="1133" name="TextBox"/>
          <p:cNvSpPr txBox="1"/>
          <p:nvPr/>
        </p:nvSpPr>
        <p:spPr>
          <a:xfrm>
            <a:off x="1645920" y="7479792"/>
            <a:ext cx="44196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5B5F73"/>
                </a:solidFill>
                <a:latin typeface="Aptos" pitchFamily="34" charset="0"/>
              </a:rPr>
              <a:t>Jira EPIC and Deployer project name</a:t>
            </a:r>
          </a:p>
        </p:txBody>
      </p:sp>
      <p:sp>
        <p:nvSpPr>
          <p:cNvPr id="1134" name="Box"/>
          <p:cNvSpPr/>
          <p:nvPr/>
        </p:nvSpPr>
        <p:spPr>
          <a:xfrm>
            <a:off x="6659880" y="6949440"/>
            <a:ext cx="48768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35" name="TextBox"/>
          <p:cNvSpPr txBox="1"/>
          <p:nvPr/>
        </p:nvSpPr>
        <p:spPr>
          <a:xfrm>
            <a:off x="6888480" y="7114032"/>
            <a:ext cx="4419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5B4FE0"/>
                </a:solidFill>
                <a:latin typeface="Courier New" pitchFamily="34" charset="0"/>
              </a:rPr>
              <a:t>TARGET_SCOPE</a:t>
            </a:r>
          </a:p>
        </p:txBody>
      </p:sp>
      <p:sp>
        <p:nvSpPr>
          <p:cNvPr id="1136" name="TextBox"/>
          <p:cNvSpPr txBox="1"/>
          <p:nvPr/>
        </p:nvSpPr>
        <p:spPr>
          <a:xfrm>
            <a:off x="6888480" y="7479792"/>
            <a:ext cx="44196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5B5F73"/>
                </a:solidFill>
                <a:latin typeface="Aptos" pitchFamily="34" charset="0"/>
              </a:rPr>
              <a:t>One or more Target Environment servers</a:t>
            </a:r>
          </a:p>
        </p:txBody>
      </p:sp>
      <p:sp>
        <p:nvSpPr>
          <p:cNvPr id="1137" name="Box"/>
          <p:cNvSpPr/>
          <p:nvPr/>
        </p:nvSpPr>
        <p:spPr>
          <a:xfrm>
            <a:off x="11902440" y="6949440"/>
            <a:ext cx="48768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38" name="TextBox"/>
          <p:cNvSpPr txBox="1"/>
          <p:nvPr/>
        </p:nvSpPr>
        <p:spPr>
          <a:xfrm>
            <a:off x="12131040" y="7114032"/>
            <a:ext cx="4419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5B4FE0"/>
                </a:solidFill>
                <a:latin typeface="Courier New" pitchFamily="34" charset="0"/>
              </a:rPr>
              <a:t>PACKAGES_TO_BUILD</a:t>
            </a:r>
          </a:p>
        </p:txBody>
      </p:sp>
      <p:sp>
        <p:nvSpPr>
          <p:cNvPr id="1139" name="TextBox"/>
          <p:cNvSpPr txBox="1"/>
          <p:nvPr/>
        </p:nvSpPr>
        <p:spPr>
          <a:xfrm>
            <a:off x="12131040" y="7479792"/>
            <a:ext cx="44196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5B5F73"/>
                </a:solidFill>
                <a:latin typeface="Aptos" pitchFamily="34" charset="0"/>
              </a:rPr>
              <a:t>Packages selected for deployment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PIPELINE AUTOMATION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PART 2 • ARCHITECTURE &amp; COMPONENTS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40" name="TextBox"/>
          <p:cNvSpPr txBox="1"/>
          <p:nvPr/>
        </p:nvSpPr>
        <p:spPr>
          <a:xfrm>
            <a:off x="1417320" y="2331720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5B5F73"/>
                </a:solidFill>
                <a:latin typeface="Aptos" pitchFamily="34" charset="0"/>
              </a:rPr>
              <a:t>Same components for every Target Environment — only the branch, agent, and target change.</a:t>
            </a:r>
          </a:p>
        </p:txBody>
      </p:sp>
      <p:sp>
        <p:nvSpPr>
          <p:cNvPr id="1141" name="Box"/>
          <p:cNvSpPr/>
          <p:nvPr/>
        </p:nvSpPr>
        <p:spPr>
          <a:xfrm>
            <a:off x="1417320" y="3108960"/>
            <a:ext cx="2316480" cy="1417320"/>
          </a:xfrm>
          <a:prstGeom prst="roundRect">
            <a:avLst>
              <a:gd name="adj" fmla="val 12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80" b="1" dirty="0">
                <a:solidFill>
                  <a:srgbClr val="252545"/>
                </a:solidFill>
                <a:latin typeface="Aptos" pitchFamily="34" charset="0"/>
              </a:rPr>
              <a:t>User</a:t>
            </a:r>
          </a:p>
        </p:txBody>
      </p:sp>
      <p:sp>
        <p:nvSpPr>
          <p:cNvPr id="1142" name="Box"/>
          <p:cNvSpPr/>
          <p:nvPr/>
        </p:nvSpPr>
        <p:spPr>
          <a:xfrm>
            <a:off x="4026408" y="3108960"/>
            <a:ext cx="2316480" cy="1417320"/>
          </a:xfrm>
          <a:prstGeom prst="roundRect">
            <a:avLst>
              <a:gd name="adj" fmla="val 12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</a:rPr>
              <a:t>Jenkins</a:t>
            </a:r>
          </a:p>
          <a:p>
            <a:pPr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</a:rPr>
              <a:t>Controller + Agent</a:t>
            </a:r>
          </a:p>
        </p:txBody>
      </p:sp>
      <p:cxnSp>
        <p:nvCxnSpPr>
          <p:cNvPr id="1143" name="Connector"/>
          <p:cNvCxnSpPr/>
          <p:nvPr/>
        </p:nvCxnSpPr>
        <p:spPr>
          <a:xfrm>
            <a:off x="3752088" y="3817620"/>
            <a:ext cx="256032" cy="457"/>
          </a:xfrm>
          <a:prstGeom prst="line">
            <a:avLst/>
          </a:prstGeom>
          <a:ln w="1905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4" name="Box"/>
          <p:cNvSpPr/>
          <p:nvPr/>
        </p:nvSpPr>
        <p:spPr>
          <a:xfrm>
            <a:off x="6635496" y="3108960"/>
            <a:ext cx="2316480" cy="1417320"/>
          </a:xfrm>
          <a:prstGeom prst="roundRect">
            <a:avLst>
              <a:gd name="adj" fmla="val 12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80" b="1" dirty="0">
                <a:solidFill>
                  <a:srgbClr val="252545"/>
                </a:solidFill>
                <a:latin typeface="Aptos" pitchFamily="34" charset="0"/>
              </a:rPr>
              <a:t>Bitbucket</a:t>
            </a:r>
          </a:p>
          <a:p>
            <a:pPr algn="ctr">
              <a:buNone/>
            </a:pPr>
            <a:r>
              <a:rPr lang="en-US" sz="1080" b="1" dirty="0">
                <a:solidFill>
                  <a:srgbClr val="252545"/>
                </a:solidFill>
                <a:latin typeface="Aptos" pitchFamily="34" charset="0"/>
              </a:rPr>
              <a:t>Repository</a:t>
            </a:r>
          </a:p>
        </p:txBody>
      </p:sp>
      <p:cxnSp>
        <p:nvCxnSpPr>
          <p:cNvPr id="1145" name="Connector"/>
          <p:cNvCxnSpPr/>
          <p:nvPr/>
        </p:nvCxnSpPr>
        <p:spPr>
          <a:xfrm>
            <a:off x="6361176" y="3817620"/>
            <a:ext cx="256032" cy="457"/>
          </a:xfrm>
          <a:prstGeom prst="line">
            <a:avLst/>
          </a:prstGeom>
          <a:ln w="1905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6" name="Box"/>
          <p:cNvSpPr/>
          <p:nvPr/>
        </p:nvSpPr>
        <p:spPr>
          <a:xfrm>
            <a:off x="9244584" y="3108960"/>
            <a:ext cx="2316480" cy="1417320"/>
          </a:xfrm>
          <a:prstGeom prst="roundRect">
            <a:avLst>
              <a:gd name="adj" fmla="val 12000"/>
            </a:avLst>
          </a:prstGeom>
          <a:solidFill>
            <a:srgbClr val="6B4FB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</a:rPr>
              <a:t>Asset Build</a:t>
            </a:r>
          </a:p>
          <a:p>
            <a:pPr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</a:rPr>
              <a:t>Environment</a:t>
            </a:r>
          </a:p>
        </p:txBody>
      </p:sp>
      <p:cxnSp>
        <p:nvCxnSpPr>
          <p:cNvPr id="1147" name="Connector"/>
          <p:cNvCxnSpPr/>
          <p:nvPr/>
        </p:nvCxnSpPr>
        <p:spPr>
          <a:xfrm>
            <a:off x="8970264" y="3817620"/>
            <a:ext cx="256032" cy="457"/>
          </a:xfrm>
          <a:prstGeom prst="line">
            <a:avLst/>
          </a:prstGeom>
          <a:ln w="1905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8" name="Box"/>
          <p:cNvSpPr/>
          <p:nvPr/>
        </p:nvSpPr>
        <p:spPr>
          <a:xfrm>
            <a:off x="11853672" y="3108960"/>
            <a:ext cx="2316480" cy="1417320"/>
          </a:xfrm>
          <a:prstGeom prst="roundRect">
            <a:avLst>
              <a:gd name="adj" fmla="val 12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</a:rPr>
              <a:t>Local webMethods</a:t>
            </a:r>
          </a:p>
          <a:p>
            <a:pPr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</a:rPr>
              <a:t>Deployer</a:t>
            </a:r>
          </a:p>
        </p:txBody>
      </p:sp>
      <p:cxnSp>
        <p:nvCxnSpPr>
          <p:cNvPr id="1149" name="Connector"/>
          <p:cNvCxnSpPr/>
          <p:nvPr/>
        </p:nvCxnSpPr>
        <p:spPr>
          <a:xfrm>
            <a:off x="11579352" y="3817620"/>
            <a:ext cx="256032" cy="457"/>
          </a:xfrm>
          <a:prstGeom prst="line">
            <a:avLst/>
          </a:prstGeom>
          <a:ln w="1905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0" name="Box"/>
          <p:cNvSpPr/>
          <p:nvPr/>
        </p:nvSpPr>
        <p:spPr>
          <a:xfrm>
            <a:off x="14462760" y="3108960"/>
            <a:ext cx="2316480" cy="1417320"/>
          </a:xfrm>
          <a:prstGeom prst="roundRect">
            <a:avLst>
              <a:gd name="adj" fmla="val 12000"/>
            </a:avLst>
          </a:prstGeom>
          <a:solidFill>
            <a:srgbClr val="A02B6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</a:rPr>
              <a:t>Target Environment</a:t>
            </a:r>
          </a:p>
          <a:p>
            <a:pPr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</a:rPr>
              <a:t>Integration Server</a:t>
            </a:r>
          </a:p>
        </p:txBody>
      </p:sp>
      <p:cxnSp>
        <p:nvCxnSpPr>
          <p:cNvPr id="1151" name="Connector"/>
          <p:cNvCxnSpPr/>
          <p:nvPr/>
        </p:nvCxnSpPr>
        <p:spPr>
          <a:xfrm>
            <a:off x="14188440" y="3817620"/>
            <a:ext cx="256032" cy="457"/>
          </a:xfrm>
          <a:prstGeom prst="line">
            <a:avLst/>
          </a:prstGeom>
          <a:ln w="1905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2" name="Connector"/>
          <p:cNvCxnSpPr/>
          <p:nvPr/>
        </p:nvCxnSpPr>
        <p:spPr>
          <a:xfrm>
            <a:off x="9098280" y="4526280"/>
            <a:ext cx="457" cy="502920"/>
          </a:xfrm>
          <a:prstGeom prst="line">
            <a:avLst/>
          </a:prstGeom>
          <a:ln w="1905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3" name="Box"/>
          <p:cNvSpPr/>
          <p:nvPr/>
        </p:nvSpPr>
        <p:spPr>
          <a:xfrm>
            <a:off x="6903720" y="5029200"/>
            <a:ext cx="4389120" cy="914400"/>
          </a:xfrm>
          <a:prstGeom prst="roundRect">
            <a:avLst>
              <a:gd name="adj" fmla="val 16000"/>
            </a:avLst>
          </a:prstGeom>
          <a:solidFill>
            <a:srgbClr val="FFF8E8"/>
          </a:solidFill>
          <a:ln w="9525">
            <a:solidFill>
              <a:srgbClr val="F0DFAF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7A5B12"/>
                </a:solidFill>
                <a:latin typeface="Aptos" pitchFamily="34" charset="0"/>
              </a:rPr>
              <a:t>Email Notification Service</a:t>
            </a:r>
          </a:p>
        </p:txBody>
      </p:sp>
      <p:sp>
        <p:nvSpPr>
          <p:cNvPr id="1154" name="Box"/>
          <p:cNvSpPr/>
          <p:nvPr/>
        </p:nvSpPr>
        <p:spPr>
          <a:xfrm>
            <a:off x="1417320" y="6309360"/>
            <a:ext cx="15361920" cy="100584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55" name="TextBox"/>
          <p:cNvSpPr txBox="1"/>
          <p:nvPr/>
        </p:nvSpPr>
        <p:spPr>
          <a:xfrm>
            <a:off x="1709928" y="6473952"/>
            <a:ext cx="14776704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5B4FE0"/>
                </a:solidFill>
                <a:latin typeface="Courier New" pitchFamily="34" charset="0"/>
              </a:rPr>
              <a:t>Admin_Bitbucket</a:t>
            </a:r>
            <a:r>
              <a:rPr lang="en-US" sz="1150" dirty="0">
                <a:solidFill>
                  <a:srgbClr val="5B5F73"/>
                </a:solidFill>
                <a:latin typeface="Aptos" pitchFamily="34" charset="0"/>
              </a:rPr>
              <a:t>  handles package discovery and repository checkout.  </a:t>
            </a:r>
            <a:r>
              <a:rPr lang="en-US" sz="1200" b="1" dirty="0">
                <a:solidFill>
                  <a:srgbClr val="5B4FE0"/>
                </a:solidFill>
                <a:latin typeface="Courier New" pitchFamily="34" charset="0"/>
              </a:rPr>
              <a:t>IS_Target_Cred</a:t>
            </a:r>
            <a:r>
              <a:rPr lang="en-US" sz="1150" dirty="0">
                <a:solidFill>
                  <a:srgbClr val="5B5F73"/>
                </a:solidFill>
                <a:latin typeface="Aptos" pitchFamily="34" charset="0"/>
              </a:rPr>
              <a:t>  authenticates Deployer and target Integration Server operations. Passwords are never hard-coded or displayed in Jenkins logs.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PIPELINE AUTOMATION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PART 2 • AUTOMATIC PACKAGE DISCOVERY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56" name="TextBox"/>
          <p:cNvSpPr txBox="1"/>
          <p:nvPr/>
        </p:nvSpPr>
        <p:spPr>
          <a:xfrm>
            <a:off x="1417320" y="2331720"/>
            <a:ext cx="153619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5B5F73"/>
                </a:solidFill>
                <a:latin typeface="Aptos" pitchFamily="34" charset="0"/>
              </a:rPr>
              <a:t>The package list is never maintained manually — it is read live from the Target Environment branch.</a:t>
            </a:r>
          </a:p>
        </p:txBody>
      </p:sp>
      <p:sp>
        <p:nvSpPr>
          <p:cNvPr id="1157" name="Box"/>
          <p:cNvSpPr/>
          <p:nvPr/>
        </p:nvSpPr>
        <p:spPr>
          <a:xfrm>
            <a:off x="1417320" y="3703320"/>
            <a:ext cx="2293620" cy="164592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Read Admin_</a:t>
            </a:r>
          </a:p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Bitbucket credential</a:t>
            </a:r>
          </a:p>
        </p:txBody>
      </p:sp>
      <p:sp>
        <p:nvSpPr>
          <p:cNvPr id="1158" name="Box"/>
          <p:cNvSpPr/>
          <p:nvPr/>
        </p:nvSpPr>
        <p:spPr>
          <a:xfrm>
            <a:off x="4030980" y="3703320"/>
            <a:ext cx="2293620" cy="1645920"/>
          </a:xfrm>
          <a:prstGeom prst="roundRect">
            <a:avLst>
              <a:gd name="adj" fmla="val 14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</a:rPr>
              <a:t>Call Bitbucket</a:t>
            </a:r>
          </a:p>
          <a:p>
            <a:pPr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</a:rPr>
              <a:t>REST API</a:t>
            </a:r>
          </a:p>
        </p:txBody>
      </p:sp>
      <p:cxnSp>
        <p:nvCxnSpPr>
          <p:cNvPr id="1159" name="Connector"/>
          <p:cNvCxnSpPr/>
          <p:nvPr/>
        </p:nvCxnSpPr>
        <p:spPr>
          <a:xfrm>
            <a:off x="3738372" y="4526280"/>
            <a:ext cx="265176" cy="457"/>
          </a:xfrm>
          <a:prstGeom prst="line">
            <a:avLst/>
          </a:prstGeom>
          <a:ln w="19050">
            <a:solidFill>
              <a:srgbClr val="B9BBD6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0" name="Box"/>
          <p:cNvSpPr/>
          <p:nvPr/>
        </p:nvSpPr>
        <p:spPr>
          <a:xfrm>
            <a:off x="6644640" y="3703320"/>
            <a:ext cx="2293620" cy="164592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Read IS/</a:t>
            </a:r>
          </a:p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Directories</a:t>
            </a:r>
          </a:p>
        </p:txBody>
      </p:sp>
      <p:cxnSp>
        <p:nvCxnSpPr>
          <p:cNvPr id="1161" name="Connector"/>
          <p:cNvCxnSpPr/>
          <p:nvPr/>
        </p:nvCxnSpPr>
        <p:spPr>
          <a:xfrm>
            <a:off x="6352032" y="4526280"/>
            <a:ext cx="265176" cy="457"/>
          </a:xfrm>
          <a:prstGeom prst="line">
            <a:avLst/>
          </a:prstGeom>
          <a:ln w="19050">
            <a:solidFill>
              <a:srgbClr val="B9BBD6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2" name="Box"/>
          <p:cNvSpPr/>
          <p:nvPr/>
        </p:nvSpPr>
        <p:spPr>
          <a:xfrm>
            <a:off x="9258300" y="3703320"/>
            <a:ext cx="2293620" cy="164592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Exclude Default,</a:t>
            </a:r>
          </a:p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Wm*, Wx*</a:t>
            </a:r>
          </a:p>
        </p:txBody>
      </p:sp>
      <p:cxnSp>
        <p:nvCxnSpPr>
          <p:cNvPr id="1163" name="Connector"/>
          <p:cNvCxnSpPr/>
          <p:nvPr/>
        </p:nvCxnSpPr>
        <p:spPr>
          <a:xfrm>
            <a:off x="8965692" y="4526280"/>
            <a:ext cx="265176" cy="457"/>
          </a:xfrm>
          <a:prstGeom prst="line">
            <a:avLst/>
          </a:prstGeom>
          <a:ln w="19050">
            <a:solidFill>
              <a:srgbClr val="B9BBD6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4" name="Box"/>
          <p:cNvSpPr/>
          <p:nvPr/>
        </p:nvSpPr>
        <p:spPr>
          <a:xfrm>
            <a:off x="11871960" y="3703320"/>
            <a:ext cx="2293620" cy="164592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Sort Package</a:t>
            </a:r>
          </a:p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Names</a:t>
            </a:r>
          </a:p>
        </p:txBody>
      </p:sp>
      <p:cxnSp>
        <p:nvCxnSpPr>
          <p:cNvPr id="1165" name="Connector"/>
          <p:cNvCxnSpPr/>
          <p:nvPr/>
        </p:nvCxnSpPr>
        <p:spPr>
          <a:xfrm>
            <a:off x="11579352" y="4526280"/>
            <a:ext cx="265176" cy="457"/>
          </a:xfrm>
          <a:prstGeom prst="line">
            <a:avLst/>
          </a:prstGeom>
          <a:ln w="19050">
            <a:solidFill>
              <a:srgbClr val="B9BBD6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6" name="Box"/>
          <p:cNvSpPr/>
          <p:nvPr/>
        </p:nvSpPr>
        <p:spPr>
          <a:xfrm>
            <a:off x="14485620" y="3703320"/>
            <a:ext cx="2293620" cy="1645920"/>
          </a:xfrm>
          <a:prstGeom prst="roundRect">
            <a:avLst>
              <a:gd name="adj" fmla="val 14000"/>
            </a:avLst>
          </a:prstGeom>
          <a:solidFill>
            <a:srgbClr val="1E8E5A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</a:rPr>
              <a:t>Display as</a:t>
            </a:r>
          </a:p>
          <a:p>
            <a:pPr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</a:rPr>
              <a:t>Checkboxes</a:t>
            </a:r>
          </a:p>
        </p:txBody>
      </p:sp>
      <p:cxnSp>
        <p:nvCxnSpPr>
          <p:cNvPr id="1167" name="Connector"/>
          <p:cNvCxnSpPr/>
          <p:nvPr/>
        </p:nvCxnSpPr>
        <p:spPr>
          <a:xfrm>
            <a:off x="14193012" y="4526280"/>
            <a:ext cx="265176" cy="457"/>
          </a:xfrm>
          <a:prstGeom prst="line">
            <a:avLst/>
          </a:prstGeom>
          <a:ln w="19050">
            <a:solidFill>
              <a:srgbClr val="B9BBD6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8" name="TextBox"/>
          <p:cNvSpPr txBox="1"/>
          <p:nvPr/>
        </p:nvSpPr>
        <p:spPr>
          <a:xfrm>
            <a:off x="1417320" y="5989320"/>
            <a:ext cx="1536192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B5F73"/>
                </a:solidFill>
                <a:latin typeface="Aptos" pitchFamily="34" charset="0"/>
              </a:rPr>
              <a:t>Every discovery run and repository checkout uses the Admin_Bitbucket credential — the same credential used by the DEV Synchronization job.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PIPELINE AUTOMATION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PART 2 • DEPLOYMENT PIPELINE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69" name="TextBox"/>
          <p:cNvSpPr txBox="1"/>
          <p:nvPr/>
        </p:nvSpPr>
        <p:spPr>
          <a:xfrm>
            <a:off x="1417320" y="2331720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5B5F73"/>
                </a:solidFill>
                <a:latin typeface="Aptos" pitchFamily="34" charset="0"/>
              </a:rPr>
              <a:t>Nineteen steps, four phases — the same flow runs for every Target Environment.</a:t>
            </a:r>
          </a:p>
        </p:txBody>
      </p:sp>
      <p:sp>
        <p:nvSpPr>
          <p:cNvPr id="1170" name="Phase"/>
          <p:cNvSpPr/>
          <p:nvPr/>
        </p:nvSpPr>
        <p:spPr>
          <a:xfrm>
            <a:off x="1417320" y="2971800"/>
            <a:ext cx="3600450" cy="6217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71" name="PhaseHead"/>
          <p:cNvSpPr/>
          <p:nvPr/>
        </p:nvSpPr>
        <p:spPr>
          <a:xfrm>
            <a:off x="1417320" y="2971800"/>
            <a:ext cx="3600450" cy="566928"/>
          </a:xfrm>
          <a:prstGeom prst="roundRect">
            <a:avLst>
              <a:gd name="adj" fmla="val 3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72" name="PhaseNum"/>
          <p:cNvSpPr/>
          <p:nvPr/>
        </p:nvSpPr>
        <p:spPr>
          <a:xfrm>
            <a:off x="1609344" y="308152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5B4FE0"/>
                </a:solidFill>
                <a:latin typeface="Aptos Display" pitchFamily="34" charset="0"/>
              </a:rPr>
              <a:t>1</a:t>
            </a:r>
          </a:p>
        </p:txBody>
      </p:sp>
      <p:sp>
        <p:nvSpPr>
          <p:cNvPr id="1173" name="TextBox"/>
          <p:cNvSpPr txBox="1"/>
          <p:nvPr/>
        </p:nvSpPr>
        <p:spPr>
          <a:xfrm>
            <a:off x="2039112" y="2971800"/>
            <a:ext cx="28232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Validate &amp; Prepare</a:t>
            </a:r>
          </a:p>
        </p:txBody>
      </p:sp>
      <p:sp>
        <p:nvSpPr>
          <p:cNvPr id="1174" name="Dot"/>
          <p:cNvSpPr/>
          <p:nvPr/>
        </p:nvSpPr>
        <p:spPr>
          <a:xfrm>
            <a:off x="1545336" y="399723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75" name="TextBox"/>
          <p:cNvSpPr txBox="1"/>
          <p:nvPr/>
        </p:nvSpPr>
        <p:spPr>
          <a:xfrm>
            <a:off x="1801368" y="3685032"/>
            <a:ext cx="3051810" cy="77070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Validate EPIC, packages, targets</a:t>
            </a:r>
          </a:p>
        </p:txBody>
      </p:sp>
      <p:cxnSp>
        <p:nvCxnSpPr>
          <p:cNvPr id="1176" name="Connector"/>
          <p:cNvCxnSpPr/>
          <p:nvPr/>
        </p:nvCxnSpPr>
        <p:spPr>
          <a:xfrm>
            <a:off x="1618488" y="4437453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7" name="Dot"/>
          <p:cNvSpPr/>
          <p:nvPr/>
        </p:nvSpPr>
        <p:spPr>
          <a:xfrm>
            <a:off x="1545336" y="4767943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78" name="TextBox"/>
          <p:cNvSpPr txBox="1"/>
          <p:nvPr/>
        </p:nvSpPr>
        <p:spPr>
          <a:xfrm>
            <a:off x="1801368" y="4455741"/>
            <a:ext cx="3051810" cy="77070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Set Jenkins build name</a:t>
            </a:r>
          </a:p>
        </p:txBody>
      </p:sp>
      <p:cxnSp>
        <p:nvCxnSpPr>
          <p:cNvPr id="1179" name="Connector"/>
          <p:cNvCxnSpPr/>
          <p:nvPr/>
        </p:nvCxnSpPr>
        <p:spPr>
          <a:xfrm>
            <a:off x="1618488" y="5208161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0" name="Dot"/>
          <p:cNvSpPr/>
          <p:nvPr/>
        </p:nvSpPr>
        <p:spPr>
          <a:xfrm>
            <a:off x="1545336" y="5538651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81" name="TextBox"/>
          <p:cNvSpPr txBox="1"/>
          <p:nvPr/>
        </p:nvSpPr>
        <p:spPr>
          <a:xfrm>
            <a:off x="1801368" y="5226449"/>
            <a:ext cx="3051810" cy="77070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Send deployment-started email</a:t>
            </a:r>
          </a:p>
        </p:txBody>
      </p:sp>
      <p:cxnSp>
        <p:nvCxnSpPr>
          <p:cNvPr id="1182" name="Connector"/>
          <p:cNvCxnSpPr/>
          <p:nvPr/>
        </p:nvCxnSpPr>
        <p:spPr>
          <a:xfrm>
            <a:off x="1618488" y="5978870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3" name="Dot"/>
          <p:cNvSpPr/>
          <p:nvPr/>
        </p:nvSpPr>
        <p:spPr>
          <a:xfrm>
            <a:off x="1545336" y="63093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84" name="TextBox"/>
          <p:cNvSpPr txBox="1"/>
          <p:nvPr/>
        </p:nvSpPr>
        <p:spPr>
          <a:xfrm>
            <a:off x="1801368" y="5997158"/>
            <a:ext cx="3051810" cy="77070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Checkout Target Environment branch</a:t>
            </a:r>
          </a:p>
        </p:txBody>
      </p:sp>
      <p:cxnSp>
        <p:nvCxnSpPr>
          <p:cNvPr id="1185" name="Connector"/>
          <p:cNvCxnSpPr/>
          <p:nvPr/>
        </p:nvCxnSpPr>
        <p:spPr>
          <a:xfrm>
            <a:off x="1618488" y="6749578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6" name="Dot"/>
          <p:cNvSpPr/>
          <p:nvPr/>
        </p:nvSpPr>
        <p:spPr>
          <a:xfrm>
            <a:off x="1545336" y="708006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87" name="TextBox"/>
          <p:cNvSpPr txBox="1"/>
          <p:nvPr/>
        </p:nvSpPr>
        <p:spPr>
          <a:xfrm>
            <a:off x="1801368" y="6767866"/>
            <a:ext cx="3051810" cy="77070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Validate template &amp; packages</a:t>
            </a:r>
          </a:p>
        </p:txBody>
      </p:sp>
      <p:cxnSp>
        <p:nvCxnSpPr>
          <p:cNvPr id="1188" name="Connector"/>
          <p:cNvCxnSpPr/>
          <p:nvPr/>
        </p:nvCxnSpPr>
        <p:spPr>
          <a:xfrm>
            <a:off x="1618488" y="7520287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9" name="Dot"/>
          <p:cNvSpPr/>
          <p:nvPr/>
        </p:nvSpPr>
        <p:spPr>
          <a:xfrm>
            <a:off x="1545336" y="7850777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90" name="TextBox"/>
          <p:cNvSpPr txBox="1"/>
          <p:nvPr/>
        </p:nvSpPr>
        <p:spPr>
          <a:xfrm>
            <a:off x="1801368" y="7538575"/>
            <a:ext cx="3051810" cy="77070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Validate Java, ABE, Deployer</a:t>
            </a:r>
          </a:p>
        </p:txBody>
      </p:sp>
      <p:cxnSp>
        <p:nvCxnSpPr>
          <p:cNvPr id="1191" name="Connector"/>
          <p:cNvCxnSpPr/>
          <p:nvPr/>
        </p:nvCxnSpPr>
        <p:spPr>
          <a:xfrm>
            <a:off x="1618488" y="8290995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2" name="Dot"/>
          <p:cNvSpPr/>
          <p:nvPr/>
        </p:nvSpPr>
        <p:spPr>
          <a:xfrm>
            <a:off x="1545336" y="862148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93" name="TextBox"/>
          <p:cNvSpPr txBox="1"/>
          <p:nvPr/>
        </p:nvSpPr>
        <p:spPr>
          <a:xfrm>
            <a:off x="1801368" y="8309283"/>
            <a:ext cx="3051810" cy="77070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Clean existing project (same EPIC)</a:t>
            </a:r>
          </a:p>
        </p:txBody>
      </p:sp>
      <p:cxnSp>
        <p:nvCxnSpPr>
          <p:cNvPr id="1194" name="Connector"/>
          <p:cNvCxnSpPr/>
          <p:nvPr/>
        </p:nvCxnSpPr>
        <p:spPr>
          <a:xfrm>
            <a:off x="5054346" y="6080760"/>
            <a:ext cx="246888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5" name="Phase"/>
          <p:cNvSpPr/>
          <p:nvPr/>
        </p:nvSpPr>
        <p:spPr>
          <a:xfrm>
            <a:off x="5337810" y="2971800"/>
            <a:ext cx="3600450" cy="6217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196" name="PhaseHead"/>
          <p:cNvSpPr/>
          <p:nvPr/>
        </p:nvSpPr>
        <p:spPr>
          <a:xfrm>
            <a:off x="5337810" y="2971800"/>
            <a:ext cx="3600450" cy="566928"/>
          </a:xfrm>
          <a:prstGeom prst="roundRect">
            <a:avLst>
              <a:gd name="adj" fmla="val 30000"/>
            </a:avLst>
          </a:prstGeom>
          <a:solidFill>
            <a:srgbClr val="6B4FB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97" name="PhaseNum"/>
          <p:cNvSpPr/>
          <p:nvPr/>
        </p:nvSpPr>
        <p:spPr>
          <a:xfrm>
            <a:off x="5529834" y="308152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6B4FB0"/>
                </a:solidFill>
                <a:latin typeface="Aptos Display" pitchFamily="34" charset="0"/>
              </a:rPr>
              <a:t>2</a:t>
            </a:r>
          </a:p>
        </p:txBody>
      </p:sp>
      <p:sp>
        <p:nvSpPr>
          <p:cNvPr id="1198" name="TextBox"/>
          <p:cNvSpPr txBox="1"/>
          <p:nvPr/>
        </p:nvSpPr>
        <p:spPr>
          <a:xfrm>
            <a:off x="5959602" y="2971800"/>
            <a:ext cx="28232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Build</a:t>
            </a:r>
          </a:p>
        </p:txBody>
      </p:sp>
      <p:sp>
        <p:nvSpPr>
          <p:cNvPr id="1199" name="Dot"/>
          <p:cNvSpPr/>
          <p:nvPr/>
        </p:nvSpPr>
        <p:spPr>
          <a:xfrm>
            <a:off x="5465826" y="40005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B4FB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200" name="TextBox"/>
          <p:cNvSpPr txBox="1"/>
          <p:nvPr/>
        </p:nvSpPr>
        <p:spPr>
          <a:xfrm>
            <a:off x="5721858" y="368503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Copy only selected packages</a:t>
            </a:r>
          </a:p>
        </p:txBody>
      </p:sp>
      <p:cxnSp>
        <p:nvCxnSpPr>
          <p:cNvPr id="1201" name="Connector"/>
          <p:cNvCxnSpPr/>
          <p:nvPr/>
        </p:nvCxnSpPr>
        <p:spPr>
          <a:xfrm>
            <a:off x="5538978" y="444398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2" name="Dot"/>
          <p:cNvSpPr/>
          <p:nvPr/>
        </p:nvSpPr>
        <p:spPr>
          <a:xfrm>
            <a:off x="5465826" y="47777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B4FB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203" name="TextBox"/>
          <p:cNvSpPr txBox="1"/>
          <p:nvPr/>
        </p:nvSpPr>
        <p:spPr>
          <a:xfrm>
            <a:off x="5721858" y="446227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Build packages with ABE</a:t>
            </a:r>
          </a:p>
        </p:txBody>
      </p:sp>
      <p:cxnSp>
        <p:nvCxnSpPr>
          <p:cNvPr id="1204" name="Connector"/>
          <p:cNvCxnSpPr/>
          <p:nvPr/>
        </p:nvCxnSpPr>
        <p:spPr>
          <a:xfrm>
            <a:off x="5538978" y="522122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5" name="Dot"/>
          <p:cNvSpPr/>
          <p:nvPr/>
        </p:nvSpPr>
        <p:spPr>
          <a:xfrm>
            <a:off x="5465826" y="55549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B4FB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206" name="TextBox"/>
          <p:cNvSpPr txBox="1"/>
          <p:nvPr/>
        </p:nvSpPr>
        <p:spPr>
          <a:xfrm>
            <a:off x="5721858" y="523951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Validate ACDL files were generated</a:t>
            </a:r>
          </a:p>
        </p:txBody>
      </p:sp>
      <p:cxnSp>
        <p:nvCxnSpPr>
          <p:cNvPr id="1207" name="Connector"/>
          <p:cNvCxnSpPr/>
          <p:nvPr/>
        </p:nvCxnSpPr>
        <p:spPr>
          <a:xfrm>
            <a:off x="8974836" y="6080760"/>
            <a:ext cx="246888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8" name="Phase"/>
          <p:cNvSpPr/>
          <p:nvPr/>
        </p:nvSpPr>
        <p:spPr>
          <a:xfrm>
            <a:off x="9258300" y="2971800"/>
            <a:ext cx="3600450" cy="6217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209" name="PhaseHead"/>
          <p:cNvSpPr/>
          <p:nvPr/>
        </p:nvSpPr>
        <p:spPr>
          <a:xfrm>
            <a:off x="9258300" y="2971800"/>
            <a:ext cx="3600450" cy="566928"/>
          </a:xfrm>
          <a:prstGeom prst="roundRect">
            <a:avLst>
              <a:gd name="adj" fmla="val 30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210" name="PhaseNum"/>
          <p:cNvSpPr/>
          <p:nvPr/>
        </p:nvSpPr>
        <p:spPr>
          <a:xfrm>
            <a:off x="9450324" y="308152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252545"/>
                </a:solidFill>
                <a:latin typeface="Aptos Display" pitchFamily="34" charset="0"/>
              </a:rPr>
              <a:t>3</a:t>
            </a:r>
          </a:p>
        </p:txBody>
      </p:sp>
      <p:sp>
        <p:nvSpPr>
          <p:cNvPr id="1211" name="TextBox"/>
          <p:cNvSpPr txBox="1"/>
          <p:nvPr/>
        </p:nvSpPr>
        <p:spPr>
          <a:xfrm>
            <a:off x="9880092" y="2971800"/>
            <a:ext cx="28232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Package &amp; Deploy</a:t>
            </a:r>
          </a:p>
        </p:txBody>
      </p:sp>
      <p:sp>
        <p:nvSpPr>
          <p:cNvPr id="1212" name="Dot"/>
          <p:cNvSpPr/>
          <p:nvPr/>
        </p:nvSpPr>
        <p:spPr>
          <a:xfrm>
            <a:off x="9386316" y="40005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213" name="TextBox"/>
          <p:cNvSpPr txBox="1"/>
          <p:nvPr/>
        </p:nvSpPr>
        <p:spPr>
          <a:xfrm>
            <a:off x="9642348" y="368503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Generate Project Automator XML</a:t>
            </a:r>
          </a:p>
        </p:txBody>
      </p:sp>
      <p:cxnSp>
        <p:nvCxnSpPr>
          <p:cNvPr id="1214" name="Connector"/>
          <p:cNvCxnSpPr/>
          <p:nvPr/>
        </p:nvCxnSpPr>
        <p:spPr>
          <a:xfrm>
            <a:off x="9459468" y="444398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5" name="Dot"/>
          <p:cNvSpPr/>
          <p:nvPr/>
        </p:nvSpPr>
        <p:spPr>
          <a:xfrm>
            <a:off x="9386316" y="47777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216" name="TextBox"/>
          <p:cNvSpPr txBox="1"/>
          <p:nvPr/>
        </p:nvSpPr>
        <p:spPr>
          <a:xfrm>
            <a:off x="9642348" y="446227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Create project, set, map, candidate</a:t>
            </a:r>
          </a:p>
        </p:txBody>
      </p:sp>
      <p:cxnSp>
        <p:nvCxnSpPr>
          <p:cNvPr id="1217" name="Connector"/>
          <p:cNvCxnSpPr/>
          <p:nvPr/>
        </p:nvCxnSpPr>
        <p:spPr>
          <a:xfrm>
            <a:off x="9459468" y="522122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8" name="Dot"/>
          <p:cNvSpPr/>
          <p:nvPr/>
        </p:nvSpPr>
        <p:spPr>
          <a:xfrm>
            <a:off x="9386316" y="55549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219" name="TextBox"/>
          <p:cNvSpPr txBox="1"/>
          <p:nvPr/>
        </p:nvSpPr>
        <p:spPr>
          <a:xfrm>
            <a:off x="9642348" y="523951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Create pre-deployment snapshot</a:t>
            </a:r>
          </a:p>
        </p:txBody>
      </p:sp>
      <p:cxnSp>
        <p:nvCxnSpPr>
          <p:cNvPr id="1220" name="Connector"/>
          <p:cNvCxnSpPr/>
          <p:nvPr/>
        </p:nvCxnSpPr>
        <p:spPr>
          <a:xfrm>
            <a:off x="9459468" y="599846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1" name="Dot"/>
          <p:cNvSpPr/>
          <p:nvPr/>
        </p:nvSpPr>
        <p:spPr>
          <a:xfrm>
            <a:off x="9386316" y="63322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222" name="TextBox"/>
          <p:cNvSpPr txBox="1"/>
          <p:nvPr/>
        </p:nvSpPr>
        <p:spPr>
          <a:xfrm>
            <a:off x="9642348" y="601675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Deploy candidate to target</a:t>
            </a:r>
          </a:p>
        </p:txBody>
      </p:sp>
      <p:cxnSp>
        <p:nvCxnSpPr>
          <p:cNvPr id="1223" name="Connector"/>
          <p:cNvCxnSpPr/>
          <p:nvPr/>
        </p:nvCxnSpPr>
        <p:spPr>
          <a:xfrm>
            <a:off x="12895326" y="6080760"/>
            <a:ext cx="246888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4" name="Phase"/>
          <p:cNvSpPr/>
          <p:nvPr/>
        </p:nvSpPr>
        <p:spPr>
          <a:xfrm>
            <a:off x="13178790" y="2971800"/>
            <a:ext cx="3600450" cy="6217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225" name="PhaseHead"/>
          <p:cNvSpPr/>
          <p:nvPr/>
        </p:nvSpPr>
        <p:spPr>
          <a:xfrm>
            <a:off x="13178790" y="2971800"/>
            <a:ext cx="3600450" cy="566928"/>
          </a:xfrm>
          <a:prstGeom prst="roundRect">
            <a:avLst>
              <a:gd name="adj" fmla="val 30000"/>
            </a:avLst>
          </a:prstGeom>
          <a:solidFill>
            <a:srgbClr val="A02B6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226" name="PhaseNum"/>
          <p:cNvSpPr/>
          <p:nvPr/>
        </p:nvSpPr>
        <p:spPr>
          <a:xfrm>
            <a:off x="13370814" y="308152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A02B6E"/>
                </a:solidFill>
                <a:latin typeface="Aptos Display" pitchFamily="34" charset="0"/>
              </a:rPr>
              <a:t>4</a:t>
            </a:r>
          </a:p>
        </p:txBody>
      </p:sp>
      <p:sp>
        <p:nvSpPr>
          <p:cNvPr id="1227" name="TextBox"/>
          <p:cNvSpPr txBox="1"/>
          <p:nvPr/>
        </p:nvSpPr>
        <p:spPr>
          <a:xfrm>
            <a:off x="13800582" y="2971800"/>
            <a:ext cx="28232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Verify &amp; Notify</a:t>
            </a:r>
          </a:p>
        </p:txBody>
      </p:sp>
      <p:sp>
        <p:nvSpPr>
          <p:cNvPr id="1228" name="Dot"/>
          <p:cNvSpPr/>
          <p:nvPr/>
        </p:nvSpPr>
        <p:spPr>
          <a:xfrm>
            <a:off x="13306806" y="40005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02B6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229" name="TextBox"/>
          <p:cNvSpPr txBox="1"/>
          <p:nvPr/>
        </p:nvSpPr>
        <p:spPr>
          <a:xfrm>
            <a:off x="13562838" y="368503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Check deployment result</a:t>
            </a:r>
          </a:p>
        </p:txBody>
      </p:sp>
      <p:cxnSp>
        <p:nvCxnSpPr>
          <p:cNvPr id="1230" name="Connector"/>
          <p:cNvCxnSpPr/>
          <p:nvPr/>
        </p:nvCxnSpPr>
        <p:spPr>
          <a:xfrm>
            <a:off x="13379958" y="444398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1" name="Dot"/>
          <p:cNvSpPr/>
          <p:nvPr/>
        </p:nvSpPr>
        <p:spPr>
          <a:xfrm>
            <a:off x="13306806" y="47777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02B6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232" name="TextBox"/>
          <p:cNvSpPr txBox="1"/>
          <p:nvPr/>
        </p:nvSpPr>
        <p:spPr>
          <a:xfrm>
            <a:off x="13562838" y="446227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Auto rollback if failed</a:t>
            </a:r>
          </a:p>
        </p:txBody>
      </p:sp>
      <p:cxnSp>
        <p:nvCxnSpPr>
          <p:cNvPr id="1233" name="Connector"/>
          <p:cNvCxnSpPr/>
          <p:nvPr/>
        </p:nvCxnSpPr>
        <p:spPr>
          <a:xfrm>
            <a:off x="13379958" y="522122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4" name="Dot"/>
          <p:cNvSpPr/>
          <p:nvPr/>
        </p:nvSpPr>
        <p:spPr>
          <a:xfrm>
            <a:off x="13306806" y="55549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02B6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235" name="TextBox"/>
          <p:cNvSpPr txBox="1"/>
          <p:nvPr/>
        </p:nvSpPr>
        <p:spPr>
          <a:xfrm>
            <a:off x="13562838" y="523951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Clean failed resources</a:t>
            </a:r>
          </a:p>
        </p:txBody>
      </p:sp>
      <p:cxnSp>
        <p:nvCxnSpPr>
          <p:cNvPr id="1236" name="Connector"/>
          <p:cNvCxnSpPr/>
          <p:nvPr/>
        </p:nvCxnSpPr>
        <p:spPr>
          <a:xfrm>
            <a:off x="13379958" y="599846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7" name="Dot"/>
          <p:cNvSpPr/>
          <p:nvPr/>
        </p:nvSpPr>
        <p:spPr>
          <a:xfrm>
            <a:off x="13306806" y="63322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02B6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238" name="TextBox"/>
          <p:cNvSpPr txBox="1"/>
          <p:nvPr/>
        </p:nvSpPr>
        <p:spPr>
          <a:xfrm>
            <a:off x="13562838" y="601675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Archive build output &amp; logs</a:t>
            </a:r>
          </a:p>
        </p:txBody>
      </p:sp>
      <p:cxnSp>
        <p:nvCxnSpPr>
          <p:cNvPr id="1239" name="Connector"/>
          <p:cNvCxnSpPr/>
          <p:nvPr/>
        </p:nvCxnSpPr>
        <p:spPr>
          <a:xfrm>
            <a:off x="13379958" y="677570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0" name="Dot"/>
          <p:cNvSpPr/>
          <p:nvPr/>
        </p:nvSpPr>
        <p:spPr>
          <a:xfrm>
            <a:off x="13306806" y="71094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02B6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241" name="TextBox"/>
          <p:cNvSpPr txBox="1"/>
          <p:nvPr/>
        </p:nvSpPr>
        <p:spPr>
          <a:xfrm>
            <a:off x="13562838" y="679399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Set final Jenkins result</a:t>
            </a:r>
          </a:p>
        </p:txBody>
      </p:sp>
      <p:cxnSp>
        <p:nvCxnSpPr>
          <p:cNvPr id="1242" name="Connector"/>
          <p:cNvCxnSpPr/>
          <p:nvPr/>
        </p:nvCxnSpPr>
        <p:spPr>
          <a:xfrm>
            <a:off x="13379958" y="755294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3" name="Dot"/>
          <p:cNvSpPr/>
          <p:nvPr/>
        </p:nvSpPr>
        <p:spPr>
          <a:xfrm>
            <a:off x="13306806" y="78867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02B6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244" name="TextBox"/>
          <p:cNvSpPr txBox="1"/>
          <p:nvPr/>
        </p:nvSpPr>
        <p:spPr>
          <a:xfrm>
            <a:off x="13562838" y="757123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Send success/failure email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PIPELINE AUTOMATION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PART 2 • PROJECT AUTOMATOR XML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45" name="TextBox"/>
          <p:cNvSpPr txBox="1"/>
          <p:nvPr/>
        </p:nvSpPr>
        <p:spPr>
          <a:xfrm>
            <a:off x="1417320" y="2331720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5B5F73"/>
                </a:solidFill>
                <a:latin typeface="Aptos" pitchFamily="34" charset="0"/>
              </a:rPr>
              <a:t>The XML template is populated dynamically for every deployment — no manual editing.</a:t>
            </a:r>
          </a:p>
        </p:txBody>
      </p:sp>
      <p:sp>
        <p:nvSpPr>
          <p:cNvPr id="1246" name="Box"/>
          <p:cNvSpPr/>
          <p:nvPr/>
        </p:nvSpPr>
        <p:spPr>
          <a:xfrm>
            <a:off x="1417320" y="3017520"/>
            <a:ext cx="7498080" cy="617220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247" name="TextBox"/>
          <p:cNvSpPr txBox="1"/>
          <p:nvPr/>
        </p:nvSpPr>
        <p:spPr>
          <a:xfrm>
            <a:off x="1691640" y="320040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5B5F73"/>
                </a:solidFill>
                <a:latin typeface="Aptos" pitchFamily="34" charset="0"/>
              </a:rPr>
              <a:t>POPULATED DYNAMICALLY WITH</a:t>
            </a:r>
          </a:p>
        </p:txBody>
      </p:sp>
      <p:sp>
        <p:nvSpPr>
          <p:cNvPr id="1248" name="TextBox"/>
          <p:cNvSpPr txBox="1"/>
          <p:nvPr/>
        </p:nvSpPr>
        <p:spPr>
          <a:xfrm>
            <a:off x="1691640" y="3639312"/>
            <a:ext cx="6949440" cy="5349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52545"/>
                </a:solidFill>
                <a:latin typeface="Aptos" pitchFamily="34" charset="0"/>
              </a:rPr>
              <a:t>Deployer host and port</a:t>
            </a:r>
          </a:p>
          <a:p>
            <a:pPr marL="228600" indent="-228600" algn="l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52545"/>
                </a:solidFill>
                <a:latin typeface="Aptos" pitchFamily="34" charset="0"/>
              </a:rPr>
              <a:t>Deployer credentials</a:t>
            </a:r>
          </a:p>
          <a:p>
            <a:pPr marL="228600" indent="-228600" algn="l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52545"/>
                </a:solidFill>
                <a:latin typeface="Aptos" pitchFamily="34" charset="0"/>
              </a:rPr>
              <a:t>EPIC-based project name</a:t>
            </a:r>
          </a:p>
          <a:p>
            <a:pPr marL="228600" indent="-228600" algn="l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52545"/>
                </a:solidFill>
                <a:latin typeface="Aptos" pitchFamily="34" charset="0"/>
              </a:rPr>
              <a:t>Deployment set name</a:t>
            </a:r>
          </a:p>
          <a:p>
            <a:pPr marL="228600" indent="-228600" algn="l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52545"/>
                </a:solidFill>
                <a:latin typeface="Aptos" pitchFamily="34" charset="0"/>
              </a:rPr>
              <a:t>Deployment map name</a:t>
            </a:r>
          </a:p>
          <a:p>
            <a:pPr marL="228600" indent="-228600" algn="l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52545"/>
                </a:solidFill>
                <a:latin typeface="Aptos" pitchFamily="34" charset="0"/>
              </a:rPr>
              <a:t>Candidate name</a:t>
            </a:r>
          </a:p>
          <a:p>
            <a:pPr marL="228600" indent="-228600" algn="l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52545"/>
                </a:solidFill>
                <a:latin typeface="Aptos" pitchFamily="34" charset="0"/>
              </a:rPr>
              <a:t>Build repository alias</a:t>
            </a:r>
          </a:p>
          <a:p>
            <a:pPr marL="228600" indent="-228600" algn="l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52545"/>
                </a:solidFill>
                <a:latin typeface="Aptos" pitchFamily="34" charset="0"/>
              </a:rPr>
              <a:t>ABE output directory</a:t>
            </a:r>
          </a:p>
          <a:p>
            <a:pPr marL="228600" indent="-228600" algn="l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52545"/>
                </a:solidFill>
                <a:latin typeface="Aptos" pitchFamily="34" charset="0"/>
              </a:rPr>
              <a:t>Selected package entries</a:t>
            </a:r>
          </a:p>
          <a:p>
            <a:pPr marL="228600" indent="-228600" algn="l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52545"/>
                </a:solidFill>
                <a:latin typeface="Aptos" pitchFamily="34" charset="0"/>
              </a:rPr>
              <a:t>Target Integration Server aliases</a:t>
            </a:r>
          </a:p>
        </p:txBody>
      </p:sp>
      <p:sp>
        <p:nvSpPr>
          <p:cNvPr id="1249" name="Box"/>
          <p:cNvSpPr/>
          <p:nvPr/>
        </p:nvSpPr>
        <p:spPr>
          <a:xfrm>
            <a:off x="9281160" y="3017520"/>
            <a:ext cx="7498080" cy="6172200"/>
          </a:xfrm>
          <a:prstGeom prst="roundRect">
            <a:avLst>
              <a:gd name="adj" fmla="val 8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250" name="TextBox"/>
          <p:cNvSpPr txBox="1"/>
          <p:nvPr/>
        </p:nvSpPr>
        <p:spPr>
          <a:xfrm>
            <a:off x="9555480" y="320040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C7C9E4"/>
                </a:solidFill>
                <a:latin typeface="Aptos" pitchFamily="34" charset="0"/>
              </a:rPr>
              <a:t>GENERATED STRUCTURE</a:t>
            </a:r>
          </a:p>
        </p:txBody>
      </p:sp>
      <p:sp>
        <p:nvSpPr>
          <p:cNvPr id="1251" name="TextBox"/>
          <p:cNvSpPr txBox="1"/>
          <p:nvPr/>
        </p:nvSpPr>
        <p:spPr>
          <a:xfrm>
            <a:off x="9555480" y="3639312"/>
            <a:ext cx="6949440" cy="5166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</a:rPr>
              <a:t>DeployerServer</a:t>
            </a:r>
          </a:p>
          <a:p>
            <a:pPr algn="l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</a:rPr>
              <a:t>→ Target Environment</a:t>
            </a:r>
          </a:p>
          <a:p>
            <a:pPr algn="l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</a:rPr>
              <a:t>→ Flat-file build repository</a:t>
            </a:r>
          </a:p>
          <a:p>
            <a:pPr algn="l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</a:rPr>
              <a:t>→ Deployer project</a:t>
            </a:r>
          </a:p>
          <a:p>
            <a:pPr algn="l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</a:rPr>
              <a:t>→→ Deployment set</a:t>
            </a:r>
          </a:p>
          <a:p>
            <a:pPr algn="l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</a:rPr>
              <a:t>→→→ Deployment map</a:t>
            </a:r>
          </a:p>
          <a:p>
            <a:pPr algn="l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</a:rPr>
              <a:t>→→→→ Map-to-target relationship</a:t>
            </a:r>
          </a:p>
          <a:p>
            <a:pPr algn="l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</a:rPr>
              <a:t>→→→→ Deployment candidate</a:t>
            </a:r>
          </a:p>
        </p:txBody>
      </p:sp>
      <p:sp>
        <p:nvSpPr>
          <p:cNvPr id="1252" name="TextBox"/>
          <p:cNvSpPr txBox="1"/>
          <p:nvPr/>
        </p:nvSpPr>
        <p:spPr>
          <a:xfrm>
            <a:off x="9555480" y="882396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AA0D6"/>
                </a:solidFill>
                <a:latin typeface="Aptos" pitchFamily="34" charset="0"/>
              </a:rPr>
              <a:t>Actual passwords are never displayed.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PIPELINE AUTOMATION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PART 2 • TARGET ALIAS MAPPING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53" name="TextBox"/>
          <p:cNvSpPr txBox="1"/>
          <p:nvPr/>
        </p:nvSpPr>
        <p:spPr>
          <a:xfrm>
            <a:off x="1417320" y="2331720"/>
            <a:ext cx="153619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5B5F73"/>
                </a:solidFill>
                <a:latin typeface="Aptos" pitchFamily="34" charset="0"/>
              </a:rPr>
              <a:t>The Jenkins selection name may differ from the actual webMethods Deployer alias — the pipeline maps between them.</a:t>
            </a:r>
          </a:p>
        </p:txBody>
      </p:sp>
      <p:sp>
        <p:nvSpPr>
          <p:cNvPr id="1254" name="Box"/>
          <p:cNvSpPr/>
          <p:nvPr/>
        </p:nvSpPr>
        <p:spPr>
          <a:xfrm>
            <a:off x="1417320" y="3246120"/>
            <a:ext cx="4815840" cy="1371600"/>
          </a:xfrm>
          <a:prstGeom prst="roundRect">
            <a:avLst>
              <a:gd name="adj" fmla="val 12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</a:rPr>
              <a:t>Target Environment</a:t>
            </a:r>
          </a:p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</a:rPr>
              <a:t>Selection</a:t>
            </a:r>
          </a:p>
        </p:txBody>
      </p:sp>
      <p:sp>
        <p:nvSpPr>
          <p:cNvPr id="1255" name="Box"/>
          <p:cNvSpPr/>
          <p:nvPr/>
        </p:nvSpPr>
        <p:spPr>
          <a:xfrm>
            <a:off x="6690360" y="3246120"/>
            <a:ext cx="4815840" cy="1371600"/>
          </a:xfrm>
          <a:prstGeom prst="roundRect">
            <a:avLst>
              <a:gd name="adj" fmla="val 12000"/>
            </a:avLst>
          </a:prstGeom>
          <a:solidFill>
            <a:srgbClr val="8B7CFF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</a:rPr>
              <a:t>Existing</a:t>
            </a:r>
          </a:p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</a:rPr>
              <a:t>Deployer Alias</a:t>
            </a:r>
          </a:p>
        </p:txBody>
      </p:sp>
      <p:cxnSp>
        <p:nvCxnSpPr>
          <p:cNvPr id="1256" name="Connector"/>
          <p:cNvCxnSpPr/>
          <p:nvPr/>
        </p:nvCxnSpPr>
        <p:spPr>
          <a:xfrm>
            <a:off x="6251448" y="3931920"/>
            <a:ext cx="420624" cy="457"/>
          </a:xfrm>
          <a:prstGeom prst="line">
            <a:avLst/>
          </a:prstGeom>
          <a:ln w="2540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7" name="Box"/>
          <p:cNvSpPr/>
          <p:nvPr/>
        </p:nvSpPr>
        <p:spPr>
          <a:xfrm>
            <a:off x="11963400" y="3246120"/>
            <a:ext cx="4815840" cy="1371600"/>
          </a:xfrm>
          <a:prstGeom prst="roundRect">
            <a:avLst>
              <a:gd name="adj" fmla="val 12000"/>
            </a:avLst>
          </a:prstGeom>
          <a:solidFill>
            <a:srgbClr val="1E8E5A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</a:rPr>
              <a:t>Target Integration</a:t>
            </a:r>
          </a:p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</a:rPr>
              <a:t>Server Host : Port</a:t>
            </a:r>
          </a:p>
        </p:txBody>
      </p:sp>
      <p:cxnSp>
        <p:nvCxnSpPr>
          <p:cNvPr id="1258" name="Connector"/>
          <p:cNvCxnSpPr/>
          <p:nvPr/>
        </p:nvCxnSpPr>
        <p:spPr>
          <a:xfrm>
            <a:off x="11524488" y="3931920"/>
            <a:ext cx="420624" cy="457"/>
          </a:xfrm>
          <a:prstGeom prst="line">
            <a:avLst/>
          </a:prstGeom>
          <a:ln w="2540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9" name="Box"/>
          <p:cNvSpPr/>
          <p:nvPr/>
        </p:nvSpPr>
        <p:spPr>
          <a:xfrm>
            <a:off x="1417320" y="5166360"/>
            <a:ext cx="15361920" cy="182880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260" name="TextBox"/>
          <p:cNvSpPr txBox="1"/>
          <p:nvPr/>
        </p:nvSpPr>
        <p:spPr>
          <a:xfrm>
            <a:off x="1709928" y="5367528"/>
            <a:ext cx="1477670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5B5F73"/>
                </a:solidFill>
                <a:latin typeface="Aptos" pitchFamily="34" charset="0"/>
              </a:rPr>
              <a:t>TARGET CONFIGURATION PROVIDES</a:t>
            </a:r>
          </a:p>
        </p:txBody>
      </p:sp>
      <p:sp>
        <p:nvSpPr>
          <p:cNvPr id="1261" name="Box"/>
          <p:cNvSpPr/>
          <p:nvPr/>
        </p:nvSpPr>
        <p:spPr>
          <a:xfrm>
            <a:off x="1709928" y="5852160"/>
            <a:ext cx="3522726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Jenkins target name</a:t>
            </a:r>
          </a:p>
        </p:txBody>
      </p:sp>
      <p:sp>
        <p:nvSpPr>
          <p:cNvPr id="1262" name="Box"/>
          <p:cNvSpPr/>
          <p:nvPr/>
        </p:nvSpPr>
        <p:spPr>
          <a:xfrm>
            <a:off x="5461254" y="5852160"/>
            <a:ext cx="3522726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Deployer alias</a:t>
            </a:r>
          </a:p>
        </p:txBody>
      </p:sp>
      <p:sp>
        <p:nvSpPr>
          <p:cNvPr id="1263" name="Box"/>
          <p:cNvSpPr/>
          <p:nvPr/>
        </p:nvSpPr>
        <p:spPr>
          <a:xfrm>
            <a:off x="9212580" y="5852160"/>
            <a:ext cx="3522726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Host or IP</a:t>
            </a:r>
          </a:p>
        </p:txBody>
      </p:sp>
      <p:sp>
        <p:nvSpPr>
          <p:cNvPr id="1264" name="Box"/>
          <p:cNvSpPr/>
          <p:nvPr/>
        </p:nvSpPr>
        <p:spPr>
          <a:xfrm>
            <a:off x="12963906" y="5852160"/>
            <a:ext cx="3522726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Integration Server port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PIPELINE AUTOMATION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PART 2 • DEPLOYMENT RESULT &amp; ROLLBACK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65" name="TextBox"/>
          <p:cNvSpPr txBox="1"/>
          <p:nvPr/>
        </p:nvSpPr>
        <p:spPr>
          <a:xfrm>
            <a:off x="1417320" y="2331720"/>
            <a:ext cx="153619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5B5F73"/>
                </a:solidFill>
                <a:latin typeface="Aptos" pitchFamily="34" charset="0"/>
              </a:rPr>
              <a:t>Every deployment protects itself — a failure triggers automatic rollback before the job ends.</a:t>
            </a:r>
          </a:p>
        </p:txBody>
      </p:sp>
      <p:sp>
        <p:nvSpPr>
          <p:cNvPr id="1266" name="Chip"/>
          <p:cNvSpPr/>
          <p:nvPr/>
        </p:nvSpPr>
        <p:spPr>
          <a:xfrm>
            <a:off x="1417320" y="3154680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</a:rPr>
              <a:t>SUCCESS</a:t>
            </a:r>
          </a:p>
        </p:txBody>
      </p:sp>
      <p:sp>
        <p:nvSpPr>
          <p:cNvPr id="1267" name="Box"/>
          <p:cNvSpPr/>
          <p:nvPr/>
        </p:nvSpPr>
        <p:spPr>
          <a:xfrm>
            <a:off x="1417320" y="3749040"/>
            <a:ext cx="7452360" cy="793242"/>
          </a:xfrm>
          <a:prstGeom prst="roundRect">
            <a:avLst>
              <a:gd name="adj" fmla="val 16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1B5E3C"/>
                </a:solidFill>
                <a:latin typeface="Aptos" pitchFamily="34" charset="0"/>
              </a:rPr>
              <a:t>Skip rollback</a:t>
            </a:r>
          </a:p>
        </p:txBody>
      </p:sp>
      <p:sp>
        <p:nvSpPr>
          <p:cNvPr id="1268" name="Box"/>
          <p:cNvSpPr/>
          <p:nvPr/>
        </p:nvSpPr>
        <p:spPr>
          <a:xfrm>
            <a:off x="1417320" y="4670298"/>
            <a:ext cx="7452360" cy="793242"/>
          </a:xfrm>
          <a:prstGeom prst="roundRect">
            <a:avLst>
              <a:gd name="adj" fmla="val 16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1B5E3C"/>
                </a:solidFill>
                <a:latin typeface="Aptos" pitchFamily="34" charset="0"/>
              </a:rPr>
              <a:t>Archive logs and build artifacts</a:t>
            </a:r>
          </a:p>
        </p:txBody>
      </p:sp>
      <p:sp>
        <p:nvSpPr>
          <p:cNvPr id="1269" name="Box"/>
          <p:cNvSpPr/>
          <p:nvPr/>
        </p:nvSpPr>
        <p:spPr>
          <a:xfrm>
            <a:off x="1417320" y="5591556"/>
            <a:ext cx="7452360" cy="793242"/>
          </a:xfrm>
          <a:prstGeom prst="roundRect">
            <a:avLst>
              <a:gd name="adj" fmla="val 16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1B5E3C"/>
                </a:solidFill>
                <a:latin typeface="Aptos" pitchFamily="34" charset="0"/>
              </a:rPr>
              <a:t>Mark the build successful</a:t>
            </a:r>
          </a:p>
        </p:txBody>
      </p:sp>
      <p:sp>
        <p:nvSpPr>
          <p:cNvPr id="1270" name="Box"/>
          <p:cNvSpPr/>
          <p:nvPr/>
        </p:nvSpPr>
        <p:spPr>
          <a:xfrm>
            <a:off x="1417320" y="6512814"/>
            <a:ext cx="7452360" cy="793242"/>
          </a:xfrm>
          <a:prstGeom prst="roundRect">
            <a:avLst>
              <a:gd name="adj" fmla="val 16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1B5E3C"/>
                </a:solidFill>
                <a:latin typeface="Aptos" pitchFamily="34" charset="0"/>
              </a:rPr>
              <a:t>Send success notification</a:t>
            </a:r>
          </a:p>
        </p:txBody>
      </p:sp>
      <p:sp>
        <p:nvSpPr>
          <p:cNvPr id="1271" name="Chip"/>
          <p:cNvSpPr/>
          <p:nvPr/>
        </p:nvSpPr>
        <p:spPr>
          <a:xfrm>
            <a:off x="9326880" y="3154680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</a:rPr>
              <a:t>FAILURE</a:t>
            </a:r>
          </a:p>
        </p:txBody>
      </p:sp>
      <p:sp>
        <p:nvSpPr>
          <p:cNvPr id="1272" name="Box"/>
          <p:cNvSpPr/>
          <p:nvPr/>
        </p:nvSpPr>
        <p:spPr>
          <a:xfrm>
            <a:off x="9326880" y="3749040"/>
            <a:ext cx="7452360" cy="442831"/>
          </a:xfrm>
          <a:prstGeom prst="roundRect">
            <a:avLst>
              <a:gd name="adj" fmla="val 20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8A2E24"/>
                </a:solidFill>
                <a:latin typeface="Aptos" pitchFamily="34" charset="0"/>
              </a:rPr>
              <a:t>Record the deployment exit code</a:t>
            </a:r>
          </a:p>
        </p:txBody>
      </p:sp>
      <p:sp>
        <p:nvSpPr>
          <p:cNvPr id="1273" name="Box"/>
          <p:cNvSpPr/>
          <p:nvPr/>
        </p:nvSpPr>
        <p:spPr>
          <a:xfrm>
            <a:off x="9326880" y="4283311"/>
            <a:ext cx="7452360" cy="442831"/>
          </a:xfrm>
          <a:prstGeom prst="roundRect">
            <a:avLst>
              <a:gd name="adj" fmla="val 20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8A2E24"/>
                </a:solidFill>
                <a:latin typeface="Aptos" pitchFamily="34" charset="0"/>
              </a:rPr>
              <a:t>Execute automatic rollback</a:t>
            </a:r>
          </a:p>
        </p:txBody>
      </p:sp>
      <p:sp>
        <p:nvSpPr>
          <p:cNvPr id="1274" name="Box"/>
          <p:cNvSpPr/>
          <p:nvPr/>
        </p:nvSpPr>
        <p:spPr>
          <a:xfrm>
            <a:off x="9326880" y="4817582"/>
            <a:ext cx="7452360" cy="442831"/>
          </a:xfrm>
          <a:prstGeom prst="roundRect">
            <a:avLst>
              <a:gd name="adj" fmla="val 20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8A2E24"/>
                </a:solidFill>
                <a:latin typeface="Aptos" pitchFamily="34" charset="0"/>
              </a:rPr>
              <a:t>Record the rollback result</a:t>
            </a:r>
          </a:p>
        </p:txBody>
      </p:sp>
      <p:sp>
        <p:nvSpPr>
          <p:cNvPr id="1275" name="Box"/>
          <p:cNvSpPr/>
          <p:nvPr/>
        </p:nvSpPr>
        <p:spPr>
          <a:xfrm>
            <a:off x="9326880" y="5351853"/>
            <a:ext cx="7452360" cy="442831"/>
          </a:xfrm>
          <a:prstGeom prst="roundRect">
            <a:avLst>
              <a:gd name="adj" fmla="val 20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8A2E24"/>
                </a:solidFill>
                <a:latin typeface="Aptos" pitchFamily="34" charset="0"/>
              </a:rPr>
              <a:t>Clean failed Deployer resources</a:t>
            </a:r>
          </a:p>
        </p:txBody>
      </p:sp>
      <p:sp>
        <p:nvSpPr>
          <p:cNvPr id="1276" name="Box"/>
          <p:cNvSpPr/>
          <p:nvPr/>
        </p:nvSpPr>
        <p:spPr>
          <a:xfrm>
            <a:off x="9326880" y="5886123"/>
            <a:ext cx="7452360" cy="442831"/>
          </a:xfrm>
          <a:prstGeom prst="roundRect">
            <a:avLst>
              <a:gd name="adj" fmla="val 20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8A2E24"/>
                </a:solidFill>
                <a:latin typeface="Aptos" pitchFamily="34" charset="0"/>
              </a:rPr>
              <a:t>Archive logs</a:t>
            </a:r>
          </a:p>
        </p:txBody>
      </p:sp>
      <p:sp>
        <p:nvSpPr>
          <p:cNvPr id="1277" name="Box"/>
          <p:cNvSpPr/>
          <p:nvPr/>
        </p:nvSpPr>
        <p:spPr>
          <a:xfrm>
            <a:off x="9326880" y="6420394"/>
            <a:ext cx="7452360" cy="442831"/>
          </a:xfrm>
          <a:prstGeom prst="roundRect">
            <a:avLst>
              <a:gd name="adj" fmla="val 20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8A2E24"/>
                </a:solidFill>
                <a:latin typeface="Aptos" pitchFamily="34" charset="0"/>
              </a:rPr>
              <a:t>Mark the deployment build failed</a:t>
            </a:r>
          </a:p>
        </p:txBody>
      </p:sp>
      <p:sp>
        <p:nvSpPr>
          <p:cNvPr id="1278" name="Box"/>
          <p:cNvSpPr/>
          <p:nvPr/>
        </p:nvSpPr>
        <p:spPr>
          <a:xfrm>
            <a:off x="9326880" y="6954665"/>
            <a:ext cx="7452360" cy="442831"/>
          </a:xfrm>
          <a:prstGeom prst="roundRect">
            <a:avLst>
              <a:gd name="adj" fmla="val 20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8A2E24"/>
                </a:solidFill>
                <a:latin typeface="Aptos" pitchFamily="34" charset="0"/>
              </a:rPr>
              <a:t>Send failure notification</a:t>
            </a:r>
          </a:p>
        </p:txBody>
      </p:sp>
      <p:sp>
        <p:nvSpPr>
          <p:cNvPr id="1279" name="Box"/>
          <p:cNvSpPr/>
          <p:nvPr/>
        </p:nvSpPr>
        <p:spPr>
          <a:xfrm>
            <a:off x="1417320" y="7680960"/>
            <a:ext cx="15361920" cy="1508760"/>
          </a:xfrm>
          <a:prstGeom prst="roundRect">
            <a:avLst>
              <a:gd name="adj" fmla="val 10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</a:rPr>
              <a:t>Rollback success does not make the deployment successful — it only confirms the previous target state was restored.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PIPELINE AUTOMATION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PART 2 • CREDENTIALS &amp; SECURITY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80" name="TextBox"/>
          <p:cNvSpPr txBox="1"/>
          <p:nvPr/>
        </p:nvSpPr>
        <p:spPr>
          <a:xfrm>
            <a:off x="1417320" y="2331720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5B5F73"/>
                </a:solidFill>
                <a:latin typeface="Aptos" pitchFamily="34" charset="0"/>
              </a:rPr>
              <a:t>Two credentials cover the entire deployment pipeline.</a:t>
            </a:r>
          </a:p>
        </p:txBody>
      </p:sp>
      <p:sp>
        <p:nvSpPr>
          <p:cNvPr id="1281" name="Box"/>
          <p:cNvSpPr/>
          <p:nvPr/>
        </p:nvSpPr>
        <p:spPr>
          <a:xfrm>
            <a:off x="1417320" y="3108960"/>
            <a:ext cx="7498080" cy="201168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282" name="TextBox"/>
          <p:cNvSpPr txBox="1"/>
          <p:nvPr/>
        </p:nvSpPr>
        <p:spPr>
          <a:xfrm>
            <a:off x="1691640" y="3337560"/>
            <a:ext cx="69494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252545"/>
                </a:solidFill>
                <a:latin typeface="Courier New" pitchFamily="34" charset="0"/>
              </a:rPr>
              <a:t>Admin_Bitbucket</a:t>
            </a:r>
          </a:p>
        </p:txBody>
      </p:sp>
      <p:sp>
        <p:nvSpPr>
          <p:cNvPr id="1283" name="TextBox"/>
          <p:cNvSpPr txBox="1"/>
          <p:nvPr/>
        </p:nvSpPr>
        <p:spPr>
          <a:xfrm>
            <a:off x="1691640" y="3886200"/>
            <a:ext cx="694944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5B5F73"/>
                </a:solidFill>
                <a:latin typeface="Aptos" pitchFamily="34" charset="0"/>
              </a:rPr>
              <a:t>Package discovery and repository checkout.</a:t>
            </a:r>
          </a:p>
        </p:txBody>
      </p:sp>
      <p:sp>
        <p:nvSpPr>
          <p:cNvPr id="1284" name="Box"/>
          <p:cNvSpPr/>
          <p:nvPr/>
        </p:nvSpPr>
        <p:spPr>
          <a:xfrm>
            <a:off x="9281160" y="3108960"/>
            <a:ext cx="7498080" cy="201168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285" name="TextBox"/>
          <p:cNvSpPr txBox="1"/>
          <p:nvPr/>
        </p:nvSpPr>
        <p:spPr>
          <a:xfrm>
            <a:off x="9555480" y="3337560"/>
            <a:ext cx="69494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252545"/>
                </a:solidFill>
                <a:latin typeface="Courier New" pitchFamily="34" charset="0"/>
              </a:rPr>
              <a:t>IS_Target_Cred</a:t>
            </a:r>
          </a:p>
        </p:txBody>
      </p:sp>
      <p:sp>
        <p:nvSpPr>
          <p:cNvPr id="1286" name="TextBox"/>
          <p:cNvSpPr txBox="1"/>
          <p:nvPr/>
        </p:nvSpPr>
        <p:spPr>
          <a:xfrm>
            <a:off x="9555480" y="3886200"/>
            <a:ext cx="694944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5B5F73"/>
                </a:solidFill>
                <a:latin typeface="Aptos" pitchFamily="34" charset="0"/>
              </a:rPr>
              <a:t>Authentication for webMethods Deployer and target Integration Server operations.</a:t>
            </a:r>
          </a:p>
        </p:txBody>
      </p:sp>
      <p:sp>
        <p:nvSpPr>
          <p:cNvPr id="1287" name="Box"/>
          <p:cNvSpPr/>
          <p:nvPr/>
        </p:nvSpPr>
        <p:spPr>
          <a:xfrm>
            <a:off x="1417320" y="5486400"/>
            <a:ext cx="15361920" cy="91440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8A2E24"/>
                </a:solidFill>
                <a:latin typeface="Aptos" pitchFamily="34" charset="0"/>
              </a:rPr>
              <a:t>Passwords are never hard-coded in the pipeline and never displayed in Jenkins logs — both credentials are injected securely at run time.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E2C79">
                <a:alpha val="100000"/>
              </a:srgbClr>
            </a:gs>
            <a:gs pos="50000">
              <a:srgbClr val="9A84DC">
                <a:alpha val="100000"/>
              </a:srgbClr>
            </a:gs>
            <a:gs pos="100000">
              <a:srgbClr val="8F73F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6930" y="195887"/>
            <a:ext cx="3503507" cy="1052269"/>
          </a:xfrm>
          <a:custGeom>
            <a:avLst/>
            <a:gdLst/>
            <a:ahLst/>
            <a:cxnLst/>
            <a:rect l="l" t="t" r="r" b="b"/>
            <a:pathLst>
              <a:path w="3503507" h="1052269">
                <a:moveTo>
                  <a:pt x="0" y="0"/>
                </a:moveTo>
                <a:lnTo>
                  <a:pt x="3503507" y="0"/>
                </a:lnTo>
                <a:lnTo>
                  <a:pt x="3503507" y="1052269"/>
                </a:lnTo>
                <a:lnTo>
                  <a:pt x="0" y="10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28700" y="3289685"/>
            <a:ext cx="964662" cy="964662"/>
          </a:xfrm>
          <a:custGeom>
            <a:avLst/>
            <a:gdLst/>
            <a:ahLst/>
            <a:cxnLst/>
            <a:rect l="l" t="t" r="r" b="b"/>
            <a:pathLst>
              <a:path w="964662" h="964662">
                <a:moveTo>
                  <a:pt x="0" y="0"/>
                </a:moveTo>
                <a:lnTo>
                  <a:pt x="964662" y="0"/>
                </a:lnTo>
                <a:lnTo>
                  <a:pt x="964662" y="964662"/>
                </a:lnTo>
                <a:lnTo>
                  <a:pt x="0" y="964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>
              <a:latin typeface="+mj-lt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2587519" y="0"/>
            <a:ext cx="5690956" cy="10287000"/>
            <a:chOff x="0" y="0"/>
            <a:chExt cx="7631832" cy="13795338"/>
          </a:xfrm>
        </p:grpSpPr>
        <p:sp>
          <p:nvSpPr>
            <p:cNvPr id="5" name="Freeform 5" descr="Image"/>
            <p:cNvSpPr/>
            <p:nvPr/>
          </p:nvSpPr>
          <p:spPr>
            <a:xfrm>
              <a:off x="0" y="0"/>
              <a:ext cx="7631811" cy="13795375"/>
            </a:xfrm>
            <a:custGeom>
              <a:avLst/>
              <a:gdLst/>
              <a:ahLst/>
              <a:cxnLst/>
              <a:rect l="l" t="t" r="r" b="b"/>
              <a:pathLst>
                <a:path w="7631811" h="13795375">
                  <a:moveTo>
                    <a:pt x="0" y="0"/>
                  </a:moveTo>
                  <a:lnTo>
                    <a:pt x="7631811" y="0"/>
                  </a:lnTo>
                  <a:lnTo>
                    <a:pt x="7631811" y="13795375"/>
                  </a:lnTo>
                  <a:lnTo>
                    <a:pt x="0" y="13795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b="-74"/>
              </a:stretch>
            </a:blipFill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644000" y="4300000"/>
            <a:ext cx="11000000" cy="220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68"/>
              </a:lnSpc>
            </a:pPr>
            <a:r>
              <a:rPr lang="en-US" sz="4400" b="1" dirty="0">
                <a:solidFill>
                  <a:srgbClr val="FFFFFF"/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Manual Rollback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44000" y="6650000"/>
            <a:ext cx="11000000" cy="45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65"/>
              </a:lnSpc>
              <a:spcBef>
                <a:spcPct val="0"/>
              </a:spcBef>
            </a:pPr>
            <a:r>
              <a:rPr lang="en-US" sz="1890" b="1" dirty="0">
                <a:solidFill>
                  <a:srgbClr val="FFFFFF">
                    <a:alpha val="68627"/>
                  </a:srgbClr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Restore a prior deployment snapshot, on demand</a:t>
            </a:r>
          </a:p>
        </p:txBody>
      </p:sp>
      <p:sp>
        <p:nvSpPr>
          <p:cNvPr id="8" name="GTBClassificationH1190887526"/>
          <p:cNvSpPr txBox="1"/>
          <p:nvPr/>
        </p:nvSpPr>
        <p:spPr>
          <a:xfrm>
            <a:off x="0" y="0"/>
            <a:ext cx="18288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dirty="0">
                <a:solidFill>
                  <a:srgbClr val="000000">
                    <a:alpha val="70000"/>
                  </a:srgbClr>
                </a:solidFill>
                <a:latin typeface="+mj-lt"/>
              </a:rPr>
              <a:t>Classification:</a:t>
            </a:r>
            <a:r>
              <a:rPr lang="en-US" sz="1400" dirty="0">
                <a:solidFill>
                  <a:srgbClr val="000000">
                    <a:alpha val="70000"/>
                  </a:srgbClr>
                </a:solidFill>
                <a:latin typeface="+mj-lt"/>
              </a:rPr>
              <a:t> </a:t>
            </a:r>
            <a:r>
              <a:rPr lang="en-US" sz="1400" b="1" dirty="0">
                <a:solidFill>
                  <a:srgbClr val="6A1B9A">
                    <a:alpha val="70000"/>
                  </a:srgbClr>
                </a:solidFill>
                <a:latin typeface="+mj-lt"/>
              </a:rPr>
              <a:t>Internal</a:t>
            </a:r>
          </a:p>
        </p:txBody>
      </p:sp>
      <p:sp>
        <p:nvSpPr>
          <p:cNvPr id="9001" name="KickerLabel"/>
          <p:cNvSpPr txBox="1"/>
          <p:nvPr/>
        </p:nvSpPr>
        <p:spPr>
          <a:xfrm>
            <a:off x="3644000" y="3780000"/>
            <a:ext cx="110000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600" b="1" dirty="0">
                <a:solidFill>
                  <a:srgbClr val="FFFFFF">
                    <a:alpha val="70000"/>
                  </a:srgbClr>
                </a:solidFill>
                <a:latin typeface="+mj-lt"/>
              </a:rPr>
              <a:t>PART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PIPELINE AUTOMATION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PART 3 • PURPOSE &amp; WHEN TO USE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88" name="TextBox"/>
          <p:cNvSpPr txBox="1"/>
          <p:nvPr/>
        </p:nvSpPr>
        <p:spPr>
          <a:xfrm>
            <a:off x="1417320" y="2331720"/>
            <a:ext cx="15361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450" dirty="0">
                <a:solidFill>
                  <a:srgbClr val="252545"/>
                </a:solidFill>
                <a:latin typeface="Aptos" pitchFamily="34" charset="0"/>
              </a:rPr>
              <a:t>Lets an authorized user manually restore the snapshot created by a previous deployment job, using the same EPIC. Separate from the automatic rollback built into the deployment pipeline.</a:t>
            </a:r>
          </a:p>
        </p:txBody>
      </p:sp>
      <p:sp>
        <p:nvSpPr>
          <p:cNvPr id="1289" name="TextBox"/>
          <p:cNvSpPr txBox="1"/>
          <p:nvPr/>
        </p:nvSpPr>
        <p:spPr>
          <a:xfrm>
            <a:off x="1417320" y="3474720"/>
            <a:ext cx="153619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5B5F73"/>
                </a:solidFill>
                <a:latin typeface="Aptos" pitchFamily="34" charset="0"/>
              </a:rPr>
              <a:t>USE MANUAL ROLLBACK WHEN</a:t>
            </a:r>
          </a:p>
        </p:txBody>
      </p:sp>
      <p:sp>
        <p:nvSpPr>
          <p:cNvPr id="1290" name="Box"/>
          <p:cNvSpPr/>
          <p:nvPr/>
        </p:nvSpPr>
        <p:spPr>
          <a:xfrm>
            <a:off x="1417320" y="3931920"/>
            <a:ext cx="7520940" cy="235458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52545"/>
                </a:solidFill>
                <a:latin typeface="Aptos" pitchFamily="34" charset="0"/>
              </a:rPr>
              <a:t>A deployment completed but a functional problem was found later</a:t>
            </a:r>
          </a:p>
        </p:txBody>
      </p:sp>
      <p:sp>
        <p:nvSpPr>
          <p:cNvPr id="1291" name="Box"/>
          <p:cNvSpPr/>
          <p:nvPr/>
        </p:nvSpPr>
        <p:spPr>
          <a:xfrm>
            <a:off x="9258300" y="3931920"/>
            <a:ext cx="7520940" cy="235458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52545"/>
                </a:solidFill>
                <a:latin typeface="Aptos" pitchFamily="34" charset="0"/>
              </a:rPr>
              <a:t>Operations decides to restore the previous version</a:t>
            </a:r>
          </a:p>
        </p:txBody>
      </p:sp>
      <p:sp>
        <p:nvSpPr>
          <p:cNvPr id="1292" name="Box"/>
          <p:cNvSpPr/>
          <p:nvPr/>
        </p:nvSpPr>
        <p:spPr>
          <a:xfrm>
            <a:off x="1417320" y="6606540"/>
            <a:ext cx="7520940" cy="235458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52545"/>
                </a:solidFill>
                <a:latin typeface="Aptos" pitchFamily="34" charset="0"/>
              </a:rPr>
              <a:t>Automatic rollback was not triggered</a:t>
            </a:r>
          </a:p>
        </p:txBody>
      </p:sp>
      <p:sp>
        <p:nvSpPr>
          <p:cNvPr id="1293" name="Box"/>
          <p:cNvSpPr/>
          <p:nvPr/>
        </p:nvSpPr>
        <p:spPr>
          <a:xfrm>
            <a:off x="9258300" y="6606540"/>
            <a:ext cx="7520940" cy="235458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52545"/>
                </a:solidFill>
                <a:latin typeface="Aptos" pitchFamily="34" charset="0"/>
              </a:rPr>
              <a:t>A controlled rollback is requested after deployment</a:t>
            </a:r>
          </a:p>
        </p:txBody>
      </p:sp>
      <p:sp>
        <p:nvSpPr>
          <p:cNvPr id="1294" name="Box"/>
          <p:cNvSpPr/>
          <p:nvPr/>
        </p:nvSpPr>
        <p:spPr>
          <a:xfrm>
            <a:off x="1417320" y="9235440"/>
            <a:ext cx="15361920" cy="91440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9525">
            <a:solidFill>
              <a:srgbClr val="F0DFAF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7A5B12"/>
                </a:solidFill>
                <a:latin typeface="Aptos" pitchFamily="34" charset="0"/>
              </a:rPr>
              <a:t>This is a distinct, manually triggered Jenkins job — it does not run as part of the deployment pipeline.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PIPELINE AUTOMATION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PART 3 • INPUTS &amp; APPROVAL CONTROLS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95" name="TextBox"/>
          <p:cNvSpPr txBox="1"/>
          <p:nvPr/>
        </p:nvSpPr>
        <p:spPr>
          <a:xfrm>
            <a:off x="1417320" y="2331720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5B5F73"/>
                </a:solidFill>
                <a:latin typeface="Aptos" pitchFamily="34" charset="0"/>
              </a:rPr>
              <a:t>Two layers of confirmation stand between a request and an actual rollback.</a:t>
            </a:r>
          </a:p>
        </p:txBody>
      </p:sp>
      <p:sp>
        <p:nvSpPr>
          <p:cNvPr id="1296" name="Box"/>
          <p:cNvSpPr/>
          <p:nvPr/>
        </p:nvSpPr>
        <p:spPr>
          <a:xfrm>
            <a:off x="1417320" y="3017520"/>
            <a:ext cx="4876800" cy="173736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297" name="TextBox"/>
          <p:cNvSpPr txBox="1"/>
          <p:nvPr/>
        </p:nvSpPr>
        <p:spPr>
          <a:xfrm>
            <a:off x="1645920" y="3200400"/>
            <a:ext cx="4419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5B4FE0"/>
                </a:solidFill>
                <a:latin typeface="Courier New" pitchFamily="34" charset="0"/>
              </a:rPr>
              <a:t>EPIC_NAME</a:t>
            </a:r>
          </a:p>
        </p:txBody>
      </p:sp>
      <p:sp>
        <p:nvSpPr>
          <p:cNvPr id="1298" name="TextBox"/>
          <p:cNvSpPr txBox="1"/>
          <p:nvPr/>
        </p:nvSpPr>
        <p:spPr>
          <a:xfrm>
            <a:off x="1645920" y="3931920"/>
            <a:ext cx="4419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080" dirty="0">
                <a:solidFill>
                  <a:srgbClr val="5B5F73"/>
                </a:solidFill>
                <a:latin typeface="Aptos" pitchFamily="34" charset="0"/>
              </a:rPr>
              <a:t>The same EPIC used by the original deployment job</a:t>
            </a:r>
          </a:p>
        </p:txBody>
      </p:sp>
      <p:sp>
        <p:nvSpPr>
          <p:cNvPr id="1299" name="Box"/>
          <p:cNvSpPr/>
          <p:nvPr/>
        </p:nvSpPr>
        <p:spPr>
          <a:xfrm>
            <a:off x="6659880" y="3017520"/>
            <a:ext cx="4876800" cy="173736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300" name="TextBox"/>
          <p:cNvSpPr txBox="1"/>
          <p:nvPr/>
        </p:nvSpPr>
        <p:spPr>
          <a:xfrm>
            <a:off x="6888480" y="3200400"/>
            <a:ext cx="4419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5B4FE0"/>
                </a:solidFill>
                <a:latin typeface="Courier New" pitchFamily="34" charset="0"/>
              </a:rPr>
              <a:t>CONFIRM_ROLLBACK</a:t>
            </a:r>
          </a:p>
        </p:txBody>
      </p:sp>
      <p:sp>
        <p:nvSpPr>
          <p:cNvPr id="1301" name="TextBox"/>
          <p:cNvSpPr txBox="1"/>
          <p:nvPr/>
        </p:nvSpPr>
        <p:spPr>
          <a:xfrm>
            <a:off x="6888480" y="3931920"/>
            <a:ext cx="4419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080" dirty="0">
                <a:solidFill>
                  <a:srgbClr val="5B5F73"/>
                </a:solidFill>
                <a:latin typeface="Aptos" pitchFamily="34" charset="0"/>
              </a:rPr>
              <a:t>Must be checked before execution</a:t>
            </a:r>
          </a:p>
        </p:txBody>
      </p:sp>
      <p:sp>
        <p:nvSpPr>
          <p:cNvPr id="1302" name="Box"/>
          <p:cNvSpPr/>
          <p:nvPr/>
        </p:nvSpPr>
        <p:spPr>
          <a:xfrm>
            <a:off x="11902440" y="3017520"/>
            <a:ext cx="4876800" cy="173736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303" name="TextBox"/>
          <p:cNvSpPr txBox="1"/>
          <p:nvPr/>
        </p:nvSpPr>
        <p:spPr>
          <a:xfrm>
            <a:off x="12131040" y="3200400"/>
            <a:ext cx="4419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5B4FE0"/>
                </a:solidFill>
                <a:latin typeface="Courier New" pitchFamily="34" charset="0"/>
              </a:rPr>
              <a:t>DELETE_PROJECT_AFTER_ROLLBACK</a:t>
            </a:r>
          </a:p>
        </p:txBody>
      </p:sp>
      <p:sp>
        <p:nvSpPr>
          <p:cNvPr id="1304" name="TextBox"/>
          <p:cNvSpPr txBox="1"/>
          <p:nvPr/>
        </p:nvSpPr>
        <p:spPr>
          <a:xfrm>
            <a:off x="12131040" y="3931920"/>
            <a:ext cx="4419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080" dirty="0">
                <a:solidFill>
                  <a:srgbClr val="5B5F73"/>
                </a:solidFill>
                <a:latin typeface="Aptos" pitchFamily="34" charset="0"/>
              </a:rPr>
              <a:t>Whether Deployer resources are removed after success</a:t>
            </a:r>
          </a:p>
        </p:txBody>
      </p:sp>
      <p:sp>
        <p:nvSpPr>
          <p:cNvPr id="1305" name="TextBox"/>
          <p:cNvSpPr txBox="1"/>
          <p:nvPr/>
        </p:nvSpPr>
        <p:spPr>
          <a:xfrm>
            <a:off x="1417320" y="5166360"/>
            <a:ext cx="153619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5B5F73"/>
                </a:solidFill>
                <a:latin typeface="Aptos" pitchFamily="34" charset="0"/>
              </a:rPr>
              <a:t>TWO-LEVEL APPROVAL</a:t>
            </a:r>
          </a:p>
        </p:txBody>
      </p:sp>
      <p:sp>
        <p:nvSpPr>
          <p:cNvPr id="1306" name="Box"/>
          <p:cNvSpPr/>
          <p:nvPr/>
        </p:nvSpPr>
        <p:spPr>
          <a:xfrm>
            <a:off x="1417320" y="5623560"/>
            <a:ext cx="7269480" cy="1920240"/>
          </a:xfrm>
          <a:prstGeom prst="roundRect">
            <a:avLst>
              <a:gd name="adj" fmla="val 12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307" name="Badge"/>
          <p:cNvSpPr/>
          <p:nvPr/>
        </p:nvSpPr>
        <p:spPr>
          <a:xfrm>
            <a:off x="1645920" y="58521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5B4FE0"/>
                </a:solidFill>
                <a:latin typeface="Aptos Display" pitchFamily="34" charset="0"/>
              </a:rPr>
              <a:t>1</a:t>
            </a:r>
          </a:p>
        </p:txBody>
      </p:sp>
      <p:sp>
        <p:nvSpPr>
          <p:cNvPr id="1308" name="TextBox"/>
          <p:cNvSpPr txBox="1"/>
          <p:nvPr/>
        </p:nvSpPr>
        <p:spPr>
          <a:xfrm>
            <a:off x="2286000" y="5852160"/>
            <a:ext cx="61722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</a:rPr>
              <a:t>User enables CONFIRM_ROLLBACK</a:t>
            </a:r>
          </a:p>
        </p:txBody>
      </p:sp>
      <p:sp>
        <p:nvSpPr>
          <p:cNvPr id="1309" name="TextBox"/>
          <p:cNvSpPr txBox="1"/>
          <p:nvPr/>
        </p:nvSpPr>
        <p:spPr>
          <a:xfrm>
            <a:off x="1709928" y="6446520"/>
            <a:ext cx="668426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080" dirty="0">
                <a:solidFill>
                  <a:srgbClr val="E4E1FB"/>
                </a:solidFill>
                <a:latin typeface="Aptos" pitchFamily="34" charset="0"/>
              </a:rPr>
              <a:t>The job will not run at all unless this box is checked before submission.</a:t>
            </a:r>
          </a:p>
        </p:txBody>
      </p:sp>
      <p:cxnSp>
        <p:nvCxnSpPr>
          <p:cNvPr id="1310" name="Connector"/>
          <p:cNvCxnSpPr/>
          <p:nvPr/>
        </p:nvCxnSpPr>
        <p:spPr>
          <a:xfrm>
            <a:off x="8686800" y="6583680"/>
            <a:ext cx="822960" cy="457"/>
          </a:xfrm>
          <a:prstGeom prst="line">
            <a:avLst/>
          </a:prstGeom>
          <a:ln w="22225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1" name="Box"/>
          <p:cNvSpPr/>
          <p:nvPr/>
        </p:nvSpPr>
        <p:spPr>
          <a:xfrm>
            <a:off x="9509760" y="5623560"/>
            <a:ext cx="7269480" cy="1920240"/>
          </a:xfrm>
          <a:prstGeom prst="roundRect">
            <a:avLst>
              <a:gd name="adj" fmla="val 12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312" name="Badge"/>
          <p:cNvSpPr/>
          <p:nvPr/>
        </p:nvSpPr>
        <p:spPr>
          <a:xfrm>
            <a:off x="9738360" y="58521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52545"/>
                </a:solidFill>
                <a:latin typeface="Aptos Display" pitchFamily="34" charset="0"/>
              </a:rPr>
              <a:t>2</a:t>
            </a:r>
          </a:p>
        </p:txBody>
      </p:sp>
      <p:sp>
        <p:nvSpPr>
          <p:cNvPr id="1313" name="TextBox"/>
          <p:cNvSpPr txBox="1"/>
          <p:nvPr/>
        </p:nvSpPr>
        <p:spPr>
          <a:xfrm>
            <a:off x="10378440" y="5852160"/>
            <a:ext cx="61722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</a:rPr>
              <a:t>Jenkins pauses for authorized approval</a:t>
            </a:r>
          </a:p>
        </p:txBody>
      </p:sp>
      <p:sp>
        <p:nvSpPr>
          <p:cNvPr id="1314" name="TextBox"/>
          <p:cNvSpPr txBox="1"/>
          <p:nvPr/>
        </p:nvSpPr>
        <p:spPr>
          <a:xfrm>
            <a:off x="9802368" y="6446520"/>
            <a:ext cx="668426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080" dirty="0">
                <a:solidFill>
                  <a:srgbClr val="C7C9E4"/>
                </a:solidFill>
                <a:latin typeface="Aptos" pitchFamily="34" charset="0"/>
              </a:rPr>
              <a:t>An authorized approver selects “Rollback Now” and may enter a comment, kept for audit purposes.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PIPELINE AUTOMATION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PART 3 • MANUAL ROLLBACK WORKFLOW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15" name="TextBox"/>
          <p:cNvSpPr txBox="1"/>
          <p:nvPr/>
        </p:nvSpPr>
        <p:spPr>
          <a:xfrm>
            <a:off x="1417320" y="2331720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5B5F73"/>
                </a:solidFill>
                <a:latin typeface="Aptos" pitchFamily="34" charset="0"/>
              </a:rPr>
              <a:t>Thirteen steps, four phases — nothing executes until the approval phase clears.</a:t>
            </a:r>
          </a:p>
        </p:txBody>
      </p:sp>
      <p:sp>
        <p:nvSpPr>
          <p:cNvPr id="1316" name="Phase"/>
          <p:cNvSpPr/>
          <p:nvPr/>
        </p:nvSpPr>
        <p:spPr>
          <a:xfrm>
            <a:off x="1417320" y="2971800"/>
            <a:ext cx="3600450" cy="6217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17" name="PhaseHead"/>
          <p:cNvSpPr/>
          <p:nvPr/>
        </p:nvSpPr>
        <p:spPr>
          <a:xfrm>
            <a:off x="1417320" y="2971800"/>
            <a:ext cx="3600450" cy="566928"/>
          </a:xfrm>
          <a:prstGeom prst="roundRect">
            <a:avLst>
              <a:gd name="adj" fmla="val 3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318" name="PhaseNum"/>
          <p:cNvSpPr/>
          <p:nvPr/>
        </p:nvSpPr>
        <p:spPr>
          <a:xfrm>
            <a:off x="1609344" y="308152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5B4FE0"/>
                </a:solidFill>
                <a:latin typeface="Aptos Display" pitchFamily="34" charset="0"/>
              </a:rPr>
              <a:t>1</a:t>
            </a:r>
          </a:p>
        </p:txBody>
      </p:sp>
      <p:sp>
        <p:nvSpPr>
          <p:cNvPr id="1319" name="TextBox"/>
          <p:cNvSpPr txBox="1"/>
          <p:nvPr/>
        </p:nvSpPr>
        <p:spPr>
          <a:xfrm>
            <a:off x="2039112" y="2971800"/>
            <a:ext cx="28232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Validate Inputs</a:t>
            </a:r>
          </a:p>
        </p:txBody>
      </p:sp>
      <p:sp>
        <p:nvSpPr>
          <p:cNvPr id="1320" name="Dot"/>
          <p:cNvSpPr/>
          <p:nvPr/>
        </p:nvSpPr>
        <p:spPr>
          <a:xfrm>
            <a:off x="1545336" y="40005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21" name="TextBox"/>
          <p:cNvSpPr txBox="1"/>
          <p:nvPr/>
        </p:nvSpPr>
        <p:spPr>
          <a:xfrm>
            <a:off x="1801368" y="368503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Validate EPIC_NAME is provided</a:t>
            </a:r>
          </a:p>
        </p:txBody>
      </p:sp>
      <p:cxnSp>
        <p:nvCxnSpPr>
          <p:cNvPr id="1322" name="Connector"/>
          <p:cNvCxnSpPr/>
          <p:nvPr/>
        </p:nvCxnSpPr>
        <p:spPr>
          <a:xfrm>
            <a:off x="1618488" y="444398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3" name="Dot"/>
          <p:cNvSpPr/>
          <p:nvPr/>
        </p:nvSpPr>
        <p:spPr>
          <a:xfrm>
            <a:off x="1545336" y="47777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24" name="TextBox"/>
          <p:cNvSpPr txBox="1"/>
          <p:nvPr/>
        </p:nvSpPr>
        <p:spPr>
          <a:xfrm>
            <a:off x="1801368" y="446227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Verify CONFIRM_ROLLBACK is checked</a:t>
            </a:r>
          </a:p>
        </p:txBody>
      </p:sp>
      <p:cxnSp>
        <p:nvCxnSpPr>
          <p:cNvPr id="1325" name="Connector"/>
          <p:cNvCxnSpPr/>
          <p:nvPr/>
        </p:nvCxnSpPr>
        <p:spPr>
          <a:xfrm>
            <a:off x="1618488" y="522122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6" name="Dot"/>
          <p:cNvSpPr/>
          <p:nvPr/>
        </p:nvSpPr>
        <p:spPr>
          <a:xfrm>
            <a:off x="1545336" y="55549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27" name="TextBox"/>
          <p:cNvSpPr txBox="1"/>
          <p:nvPr/>
        </p:nvSpPr>
        <p:spPr>
          <a:xfrm>
            <a:off x="1801368" y="523951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Validate Deployer command exists</a:t>
            </a:r>
          </a:p>
        </p:txBody>
      </p:sp>
      <p:cxnSp>
        <p:nvCxnSpPr>
          <p:cNvPr id="1328" name="Connector"/>
          <p:cNvCxnSpPr/>
          <p:nvPr/>
        </p:nvCxnSpPr>
        <p:spPr>
          <a:xfrm>
            <a:off x="5054346" y="6080760"/>
            <a:ext cx="246888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9" name="Phase"/>
          <p:cNvSpPr/>
          <p:nvPr/>
        </p:nvSpPr>
        <p:spPr>
          <a:xfrm>
            <a:off x="5337810" y="2971800"/>
            <a:ext cx="3600450" cy="6217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30" name="PhaseHead"/>
          <p:cNvSpPr/>
          <p:nvPr/>
        </p:nvSpPr>
        <p:spPr>
          <a:xfrm>
            <a:off x="5337810" y="2971800"/>
            <a:ext cx="3600450" cy="566928"/>
          </a:xfrm>
          <a:prstGeom prst="roundRect">
            <a:avLst>
              <a:gd name="adj" fmla="val 30000"/>
            </a:avLst>
          </a:prstGeom>
          <a:solidFill>
            <a:srgbClr val="6B4FB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331" name="PhaseNum"/>
          <p:cNvSpPr/>
          <p:nvPr/>
        </p:nvSpPr>
        <p:spPr>
          <a:xfrm>
            <a:off x="5529834" y="308152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6B4FB0"/>
                </a:solidFill>
                <a:latin typeface="Aptos Display" pitchFamily="34" charset="0"/>
              </a:rPr>
              <a:t>2</a:t>
            </a:r>
          </a:p>
        </p:txBody>
      </p:sp>
      <p:sp>
        <p:nvSpPr>
          <p:cNvPr id="1332" name="TextBox"/>
          <p:cNvSpPr txBox="1"/>
          <p:nvPr/>
        </p:nvSpPr>
        <p:spPr>
          <a:xfrm>
            <a:off x="5959602" y="2971800"/>
            <a:ext cx="28232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Approve &amp; Notify</a:t>
            </a:r>
          </a:p>
        </p:txBody>
      </p:sp>
      <p:sp>
        <p:nvSpPr>
          <p:cNvPr id="1333" name="Dot"/>
          <p:cNvSpPr/>
          <p:nvPr/>
        </p:nvSpPr>
        <p:spPr>
          <a:xfrm>
            <a:off x="5465826" y="40005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B4FB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34" name="TextBox"/>
          <p:cNvSpPr txBox="1"/>
          <p:nvPr/>
        </p:nvSpPr>
        <p:spPr>
          <a:xfrm>
            <a:off x="5721858" y="368503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Set build name ROLLBACK-&lt;EPIC&gt;</a:t>
            </a:r>
          </a:p>
        </p:txBody>
      </p:sp>
      <p:cxnSp>
        <p:nvCxnSpPr>
          <p:cNvPr id="1335" name="Connector"/>
          <p:cNvCxnSpPr/>
          <p:nvPr/>
        </p:nvCxnSpPr>
        <p:spPr>
          <a:xfrm>
            <a:off x="5538978" y="444398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6" name="Dot"/>
          <p:cNvSpPr/>
          <p:nvPr/>
        </p:nvSpPr>
        <p:spPr>
          <a:xfrm>
            <a:off x="5465826" y="47777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B4FB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37" name="TextBox"/>
          <p:cNvSpPr txBox="1"/>
          <p:nvPr/>
        </p:nvSpPr>
        <p:spPr>
          <a:xfrm>
            <a:off x="5721858" y="446227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Display project &amp; cleanup option</a:t>
            </a:r>
          </a:p>
        </p:txBody>
      </p:sp>
      <p:cxnSp>
        <p:nvCxnSpPr>
          <p:cNvPr id="1338" name="Connector"/>
          <p:cNvCxnSpPr/>
          <p:nvPr/>
        </p:nvCxnSpPr>
        <p:spPr>
          <a:xfrm>
            <a:off x="5538978" y="522122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9" name="Dot"/>
          <p:cNvSpPr/>
          <p:nvPr/>
        </p:nvSpPr>
        <p:spPr>
          <a:xfrm>
            <a:off x="5465826" y="55549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B4FB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40" name="TextBox"/>
          <p:cNvSpPr txBox="1"/>
          <p:nvPr/>
        </p:nvSpPr>
        <p:spPr>
          <a:xfrm>
            <a:off x="5721858" y="523951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Pause for manual approval</a:t>
            </a:r>
          </a:p>
        </p:txBody>
      </p:sp>
      <p:cxnSp>
        <p:nvCxnSpPr>
          <p:cNvPr id="1341" name="Connector"/>
          <p:cNvCxnSpPr/>
          <p:nvPr/>
        </p:nvCxnSpPr>
        <p:spPr>
          <a:xfrm>
            <a:off x="5538978" y="599846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2" name="Dot"/>
          <p:cNvSpPr/>
          <p:nvPr/>
        </p:nvSpPr>
        <p:spPr>
          <a:xfrm>
            <a:off x="5465826" y="63322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B4FB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43" name="TextBox"/>
          <p:cNvSpPr txBox="1"/>
          <p:nvPr/>
        </p:nvSpPr>
        <p:spPr>
          <a:xfrm>
            <a:off x="5721858" y="601675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Collect approver comment</a:t>
            </a:r>
          </a:p>
        </p:txBody>
      </p:sp>
      <p:cxnSp>
        <p:nvCxnSpPr>
          <p:cNvPr id="1344" name="Connector"/>
          <p:cNvCxnSpPr/>
          <p:nvPr/>
        </p:nvCxnSpPr>
        <p:spPr>
          <a:xfrm>
            <a:off x="5538978" y="677570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5" name="Dot"/>
          <p:cNvSpPr/>
          <p:nvPr/>
        </p:nvSpPr>
        <p:spPr>
          <a:xfrm>
            <a:off x="5465826" y="71094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B4FB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46" name="TextBox"/>
          <p:cNvSpPr txBox="1"/>
          <p:nvPr/>
        </p:nvSpPr>
        <p:spPr>
          <a:xfrm>
            <a:off x="5721858" y="679399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Send rollback-started email</a:t>
            </a:r>
          </a:p>
        </p:txBody>
      </p:sp>
      <p:cxnSp>
        <p:nvCxnSpPr>
          <p:cNvPr id="1347" name="Connector"/>
          <p:cNvCxnSpPr/>
          <p:nvPr/>
        </p:nvCxnSpPr>
        <p:spPr>
          <a:xfrm>
            <a:off x="8974836" y="6080760"/>
            <a:ext cx="246888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8" name="Phase"/>
          <p:cNvSpPr/>
          <p:nvPr/>
        </p:nvSpPr>
        <p:spPr>
          <a:xfrm>
            <a:off x="9258300" y="2971800"/>
            <a:ext cx="3600450" cy="6217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49" name="PhaseHead"/>
          <p:cNvSpPr/>
          <p:nvPr/>
        </p:nvSpPr>
        <p:spPr>
          <a:xfrm>
            <a:off x="9258300" y="2971800"/>
            <a:ext cx="3600450" cy="566928"/>
          </a:xfrm>
          <a:prstGeom prst="roundRect">
            <a:avLst>
              <a:gd name="adj" fmla="val 30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350" name="PhaseNum"/>
          <p:cNvSpPr/>
          <p:nvPr/>
        </p:nvSpPr>
        <p:spPr>
          <a:xfrm>
            <a:off x="9450324" y="308152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252545"/>
                </a:solidFill>
                <a:latin typeface="Aptos Display" pitchFamily="34" charset="0"/>
              </a:rPr>
              <a:t>3</a:t>
            </a:r>
          </a:p>
        </p:txBody>
      </p:sp>
      <p:sp>
        <p:nvSpPr>
          <p:cNvPr id="1351" name="TextBox"/>
          <p:cNvSpPr txBox="1"/>
          <p:nvPr/>
        </p:nvSpPr>
        <p:spPr>
          <a:xfrm>
            <a:off x="9880092" y="2971800"/>
            <a:ext cx="28232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Execute</a:t>
            </a:r>
          </a:p>
        </p:txBody>
      </p:sp>
      <p:sp>
        <p:nvSpPr>
          <p:cNvPr id="1352" name="Dot"/>
          <p:cNvSpPr/>
          <p:nvPr/>
        </p:nvSpPr>
        <p:spPr>
          <a:xfrm>
            <a:off x="9386316" y="40005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53" name="TextBox"/>
          <p:cNvSpPr txBox="1"/>
          <p:nvPr/>
        </p:nvSpPr>
        <p:spPr>
          <a:xfrm>
            <a:off x="9642348" y="368503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Run Deployer rollback (EPIC project &amp; candidate)</a:t>
            </a:r>
          </a:p>
        </p:txBody>
      </p:sp>
      <p:cxnSp>
        <p:nvCxnSpPr>
          <p:cNvPr id="1354" name="Connector"/>
          <p:cNvCxnSpPr/>
          <p:nvPr/>
        </p:nvCxnSpPr>
        <p:spPr>
          <a:xfrm>
            <a:off x="9459468" y="444398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5" name="Dot"/>
          <p:cNvSpPr/>
          <p:nvPr/>
        </p:nvSpPr>
        <p:spPr>
          <a:xfrm>
            <a:off x="9386316" y="47777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56" name="TextBox"/>
          <p:cNvSpPr txBox="1"/>
          <p:nvPr/>
        </p:nvSpPr>
        <p:spPr>
          <a:xfrm>
            <a:off x="9642348" y="446227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Confirm rollback result</a:t>
            </a:r>
          </a:p>
        </p:txBody>
      </p:sp>
      <p:cxnSp>
        <p:nvCxnSpPr>
          <p:cNvPr id="1357" name="Connector"/>
          <p:cNvCxnSpPr/>
          <p:nvPr/>
        </p:nvCxnSpPr>
        <p:spPr>
          <a:xfrm>
            <a:off x="12895326" y="6080760"/>
            <a:ext cx="246888" cy="457"/>
          </a:xfrm>
          <a:prstGeom prst="line">
            <a:avLst/>
          </a:prstGeom>
          <a:ln w="15875">
            <a:solidFill>
              <a:srgbClr val="C7C9E4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8" name="Phase"/>
          <p:cNvSpPr/>
          <p:nvPr/>
        </p:nvSpPr>
        <p:spPr>
          <a:xfrm>
            <a:off x="13178790" y="2971800"/>
            <a:ext cx="3600450" cy="6217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59" name="PhaseHead"/>
          <p:cNvSpPr/>
          <p:nvPr/>
        </p:nvSpPr>
        <p:spPr>
          <a:xfrm>
            <a:off x="13178790" y="2971800"/>
            <a:ext cx="3600450" cy="566928"/>
          </a:xfrm>
          <a:prstGeom prst="roundRect">
            <a:avLst>
              <a:gd name="adj" fmla="val 30000"/>
            </a:avLst>
          </a:prstGeom>
          <a:solidFill>
            <a:srgbClr val="A02B6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360" name="PhaseNum"/>
          <p:cNvSpPr/>
          <p:nvPr/>
        </p:nvSpPr>
        <p:spPr>
          <a:xfrm>
            <a:off x="13370814" y="308152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A02B6E"/>
                </a:solidFill>
                <a:latin typeface="Aptos Display" pitchFamily="34" charset="0"/>
              </a:rPr>
              <a:t>4</a:t>
            </a:r>
          </a:p>
        </p:txBody>
      </p:sp>
      <p:sp>
        <p:nvSpPr>
          <p:cNvPr id="1361" name="TextBox"/>
          <p:cNvSpPr txBox="1"/>
          <p:nvPr/>
        </p:nvSpPr>
        <p:spPr>
          <a:xfrm>
            <a:off x="13800582" y="2971800"/>
            <a:ext cx="28232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Cleanup &amp; Notify</a:t>
            </a:r>
          </a:p>
        </p:txBody>
      </p:sp>
      <p:sp>
        <p:nvSpPr>
          <p:cNvPr id="1362" name="Dot"/>
          <p:cNvSpPr/>
          <p:nvPr/>
        </p:nvSpPr>
        <p:spPr>
          <a:xfrm>
            <a:off x="13306806" y="40005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02B6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63" name="TextBox"/>
          <p:cNvSpPr txBox="1"/>
          <p:nvPr/>
        </p:nvSpPr>
        <p:spPr>
          <a:xfrm>
            <a:off x="13562838" y="368503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Optionally delete candidate</a:t>
            </a:r>
          </a:p>
        </p:txBody>
      </p:sp>
      <p:cxnSp>
        <p:nvCxnSpPr>
          <p:cNvPr id="1364" name="Connector"/>
          <p:cNvCxnSpPr/>
          <p:nvPr/>
        </p:nvCxnSpPr>
        <p:spPr>
          <a:xfrm>
            <a:off x="13379958" y="444398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5" name="Dot"/>
          <p:cNvSpPr/>
          <p:nvPr/>
        </p:nvSpPr>
        <p:spPr>
          <a:xfrm>
            <a:off x="13306806" y="47777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02B6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66" name="TextBox"/>
          <p:cNvSpPr txBox="1"/>
          <p:nvPr/>
        </p:nvSpPr>
        <p:spPr>
          <a:xfrm>
            <a:off x="13562838" y="446227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Optionally delete project</a:t>
            </a:r>
          </a:p>
        </p:txBody>
      </p:sp>
      <p:cxnSp>
        <p:nvCxnSpPr>
          <p:cNvPr id="1367" name="Connector"/>
          <p:cNvCxnSpPr/>
          <p:nvPr/>
        </p:nvCxnSpPr>
        <p:spPr>
          <a:xfrm>
            <a:off x="13379958" y="5221224"/>
            <a:ext cx="457" cy="36576"/>
          </a:xfrm>
          <a:prstGeom prst="line">
            <a:avLst/>
          </a:prstGeom>
          <a:ln w="6350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8" name="Dot"/>
          <p:cNvSpPr/>
          <p:nvPr/>
        </p:nvSpPr>
        <p:spPr>
          <a:xfrm>
            <a:off x="13306806" y="55549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02B6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1400"/>
          </a:p>
        </p:txBody>
      </p:sp>
      <p:sp>
        <p:nvSpPr>
          <p:cNvPr id="1369" name="TextBox"/>
          <p:cNvSpPr txBox="1"/>
          <p:nvPr/>
        </p:nvSpPr>
        <p:spPr>
          <a:xfrm>
            <a:off x="13562838" y="5239512"/>
            <a:ext cx="305181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52545"/>
                </a:solidFill>
                <a:latin typeface="Aptos" pitchFamily="34" charset="0"/>
              </a:rPr>
              <a:t>Send final success/failure email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PIPELINE AUTOMATION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PART 3 • EXECUTION &amp; RELATIONSHIP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70" name="TextBox"/>
          <p:cNvSpPr txBox="1"/>
          <p:nvPr/>
        </p:nvSpPr>
        <p:spPr>
          <a:xfrm>
            <a:off x="1417320" y="2331720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5B5F73"/>
                </a:solidFill>
                <a:latin typeface="Aptos" pitchFamily="34" charset="0"/>
              </a:rPr>
              <a:t>The rollback command reuses the same EPIC that created the original deployment.</a:t>
            </a:r>
          </a:p>
        </p:txBody>
      </p:sp>
      <p:sp>
        <p:nvSpPr>
          <p:cNvPr id="1371" name="Box"/>
          <p:cNvSpPr/>
          <p:nvPr/>
        </p:nvSpPr>
        <p:spPr>
          <a:xfrm>
            <a:off x="1417320" y="3108960"/>
            <a:ext cx="2816352" cy="128016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Deployment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EPIC</a:t>
            </a:r>
          </a:p>
        </p:txBody>
      </p:sp>
      <p:sp>
        <p:nvSpPr>
          <p:cNvPr id="1372" name="Box"/>
          <p:cNvSpPr/>
          <p:nvPr/>
        </p:nvSpPr>
        <p:spPr>
          <a:xfrm>
            <a:off x="4553712" y="3108960"/>
            <a:ext cx="2816352" cy="128016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Deployer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Project</a:t>
            </a:r>
          </a:p>
        </p:txBody>
      </p:sp>
      <p:cxnSp>
        <p:nvCxnSpPr>
          <p:cNvPr id="1373" name="Connector"/>
          <p:cNvCxnSpPr/>
          <p:nvPr/>
        </p:nvCxnSpPr>
        <p:spPr>
          <a:xfrm>
            <a:off x="4251960" y="3749040"/>
            <a:ext cx="283464" cy="457"/>
          </a:xfrm>
          <a:prstGeom prst="line">
            <a:avLst/>
          </a:prstGeom>
          <a:ln w="1905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4" name="Box"/>
          <p:cNvSpPr/>
          <p:nvPr/>
        </p:nvSpPr>
        <p:spPr>
          <a:xfrm>
            <a:off x="7690104" y="3108960"/>
            <a:ext cx="2816352" cy="128016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Deployment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Candidate</a:t>
            </a:r>
          </a:p>
        </p:txBody>
      </p:sp>
      <p:cxnSp>
        <p:nvCxnSpPr>
          <p:cNvPr id="1375" name="Connector"/>
          <p:cNvCxnSpPr/>
          <p:nvPr/>
        </p:nvCxnSpPr>
        <p:spPr>
          <a:xfrm>
            <a:off x="7388352" y="3749040"/>
            <a:ext cx="283464" cy="457"/>
          </a:xfrm>
          <a:prstGeom prst="line">
            <a:avLst/>
          </a:prstGeom>
          <a:ln w="1905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6" name="Box"/>
          <p:cNvSpPr/>
          <p:nvPr/>
        </p:nvSpPr>
        <p:spPr>
          <a:xfrm>
            <a:off x="10826496" y="3108960"/>
            <a:ext cx="2816352" cy="1280160"/>
          </a:xfrm>
          <a:prstGeom prst="roundRect">
            <a:avLst>
              <a:gd name="adj" fmla="val 14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Pre-Deploy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Snapshot</a:t>
            </a:r>
          </a:p>
        </p:txBody>
      </p:sp>
      <p:cxnSp>
        <p:nvCxnSpPr>
          <p:cNvPr id="1377" name="Connector"/>
          <p:cNvCxnSpPr/>
          <p:nvPr/>
        </p:nvCxnSpPr>
        <p:spPr>
          <a:xfrm>
            <a:off x="10524744" y="3749040"/>
            <a:ext cx="283464" cy="457"/>
          </a:xfrm>
          <a:prstGeom prst="line">
            <a:avLst/>
          </a:prstGeom>
          <a:ln w="1905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8" name="Box"/>
          <p:cNvSpPr/>
          <p:nvPr/>
        </p:nvSpPr>
        <p:spPr>
          <a:xfrm>
            <a:off x="13962888" y="3108960"/>
            <a:ext cx="2816352" cy="128016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</a:rPr>
              <a:t>Rollback</a:t>
            </a:r>
          </a:p>
        </p:txBody>
      </p:sp>
      <p:cxnSp>
        <p:nvCxnSpPr>
          <p:cNvPr id="1379" name="Connector"/>
          <p:cNvCxnSpPr/>
          <p:nvPr/>
        </p:nvCxnSpPr>
        <p:spPr>
          <a:xfrm>
            <a:off x="13661136" y="3749040"/>
            <a:ext cx="283464" cy="457"/>
          </a:xfrm>
          <a:prstGeom prst="line">
            <a:avLst/>
          </a:prstGeom>
          <a:ln w="1905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0" name="Box"/>
          <p:cNvSpPr/>
          <p:nvPr/>
        </p:nvSpPr>
        <p:spPr>
          <a:xfrm>
            <a:off x="1417320" y="4846320"/>
            <a:ext cx="7498080" cy="274320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381" name="TextBox"/>
          <p:cNvSpPr txBox="1"/>
          <p:nvPr/>
        </p:nvSpPr>
        <p:spPr>
          <a:xfrm>
            <a:off x="1691640" y="502920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5B5F73"/>
                </a:solidFill>
                <a:latin typeface="Aptos" pitchFamily="34" charset="0"/>
              </a:rPr>
              <a:t>DEPLOYER ROLLBACK COMMAND USES</a:t>
            </a:r>
          </a:p>
        </p:txBody>
      </p:sp>
      <p:sp>
        <p:nvSpPr>
          <p:cNvPr id="1382" name="TextBox"/>
          <p:cNvSpPr txBox="1"/>
          <p:nvPr/>
        </p:nvSpPr>
        <p:spPr>
          <a:xfrm>
            <a:off x="1691640" y="5440680"/>
            <a:ext cx="6949440" cy="1965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52545"/>
                </a:solidFill>
                <a:latin typeface="Aptos" pitchFamily="34" charset="0"/>
              </a:rPr>
              <a:t>Project name: EPIC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52545"/>
                </a:solidFill>
                <a:latin typeface="Aptos" pitchFamily="34" charset="0"/>
              </a:rPr>
              <a:t>Deployment candidate: EPIC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52545"/>
                </a:solidFill>
                <a:latin typeface="Aptos" pitchFamily="34" charset="0"/>
              </a:rPr>
              <a:t>Deployer host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52545"/>
                </a:solidFill>
                <a:latin typeface="Aptos" pitchFamily="34" charset="0"/>
              </a:rPr>
              <a:t>Deployer port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52545"/>
                </a:solidFill>
                <a:latin typeface="Aptos" pitchFamily="34" charset="0"/>
              </a:rPr>
              <a:t>Jenkins-managed username &amp; password</a:t>
            </a:r>
          </a:p>
        </p:txBody>
      </p:sp>
      <p:sp>
        <p:nvSpPr>
          <p:cNvPr id="1383" name="Box"/>
          <p:cNvSpPr/>
          <p:nvPr/>
        </p:nvSpPr>
        <p:spPr>
          <a:xfrm>
            <a:off x="9281160" y="4846320"/>
            <a:ext cx="7498080" cy="274320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384" name="TextBox"/>
          <p:cNvSpPr txBox="1"/>
          <p:nvPr/>
        </p:nvSpPr>
        <p:spPr>
          <a:xfrm>
            <a:off x="9555480" y="502920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5B5F73"/>
                </a:solidFill>
                <a:latin typeface="Aptos" pitchFamily="34" charset="0"/>
              </a:rPr>
              <a:t>OPTIONAL CLEANUP (DELETE_PROJECT_AFTER_ROLLBACK)</a:t>
            </a:r>
          </a:p>
        </p:txBody>
      </p:sp>
      <p:sp>
        <p:nvSpPr>
          <p:cNvPr id="1385" name="TextBox"/>
          <p:cNvSpPr txBox="1"/>
          <p:nvPr/>
        </p:nvSpPr>
        <p:spPr>
          <a:xfrm>
            <a:off x="9555480" y="5440680"/>
            <a:ext cx="6949440" cy="1965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1E8E5A"/>
                </a:solidFill>
                <a:latin typeface="Aptos" pitchFamily="34" charset="0"/>
              </a:rPr>
              <a:t>Enabled: </a:t>
            </a: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deletes the deployment candidate and the Deployer project.</a:t>
            </a:r>
          </a:p>
          <a:p>
            <a:pPr algn="l">
              <a:buNone/>
            </a:pPr>
            <a:r>
              <a:rPr lang="en-US" sz="1150" b="1" dirty="0">
                <a:solidFill>
                  <a:srgbClr val="C0392B"/>
                </a:solidFill>
                <a:latin typeface="Aptos" pitchFamily="34" charset="0"/>
              </a:rPr>
              <a:t>Disabled: </a:t>
            </a:r>
            <a:r>
              <a:rPr lang="en-US" sz="1150" dirty="0">
                <a:solidFill>
                  <a:srgbClr val="252545"/>
                </a:solidFill>
                <a:latin typeface="Aptos" pitchFamily="34" charset="0"/>
              </a:rPr>
              <a:t>keeps the project and candidate for investigation or reuse.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PIPELINE AUTOMATION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PART 3 • OUTCOMES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86" name="TextBox"/>
          <p:cNvSpPr txBox="1"/>
          <p:nvPr/>
        </p:nvSpPr>
        <p:spPr>
          <a:xfrm>
            <a:off x="1417320" y="2331720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5B5F73"/>
                </a:solidFill>
                <a:latin typeface="Aptos" pitchFamily="34" charset="0"/>
              </a:rPr>
              <a:t>Three ways the job can end.</a:t>
            </a:r>
          </a:p>
        </p:txBody>
      </p:sp>
      <p:sp>
        <p:nvSpPr>
          <p:cNvPr id="1387" name="Chip"/>
          <p:cNvSpPr/>
          <p:nvPr/>
        </p:nvSpPr>
        <p:spPr>
          <a:xfrm>
            <a:off x="1417320" y="3108960"/>
            <a:ext cx="4876800" cy="457200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</a:rPr>
              <a:t>SUCCESS</a:t>
            </a:r>
          </a:p>
        </p:txBody>
      </p:sp>
      <p:sp>
        <p:nvSpPr>
          <p:cNvPr id="1388" name="Box"/>
          <p:cNvSpPr/>
          <p:nvPr/>
        </p:nvSpPr>
        <p:spPr>
          <a:xfrm>
            <a:off x="1417320" y="3749040"/>
            <a:ext cx="4876800" cy="1694688"/>
          </a:xfrm>
          <a:prstGeom prst="roundRect">
            <a:avLst>
              <a:gd name="adj" fmla="val 18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Confirm successful restoration</a:t>
            </a:r>
          </a:p>
        </p:txBody>
      </p:sp>
      <p:sp>
        <p:nvSpPr>
          <p:cNvPr id="1389" name="Box"/>
          <p:cNvSpPr/>
          <p:nvPr/>
        </p:nvSpPr>
        <p:spPr>
          <a:xfrm>
            <a:off x="1417320" y="5580888"/>
            <a:ext cx="4876800" cy="1694688"/>
          </a:xfrm>
          <a:prstGeom prst="roundRect">
            <a:avLst>
              <a:gd name="adj" fmla="val 18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Optionally clean candidate &amp; project</a:t>
            </a:r>
          </a:p>
        </p:txBody>
      </p:sp>
      <p:sp>
        <p:nvSpPr>
          <p:cNvPr id="1390" name="Box"/>
          <p:cNvSpPr/>
          <p:nvPr/>
        </p:nvSpPr>
        <p:spPr>
          <a:xfrm>
            <a:off x="1417320" y="7412736"/>
            <a:ext cx="4876800" cy="1694688"/>
          </a:xfrm>
          <a:prstGeom prst="roundRect">
            <a:avLst>
              <a:gd name="adj" fmla="val 18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Send success email</a:t>
            </a:r>
          </a:p>
        </p:txBody>
      </p:sp>
      <p:sp>
        <p:nvSpPr>
          <p:cNvPr id="1391" name="Chip"/>
          <p:cNvSpPr/>
          <p:nvPr/>
        </p:nvSpPr>
        <p:spPr>
          <a:xfrm>
            <a:off x="6659880" y="3108960"/>
            <a:ext cx="48768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</a:rPr>
              <a:t>FAILURE</a:t>
            </a:r>
          </a:p>
        </p:txBody>
      </p:sp>
      <p:sp>
        <p:nvSpPr>
          <p:cNvPr id="1392" name="Box"/>
          <p:cNvSpPr/>
          <p:nvPr/>
        </p:nvSpPr>
        <p:spPr>
          <a:xfrm>
            <a:off x="6659880" y="3749040"/>
            <a:ext cx="4876800" cy="1241298"/>
          </a:xfrm>
          <a:prstGeom prst="roundRect">
            <a:avLst>
              <a:gd name="adj" fmla="val 18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Stop cleanup where appropriate</a:t>
            </a:r>
          </a:p>
        </p:txBody>
      </p:sp>
      <p:sp>
        <p:nvSpPr>
          <p:cNvPr id="1393" name="Box"/>
          <p:cNvSpPr/>
          <p:nvPr/>
        </p:nvSpPr>
        <p:spPr>
          <a:xfrm>
            <a:off x="6659880" y="5127498"/>
            <a:ext cx="4876800" cy="1241298"/>
          </a:xfrm>
          <a:prstGeom prst="roundRect">
            <a:avLst>
              <a:gd name="adj" fmla="val 18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Mark the Jenkins job failed</a:t>
            </a:r>
          </a:p>
        </p:txBody>
      </p:sp>
      <p:sp>
        <p:nvSpPr>
          <p:cNvPr id="1394" name="Box"/>
          <p:cNvSpPr/>
          <p:nvPr/>
        </p:nvSpPr>
        <p:spPr>
          <a:xfrm>
            <a:off x="6659880" y="6505956"/>
            <a:ext cx="4876800" cy="1241298"/>
          </a:xfrm>
          <a:prstGeom prst="roundRect">
            <a:avLst>
              <a:gd name="adj" fmla="val 18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Send failure email</a:t>
            </a:r>
          </a:p>
        </p:txBody>
      </p:sp>
      <p:sp>
        <p:nvSpPr>
          <p:cNvPr id="1395" name="Box"/>
          <p:cNvSpPr/>
          <p:nvPr/>
        </p:nvSpPr>
        <p:spPr>
          <a:xfrm>
            <a:off x="6659880" y="7884414"/>
            <a:ext cx="4876800" cy="1241298"/>
          </a:xfrm>
          <a:prstGeom prst="roundRect">
            <a:avLst>
              <a:gd name="adj" fmla="val 18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Direct support to the console log</a:t>
            </a:r>
          </a:p>
        </p:txBody>
      </p:sp>
      <p:sp>
        <p:nvSpPr>
          <p:cNvPr id="1396" name="Chip"/>
          <p:cNvSpPr/>
          <p:nvPr/>
        </p:nvSpPr>
        <p:spPr>
          <a:xfrm>
            <a:off x="11902440" y="3108960"/>
            <a:ext cx="4876800" cy="457200"/>
          </a:xfrm>
          <a:prstGeom prst="roundRect">
            <a:avLst>
              <a:gd name="adj" fmla="val 50000"/>
            </a:avLst>
          </a:prstGeom>
          <a:solidFill>
            <a:srgbClr val="5B5F73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</a:rPr>
              <a:t>ABORTED</a:t>
            </a:r>
          </a:p>
        </p:txBody>
      </p:sp>
      <p:sp>
        <p:nvSpPr>
          <p:cNvPr id="1397" name="Box"/>
          <p:cNvSpPr/>
          <p:nvPr/>
        </p:nvSpPr>
        <p:spPr>
          <a:xfrm>
            <a:off x="11902440" y="3749040"/>
            <a:ext cx="4876800" cy="1241298"/>
          </a:xfrm>
          <a:prstGeom prst="roundRect">
            <a:avLst>
              <a:gd name="adj" fmla="val 1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Not confirmed, or approval rejected</a:t>
            </a:r>
          </a:p>
        </p:txBody>
      </p:sp>
      <p:sp>
        <p:nvSpPr>
          <p:cNvPr id="1398" name="Box"/>
          <p:cNvSpPr/>
          <p:nvPr/>
        </p:nvSpPr>
        <p:spPr>
          <a:xfrm>
            <a:off x="11902440" y="5127498"/>
            <a:ext cx="4876800" cy="1241298"/>
          </a:xfrm>
          <a:prstGeom prst="roundRect">
            <a:avLst>
              <a:gd name="adj" fmla="val 1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Rollback is not executed</a:t>
            </a:r>
          </a:p>
        </p:txBody>
      </p:sp>
      <p:sp>
        <p:nvSpPr>
          <p:cNvPr id="1399" name="Box"/>
          <p:cNvSpPr/>
          <p:nvPr/>
        </p:nvSpPr>
        <p:spPr>
          <a:xfrm>
            <a:off x="11902440" y="6505956"/>
            <a:ext cx="4876800" cy="1241298"/>
          </a:xfrm>
          <a:prstGeom prst="roundRect">
            <a:avLst>
              <a:gd name="adj" fmla="val 1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Job marked aborted</a:t>
            </a:r>
          </a:p>
        </p:txBody>
      </p:sp>
      <p:sp>
        <p:nvSpPr>
          <p:cNvPr id="1400" name="Box"/>
          <p:cNvSpPr/>
          <p:nvPr/>
        </p:nvSpPr>
        <p:spPr>
          <a:xfrm>
            <a:off x="11902440" y="7884414"/>
            <a:ext cx="4876800" cy="1241298"/>
          </a:xfrm>
          <a:prstGeom prst="roundRect">
            <a:avLst>
              <a:gd name="adj" fmla="val 1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Approval history preserved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PIPELINE AUTOMATION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PART 3 • CREDENTIALS &amp; NOTIFICATIONS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01" name="TextBox"/>
          <p:cNvSpPr txBox="1"/>
          <p:nvPr/>
        </p:nvSpPr>
        <p:spPr>
          <a:xfrm>
            <a:off x="1417320" y="2331720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5B5F73"/>
                </a:solidFill>
                <a:latin typeface="Aptos" pitchFamily="34" charset="0"/>
              </a:rPr>
              <a:t>One credential, one detailed email — every rollback is fully auditable.</a:t>
            </a:r>
          </a:p>
        </p:txBody>
      </p:sp>
      <p:sp>
        <p:nvSpPr>
          <p:cNvPr id="1402" name="Box"/>
          <p:cNvSpPr/>
          <p:nvPr/>
        </p:nvSpPr>
        <p:spPr>
          <a:xfrm>
            <a:off x="1417320" y="3108960"/>
            <a:ext cx="5223053" cy="310896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403" name="TextBox"/>
          <p:cNvSpPr txBox="1"/>
          <p:nvPr/>
        </p:nvSpPr>
        <p:spPr>
          <a:xfrm>
            <a:off x="1691640" y="3337560"/>
            <a:ext cx="4674413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5B5F73"/>
                </a:solidFill>
                <a:latin typeface="Aptos" pitchFamily="34" charset="0"/>
              </a:rPr>
              <a:t>CREDENTIAL</a:t>
            </a:r>
          </a:p>
        </p:txBody>
      </p:sp>
      <p:sp>
        <p:nvSpPr>
          <p:cNvPr id="1404" name="TextBox"/>
          <p:cNvSpPr txBox="1"/>
          <p:nvPr/>
        </p:nvSpPr>
        <p:spPr>
          <a:xfrm>
            <a:off x="1691640" y="3703320"/>
            <a:ext cx="4674413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252545"/>
                </a:solidFill>
                <a:latin typeface="Courier New" pitchFamily="34" charset="0"/>
              </a:rPr>
              <a:t>IS_Target_Cred</a:t>
            </a:r>
          </a:p>
        </p:txBody>
      </p:sp>
      <p:sp>
        <p:nvSpPr>
          <p:cNvPr id="1405" name="TextBox"/>
          <p:cNvSpPr txBox="1"/>
          <p:nvPr/>
        </p:nvSpPr>
        <p:spPr>
          <a:xfrm>
            <a:off x="1691640" y="4160520"/>
            <a:ext cx="4674413" cy="1874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5B5F73"/>
                </a:solidFill>
                <a:latin typeface="Aptos" pitchFamily="34" charset="0"/>
              </a:rPr>
              <a:t>Authenticates Deployer rollback and cleanup operations. Never hard-coded or displayed in Jenkins logs.</a:t>
            </a:r>
          </a:p>
        </p:txBody>
      </p:sp>
      <p:sp>
        <p:nvSpPr>
          <p:cNvPr id="1406" name="Box"/>
          <p:cNvSpPr/>
          <p:nvPr/>
        </p:nvSpPr>
        <p:spPr>
          <a:xfrm>
            <a:off x="7006133" y="3108960"/>
            <a:ext cx="9773107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407" name="TextBox"/>
          <p:cNvSpPr txBox="1"/>
          <p:nvPr/>
        </p:nvSpPr>
        <p:spPr>
          <a:xfrm>
            <a:off x="7280453" y="3337560"/>
            <a:ext cx="9224467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5B5F73"/>
                </a:solidFill>
                <a:latin typeface="Aptos" pitchFamily="34" charset="0"/>
              </a:rPr>
              <a:t>ROLLBACK EMAIL CONTAINS</a:t>
            </a:r>
          </a:p>
        </p:txBody>
      </p:sp>
      <p:sp>
        <p:nvSpPr>
          <p:cNvPr id="1408" name="Chip"/>
          <p:cNvSpPr/>
          <p:nvPr/>
        </p:nvSpPr>
        <p:spPr>
          <a:xfrm>
            <a:off x="7280453" y="3749040"/>
            <a:ext cx="4497934" cy="365760"/>
          </a:xfrm>
          <a:prstGeom prst="roundRect">
            <a:avLst>
              <a:gd name="adj" fmla="val 50000"/>
            </a:avLst>
          </a:prstGeom>
          <a:solidFill>
            <a:srgbClr val="F5F5FB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52545"/>
                </a:solidFill>
                <a:latin typeface="Aptos" pitchFamily="34" charset="0"/>
              </a:rPr>
              <a:t>Application</a:t>
            </a:r>
          </a:p>
        </p:txBody>
      </p:sp>
      <p:sp>
        <p:nvSpPr>
          <p:cNvPr id="1409" name="Chip"/>
          <p:cNvSpPr/>
          <p:nvPr/>
        </p:nvSpPr>
        <p:spPr>
          <a:xfrm>
            <a:off x="12006986" y="3749040"/>
            <a:ext cx="4497934" cy="365760"/>
          </a:xfrm>
          <a:prstGeom prst="roundRect">
            <a:avLst>
              <a:gd name="adj" fmla="val 50000"/>
            </a:avLst>
          </a:prstGeom>
          <a:solidFill>
            <a:srgbClr val="F5F5FB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52545"/>
                </a:solidFill>
                <a:latin typeface="Aptos" pitchFamily="34" charset="0"/>
              </a:rPr>
              <a:t>Target Environment</a:t>
            </a:r>
          </a:p>
        </p:txBody>
      </p:sp>
      <p:sp>
        <p:nvSpPr>
          <p:cNvPr id="1410" name="Chip"/>
          <p:cNvSpPr/>
          <p:nvPr/>
        </p:nvSpPr>
        <p:spPr>
          <a:xfrm>
            <a:off x="7280453" y="4206240"/>
            <a:ext cx="4497934" cy="365760"/>
          </a:xfrm>
          <a:prstGeom prst="roundRect">
            <a:avLst>
              <a:gd name="adj" fmla="val 50000"/>
            </a:avLst>
          </a:prstGeom>
          <a:solidFill>
            <a:srgbClr val="F5F5FB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52545"/>
                </a:solidFill>
                <a:latin typeface="Aptos" pitchFamily="34" charset="0"/>
              </a:rPr>
              <a:t>EPIC and project name</a:t>
            </a:r>
          </a:p>
        </p:txBody>
      </p:sp>
      <p:sp>
        <p:nvSpPr>
          <p:cNvPr id="1411" name="Chip"/>
          <p:cNvSpPr/>
          <p:nvPr/>
        </p:nvSpPr>
        <p:spPr>
          <a:xfrm>
            <a:off x="12006986" y="4206240"/>
            <a:ext cx="4497934" cy="365760"/>
          </a:xfrm>
          <a:prstGeom prst="roundRect">
            <a:avLst>
              <a:gd name="adj" fmla="val 50000"/>
            </a:avLst>
          </a:prstGeom>
          <a:solidFill>
            <a:srgbClr val="F5F5FB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52545"/>
                </a:solidFill>
                <a:latin typeface="Aptos" pitchFamily="34" charset="0"/>
              </a:rPr>
              <a:t>Deployment candidate</a:t>
            </a:r>
          </a:p>
        </p:txBody>
      </p:sp>
      <p:sp>
        <p:nvSpPr>
          <p:cNvPr id="1412" name="Chip"/>
          <p:cNvSpPr/>
          <p:nvPr/>
        </p:nvSpPr>
        <p:spPr>
          <a:xfrm>
            <a:off x="7280453" y="4663440"/>
            <a:ext cx="4497934" cy="365760"/>
          </a:xfrm>
          <a:prstGeom prst="roundRect">
            <a:avLst>
              <a:gd name="adj" fmla="val 50000"/>
            </a:avLst>
          </a:prstGeom>
          <a:solidFill>
            <a:srgbClr val="F5F5FB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52545"/>
                </a:solidFill>
                <a:latin typeface="Aptos" pitchFamily="34" charset="0"/>
              </a:rPr>
              <a:t>Jenkins agent</a:t>
            </a:r>
          </a:p>
        </p:txBody>
      </p:sp>
      <p:sp>
        <p:nvSpPr>
          <p:cNvPr id="1413" name="Chip"/>
          <p:cNvSpPr/>
          <p:nvPr/>
        </p:nvSpPr>
        <p:spPr>
          <a:xfrm>
            <a:off x="12006986" y="4663440"/>
            <a:ext cx="4497934" cy="365760"/>
          </a:xfrm>
          <a:prstGeom prst="roundRect">
            <a:avLst>
              <a:gd name="adj" fmla="val 50000"/>
            </a:avLst>
          </a:prstGeom>
          <a:solidFill>
            <a:srgbClr val="F5F5FB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52545"/>
                </a:solidFill>
                <a:latin typeface="Aptos" pitchFamily="34" charset="0"/>
              </a:rPr>
              <a:t>Cleanup choice</a:t>
            </a:r>
          </a:p>
        </p:txBody>
      </p:sp>
      <p:sp>
        <p:nvSpPr>
          <p:cNvPr id="1414" name="Chip"/>
          <p:cNvSpPr/>
          <p:nvPr/>
        </p:nvSpPr>
        <p:spPr>
          <a:xfrm>
            <a:off x="7280453" y="5120640"/>
            <a:ext cx="4497934" cy="365760"/>
          </a:xfrm>
          <a:prstGeom prst="roundRect">
            <a:avLst>
              <a:gd name="adj" fmla="val 50000"/>
            </a:avLst>
          </a:prstGeom>
          <a:solidFill>
            <a:srgbClr val="F5F5FB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52545"/>
                </a:solidFill>
                <a:latin typeface="Aptos" pitchFamily="34" charset="0"/>
              </a:rPr>
              <a:t>Approval comment</a:t>
            </a:r>
          </a:p>
        </p:txBody>
      </p:sp>
      <p:sp>
        <p:nvSpPr>
          <p:cNvPr id="1415" name="Chip"/>
          <p:cNvSpPr/>
          <p:nvPr/>
        </p:nvSpPr>
        <p:spPr>
          <a:xfrm>
            <a:off x="12006986" y="5120640"/>
            <a:ext cx="4497934" cy="365760"/>
          </a:xfrm>
          <a:prstGeom prst="roundRect">
            <a:avLst>
              <a:gd name="adj" fmla="val 50000"/>
            </a:avLst>
          </a:prstGeom>
          <a:solidFill>
            <a:srgbClr val="F5F5FB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52545"/>
                </a:solidFill>
                <a:latin typeface="Aptos" pitchFamily="34" charset="0"/>
              </a:rPr>
              <a:t>Rollback status</a:t>
            </a:r>
          </a:p>
        </p:txBody>
      </p:sp>
      <p:sp>
        <p:nvSpPr>
          <p:cNvPr id="1416" name="Chip"/>
          <p:cNvSpPr/>
          <p:nvPr/>
        </p:nvSpPr>
        <p:spPr>
          <a:xfrm>
            <a:off x="7280453" y="5577840"/>
            <a:ext cx="4497934" cy="365760"/>
          </a:xfrm>
          <a:prstGeom prst="roundRect">
            <a:avLst>
              <a:gd name="adj" fmla="val 50000"/>
            </a:avLst>
          </a:prstGeom>
          <a:solidFill>
            <a:srgbClr val="F5F5FB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52545"/>
                </a:solidFill>
                <a:latin typeface="Aptos" pitchFamily="34" charset="0"/>
              </a:rPr>
              <a:t>Date and time</a:t>
            </a:r>
          </a:p>
        </p:txBody>
      </p:sp>
      <p:sp>
        <p:nvSpPr>
          <p:cNvPr id="1417" name="Chip"/>
          <p:cNvSpPr/>
          <p:nvPr/>
        </p:nvSpPr>
        <p:spPr>
          <a:xfrm>
            <a:off x="12006986" y="5577840"/>
            <a:ext cx="4497934" cy="365760"/>
          </a:xfrm>
          <a:prstGeom prst="roundRect">
            <a:avLst>
              <a:gd name="adj" fmla="val 50000"/>
            </a:avLst>
          </a:prstGeom>
          <a:solidFill>
            <a:srgbClr val="F5F5FB"/>
          </a:solidFill>
          <a:ln w="9525">
            <a:solidFill>
              <a:srgbClr val="E0E2E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52545"/>
                </a:solidFill>
                <a:latin typeface="Aptos" pitchFamily="34" charset="0"/>
              </a:rPr>
              <a:t>Jenkins build link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PIPELINE AUTOMATION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HOW THE THREE JOBS WORK TOGETHER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18" name="TextBox"/>
          <p:cNvSpPr txBox="1"/>
          <p:nvPr/>
        </p:nvSpPr>
        <p:spPr>
          <a:xfrm>
            <a:off x="1417320" y="2331720"/>
            <a:ext cx="15361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50" dirty="0">
                <a:solidFill>
                  <a:srgbClr val="5B5F73"/>
                </a:solidFill>
                <a:latin typeface="Aptos" pitchFamily="34" charset="0"/>
              </a:rPr>
              <a:t>Three jobs, one continuous lifecycle — from a DEV change to a safe, reversible production deployment.</a:t>
            </a:r>
          </a:p>
        </p:txBody>
      </p:sp>
      <p:sp>
        <p:nvSpPr>
          <p:cNvPr id="1419" name="Box"/>
          <p:cNvSpPr/>
          <p:nvPr/>
        </p:nvSpPr>
        <p:spPr>
          <a:xfrm>
            <a:off x="1417320" y="3246120"/>
            <a:ext cx="3566160" cy="1737360"/>
          </a:xfrm>
          <a:prstGeom prst="roundRect">
            <a:avLst>
              <a:gd name="adj" fmla="val 12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</a:rPr>
              <a:t>DEV Synchronization</a:t>
            </a:r>
          </a:p>
          <a:p>
            <a:pPr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E4E1FB"/>
                </a:solidFill>
                <a:latin typeface="Aptos" pitchFamily="34" charset="0"/>
              </a:rPr>
              <a:t>DEV IS → Bitbucket DEV</a:t>
            </a:r>
          </a:p>
        </p:txBody>
      </p:sp>
      <p:sp>
        <p:nvSpPr>
          <p:cNvPr id="1420" name="Box"/>
          <p:cNvSpPr/>
          <p:nvPr/>
        </p:nvSpPr>
        <p:spPr>
          <a:xfrm>
            <a:off x="5349240" y="3246120"/>
            <a:ext cx="3566160" cy="1737360"/>
          </a:xfrm>
          <a:prstGeom prst="roundRect">
            <a:avLst>
              <a:gd name="adj" fmla="val 12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Branch Promotion</a:t>
            </a:r>
          </a:p>
          <a:p>
            <a:pPr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252545"/>
                </a:solidFill>
                <a:latin typeface="Aptos" pitchFamily="34" charset="0"/>
              </a:rPr>
              <a:t>DEV → QC / UAT / PROD</a:t>
            </a:r>
          </a:p>
        </p:txBody>
      </p:sp>
      <p:cxnSp>
        <p:nvCxnSpPr>
          <p:cNvPr id="1421" name="Connector"/>
          <p:cNvCxnSpPr/>
          <p:nvPr/>
        </p:nvCxnSpPr>
        <p:spPr>
          <a:xfrm>
            <a:off x="5010912" y="4114800"/>
            <a:ext cx="310896" cy="457"/>
          </a:xfrm>
          <a:prstGeom prst="line">
            <a:avLst/>
          </a:prstGeom>
          <a:ln w="22225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2" name="Box"/>
          <p:cNvSpPr/>
          <p:nvPr/>
        </p:nvSpPr>
        <p:spPr>
          <a:xfrm>
            <a:off x="9281160" y="3246120"/>
            <a:ext cx="3566160" cy="1737360"/>
          </a:xfrm>
          <a:prstGeom prst="roundRect">
            <a:avLst>
              <a:gd name="adj" fmla="val 12000"/>
            </a:avLst>
          </a:prstGeom>
          <a:solidFill>
            <a:srgbClr val="6B4FB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</a:rPr>
              <a:t>Target Deployment</a:t>
            </a:r>
          </a:p>
          <a:p>
            <a:pPr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E4E1FB"/>
                </a:solidFill>
                <a:latin typeface="Aptos" pitchFamily="34" charset="0"/>
              </a:rPr>
              <a:t>Creates EPIC, project, candidate, snapshot</a:t>
            </a:r>
          </a:p>
        </p:txBody>
      </p:sp>
      <p:cxnSp>
        <p:nvCxnSpPr>
          <p:cNvPr id="1423" name="Connector"/>
          <p:cNvCxnSpPr/>
          <p:nvPr/>
        </p:nvCxnSpPr>
        <p:spPr>
          <a:xfrm>
            <a:off x="8942832" y="4114800"/>
            <a:ext cx="310896" cy="457"/>
          </a:xfrm>
          <a:prstGeom prst="line">
            <a:avLst/>
          </a:prstGeom>
          <a:ln w="22225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4" name="Box"/>
          <p:cNvSpPr/>
          <p:nvPr/>
        </p:nvSpPr>
        <p:spPr>
          <a:xfrm>
            <a:off x="13213080" y="3246120"/>
            <a:ext cx="3566160" cy="1737360"/>
          </a:xfrm>
          <a:prstGeom prst="roundRect">
            <a:avLst>
              <a:gd name="adj" fmla="val 12000"/>
            </a:avLst>
          </a:prstGeom>
          <a:solidFill>
            <a:srgbClr val="A02B6E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</a:rPr>
              <a:t>Target Environment</a:t>
            </a:r>
          </a:p>
          <a:p>
            <a:pPr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F5D6E8"/>
                </a:solidFill>
                <a:latin typeface="Aptos" pitchFamily="34" charset="0"/>
              </a:rPr>
              <a:t>Packages live</a:t>
            </a:r>
          </a:p>
        </p:txBody>
      </p:sp>
      <p:cxnSp>
        <p:nvCxnSpPr>
          <p:cNvPr id="1425" name="Connector"/>
          <p:cNvCxnSpPr/>
          <p:nvPr/>
        </p:nvCxnSpPr>
        <p:spPr>
          <a:xfrm>
            <a:off x="12874752" y="4114800"/>
            <a:ext cx="310896" cy="457"/>
          </a:xfrm>
          <a:prstGeom prst="line">
            <a:avLst/>
          </a:prstGeom>
          <a:ln w="22225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6" name="Box"/>
          <p:cNvSpPr/>
          <p:nvPr/>
        </p:nvSpPr>
        <p:spPr>
          <a:xfrm>
            <a:off x="12618720" y="5486400"/>
            <a:ext cx="4754880" cy="777240"/>
          </a:xfrm>
          <a:prstGeom prst="roundRect">
            <a:avLst>
              <a:gd name="adj" fmla="val 16000"/>
            </a:avLst>
          </a:prstGeom>
          <a:solidFill>
            <a:srgbClr val="FFF8E8"/>
          </a:solidFill>
          <a:ln w="9525">
            <a:solidFill>
              <a:srgbClr val="F0DFAF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7A5B12"/>
                </a:solidFill>
                <a:latin typeface="Aptos" pitchFamily="34" charset="0"/>
              </a:rPr>
              <a:t>Manual Rollback — restores snapshot on demand, same EPIC</a:t>
            </a:r>
          </a:p>
        </p:txBody>
      </p:sp>
      <p:cxnSp>
        <p:nvCxnSpPr>
          <p:cNvPr id="1427" name="Connector"/>
          <p:cNvCxnSpPr/>
          <p:nvPr/>
        </p:nvCxnSpPr>
        <p:spPr>
          <a:xfrm>
            <a:off x="14996160" y="4983480"/>
            <a:ext cx="457" cy="502920"/>
          </a:xfrm>
          <a:prstGeom prst="line">
            <a:avLst/>
          </a:prstGeom>
          <a:ln w="15875">
            <a:solidFill>
              <a:srgbClr val="D8A932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8" name="Connector"/>
          <p:cNvCxnSpPr/>
          <p:nvPr/>
        </p:nvCxnSpPr>
        <p:spPr>
          <a:xfrm flipH="1">
            <a:off x="11064240" y="5870448"/>
            <a:ext cx="1554480" cy="457"/>
          </a:xfrm>
          <a:prstGeom prst="line">
            <a:avLst/>
          </a:prstGeom>
          <a:ln w="15875">
            <a:solidFill>
              <a:srgbClr val="D8A932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9" name="Connector"/>
          <p:cNvCxnSpPr/>
          <p:nvPr/>
        </p:nvCxnSpPr>
        <p:spPr>
          <a:xfrm flipV="1">
            <a:off x="11064240" y="4983480"/>
            <a:ext cx="457" cy="886968"/>
          </a:xfrm>
          <a:prstGeom prst="line">
            <a:avLst/>
          </a:prstGeom>
          <a:ln w="15875">
            <a:solidFill>
              <a:srgbClr val="D8A932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0" name="TextBox"/>
          <p:cNvSpPr txBox="1"/>
          <p:nvPr/>
        </p:nvSpPr>
        <p:spPr>
          <a:xfrm>
            <a:off x="1417320" y="6675120"/>
            <a:ext cx="15361920" cy="2514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en-US" sz="1250" dirty="0">
                <a:solidFill>
                  <a:srgbClr val="5B5F73"/>
                </a:solidFill>
                <a:latin typeface="Aptos" pitchFamily="34" charset="0"/>
              </a:rPr>
              <a:t>Automatic rollback protects every deployment in real time; manual rollback gives operations a controlled, approved way to reverse a deployment later.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Internal</attrValue>
  <customPropName>Classification</customPropName>
  <timestamp>02/08/47 04:32:15 م</timestamp>
  <userName>TAWN\VDR000322</userName>
  <computerName>LTHQISD-A2X1143.TAWN.COM</computerName>
  <guid>{487a4754-da0f-4ebb-9a6d-ab42203ba5de}</guid>
  <hd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/>
    </r>
    <r>
      <fontName>arial</fontName>
      <fontColor>6A1B9A</fontColor>
      <fontSize>14</fontSize>
      <b/>
      <text xml:space="preserve">Internal</text>
    </r>
  </hdr>
</GTBClassification>
</file>

<file path=customXml/itemProps1.xml><?xml version="1.0" encoding="utf-8"?>
<ds:datastoreItem xmlns:ds="http://schemas.openxmlformats.org/officeDocument/2006/customXml" ds:itemID="{F31BFC59-43D1-4653-9F61-0840CF994A9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3672</TotalTime>
  <Words>269</Words>
  <Application>Microsoft Office PowerPoint</Application>
  <PresentationFormat>Custom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 Display</vt:lpstr>
      <vt:lpstr>Arial</vt:lpstr>
      <vt:lpstr>-apple-system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T&amp;D QC Weekly Report 21 Jan</dc:title>
  <dc:creator>Yara Aldughaim</dc:creator>
  <cp:keywords>ClassificationData:&lt;Classification:Internal&gt;</cp:keywords>
  <cp:lastModifiedBy>Mohamed Elarief</cp:lastModifiedBy>
  <cp:revision>66</cp:revision>
  <dcterms:created xsi:type="dcterms:W3CDTF">2026-05-12T05:42:29Z</dcterms:created>
  <dcterms:modified xsi:type="dcterms:W3CDTF">2026-06-10T08:33:58Z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Internal</vt:lpwstr>
  </property>
  <property fmtid="{D5CDD505-2E9C-101B-9397-08002B2CF9AE}" pid="3" name="ClassifiedBy">
    <vt:lpwstr>TAWN\VDR000322</vt:lpwstr>
  </property>
  <property fmtid="{D5CDD505-2E9C-101B-9397-08002B2CF9AE}" pid="4" name="ClassificationHost">
    <vt:lpwstr>LTHQISD-A2X1143.TAWN.COM</vt:lpwstr>
  </property>
  <property fmtid="{D5CDD505-2E9C-101B-9397-08002B2CF9AE}" pid="5" name="ClassificationDate">
    <vt:lpwstr>02/08/47 04:32:15 م</vt:lpwstr>
  </property>
  <property fmtid="{D5CDD505-2E9C-101B-9397-08002B2CF9AE}" pid="6" name="ClassificationGUID">
    <vt:lpwstr>{487a4754-da0f-4ebb-9a6d-ab42203ba5de}</vt:lpwstr>
  </property>
  <property fmtid="{D5CDD505-2E9C-101B-9397-08002B2CF9AE}" pid="7" name="KSOProductBuildVer">
    <vt:lpwstr>1033-12.1.25880.25880</vt:lpwstr>
  </property>
  <property fmtid="{D5CDD505-2E9C-101B-9397-08002B2CF9AE}" pid="8" name="ICV">
    <vt:lpwstr>7C7C2032D2F5AB1308BC026ACD429EA4_42</vt:lpwstr>
  </property>
</Properties>
</file>