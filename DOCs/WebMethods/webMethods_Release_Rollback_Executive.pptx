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2"/>
  </p:sldMasterIdLst>
  <p:notesMasterIdLst>
    <p:notesMasterId r:id="rId8"/>
  </p:notesMasterIdLst>
  <p:sldIdLst>
    <p:sldId id="256" r:id="rId3"/>
    <p:sldId id="272" r:id="rId6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9D64"/>
    <a:srgbClr val="C74C4C"/>
    <a:srgbClr val="E6961C"/>
    <a:srgbClr val="325DCC"/>
    <a:srgbClr val="D6D1ED"/>
    <a:srgbClr val="8F73F2"/>
    <a:srgbClr val="6B47F5"/>
    <a:srgbClr val="8780F2"/>
    <a:srgbClr val="FFC7A0"/>
    <a:srgbClr val="FF7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6" autoAdjust="0"/>
    <p:restoredTop sz="94207" autoAdjust="0"/>
  </p:normalViewPr>
  <p:slideViewPr>
    <p:cSldViewPr showGuides="1">
      <p:cViewPr varScale="1">
        <p:scale>
          <a:sx n="71" d="100"/>
          <a:sy n="71" d="100"/>
        </p:scale>
        <p:origin x="666" y="72"/>
      </p:cViewPr>
      <p:guideLst>
        <p:guide orient="horz" pos="2201"/>
        <p:guide pos="2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  <Relationship Id="rId13" Type="http://schemas.openxmlformats.org/officeDocument/2006/relationships/slide" Target="slides/slide5.xml"/>
  <Relationship Id="rId14" Type="http://schemas.openxmlformats.org/officeDocument/2006/relationships/slide" Target="slides/slide6.xml"/>
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CB5D5-E095-42EC-B8C1-D73AD4D7C4A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21DA3-7E7F-4364-BD8C-E18967705E5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7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3289685"/>
            <a:ext cx="964662" cy="964662"/>
          </a:xfrm>
          <a:custGeom>
            <a:avLst/>
            <a:gdLst/>
            <a:ahLst/>
            <a:cxnLst/>
            <a:rect l="l" t="t" r="r" b="b"/>
            <a:pathLst>
              <a:path w="964662" h="964662">
                <a:moveTo>
                  <a:pt x="0" y="0"/>
                </a:moveTo>
                <a:lnTo>
                  <a:pt x="964662" y="0"/>
                </a:lnTo>
                <a:lnTo>
                  <a:pt x="964662" y="964662"/>
                </a:lnTo>
                <a:lnTo>
                  <a:pt x="0" y="964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5" name="Freeform 5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44000" y="4200000"/>
            <a:ext cx="12000000" cy="240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00"/>
              </a:lnSpc>
            </a:pPr>
            <a:r>
              <a:rPr lang="en-US" sz="320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Automated webMethods Release and Rollback Process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44000" y="6850000"/>
            <a:ext cx="12000000" cy="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890" b="1" dirty="0">
                <a:solidFill>
                  <a:srgbClr val="FFFFFF">
                    <a:alpha val="68627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QC, UAT, and Production • Safe, controlled, traceable, and recoverable releases</a:t>
            </a:r>
          </a:p>
        </p:txBody>
      </p:sp>
      <p:sp>
        <p:nvSpPr>
          <p:cNvPr id="8" name="GTBClassificationH1190887526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RELEASE &amp; ROLLBACK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WHY THE PROCESS WAS INTRODUCED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01" name="TextBox"/>
          <p:cNvSpPr txBox="1"/>
          <p:nvPr/>
        </p:nvSpPr>
        <p:spPr>
          <a:xfrm>
            <a:off x="1417320" y="2331720"/>
            <a:ext cx="1536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dirty="0">
                <a:solidFill>
                  <a:srgbClr val="252545"/>
                </a:solidFill>
                <a:latin typeface="Aptos" pitchFamily="34" charset="0"/>
              </a:rPr>
              <a:t>The business challenges this process was built to solve.</a:t>
            </a:r>
          </a:p>
        </p:txBody>
      </p:sp>
      <p:sp>
        <p:nvSpPr>
          <p:cNvPr id="1002" name="Box"/>
          <p:cNvSpPr/>
          <p:nvPr/>
        </p:nvSpPr>
        <p:spPr>
          <a:xfrm>
            <a:off x="1417320" y="3063240"/>
            <a:ext cx="7498080" cy="185928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3" name="TextBox"/>
          <p:cNvSpPr txBox="1"/>
          <p:nvPr/>
        </p:nvSpPr>
        <p:spPr>
          <a:xfrm>
            <a:off x="1737360" y="3063240"/>
            <a:ext cx="6858000" cy="1859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2E24"/>
                </a:solidFill>
                <a:latin typeface="Aptos" pitchFamily="34" charset="0"/>
              </a:rPr>
              <a:t>Manual deployments increase operational risk</a:t>
            </a:r>
          </a:p>
        </p:txBody>
      </p:sp>
      <p:sp>
        <p:nvSpPr>
          <p:cNvPr id="1004" name="Box"/>
          <p:cNvSpPr/>
          <p:nvPr/>
        </p:nvSpPr>
        <p:spPr>
          <a:xfrm>
            <a:off x="9281160" y="3063240"/>
            <a:ext cx="7498080" cy="185928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5" name="TextBox"/>
          <p:cNvSpPr txBox="1"/>
          <p:nvPr/>
        </p:nvSpPr>
        <p:spPr>
          <a:xfrm>
            <a:off x="9601200" y="3063240"/>
            <a:ext cx="6858000" cy="1859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2E24"/>
                </a:solidFill>
                <a:latin typeface="Aptos" pitchFamily="34" charset="0"/>
              </a:rPr>
              <a:t>Different environments must remain controlled</a:t>
            </a:r>
          </a:p>
        </p:txBody>
      </p:sp>
      <p:sp>
        <p:nvSpPr>
          <p:cNvPr id="1006" name="Box"/>
          <p:cNvSpPr/>
          <p:nvPr/>
        </p:nvSpPr>
        <p:spPr>
          <a:xfrm>
            <a:off x="1417320" y="5196840"/>
            <a:ext cx="7498080" cy="185928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7" name="TextBox"/>
          <p:cNvSpPr txBox="1"/>
          <p:nvPr/>
        </p:nvSpPr>
        <p:spPr>
          <a:xfrm>
            <a:off x="1737360" y="5196840"/>
            <a:ext cx="6858000" cy="1859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2E24"/>
                </a:solidFill>
                <a:latin typeface="Aptos" pitchFamily="34" charset="0"/>
              </a:rPr>
              <a:t>Production changes require traceability</a:t>
            </a:r>
          </a:p>
        </p:txBody>
      </p:sp>
      <p:sp>
        <p:nvSpPr>
          <p:cNvPr id="1008" name="Box"/>
          <p:cNvSpPr/>
          <p:nvPr/>
        </p:nvSpPr>
        <p:spPr>
          <a:xfrm>
            <a:off x="9281160" y="5196840"/>
            <a:ext cx="7498080" cy="185928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9" name="TextBox"/>
          <p:cNvSpPr txBox="1"/>
          <p:nvPr/>
        </p:nvSpPr>
        <p:spPr>
          <a:xfrm>
            <a:off x="9601200" y="5196840"/>
            <a:ext cx="6858000" cy="1859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2E24"/>
                </a:solidFill>
                <a:latin typeface="Aptos" pitchFamily="34" charset="0"/>
              </a:rPr>
              <a:t>Failed releases need a reliable recovery path</a:t>
            </a:r>
          </a:p>
        </p:txBody>
      </p:sp>
      <p:sp>
        <p:nvSpPr>
          <p:cNvPr id="1010" name="Box"/>
          <p:cNvSpPr/>
          <p:nvPr/>
        </p:nvSpPr>
        <p:spPr>
          <a:xfrm>
            <a:off x="1417320" y="7330440"/>
            <a:ext cx="7498080" cy="185928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11" name="TextBox"/>
          <p:cNvSpPr txBox="1"/>
          <p:nvPr/>
        </p:nvSpPr>
        <p:spPr>
          <a:xfrm>
            <a:off x="1737360" y="7330440"/>
            <a:ext cx="6858000" cy="1859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2E24"/>
                </a:solidFill>
                <a:latin typeface="Aptos" pitchFamily="34" charset="0"/>
              </a:rPr>
              <a:t>Application source must be stored and version controlled</a:t>
            </a:r>
          </a:p>
        </p:txBody>
      </p:sp>
      <p:sp>
        <p:nvSpPr>
          <p:cNvPr id="1012" name="Box"/>
          <p:cNvSpPr/>
          <p:nvPr/>
        </p:nvSpPr>
        <p:spPr>
          <a:xfrm>
            <a:off x="9281160" y="7330440"/>
            <a:ext cx="7498080" cy="185928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13" name="TextBox"/>
          <p:cNvSpPr txBox="1"/>
          <p:nvPr/>
        </p:nvSpPr>
        <p:spPr>
          <a:xfrm>
            <a:off x="9601200" y="7330440"/>
            <a:ext cx="6858000" cy="1859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8A2E24"/>
                </a:solidFill>
                <a:latin typeface="Aptos" pitchFamily="34" charset="0"/>
              </a:rPr>
              <a:t>Release activities require auditable approvals and reports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RELEASE &amp; ROLLBACK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END-TO-END RELEASE JOURNEY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14" name="TextBox"/>
          <p:cNvSpPr txBox="1"/>
          <p:nvPr/>
        </p:nvSpPr>
        <p:spPr>
          <a:xfrm>
            <a:off x="1417320" y="2331720"/>
            <a:ext cx="1536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00" dirty="0">
                <a:solidFill>
                  <a:srgbClr val="252545"/>
                </a:solidFill>
                <a:latin typeface="Aptos" pitchFamily="34" charset="0"/>
              </a:rPr>
              <a:t>One journey, four stages — every release follows the same path.</a:t>
            </a:r>
          </a:p>
        </p:txBody>
      </p:sp>
      <p:sp>
        <p:nvSpPr>
          <p:cNvPr id="1015" name="Box"/>
          <p:cNvSpPr/>
          <p:nvPr/>
        </p:nvSpPr>
        <p:spPr>
          <a:xfrm>
            <a:off x="1417320" y="3337560"/>
            <a:ext cx="3429000" cy="173736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252545"/>
                </a:solidFill>
                <a:latin typeface="Aptos" pitchFamily="34" charset="0"/>
              </a:rPr>
              <a:t>DEV Source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252545"/>
                </a:solidFill>
                <a:latin typeface="Aptos" pitchFamily="34" charset="0"/>
              </a:rPr>
              <a:t>Synchronization</a:t>
            </a:r>
          </a:p>
        </p:txBody>
      </p:sp>
      <p:sp>
        <p:nvSpPr>
          <p:cNvPr id="1016" name="Box"/>
          <p:cNvSpPr/>
          <p:nvPr/>
        </p:nvSpPr>
        <p:spPr>
          <a:xfrm>
            <a:off x="5394960" y="3337560"/>
            <a:ext cx="3429000" cy="1737360"/>
          </a:xfrm>
          <a:prstGeom prst="roundRect">
            <a:avLst>
              <a:gd name="adj" fmla="val 16000"/>
            </a:avLst>
          </a:prstGeom>
          <a:solidFill>
            <a:srgbClr val="EFEAFB"/>
          </a:solidFill>
          <a:ln w="9525">
            <a:solidFill>
              <a:srgbClr val="D6C6F5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6B4FB0"/>
                </a:solidFill>
                <a:latin typeface="Aptos" pitchFamily="34" charset="0"/>
              </a:rPr>
              <a:t>Quality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6B4FB0"/>
                </a:solidFill>
                <a:latin typeface="Aptos" pitchFamily="34" charset="0"/>
              </a:rPr>
              <a:t>Control</a:t>
            </a:r>
          </a:p>
        </p:txBody>
      </p:sp>
      <p:cxnSp>
        <p:nvCxnSpPr>
          <p:cNvPr id="1017" name="Connector"/>
          <p:cNvCxnSpPr/>
          <p:nvPr/>
        </p:nvCxnSpPr>
        <p:spPr>
          <a:xfrm>
            <a:off x="4892040" y="4206240"/>
            <a:ext cx="457200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8" name="Box"/>
          <p:cNvSpPr/>
          <p:nvPr/>
        </p:nvSpPr>
        <p:spPr>
          <a:xfrm>
            <a:off x="9372600" y="3337560"/>
            <a:ext cx="3429000" cy="1737360"/>
          </a:xfrm>
          <a:prstGeom prst="roundRect">
            <a:avLst>
              <a:gd name="adj" fmla="val 16000"/>
            </a:avLst>
          </a:prstGeom>
          <a:solidFill>
            <a:srgbClr val="E9F2FB"/>
          </a:solidFill>
          <a:ln w="9525">
            <a:solidFill>
              <a:srgbClr val="C3DEF5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1D6FA5"/>
                </a:solidFill>
                <a:latin typeface="Aptos" pitchFamily="34" charset="0"/>
              </a:rPr>
              <a:t>User Acceptance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1D6FA5"/>
                </a:solidFill>
                <a:latin typeface="Aptos" pitchFamily="34" charset="0"/>
              </a:rPr>
              <a:t>Testing</a:t>
            </a:r>
          </a:p>
        </p:txBody>
      </p:sp>
      <p:cxnSp>
        <p:nvCxnSpPr>
          <p:cNvPr id="1019" name="Connector"/>
          <p:cNvCxnSpPr/>
          <p:nvPr/>
        </p:nvCxnSpPr>
        <p:spPr>
          <a:xfrm>
            <a:off x="8869680" y="4206240"/>
            <a:ext cx="457200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0" name="Box"/>
          <p:cNvSpPr/>
          <p:nvPr/>
        </p:nvSpPr>
        <p:spPr>
          <a:xfrm>
            <a:off x="13350240" y="3337560"/>
            <a:ext cx="3429000" cy="1737360"/>
          </a:xfrm>
          <a:prstGeom prst="roundRect">
            <a:avLst>
              <a:gd name="adj" fmla="val 16000"/>
            </a:avLst>
          </a:prstGeom>
          <a:solidFill>
            <a:srgbClr val="FBEAF3"/>
          </a:solidFill>
          <a:ln w="9525">
            <a:solidFill>
              <a:srgbClr val="F0C0D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A02B6E"/>
                </a:solidFill>
                <a:latin typeface="Aptos" pitchFamily="34" charset="0"/>
              </a:rPr>
              <a:t>Production</a:t>
            </a:r>
          </a:p>
        </p:txBody>
      </p:sp>
      <p:cxnSp>
        <p:nvCxnSpPr>
          <p:cNvPr id="1021" name="Connector"/>
          <p:cNvCxnSpPr/>
          <p:nvPr/>
        </p:nvCxnSpPr>
        <p:spPr>
          <a:xfrm>
            <a:off x="12847320" y="4206240"/>
            <a:ext cx="457200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2" name="Box"/>
          <p:cNvSpPr/>
          <p:nvPr/>
        </p:nvSpPr>
        <p:spPr>
          <a:xfrm>
            <a:off x="1417320" y="5623560"/>
            <a:ext cx="15361920" cy="77724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DEV changes are synchronized into source control.</a:t>
            </a:r>
          </a:p>
        </p:txBody>
      </p:sp>
      <p:sp>
        <p:nvSpPr>
          <p:cNvPr id="1023" name="Box"/>
          <p:cNvSpPr/>
          <p:nvPr/>
        </p:nvSpPr>
        <p:spPr>
          <a:xfrm>
            <a:off x="1417320" y="6537960"/>
            <a:ext cx="15361920" cy="77724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The same approved package selection moves through QC, UAT, and PROD.</a:t>
            </a:r>
          </a:p>
        </p:txBody>
      </p:sp>
      <p:sp>
        <p:nvSpPr>
          <p:cNvPr id="1024" name="Box"/>
          <p:cNvSpPr/>
          <p:nvPr/>
        </p:nvSpPr>
        <p:spPr>
          <a:xfrm>
            <a:off x="1417320" y="7452360"/>
            <a:ext cx="15361920" cy="77724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Each environment has an independent deployment and recovery point.</a:t>
            </a:r>
          </a:p>
        </p:txBody>
      </p:sp>
      <p:sp>
        <p:nvSpPr>
          <p:cNvPr id="1025" name="Box"/>
          <p:cNvSpPr/>
          <p:nvPr/>
        </p:nvSpPr>
        <p:spPr>
          <a:xfrm>
            <a:off x="1417320" y="8366760"/>
            <a:ext cx="15361920" cy="777240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Production uses the approved clustered environment.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RELEASE &amp; ROLLBACK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CONTROLLED DEPLOYMENT PROCESS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26" name="Box"/>
          <p:cNvSpPr/>
          <p:nvPr/>
        </p:nvSpPr>
        <p:spPr>
          <a:xfrm>
            <a:off x="1417320" y="2331720"/>
            <a:ext cx="15361920" cy="749808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27" name="Badge"/>
          <p:cNvSpPr/>
          <p:nvPr/>
        </p:nvSpPr>
        <p:spPr>
          <a:xfrm>
            <a:off x="1627632" y="2532888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028" name="TextBox"/>
          <p:cNvSpPr txBox="1"/>
          <p:nvPr/>
        </p:nvSpPr>
        <p:spPr>
          <a:xfrm>
            <a:off x="2148840" y="2331720"/>
            <a:ext cx="1435608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The operator provides the approved EPIC / change reference.</a:t>
            </a:r>
          </a:p>
        </p:txBody>
      </p:sp>
      <p:sp>
        <p:nvSpPr>
          <p:cNvPr id="1029" name="Box"/>
          <p:cNvSpPr/>
          <p:nvPr/>
        </p:nvSpPr>
        <p:spPr>
          <a:xfrm>
            <a:off x="1417320" y="3200400"/>
            <a:ext cx="15361920" cy="749808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30" name="Badge"/>
          <p:cNvSpPr/>
          <p:nvPr/>
        </p:nvSpPr>
        <p:spPr>
          <a:xfrm>
            <a:off x="1627632" y="3401568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031" name="TextBox"/>
          <p:cNvSpPr txBox="1"/>
          <p:nvPr/>
        </p:nvSpPr>
        <p:spPr>
          <a:xfrm>
            <a:off x="2148840" y="3200400"/>
            <a:ext cx="1435608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Only selected application packages are deployed.</a:t>
            </a:r>
          </a:p>
        </p:txBody>
      </p:sp>
      <p:sp>
        <p:nvSpPr>
          <p:cNvPr id="1032" name="Box"/>
          <p:cNvSpPr/>
          <p:nvPr/>
        </p:nvSpPr>
        <p:spPr>
          <a:xfrm>
            <a:off x="1417320" y="4069080"/>
            <a:ext cx="15361920" cy="749808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33" name="Badge"/>
          <p:cNvSpPr/>
          <p:nvPr/>
        </p:nvSpPr>
        <p:spPr>
          <a:xfrm>
            <a:off x="1627632" y="4270248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</a:rPr>
              <a:t>3</a:t>
            </a:r>
          </a:p>
        </p:txBody>
      </p:sp>
      <p:sp>
        <p:nvSpPr>
          <p:cNvPr id="1034" name="TextBox"/>
          <p:cNvSpPr txBox="1"/>
          <p:nvPr/>
        </p:nvSpPr>
        <p:spPr>
          <a:xfrm>
            <a:off x="2148840" y="4069080"/>
            <a:ext cx="1435608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Jenkins retrieves the correct environment version.</a:t>
            </a:r>
          </a:p>
        </p:txBody>
      </p:sp>
      <p:sp>
        <p:nvSpPr>
          <p:cNvPr id="1035" name="Box"/>
          <p:cNvSpPr/>
          <p:nvPr/>
        </p:nvSpPr>
        <p:spPr>
          <a:xfrm>
            <a:off x="1417320" y="4937760"/>
            <a:ext cx="15361920" cy="749808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36" name="Badge"/>
          <p:cNvSpPr/>
          <p:nvPr/>
        </p:nvSpPr>
        <p:spPr>
          <a:xfrm>
            <a:off x="1627632" y="5138928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</a:rPr>
              <a:t>4</a:t>
            </a:r>
          </a:p>
        </p:txBody>
      </p:sp>
      <p:sp>
        <p:nvSpPr>
          <p:cNvPr id="1037" name="TextBox"/>
          <p:cNvSpPr txBox="1"/>
          <p:nvPr/>
        </p:nvSpPr>
        <p:spPr>
          <a:xfrm>
            <a:off x="2148840" y="4937760"/>
            <a:ext cx="1435608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A recovery checkpoint is created before deployment.</a:t>
            </a:r>
          </a:p>
        </p:txBody>
      </p:sp>
      <p:sp>
        <p:nvSpPr>
          <p:cNvPr id="1038" name="Box"/>
          <p:cNvSpPr/>
          <p:nvPr/>
        </p:nvSpPr>
        <p:spPr>
          <a:xfrm>
            <a:off x="1417320" y="5806440"/>
            <a:ext cx="15361920" cy="749808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39" name="Badge"/>
          <p:cNvSpPr/>
          <p:nvPr/>
        </p:nvSpPr>
        <p:spPr>
          <a:xfrm>
            <a:off x="1627632" y="6007608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</a:rPr>
              <a:t>5</a:t>
            </a:r>
          </a:p>
        </p:txBody>
      </p:sp>
      <p:sp>
        <p:nvSpPr>
          <p:cNvPr id="1040" name="TextBox"/>
          <p:cNvSpPr txBox="1"/>
          <p:nvPr/>
        </p:nvSpPr>
        <p:spPr>
          <a:xfrm>
            <a:off x="2148840" y="5806440"/>
            <a:ext cx="1435608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Deployment is executed automatically.</a:t>
            </a:r>
          </a:p>
        </p:txBody>
      </p:sp>
      <p:sp>
        <p:nvSpPr>
          <p:cNvPr id="1041" name="Box"/>
          <p:cNvSpPr/>
          <p:nvPr/>
        </p:nvSpPr>
        <p:spPr>
          <a:xfrm>
            <a:off x="1417320" y="6675120"/>
            <a:ext cx="15361920" cy="749808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42" name="Badge"/>
          <p:cNvSpPr/>
          <p:nvPr/>
        </p:nvSpPr>
        <p:spPr>
          <a:xfrm>
            <a:off x="1627632" y="6876288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</a:rPr>
              <a:t>6</a:t>
            </a:r>
          </a:p>
        </p:txBody>
      </p:sp>
      <p:sp>
        <p:nvSpPr>
          <p:cNvPr id="1043" name="TextBox"/>
          <p:cNvSpPr txBox="1"/>
          <p:nvPr/>
        </p:nvSpPr>
        <p:spPr>
          <a:xfrm>
            <a:off x="2148840" y="6675120"/>
            <a:ext cx="1435608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Results and evidence are archived.</a:t>
            </a:r>
          </a:p>
        </p:txBody>
      </p:sp>
      <p:sp>
        <p:nvSpPr>
          <p:cNvPr id="1044" name="Box"/>
          <p:cNvSpPr/>
          <p:nvPr/>
        </p:nvSpPr>
        <p:spPr>
          <a:xfrm>
            <a:off x="1417320" y="7543800"/>
            <a:ext cx="15361920" cy="749808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45" name="Badge"/>
          <p:cNvSpPr/>
          <p:nvPr/>
        </p:nvSpPr>
        <p:spPr>
          <a:xfrm>
            <a:off x="1627632" y="7744968"/>
            <a:ext cx="347472" cy="347472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</a:rPr>
              <a:t>7</a:t>
            </a:r>
          </a:p>
        </p:txBody>
      </p:sp>
      <p:sp>
        <p:nvSpPr>
          <p:cNvPr id="1046" name="TextBox"/>
          <p:cNvSpPr txBox="1"/>
          <p:nvPr/>
        </p:nvSpPr>
        <p:spPr>
          <a:xfrm>
            <a:off x="2148840" y="7543800"/>
            <a:ext cx="1435608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Stakeholders receive email notifications.</a:t>
            </a:r>
          </a:p>
        </p:txBody>
      </p:sp>
      <p:sp>
        <p:nvSpPr>
          <p:cNvPr id="1047" name="Box"/>
          <p:cNvSpPr/>
          <p:nvPr/>
        </p:nvSpPr>
        <p:spPr>
          <a:xfrm>
            <a:off x="1417320" y="8549640"/>
            <a:ext cx="15361920" cy="640080"/>
          </a:xfrm>
          <a:prstGeom prst="roundRect">
            <a:avLst>
              <a:gd name="adj" fmla="val 14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</a:rPr>
              <a:t>No deployment starts without validation.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RELEASE &amp; ROLLBACK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PRODUCTION CLUSTER PROTECTION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48" name="Box"/>
          <p:cNvSpPr/>
          <p:nvPr/>
        </p:nvSpPr>
        <p:spPr>
          <a:xfrm>
            <a:off x="1417320" y="2331720"/>
            <a:ext cx="8449056" cy="96012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Production contains four clustered server nodes.</a:t>
            </a:r>
          </a:p>
        </p:txBody>
      </p:sp>
      <p:sp>
        <p:nvSpPr>
          <p:cNvPr id="1049" name="Box"/>
          <p:cNvSpPr/>
          <p:nvPr/>
        </p:nvSpPr>
        <p:spPr>
          <a:xfrm>
            <a:off x="1417320" y="3438144"/>
            <a:ext cx="8449056" cy="96012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The Jenkins job allows one cluster alias to be selected.</a:t>
            </a:r>
          </a:p>
        </p:txBody>
      </p:sp>
      <p:sp>
        <p:nvSpPr>
          <p:cNvPr id="1050" name="Box"/>
          <p:cNvSpPr/>
          <p:nvPr/>
        </p:nvSpPr>
        <p:spPr>
          <a:xfrm>
            <a:off x="1417320" y="4544568"/>
            <a:ext cx="8449056" cy="96012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The selected alias represents the production cluster.</a:t>
            </a:r>
          </a:p>
        </p:txBody>
      </p:sp>
      <p:sp>
        <p:nvSpPr>
          <p:cNvPr id="1051" name="Box"/>
          <p:cNvSpPr/>
          <p:nvPr/>
        </p:nvSpPr>
        <p:spPr>
          <a:xfrm>
            <a:off x="1417320" y="5650992"/>
            <a:ext cx="8449056" cy="96012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The same alias remains associated with that release.</a:t>
            </a:r>
          </a:p>
        </p:txBody>
      </p:sp>
      <p:sp>
        <p:nvSpPr>
          <p:cNvPr id="1052" name="Box"/>
          <p:cNvSpPr/>
          <p:nvPr/>
        </p:nvSpPr>
        <p:spPr>
          <a:xfrm>
            <a:off x="1417320" y="6757416"/>
            <a:ext cx="8449056" cy="96012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Later changes cannot silently switch the deployment target.</a:t>
            </a:r>
          </a:p>
        </p:txBody>
      </p:sp>
      <p:sp>
        <p:nvSpPr>
          <p:cNvPr id="1053" name="Box"/>
          <p:cNvSpPr/>
          <p:nvPr/>
        </p:nvSpPr>
        <p:spPr>
          <a:xfrm>
            <a:off x="1417320" y="7863840"/>
            <a:ext cx="8449056" cy="96012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This protects the production recovery checkpoint.</a:t>
            </a:r>
          </a:p>
        </p:txBody>
      </p:sp>
      <p:sp>
        <p:nvSpPr>
          <p:cNvPr id="1054" name="TextBox"/>
          <p:cNvSpPr txBox="1"/>
          <p:nvPr/>
        </p:nvSpPr>
        <p:spPr>
          <a:xfrm>
            <a:off x="10323576" y="2331720"/>
            <a:ext cx="64556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5B5F73"/>
                </a:solidFill>
                <a:latin typeface="Aptos" pitchFamily="34" charset="0"/>
              </a:rPr>
              <a:t>PRODUCTION CLUSTER</a:t>
            </a:r>
          </a:p>
        </p:txBody>
      </p:sp>
      <p:sp>
        <p:nvSpPr>
          <p:cNvPr id="1055" name="Box"/>
          <p:cNvSpPr/>
          <p:nvPr/>
        </p:nvSpPr>
        <p:spPr>
          <a:xfrm>
            <a:off x="10323576" y="2834640"/>
            <a:ext cx="6455664" cy="914400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</a:rPr>
              <a:t>10.24.49.20</a:t>
            </a:r>
          </a:p>
        </p:txBody>
      </p:sp>
      <p:sp>
        <p:nvSpPr>
          <p:cNvPr id="1056" name="Box"/>
          <p:cNvSpPr/>
          <p:nvPr/>
        </p:nvSpPr>
        <p:spPr>
          <a:xfrm>
            <a:off x="10323576" y="3977640"/>
            <a:ext cx="6455664" cy="914400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</a:rPr>
              <a:t>10.24.49.21</a:t>
            </a:r>
          </a:p>
        </p:txBody>
      </p:sp>
      <p:sp>
        <p:nvSpPr>
          <p:cNvPr id="1057" name="Box"/>
          <p:cNvSpPr/>
          <p:nvPr/>
        </p:nvSpPr>
        <p:spPr>
          <a:xfrm>
            <a:off x="10323576" y="5120640"/>
            <a:ext cx="6455664" cy="914400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</a:rPr>
              <a:t>10.24.49.22</a:t>
            </a:r>
          </a:p>
        </p:txBody>
      </p:sp>
      <p:sp>
        <p:nvSpPr>
          <p:cNvPr id="1058" name="Box"/>
          <p:cNvSpPr/>
          <p:nvPr/>
        </p:nvSpPr>
        <p:spPr>
          <a:xfrm>
            <a:off x="10323576" y="6263640"/>
            <a:ext cx="6455664" cy="914400"/>
          </a:xfrm>
          <a:prstGeom prst="roundRect">
            <a:avLst>
              <a:gd name="adj" fmla="val 50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</a:rPr>
              <a:t>10.24.49.23</a:t>
            </a:r>
          </a:p>
        </p:txBody>
      </p:sp>
      <p:cxnSp>
        <p:nvCxnSpPr>
          <p:cNvPr id="1059" name="Connector"/>
          <p:cNvCxnSpPr/>
          <p:nvPr/>
        </p:nvCxnSpPr>
        <p:spPr>
          <a:xfrm>
            <a:off x="10158984" y="3291840"/>
            <a:ext cx="457" cy="3429000"/>
          </a:xfrm>
          <a:prstGeom prst="line">
            <a:avLst/>
          </a:prstGeom>
          <a:ln w="15875">
            <a:solidFill>
              <a:srgbClr val="E0E2EE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RELEASE &amp; ROLLBACK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ROLLBACK &amp; BUSINESS CONTINUITY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60" name="Box"/>
          <p:cNvSpPr/>
          <p:nvPr/>
        </p:nvSpPr>
        <p:spPr>
          <a:xfrm>
            <a:off x="1417320" y="2331720"/>
            <a:ext cx="15361920" cy="658368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A checkpoint is created before every release.</a:t>
            </a:r>
          </a:p>
        </p:txBody>
      </p:sp>
      <p:sp>
        <p:nvSpPr>
          <p:cNvPr id="1061" name="Box"/>
          <p:cNvSpPr/>
          <p:nvPr/>
        </p:nvSpPr>
        <p:spPr>
          <a:xfrm>
            <a:off x="1417320" y="3108960"/>
            <a:ext cx="15361920" cy="658368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If deployment fails, Jenkins attempts automatic rollback.</a:t>
            </a:r>
          </a:p>
        </p:txBody>
      </p:sp>
      <p:sp>
        <p:nvSpPr>
          <p:cNvPr id="1062" name="Box"/>
          <p:cNvSpPr/>
          <p:nvPr/>
        </p:nvSpPr>
        <p:spPr>
          <a:xfrm>
            <a:off x="1417320" y="3886200"/>
            <a:ext cx="15361920" cy="658368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Authorized teams can also run a separate manual rollback job.</a:t>
            </a:r>
          </a:p>
        </p:txBody>
      </p:sp>
      <p:sp>
        <p:nvSpPr>
          <p:cNvPr id="1063" name="Box"/>
          <p:cNvSpPr/>
          <p:nvPr/>
        </p:nvSpPr>
        <p:spPr>
          <a:xfrm>
            <a:off x="1417320" y="4663440"/>
            <a:ext cx="15361920" cy="658368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Manual rollback requires confirmation and approval.</a:t>
            </a:r>
          </a:p>
        </p:txBody>
      </p:sp>
      <p:sp>
        <p:nvSpPr>
          <p:cNvPr id="1064" name="Box"/>
          <p:cNvSpPr/>
          <p:nvPr/>
        </p:nvSpPr>
        <p:spPr>
          <a:xfrm>
            <a:off x="1417320" y="5440680"/>
            <a:ext cx="15361920" cy="658368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QC, UAT, and PROD recovery points are independent.</a:t>
            </a:r>
          </a:p>
        </p:txBody>
      </p:sp>
      <p:sp>
        <p:nvSpPr>
          <p:cNvPr id="1065" name="Box"/>
          <p:cNvSpPr/>
          <p:nvPr/>
        </p:nvSpPr>
        <p:spPr>
          <a:xfrm>
            <a:off x="1417320" y="6217920"/>
            <a:ext cx="15361920" cy="658368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252545"/>
                </a:solidFill>
                <a:latin typeface="Aptos" pitchFamily="34" charset="0"/>
              </a:rPr>
              <a:t>Rolling back one environment does not intentionally alter another environment.</a:t>
            </a:r>
          </a:p>
        </p:txBody>
      </p:sp>
      <p:sp>
        <p:nvSpPr>
          <p:cNvPr id="1066" name="Box"/>
          <p:cNvSpPr/>
          <p:nvPr/>
        </p:nvSpPr>
        <p:spPr>
          <a:xfrm>
            <a:off x="1417320" y="7178040"/>
            <a:ext cx="7498080" cy="1051560"/>
          </a:xfrm>
          <a:prstGeom prst="roundRect">
            <a:avLst>
              <a:gd name="adj" fmla="val 16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5E3C"/>
                </a:solidFill>
                <a:latin typeface="Aptos" pitchFamily="34" charset="0"/>
              </a:rPr>
              <a:t>Successful release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1B5E3C"/>
                </a:solidFill>
                <a:latin typeface="Aptos" pitchFamily="34" charset="0"/>
              </a:rPr>
              <a:t>→ Continue operation</a:t>
            </a:r>
          </a:p>
        </p:txBody>
      </p:sp>
      <p:sp>
        <p:nvSpPr>
          <p:cNvPr id="1067" name="Box"/>
          <p:cNvSpPr/>
          <p:nvPr/>
        </p:nvSpPr>
        <p:spPr>
          <a:xfrm>
            <a:off x="9281160" y="7178040"/>
            <a:ext cx="7498080" cy="1051560"/>
          </a:xfrm>
          <a:prstGeom prst="roundRect">
            <a:avLst>
              <a:gd name="adj" fmla="val 16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A2E24"/>
                </a:solidFill>
                <a:latin typeface="Aptos" pitchFamily="34" charset="0"/>
              </a:rPr>
              <a:t>Failed release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8A2E24"/>
                </a:solidFill>
                <a:latin typeface="Aptos" pitchFamily="34" charset="0"/>
              </a:rPr>
              <a:t>→ Restore previous state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RELEASE &amp; ROLLBACK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SOURCE-CODE PROTECTION WITH SYNC_DEV_CODE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68" name="TextBox"/>
          <p:cNvSpPr txBox="1"/>
          <p:nvPr/>
        </p:nvSpPr>
        <p:spPr>
          <a:xfrm>
            <a:off x="1417320" y="2331720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dirty="0">
                <a:solidFill>
                  <a:srgbClr val="252545"/>
                </a:solidFill>
                <a:latin typeface="Aptos" pitchFamily="34" charset="0"/>
              </a:rPr>
              <a:t>Sync_Dev_Code keeps application source code safe, versioned, and traceable.</a:t>
            </a:r>
          </a:p>
        </p:txBody>
      </p:sp>
      <p:sp>
        <p:nvSpPr>
          <p:cNvPr id="1069" name="Box"/>
          <p:cNvSpPr/>
          <p:nvPr/>
        </p:nvSpPr>
        <p:spPr>
          <a:xfrm>
            <a:off x="1417320" y="3154680"/>
            <a:ext cx="15361920" cy="868680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70" name="Badge"/>
          <p:cNvSpPr/>
          <p:nvPr/>
        </p:nvSpPr>
        <p:spPr>
          <a:xfrm>
            <a:off x="1618488" y="3406140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71" name="TextBox"/>
          <p:cNvSpPr txBox="1"/>
          <p:nvPr/>
        </p:nvSpPr>
        <p:spPr>
          <a:xfrm>
            <a:off x="2148840" y="3154680"/>
            <a:ext cx="1435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Custom DEV application packages are synchronized to Bitbucket.</a:t>
            </a:r>
          </a:p>
        </p:txBody>
      </p:sp>
      <p:sp>
        <p:nvSpPr>
          <p:cNvPr id="1072" name="Box"/>
          <p:cNvSpPr/>
          <p:nvPr/>
        </p:nvSpPr>
        <p:spPr>
          <a:xfrm>
            <a:off x="1417320" y="4187952"/>
            <a:ext cx="15361920" cy="868680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73" name="Badge"/>
          <p:cNvSpPr/>
          <p:nvPr/>
        </p:nvSpPr>
        <p:spPr>
          <a:xfrm>
            <a:off x="1618488" y="4439412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74" name="TextBox"/>
          <p:cNvSpPr txBox="1"/>
          <p:nvPr/>
        </p:nvSpPr>
        <p:spPr>
          <a:xfrm>
            <a:off x="2148840" y="4187952"/>
            <a:ext cx="1435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Software AG system packages and runtime files are excluded.</a:t>
            </a:r>
          </a:p>
        </p:txBody>
      </p:sp>
      <p:sp>
        <p:nvSpPr>
          <p:cNvPr id="1075" name="Box"/>
          <p:cNvSpPr/>
          <p:nvPr/>
        </p:nvSpPr>
        <p:spPr>
          <a:xfrm>
            <a:off x="1417320" y="5221224"/>
            <a:ext cx="15361920" cy="868680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76" name="Badge"/>
          <p:cNvSpPr/>
          <p:nvPr/>
        </p:nvSpPr>
        <p:spPr>
          <a:xfrm>
            <a:off x="1618488" y="5472684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77" name="TextBox"/>
          <p:cNvSpPr txBox="1"/>
          <p:nvPr/>
        </p:nvSpPr>
        <p:spPr>
          <a:xfrm>
            <a:off x="2148840" y="5221224"/>
            <a:ext cx="1435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Changes are version controlled and linked to the release process.</a:t>
            </a:r>
          </a:p>
        </p:txBody>
      </p:sp>
      <p:sp>
        <p:nvSpPr>
          <p:cNvPr id="1078" name="Box"/>
          <p:cNvSpPr/>
          <p:nvPr/>
        </p:nvSpPr>
        <p:spPr>
          <a:xfrm>
            <a:off x="1417320" y="6254496"/>
            <a:ext cx="15361920" cy="868680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79" name="Badge"/>
          <p:cNvSpPr/>
          <p:nvPr/>
        </p:nvSpPr>
        <p:spPr>
          <a:xfrm>
            <a:off x="1618488" y="6505956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80" name="TextBox"/>
          <p:cNvSpPr txBox="1"/>
          <p:nvPr/>
        </p:nvSpPr>
        <p:spPr>
          <a:xfrm>
            <a:off x="2148840" y="6254496"/>
            <a:ext cx="1435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Approved code is promoted through environment branches.</a:t>
            </a:r>
          </a:p>
        </p:txBody>
      </p:sp>
      <p:sp>
        <p:nvSpPr>
          <p:cNvPr id="1081" name="Box"/>
          <p:cNvSpPr/>
          <p:nvPr/>
        </p:nvSpPr>
        <p:spPr>
          <a:xfrm>
            <a:off x="1417320" y="7287768"/>
            <a:ext cx="15361920" cy="868680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82" name="Badge"/>
          <p:cNvSpPr/>
          <p:nvPr/>
        </p:nvSpPr>
        <p:spPr>
          <a:xfrm>
            <a:off x="1618488" y="7539228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83" name="TextBox"/>
          <p:cNvSpPr txBox="1"/>
          <p:nvPr/>
        </p:nvSpPr>
        <p:spPr>
          <a:xfrm>
            <a:off x="2148840" y="7287768"/>
            <a:ext cx="1435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The organization maintains a reliable source history.</a:t>
            </a:r>
          </a:p>
        </p:txBody>
      </p:sp>
      <p:sp>
        <p:nvSpPr>
          <p:cNvPr id="1084" name="Box"/>
          <p:cNvSpPr/>
          <p:nvPr/>
        </p:nvSpPr>
        <p:spPr>
          <a:xfrm>
            <a:off x="1417320" y="8321040"/>
            <a:ext cx="15361920" cy="868680"/>
          </a:xfrm>
          <a:prstGeom prst="roundRect">
            <a:avLst>
              <a:gd name="adj" fmla="val 18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85" name="Badge"/>
          <p:cNvSpPr/>
          <p:nvPr/>
        </p:nvSpPr>
        <p:spPr>
          <a:xfrm>
            <a:off x="1618488" y="8572500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86" name="TextBox"/>
          <p:cNvSpPr txBox="1"/>
          <p:nvPr/>
        </p:nvSpPr>
        <p:spPr>
          <a:xfrm>
            <a:off x="2148840" y="8321040"/>
            <a:ext cx="1435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252545"/>
                </a:solidFill>
                <a:latin typeface="Aptos" pitchFamily="34" charset="0"/>
              </a:rPr>
              <a:t>The process reduces dependence on unmanaged server copies.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RELEASE &amp; ROLLBACK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GOVERNANCE &amp; AUDITABILITY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87" name="Box"/>
          <p:cNvSpPr/>
          <p:nvPr/>
        </p:nvSpPr>
        <p:spPr>
          <a:xfrm>
            <a:off x="1417320" y="2331720"/>
            <a:ext cx="4907280" cy="156362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88" name="Badge"/>
          <p:cNvSpPr/>
          <p:nvPr/>
        </p:nvSpPr>
        <p:spPr>
          <a:xfrm>
            <a:off x="1618488" y="2948940"/>
            <a:ext cx="329184" cy="329184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89" name="TextBox"/>
          <p:cNvSpPr txBox="1"/>
          <p:nvPr/>
        </p:nvSpPr>
        <p:spPr>
          <a:xfrm>
            <a:off x="2075688" y="2331720"/>
            <a:ext cx="4038600" cy="1563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EPIC / change reference</a:t>
            </a:r>
          </a:p>
        </p:txBody>
      </p:sp>
      <p:sp>
        <p:nvSpPr>
          <p:cNvPr id="1090" name="Box"/>
          <p:cNvSpPr/>
          <p:nvPr/>
        </p:nvSpPr>
        <p:spPr>
          <a:xfrm>
            <a:off x="6644640" y="2331720"/>
            <a:ext cx="4907280" cy="156362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91" name="Badge"/>
          <p:cNvSpPr/>
          <p:nvPr/>
        </p:nvSpPr>
        <p:spPr>
          <a:xfrm>
            <a:off x="6845808" y="2948940"/>
            <a:ext cx="329184" cy="329184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92" name="TextBox"/>
          <p:cNvSpPr txBox="1"/>
          <p:nvPr/>
        </p:nvSpPr>
        <p:spPr>
          <a:xfrm>
            <a:off x="7303008" y="2331720"/>
            <a:ext cx="4038600" cy="1563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Environment-specific branches</a:t>
            </a:r>
          </a:p>
        </p:txBody>
      </p:sp>
      <p:sp>
        <p:nvSpPr>
          <p:cNvPr id="1093" name="Box"/>
          <p:cNvSpPr/>
          <p:nvPr/>
        </p:nvSpPr>
        <p:spPr>
          <a:xfrm>
            <a:off x="11871960" y="2331720"/>
            <a:ext cx="4907280" cy="156362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94" name="Badge"/>
          <p:cNvSpPr/>
          <p:nvPr/>
        </p:nvSpPr>
        <p:spPr>
          <a:xfrm>
            <a:off x="12073128" y="2948940"/>
            <a:ext cx="329184" cy="329184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95" name="TextBox"/>
          <p:cNvSpPr txBox="1"/>
          <p:nvPr/>
        </p:nvSpPr>
        <p:spPr>
          <a:xfrm>
            <a:off x="12530328" y="2331720"/>
            <a:ext cx="4038600" cy="1563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Controlled package selection</a:t>
            </a:r>
          </a:p>
        </p:txBody>
      </p:sp>
      <p:sp>
        <p:nvSpPr>
          <p:cNvPr id="1096" name="Box"/>
          <p:cNvSpPr/>
          <p:nvPr/>
        </p:nvSpPr>
        <p:spPr>
          <a:xfrm>
            <a:off x="1417320" y="4096512"/>
            <a:ext cx="4907280" cy="156362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97" name="Badge"/>
          <p:cNvSpPr/>
          <p:nvPr/>
        </p:nvSpPr>
        <p:spPr>
          <a:xfrm>
            <a:off x="1618488" y="4713732"/>
            <a:ext cx="329184" cy="329184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98" name="TextBox"/>
          <p:cNvSpPr txBox="1"/>
          <p:nvPr/>
        </p:nvSpPr>
        <p:spPr>
          <a:xfrm>
            <a:off x="2075688" y="4096512"/>
            <a:ext cx="4038600" cy="1563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Pre-deployment checkpoint</a:t>
            </a:r>
          </a:p>
        </p:txBody>
      </p:sp>
      <p:sp>
        <p:nvSpPr>
          <p:cNvPr id="1099" name="Box"/>
          <p:cNvSpPr/>
          <p:nvPr/>
        </p:nvSpPr>
        <p:spPr>
          <a:xfrm>
            <a:off x="6644640" y="4096512"/>
            <a:ext cx="4907280" cy="156362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00" name="Badge"/>
          <p:cNvSpPr/>
          <p:nvPr/>
        </p:nvSpPr>
        <p:spPr>
          <a:xfrm>
            <a:off x="6845808" y="4713732"/>
            <a:ext cx="329184" cy="329184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01" name="TextBox"/>
          <p:cNvSpPr txBox="1"/>
          <p:nvPr/>
        </p:nvSpPr>
        <p:spPr>
          <a:xfrm>
            <a:off x="7303008" y="4096512"/>
            <a:ext cx="4038600" cy="1563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Deployment approval</a:t>
            </a:r>
          </a:p>
        </p:txBody>
      </p:sp>
      <p:sp>
        <p:nvSpPr>
          <p:cNvPr id="1102" name="Box"/>
          <p:cNvSpPr/>
          <p:nvPr/>
        </p:nvSpPr>
        <p:spPr>
          <a:xfrm>
            <a:off x="11871960" y="4096512"/>
            <a:ext cx="4907280" cy="156362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03" name="Badge"/>
          <p:cNvSpPr/>
          <p:nvPr/>
        </p:nvSpPr>
        <p:spPr>
          <a:xfrm>
            <a:off x="12073128" y="4713732"/>
            <a:ext cx="329184" cy="329184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04" name="TextBox"/>
          <p:cNvSpPr txBox="1"/>
          <p:nvPr/>
        </p:nvSpPr>
        <p:spPr>
          <a:xfrm>
            <a:off x="12530328" y="4096512"/>
            <a:ext cx="4038600" cy="1563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Rollback approval</a:t>
            </a:r>
          </a:p>
        </p:txBody>
      </p:sp>
      <p:sp>
        <p:nvSpPr>
          <p:cNvPr id="1105" name="Box"/>
          <p:cNvSpPr/>
          <p:nvPr/>
        </p:nvSpPr>
        <p:spPr>
          <a:xfrm>
            <a:off x="1417320" y="5861304"/>
            <a:ext cx="4907280" cy="156362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06" name="Badge"/>
          <p:cNvSpPr/>
          <p:nvPr/>
        </p:nvSpPr>
        <p:spPr>
          <a:xfrm>
            <a:off x="1618488" y="6478524"/>
            <a:ext cx="329184" cy="329184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07" name="TextBox"/>
          <p:cNvSpPr txBox="1"/>
          <p:nvPr/>
        </p:nvSpPr>
        <p:spPr>
          <a:xfrm>
            <a:off x="2075688" y="5861304"/>
            <a:ext cx="4038600" cy="1563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Email notification</a:t>
            </a:r>
          </a:p>
        </p:txBody>
      </p:sp>
      <p:sp>
        <p:nvSpPr>
          <p:cNvPr id="1108" name="Box"/>
          <p:cNvSpPr/>
          <p:nvPr/>
        </p:nvSpPr>
        <p:spPr>
          <a:xfrm>
            <a:off x="6644640" y="5861304"/>
            <a:ext cx="4907280" cy="156362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09" name="Badge"/>
          <p:cNvSpPr/>
          <p:nvPr/>
        </p:nvSpPr>
        <p:spPr>
          <a:xfrm>
            <a:off x="6845808" y="6478524"/>
            <a:ext cx="329184" cy="329184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10" name="TextBox"/>
          <p:cNvSpPr txBox="1"/>
          <p:nvPr/>
        </p:nvSpPr>
        <p:spPr>
          <a:xfrm>
            <a:off x="7303008" y="5861304"/>
            <a:ext cx="4038600" cy="1563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Deployment and rollback reports</a:t>
            </a:r>
          </a:p>
        </p:txBody>
      </p:sp>
      <p:sp>
        <p:nvSpPr>
          <p:cNvPr id="1111" name="Box"/>
          <p:cNvSpPr/>
          <p:nvPr/>
        </p:nvSpPr>
        <p:spPr>
          <a:xfrm>
            <a:off x="11871960" y="5861304"/>
            <a:ext cx="4907280" cy="156362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12" name="Badge"/>
          <p:cNvSpPr/>
          <p:nvPr/>
        </p:nvSpPr>
        <p:spPr>
          <a:xfrm>
            <a:off x="12073128" y="6478524"/>
            <a:ext cx="329184" cy="329184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13" name="TextBox"/>
          <p:cNvSpPr txBox="1"/>
          <p:nvPr/>
        </p:nvSpPr>
        <p:spPr>
          <a:xfrm>
            <a:off x="12530328" y="5861304"/>
            <a:ext cx="4038600" cy="1563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Archived Jenkins logs</a:t>
            </a:r>
          </a:p>
        </p:txBody>
      </p:sp>
      <p:sp>
        <p:nvSpPr>
          <p:cNvPr id="1114" name="Box"/>
          <p:cNvSpPr/>
          <p:nvPr/>
        </p:nvSpPr>
        <p:spPr>
          <a:xfrm>
            <a:off x="1417320" y="7626096"/>
            <a:ext cx="4907280" cy="156362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15" name="Badge"/>
          <p:cNvSpPr/>
          <p:nvPr/>
        </p:nvSpPr>
        <p:spPr>
          <a:xfrm>
            <a:off x="1618488" y="8243316"/>
            <a:ext cx="329184" cy="329184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16" name="TextBox"/>
          <p:cNvSpPr txBox="1"/>
          <p:nvPr/>
        </p:nvSpPr>
        <p:spPr>
          <a:xfrm>
            <a:off x="2075688" y="7626096"/>
            <a:ext cx="4038600" cy="1563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Credential protection</a:t>
            </a:r>
          </a:p>
        </p:txBody>
      </p:sp>
      <p:sp>
        <p:nvSpPr>
          <p:cNvPr id="1117" name="Box"/>
          <p:cNvSpPr/>
          <p:nvPr/>
        </p:nvSpPr>
        <p:spPr>
          <a:xfrm>
            <a:off x="6644640" y="7626096"/>
            <a:ext cx="4907280" cy="1563624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18" name="Badge"/>
          <p:cNvSpPr/>
          <p:nvPr/>
        </p:nvSpPr>
        <p:spPr>
          <a:xfrm>
            <a:off x="6845808" y="8243316"/>
            <a:ext cx="329184" cy="329184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19" name="TextBox"/>
          <p:cNvSpPr txBox="1"/>
          <p:nvPr/>
        </p:nvSpPr>
        <p:spPr>
          <a:xfrm>
            <a:off x="7303008" y="7626096"/>
            <a:ext cx="4038600" cy="1563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252545"/>
                </a:solidFill>
                <a:latin typeface="Aptos" pitchFamily="34" charset="0"/>
              </a:rPr>
              <a:t>Prevention of concurrent Deployer changes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RELEASE &amp; ROLLBACK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BUSINESS BENEFITS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20" name="Box"/>
          <p:cNvSpPr/>
          <p:nvPr/>
        </p:nvSpPr>
        <p:spPr>
          <a:xfrm>
            <a:off x="1417320" y="2331720"/>
            <a:ext cx="7498080" cy="1225296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21" name="Badge"/>
          <p:cNvSpPr/>
          <p:nvPr/>
        </p:nvSpPr>
        <p:spPr>
          <a:xfrm>
            <a:off x="1618488" y="2761488"/>
            <a:ext cx="365760" cy="36576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22" name="TextBox"/>
          <p:cNvSpPr txBox="1"/>
          <p:nvPr/>
        </p:nvSpPr>
        <p:spPr>
          <a:xfrm>
            <a:off x="2148840" y="2331720"/>
            <a:ext cx="6537960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Lower deployment risk</a:t>
            </a:r>
          </a:p>
        </p:txBody>
      </p:sp>
      <p:sp>
        <p:nvSpPr>
          <p:cNvPr id="1123" name="Box"/>
          <p:cNvSpPr/>
          <p:nvPr/>
        </p:nvSpPr>
        <p:spPr>
          <a:xfrm>
            <a:off x="9281160" y="2331720"/>
            <a:ext cx="7498080" cy="1225296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24" name="Badge"/>
          <p:cNvSpPr/>
          <p:nvPr/>
        </p:nvSpPr>
        <p:spPr>
          <a:xfrm>
            <a:off x="9482328" y="2761488"/>
            <a:ext cx="365760" cy="36576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25" name="TextBox"/>
          <p:cNvSpPr txBox="1"/>
          <p:nvPr/>
        </p:nvSpPr>
        <p:spPr>
          <a:xfrm>
            <a:off x="10012680" y="2331720"/>
            <a:ext cx="6537960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Faster, repeatable releases</a:t>
            </a:r>
          </a:p>
        </p:txBody>
      </p:sp>
      <p:sp>
        <p:nvSpPr>
          <p:cNvPr id="1126" name="Box"/>
          <p:cNvSpPr/>
          <p:nvPr/>
        </p:nvSpPr>
        <p:spPr>
          <a:xfrm>
            <a:off x="1417320" y="3739896"/>
            <a:ext cx="7498080" cy="1225296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27" name="Badge"/>
          <p:cNvSpPr/>
          <p:nvPr/>
        </p:nvSpPr>
        <p:spPr>
          <a:xfrm>
            <a:off x="1618488" y="4169664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28" name="TextBox"/>
          <p:cNvSpPr txBox="1"/>
          <p:nvPr/>
        </p:nvSpPr>
        <p:spPr>
          <a:xfrm>
            <a:off x="2148840" y="3739896"/>
            <a:ext cx="6537960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Improved service continuity</a:t>
            </a:r>
          </a:p>
        </p:txBody>
      </p:sp>
      <p:sp>
        <p:nvSpPr>
          <p:cNvPr id="1129" name="Box"/>
          <p:cNvSpPr/>
          <p:nvPr/>
        </p:nvSpPr>
        <p:spPr>
          <a:xfrm>
            <a:off x="9281160" y="3739896"/>
            <a:ext cx="7498080" cy="1225296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30" name="Badge"/>
          <p:cNvSpPr/>
          <p:nvPr/>
        </p:nvSpPr>
        <p:spPr>
          <a:xfrm>
            <a:off x="9482328" y="4169664"/>
            <a:ext cx="365760" cy="3657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31" name="TextBox"/>
          <p:cNvSpPr txBox="1"/>
          <p:nvPr/>
        </p:nvSpPr>
        <p:spPr>
          <a:xfrm>
            <a:off x="10012680" y="3739896"/>
            <a:ext cx="6537960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Faster recovery from failed changes</a:t>
            </a:r>
          </a:p>
        </p:txBody>
      </p:sp>
      <p:sp>
        <p:nvSpPr>
          <p:cNvPr id="1132" name="Box"/>
          <p:cNvSpPr/>
          <p:nvPr/>
        </p:nvSpPr>
        <p:spPr>
          <a:xfrm>
            <a:off x="1417320" y="5148072"/>
            <a:ext cx="7498080" cy="1225296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33" name="Badge"/>
          <p:cNvSpPr/>
          <p:nvPr/>
        </p:nvSpPr>
        <p:spPr>
          <a:xfrm>
            <a:off x="1618488" y="5577840"/>
            <a:ext cx="365760" cy="365760"/>
          </a:xfrm>
          <a:prstGeom prst="ellipse">
            <a:avLst/>
          </a:prstGeom>
          <a:solidFill>
            <a:srgbClr val="6B4FB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34" name="TextBox"/>
          <p:cNvSpPr txBox="1"/>
          <p:nvPr/>
        </p:nvSpPr>
        <p:spPr>
          <a:xfrm>
            <a:off x="2148840" y="5148072"/>
            <a:ext cx="6537960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Clear separation of QC, UAT, and Production</a:t>
            </a:r>
          </a:p>
        </p:txBody>
      </p:sp>
      <p:sp>
        <p:nvSpPr>
          <p:cNvPr id="1135" name="Box"/>
          <p:cNvSpPr/>
          <p:nvPr/>
        </p:nvSpPr>
        <p:spPr>
          <a:xfrm>
            <a:off x="9281160" y="5148072"/>
            <a:ext cx="7498080" cy="1225296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36" name="Badge"/>
          <p:cNvSpPr/>
          <p:nvPr/>
        </p:nvSpPr>
        <p:spPr>
          <a:xfrm>
            <a:off x="9482328" y="5577840"/>
            <a:ext cx="365760" cy="365760"/>
          </a:xfrm>
          <a:prstGeom prst="ellipse">
            <a:avLst/>
          </a:prstGeom>
          <a:solidFill>
            <a:srgbClr val="6B4FB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37" name="TextBox"/>
          <p:cNvSpPr txBox="1"/>
          <p:nvPr/>
        </p:nvSpPr>
        <p:spPr>
          <a:xfrm>
            <a:off x="10012680" y="5148072"/>
            <a:ext cx="6537960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Better audit evidence</a:t>
            </a:r>
          </a:p>
        </p:txBody>
      </p:sp>
      <p:sp>
        <p:nvSpPr>
          <p:cNvPr id="1138" name="Box"/>
          <p:cNvSpPr/>
          <p:nvPr/>
        </p:nvSpPr>
        <p:spPr>
          <a:xfrm>
            <a:off x="1417320" y="6556248"/>
            <a:ext cx="7498080" cy="1225296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39" name="Badge"/>
          <p:cNvSpPr/>
          <p:nvPr/>
        </p:nvSpPr>
        <p:spPr>
          <a:xfrm>
            <a:off x="1618488" y="6986016"/>
            <a:ext cx="365760" cy="365760"/>
          </a:xfrm>
          <a:prstGeom prst="ellipse">
            <a:avLst/>
          </a:prstGeom>
          <a:solidFill>
            <a:srgbClr val="1D6FA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40" name="TextBox"/>
          <p:cNvSpPr txBox="1"/>
          <p:nvPr/>
        </p:nvSpPr>
        <p:spPr>
          <a:xfrm>
            <a:off x="2148840" y="6556248"/>
            <a:ext cx="6537960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Improved source-code traceability</a:t>
            </a:r>
          </a:p>
        </p:txBody>
      </p:sp>
      <p:sp>
        <p:nvSpPr>
          <p:cNvPr id="1141" name="Box"/>
          <p:cNvSpPr/>
          <p:nvPr/>
        </p:nvSpPr>
        <p:spPr>
          <a:xfrm>
            <a:off x="9281160" y="6556248"/>
            <a:ext cx="7498080" cy="1225296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42" name="Badge"/>
          <p:cNvSpPr/>
          <p:nvPr/>
        </p:nvSpPr>
        <p:spPr>
          <a:xfrm>
            <a:off x="9482328" y="6986016"/>
            <a:ext cx="365760" cy="365760"/>
          </a:xfrm>
          <a:prstGeom prst="ellipse">
            <a:avLst/>
          </a:prstGeom>
          <a:solidFill>
            <a:srgbClr val="1D6FA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43" name="TextBox"/>
          <p:cNvSpPr txBox="1"/>
          <p:nvPr/>
        </p:nvSpPr>
        <p:spPr>
          <a:xfrm>
            <a:off x="10012680" y="6556248"/>
            <a:ext cx="6537960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Reduced manual errors</a:t>
            </a:r>
          </a:p>
        </p:txBody>
      </p:sp>
      <p:sp>
        <p:nvSpPr>
          <p:cNvPr id="1144" name="Box"/>
          <p:cNvSpPr/>
          <p:nvPr/>
        </p:nvSpPr>
        <p:spPr>
          <a:xfrm>
            <a:off x="1417320" y="7964424"/>
            <a:ext cx="7498080" cy="1225296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45" name="Badge"/>
          <p:cNvSpPr/>
          <p:nvPr/>
        </p:nvSpPr>
        <p:spPr>
          <a:xfrm>
            <a:off x="1618488" y="8394192"/>
            <a:ext cx="365760" cy="365760"/>
          </a:xfrm>
          <a:prstGeom prst="ellipse">
            <a:avLst/>
          </a:prstGeom>
          <a:solidFill>
            <a:srgbClr val="A02B6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46" name="TextBox"/>
          <p:cNvSpPr txBox="1"/>
          <p:nvPr/>
        </p:nvSpPr>
        <p:spPr>
          <a:xfrm>
            <a:off x="2148840" y="7964424"/>
            <a:ext cx="6537960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Consistent release governance</a:t>
            </a:r>
          </a:p>
        </p:txBody>
      </p:sp>
      <p:sp>
        <p:nvSpPr>
          <p:cNvPr id="1147" name="Box"/>
          <p:cNvSpPr/>
          <p:nvPr/>
        </p:nvSpPr>
        <p:spPr>
          <a:xfrm>
            <a:off x="9281160" y="7964424"/>
            <a:ext cx="7498080" cy="1225296"/>
          </a:xfrm>
          <a:prstGeom prst="roundRect">
            <a:avLst>
              <a:gd name="adj" fmla="val 2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48" name="Badge"/>
          <p:cNvSpPr/>
          <p:nvPr/>
        </p:nvSpPr>
        <p:spPr>
          <a:xfrm>
            <a:off x="9482328" y="8394192"/>
            <a:ext cx="365760" cy="365760"/>
          </a:xfrm>
          <a:prstGeom prst="ellipse">
            <a:avLst/>
          </a:prstGeom>
          <a:solidFill>
            <a:srgbClr val="A02B6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149" name="TextBox"/>
          <p:cNvSpPr txBox="1"/>
          <p:nvPr/>
        </p:nvSpPr>
        <p:spPr>
          <a:xfrm>
            <a:off x="10012680" y="7964424"/>
            <a:ext cx="6537960" cy="12252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252545"/>
                </a:solidFill>
                <a:latin typeface="Aptos" pitchFamily="34" charset="0"/>
              </a:rPr>
              <a:t>Increased confidence in production deployments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RELEASE &amp; ROLLBACK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FINAL OPERATING MODEL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50" name="Box"/>
          <p:cNvSpPr/>
          <p:nvPr/>
        </p:nvSpPr>
        <p:spPr>
          <a:xfrm>
            <a:off x="1417320" y="2514600"/>
            <a:ext cx="2316480" cy="1463040"/>
          </a:xfrm>
          <a:prstGeom prst="roundRect">
            <a:avLst>
              <a:gd name="adj" fmla="val 16000"/>
            </a:avLst>
          </a:prstGeom>
          <a:solidFill>
            <a:srgbClr val="5B4FE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Synchronize</a:t>
            </a:r>
          </a:p>
        </p:txBody>
      </p:sp>
      <p:sp>
        <p:nvSpPr>
          <p:cNvPr id="1151" name="Box"/>
          <p:cNvSpPr/>
          <p:nvPr/>
        </p:nvSpPr>
        <p:spPr>
          <a:xfrm>
            <a:off x="4026408" y="2514600"/>
            <a:ext cx="2316480" cy="1463040"/>
          </a:xfrm>
          <a:prstGeom prst="roundRect">
            <a:avLst>
              <a:gd name="adj" fmla="val 16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Review</a:t>
            </a:r>
          </a:p>
        </p:txBody>
      </p:sp>
      <p:cxnSp>
        <p:nvCxnSpPr>
          <p:cNvPr id="1152" name="Connector"/>
          <p:cNvCxnSpPr/>
          <p:nvPr/>
        </p:nvCxnSpPr>
        <p:spPr>
          <a:xfrm>
            <a:off x="3770376" y="3246120"/>
            <a:ext cx="219456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3" name="Box"/>
          <p:cNvSpPr/>
          <p:nvPr/>
        </p:nvSpPr>
        <p:spPr>
          <a:xfrm>
            <a:off x="6635496" y="2514600"/>
            <a:ext cx="2316480" cy="1463040"/>
          </a:xfrm>
          <a:prstGeom prst="roundRect">
            <a:avLst>
              <a:gd name="adj" fmla="val 16000"/>
            </a:avLst>
          </a:prstGeom>
          <a:solidFill>
            <a:srgbClr val="6B4FB0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Approve</a:t>
            </a:r>
          </a:p>
        </p:txBody>
      </p:sp>
      <p:cxnSp>
        <p:nvCxnSpPr>
          <p:cNvPr id="1154" name="Connector"/>
          <p:cNvCxnSpPr/>
          <p:nvPr/>
        </p:nvCxnSpPr>
        <p:spPr>
          <a:xfrm>
            <a:off x="6379464" y="3246120"/>
            <a:ext cx="219456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5" name="Box"/>
          <p:cNvSpPr/>
          <p:nvPr/>
        </p:nvSpPr>
        <p:spPr>
          <a:xfrm>
            <a:off x="9244584" y="2514600"/>
            <a:ext cx="2316480" cy="1463040"/>
          </a:xfrm>
          <a:prstGeom prst="roundRect">
            <a:avLst>
              <a:gd name="adj" fmla="val 16000"/>
            </a:avLst>
          </a:prstGeom>
          <a:solidFill>
            <a:srgbClr val="1D6FA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Deploy</a:t>
            </a:r>
          </a:p>
        </p:txBody>
      </p:sp>
      <p:cxnSp>
        <p:nvCxnSpPr>
          <p:cNvPr id="1156" name="Connector"/>
          <p:cNvCxnSpPr/>
          <p:nvPr/>
        </p:nvCxnSpPr>
        <p:spPr>
          <a:xfrm>
            <a:off x="8988552" y="3246120"/>
            <a:ext cx="219456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7" name="Box"/>
          <p:cNvSpPr/>
          <p:nvPr/>
        </p:nvSpPr>
        <p:spPr>
          <a:xfrm>
            <a:off x="11853672" y="2514600"/>
            <a:ext cx="2316480" cy="1463040"/>
          </a:xfrm>
          <a:prstGeom prst="roundRect">
            <a:avLst>
              <a:gd name="adj" fmla="val 16000"/>
            </a:avLst>
          </a:prstGeom>
          <a:solidFill>
            <a:srgbClr val="1D6FA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Validate</a:t>
            </a:r>
          </a:p>
        </p:txBody>
      </p:sp>
      <p:cxnSp>
        <p:nvCxnSpPr>
          <p:cNvPr id="1158" name="Connector"/>
          <p:cNvCxnSpPr/>
          <p:nvPr/>
        </p:nvCxnSpPr>
        <p:spPr>
          <a:xfrm>
            <a:off x="11597640" y="3246120"/>
            <a:ext cx="219456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9" name="Box"/>
          <p:cNvSpPr/>
          <p:nvPr/>
        </p:nvSpPr>
        <p:spPr>
          <a:xfrm>
            <a:off x="14462760" y="2514600"/>
            <a:ext cx="2316480" cy="146304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Recover</a:t>
            </a:r>
          </a:p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</a:rPr>
              <a:t>when required</a:t>
            </a:r>
          </a:p>
        </p:txBody>
      </p:sp>
      <p:cxnSp>
        <p:nvCxnSpPr>
          <p:cNvPr id="1160" name="Connector"/>
          <p:cNvCxnSpPr/>
          <p:nvPr/>
        </p:nvCxnSpPr>
        <p:spPr>
          <a:xfrm>
            <a:off x="14206728" y="3246120"/>
            <a:ext cx="219456" cy="457"/>
          </a:xfrm>
          <a:prstGeom prst="line">
            <a:avLst/>
          </a:prstGeom>
          <a:ln w="1905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Box"/>
          <p:cNvSpPr/>
          <p:nvPr/>
        </p:nvSpPr>
        <p:spPr>
          <a:xfrm>
            <a:off x="1417320" y="4617720"/>
            <a:ext cx="15361920" cy="4572000"/>
          </a:xfrm>
          <a:prstGeom prst="roundRect">
            <a:avLst>
              <a:gd name="adj" fmla="val 14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3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</a:rPr>
              <a:t>“The finalized process provides a controlled path from DEV source synchronization to Production deployment, with independent environment checkpoints, protected credentials, complete audit evidence, and reliable rollback capability.”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02/08/47 04:32:15 م</timestamp>
  <userName>TAWN\VDR000322</userName>
  <computerName>LTHQISD-A2X1143.TAWN.COM</computerName>
  <guid>{487a4754-da0f-4ebb-9a6d-ab42203ba5de}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/>
    </r>
    <r>
      <fontName>arial</fontName>
      <fontColor>6A1B9A</fontColor>
      <fontSize>14</fontSize>
      <b/>
      <text xml:space="preserve">Internal</text>
    </r>
  </hdr>
</GTBClassification>
</file>

<file path=customXml/itemProps1.xml><?xml version="1.0" encoding="utf-8"?>
<ds:datastoreItem xmlns:ds="http://schemas.openxmlformats.org/officeDocument/2006/customXml" ds:itemID="{F31BFC59-43D1-4653-9F61-0840CF994A9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3672</TotalTime>
  <Words>269</Words>
  <Application>Microsoft Office PowerPoint</Application>
  <PresentationFormat>Custom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 Display</vt:lpstr>
      <vt:lpstr>Arial</vt:lpstr>
      <vt:lpstr>-apple-system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T&amp;D QC Weekly Report 21 Jan</dc:title>
  <dc:creator>Yara Aldughaim</dc:creator>
  <cp:keywords>ClassificationData:&lt;Classification:Internal&gt;</cp:keywords>
  <cp:lastModifiedBy>Mohamed Elarief</cp:lastModifiedBy>
  <cp:revision>66</cp:revision>
  <dcterms:created xsi:type="dcterms:W3CDTF">2026-05-12T05:42:29Z</dcterms:created>
  <dcterms:modified xsi:type="dcterms:W3CDTF">2026-06-10T08:33:58Z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edBy">
    <vt:lpwstr>TAWN\VDR000322</vt:lpwstr>
  </property>
  <property fmtid="{D5CDD505-2E9C-101B-9397-08002B2CF9AE}" pid="4" name="ClassificationHost">
    <vt:lpwstr>LTHQISD-A2X1143.TAWN.COM</vt:lpwstr>
  </property>
  <property fmtid="{D5CDD505-2E9C-101B-9397-08002B2CF9AE}" pid="5" name="ClassificationDate">
    <vt:lpwstr>02/08/47 04:32:15 م</vt:lpwstr>
  </property>
  <property fmtid="{D5CDD505-2E9C-101B-9397-08002B2CF9AE}" pid="6" name="ClassificationGUID">
    <vt:lpwstr>{487a4754-da0f-4ebb-9a6d-ab42203ba5de}</vt:lpwstr>
  </property>
  <property fmtid="{D5CDD505-2E9C-101B-9397-08002B2CF9AE}" pid="7" name="KSOProductBuildVer">
    <vt:lpwstr>1033-12.1.25880.25880</vt:lpwstr>
  </property>
  <property fmtid="{D5CDD505-2E9C-101B-9397-08002B2CF9AE}" pid="8" name="ICV">
    <vt:lpwstr>7C7C2032D2F5AB1308BC026ACD429EA4_42</vt:lpwstr>
  </property>
</Properties>
</file>