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8"/>
  </p:notesMasterIdLst>
  <p:sldIdLst>
    <p:sldId id="256" r:id="rId3"/>
    <p:sldId id="272" r:id="rId6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D64"/>
    <a:srgbClr val="C74C4C"/>
    <a:srgbClr val="E6961C"/>
    <a:srgbClr val="325DCC"/>
    <a:srgbClr val="D6D1ED"/>
    <a:srgbClr val="8F73F2"/>
    <a:srgbClr val="6B47F5"/>
    <a:srgbClr val="8780F2"/>
    <a:srgbClr val="FFC7A0"/>
    <a:srgbClr val="FF7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 varScale="1">
        <p:scale>
          <a:sx n="71" d="100"/>
          <a:sy n="71" d="100"/>
        </p:scale>
        <p:origin x="666" y="72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  <Relationship Id="rId27" Type="http://schemas.openxmlformats.org/officeDocument/2006/relationships/slide" Target="slides/slide19.xml"/>
  <Relationship Id="rId28" Type="http://schemas.openxmlformats.org/officeDocument/2006/relationships/slide" Target="slides/slide20.xml"/>
  <Relationship Id="rId29" Type="http://schemas.openxmlformats.org/officeDocument/2006/relationships/slide" Target="slides/slide21.xml"/>
  <Relationship Id="rId30" Type="http://schemas.openxmlformats.org/officeDocument/2006/relationships/slide" Target="slides/slide22.xml"/>
  <Relationship Id="rId31" Type="http://schemas.openxmlformats.org/officeDocument/2006/relationships/slide" Target="slides/slide23.xml"/>
  <Relationship Id="rId32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44000" y="3950000"/>
            <a:ext cx="13000000" cy="25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CI/CD Deployment, Rollback, and DEV Code Synchronization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44000" y="6650000"/>
            <a:ext cx="13000000" cy="8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QC, UAT, and PROD • Jenkins, ABE, WmDeployer, Integration Server, Bitbucket • 20 September 2026 • Owner: DevOps Team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SOLUTION OBJECTIVES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1" name="Box"/>
          <p:cNvSpPr/>
          <p:nvPr/>
        </p:nvSpPr>
        <p:spPr>
          <a:xfrm>
            <a:off x="1417320" y="2331720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2" name="Badge"/>
          <p:cNvSpPr/>
          <p:nvPr/>
        </p:nvSpPr>
        <p:spPr>
          <a:xfrm>
            <a:off x="1618488" y="2754173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03" name="TextBox"/>
          <p:cNvSpPr txBox="1"/>
          <p:nvPr/>
        </p:nvSpPr>
        <p:spPr>
          <a:xfrm>
            <a:off x="2103120" y="2331720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Automated package selection from Bitbucket</a:t>
            </a:r>
          </a:p>
        </p:txBody>
      </p:sp>
      <p:sp>
        <p:nvSpPr>
          <p:cNvPr id="1004" name="Box"/>
          <p:cNvSpPr/>
          <p:nvPr/>
        </p:nvSpPr>
        <p:spPr>
          <a:xfrm>
            <a:off x="9281160" y="2331720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5" name="Badge"/>
          <p:cNvSpPr/>
          <p:nvPr/>
        </p:nvSpPr>
        <p:spPr>
          <a:xfrm>
            <a:off x="9482328" y="2754173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06" name="TextBox"/>
          <p:cNvSpPr txBox="1"/>
          <p:nvPr/>
        </p:nvSpPr>
        <p:spPr>
          <a:xfrm>
            <a:off x="9966960" y="2331720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Environment-specific builds</a:t>
            </a:r>
          </a:p>
        </p:txBody>
      </p:sp>
      <p:sp>
        <p:nvSpPr>
          <p:cNvPr id="1007" name="Box"/>
          <p:cNvSpPr/>
          <p:nvPr/>
        </p:nvSpPr>
        <p:spPr>
          <a:xfrm>
            <a:off x="1417320" y="3743554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8" name="Badge"/>
          <p:cNvSpPr/>
          <p:nvPr/>
        </p:nvSpPr>
        <p:spPr>
          <a:xfrm>
            <a:off x="1618488" y="4166006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09" name="TextBox"/>
          <p:cNvSpPr txBox="1"/>
          <p:nvPr/>
        </p:nvSpPr>
        <p:spPr>
          <a:xfrm>
            <a:off x="2103120" y="3743554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Controlled deployment through webMethods Deployer</a:t>
            </a:r>
          </a:p>
        </p:txBody>
      </p:sp>
      <p:sp>
        <p:nvSpPr>
          <p:cNvPr id="1010" name="Box"/>
          <p:cNvSpPr/>
          <p:nvPr/>
        </p:nvSpPr>
        <p:spPr>
          <a:xfrm>
            <a:off x="9281160" y="3743554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1" name="Badge"/>
          <p:cNvSpPr/>
          <p:nvPr/>
        </p:nvSpPr>
        <p:spPr>
          <a:xfrm>
            <a:off x="9482328" y="4166006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12" name="TextBox"/>
          <p:cNvSpPr txBox="1"/>
          <p:nvPr/>
        </p:nvSpPr>
        <p:spPr>
          <a:xfrm>
            <a:off x="9966960" y="3743554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Checkpoint creation before every deployment</a:t>
            </a:r>
          </a:p>
        </p:txBody>
      </p:sp>
      <p:sp>
        <p:nvSpPr>
          <p:cNvPr id="1013" name="Box"/>
          <p:cNvSpPr/>
          <p:nvPr/>
        </p:nvSpPr>
        <p:spPr>
          <a:xfrm>
            <a:off x="1417320" y="5155387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4" name="Badge"/>
          <p:cNvSpPr/>
          <p:nvPr/>
        </p:nvSpPr>
        <p:spPr>
          <a:xfrm>
            <a:off x="1618488" y="5577840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15" name="TextBox"/>
          <p:cNvSpPr txBox="1"/>
          <p:nvPr/>
        </p:nvSpPr>
        <p:spPr>
          <a:xfrm>
            <a:off x="2103120" y="5155387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Automatic rollback following deployment failure</a:t>
            </a:r>
          </a:p>
        </p:txBody>
      </p:sp>
      <p:sp>
        <p:nvSpPr>
          <p:cNvPr id="1016" name="Box"/>
          <p:cNvSpPr/>
          <p:nvPr/>
        </p:nvSpPr>
        <p:spPr>
          <a:xfrm>
            <a:off x="9281160" y="5155387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7" name="Badge"/>
          <p:cNvSpPr/>
          <p:nvPr/>
        </p:nvSpPr>
        <p:spPr>
          <a:xfrm>
            <a:off x="9482328" y="5577840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18" name="TextBox"/>
          <p:cNvSpPr txBox="1"/>
          <p:nvPr/>
        </p:nvSpPr>
        <p:spPr>
          <a:xfrm>
            <a:off x="9966960" y="5155387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Separate approved manual rollback jobs</a:t>
            </a:r>
          </a:p>
        </p:txBody>
      </p:sp>
      <p:sp>
        <p:nvSpPr>
          <p:cNvPr id="1019" name="Box"/>
          <p:cNvSpPr/>
          <p:nvPr/>
        </p:nvSpPr>
        <p:spPr>
          <a:xfrm>
            <a:off x="1417320" y="6567221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0" name="Badge"/>
          <p:cNvSpPr/>
          <p:nvPr/>
        </p:nvSpPr>
        <p:spPr>
          <a:xfrm>
            <a:off x="1618488" y="6989674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21" name="TextBox"/>
          <p:cNvSpPr txBox="1"/>
          <p:nvPr/>
        </p:nvSpPr>
        <p:spPr>
          <a:xfrm>
            <a:off x="2103120" y="6567221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Checkpoint preservation across QC, UAT, and PROD</a:t>
            </a:r>
          </a:p>
        </p:txBody>
      </p:sp>
      <p:sp>
        <p:nvSpPr>
          <p:cNvPr id="1022" name="Box"/>
          <p:cNvSpPr/>
          <p:nvPr/>
        </p:nvSpPr>
        <p:spPr>
          <a:xfrm>
            <a:off x="9281160" y="6567221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3" name="Badge"/>
          <p:cNvSpPr/>
          <p:nvPr/>
        </p:nvSpPr>
        <p:spPr>
          <a:xfrm>
            <a:off x="9482328" y="6989674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24" name="TextBox"/>
          <p:cNvSpPr txBox="1"/>
          <p:nvPr/>
        </p:nvSpPr>
        <p:spPr>
          <a:xfrm>
            <a:off x="9966960" y="6567221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Shared EPIC project governance</a:t>
            </a:r>
          </a:p>
        </p:txBody>
      </p:sp>
      <p:sp>
        <p:nvSpPr>
          <p:cNvPr id="1025" name="Box"/>
          <p:cNvSpPr/>
          <p:nvPr/>
        </p:nvSpPr>
        <p:spPr>
          <a:xfrm>
            <a:off x="1417320" y="7979054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6" name="Badge"/>
          <p:cNvSpPr/>
          <p:nvPr/>
        </p:nvSpPr>
        <p:spPr>
          <a:xfrm>
            <a:off x="1618488" y="8401507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27" name="TextBox"/>
          <p:cNvSpPr txBox="1"/>
          <p:nvPr/>
        </p:nvSpPr>
        <p:spPr>
          <a:xfrm>
            <a:off x="2103120" y="7979054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Synchronization of DEV Integration Server source code to Bitbucket</a:t>
            </a:r>
          </a:p>
        </p:txBody>
      </p:sp>
      <p:sp>
        <p:nvSpPr>
          <p:cNvPr id="1028" name="Box"/>
          <p:cNvSpPr/>
          <p:nvPr/>
        </p:nvSpPr>
        <p:spPr>
          <a:xfrm>
            <a:off x="9281160" y="7979054"/>
            <a:ext cx="7498080" cy="1210666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9" name="Badge"/>
          <p:cNvSpPr/>
          <p:nvPr/>
        </p:nvSpPr>
        <p:spPr>
          <a:xfrm>
            <a:off x="9482328" y="8401507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30" name="TextBox"/>
          <p:cNvSpPr txBox="1"/>
          <p:nvPr/>
        </p:nvSpPr>
        <p:spPr>
          <a:xfrm>
            <a:off x="9966960" y="7979054"/>
            <a:ext cx="6583680" cy="12106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Jenkins email notifications, logs, and archived artifacts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MAIN TECHNOLOGY COMPONENTS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1" name="TextBox"/>
          <p:cNvSpPr txBox="1"/>
          <p:nvPr/>
        </p:nvSpPr>
        <p:spPr>
          <a:xfrm>
            <a:off x="1417320" y="233172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END-TO-END TOOLCHAIN</a:t>
            </a:r>
          </a:p>
        </p:txBody>
      </p:sp>
      <p:sp>
        <p:nvSpPr>
          <p:cNvPr id="1032" name="Box"/>
          <p:cNvSpPr/>
          <p:nvPr/>
        </p:nvSpPr>
        <p:spPr>
          <a:xfrm>
            <a:off x="1417320" y="2834640"/>
            <a:ext cx="2867558" cy="1371600"/>
          </a:xfrm>
          <a:prstGeom prst="roundRect">
            <a:avLst>
              <a:gd name="adj" fmla="val 12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Jenkins</a:t>
            </a:r>
          </a:p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Controller</a:t>
            </a:r>
          </a:p>
        </p:txBody>
      </p:sp>
      <p:sp>
        <p:nvSpPr>
          <p:cNvPr id="1033" name="Box"/>
          <p:cNvSpPr/>
          <p:nvPr/>
        </p:nvSpPr>
        <p:spPr>
          <a:xfrm>
            <a:off x="4540910" y="2834640"/>
            <a:ext cx="2867558" cy="1371600"/>
          </a:xfrm>
          <a:prstGeom prst="roundRect">
            <a:avLst>
              <a:gd name="adj" fmla="val 12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Jenkins Agent</a:t>
            </a:r>
          </a:p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HQV-SAG-DEPP01</a:t>
            </a:r>
          </a:p>
        </p:txBody>
      </p:sp>
      <p:cxnSp>
        <p:nvCxnSpPr>
          <p:cNvPr id="1034" name="Connector"/>
          <p:cNvCxnSpPr/>
          <p:nvPr/>
        </p:nvCxnSpPr>
        <p:spPr>
          <a:xfrm>
            <a:off x="4312310" y="3520440"/>
            <a:ext cx="201168" cy="457"/>
          </a:xfrm>
          <a:prstGeom prst="line">
            <a:avLst/>
          </a:prstGeom>
          <a:ln w="1778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Box"/>
          <p:cNvSpPr/>
          <p:nvPr/>
        </p:nvSpPr>
        <p:spPr>
          <a:xfrm>
            <a:off x="7664501" y="2834640"/>
            <a:ext cx="2867558" cy="1371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Bitbucket</a:t>
            </a:r>
          </a:p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EI/webmethods-source-code</a:t>
            </a:r>
          </a:p>
        </p:txBody>
      </p:sp>
      <p:cxnSp>
        <p:nvCxnSpPr>
          <p:cNvPr id="1036" name="Connector"/>
          <p:cNvCxnSpPr/>
          <p:nvPr/>
        </p:nvCxnSpPr>
        <p:spPr>
          <a:xfrm>
            <a:off x="7435901" y="3520440"/>
            <a:ext cx="201168" cy="457"/>
          </a:xfrm>
          <a:prstGeom prst="line">
            <a:avLst/>
          </a:prstGeom>
          <a:ln w="1778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Box"/>
          <p:cNvSpPr/>
          <p:nvPr/>
        </p:nvSpPr>
        <p:spPr>
          <a:xfrm>
            <a:off x="10788091" y="2834640"/>
            <a:ext cx="2867558" cy="1371600"/>
          </a:xfrm>
          <a:prstGeom prst="roundRect">
            <a:avLst>
              <a:gd name="adj" fmla="val 12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Asset Build</a:t>
            </a:r>
          </a:p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Environment</a:t>
            </a:r>
          </a:p>
        </p:txBody>
      </p:sp>
      <p:cxnSp>
        <p:nvCxnSpPr>
          <p:cNvPr id="1038" name="Connector"/>
          <p:cNvCxnSpPr/>
          <p:nvPr/>
        </p:nvCxnSpPr>
        <p:spPr>
          <a:xfrm>
            <a:off x="10559491" y="3520440"/>
            <a:ext cx="201168" cy="457"/>
          </a:xfrm>
          <a:prstGeom prst="line">
            <a:avLst/>
          </a:prstGeom>
          <a:ln w="1778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Box"/>
          <p:cNvSpPr/>
          <p:nvPr/>
        </p:nvSpPr>
        <p:spPr>
          <a:xfrm>
            <a:off x="13911682" y="2834640"/>
            <a:ext cx="2867558" cy="1371600"/>
          </a:xfrm>
          <a:prstGeom prst="roundRect">
            <a:avLst>
              <a:gd name="adj" fmla="val 12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</a:rPr>
              <a:t>WmDeployer</a:t>
            </a:r>
          </a:p>
        </p:txBody>
      </p:sp>
      <p:cxnSp>
        <p:nvCxnSpPr>
          <p:cNvPr id="1040" name="Connector"/>
          <p:cNvCxnSpPr/>
          <p:nvPr/>
        </p:nvCxnSpPr>
        <p:spPr>
          <a:xfrm>
            <a:off x="13683082" y="3520440"/>
            <a:ext cx="201168" cy="457"/>
          </a:xfrm>
          <a:prstGeom prst="line">
            <a:avLst/>
          </a:prstGeom>
          <a:ln w="1778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TextBox"/>
          <p:cNvSpPr txBox="1"/>
          <p:nvPr/>
        </p:nvSpPr>
        <p:spPr>
          <a:xfrm>
            <a:off x="1417320" y="4343400"/>
            <a:ext cx="15361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5B5F73"/>
                </a:solidFill>
                <a:latin typeface="Aptos" pitchFamily="34" charset="0"/>
              </a:rPr>
              <a:t>Branches: QC • UAT • PROD</a:t>
            </a:r>
          </a:p>
        </p:txBody>
      </p:sp>
      <p:cxnSp>
        <p:nvCxnSpPr>
          <p:cNvPr id="1042" name="Connector"/>
          <p:cNvCxnSpPr/>
          <p:nvPr/>
        </p:nvCxnSpPr>
        <p:spPr>
          <a:xfrm>
            <a:off x="15345461" y="4206240"/>
            <a:ext cx="457" cy="274320"/>
          </a:xfrm>
          <a:prstGeom prst="line">
            <a:avLst/>
          </a:prstGeom>
          <a:ln w="19050">
            <a:solidFill>
              <a:srgbClr val="C97A1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"/>
          <p:cNvCxnSpPr/>
          <p:nvPr/>
        </p:nvCxnSpPr>
        <p:spPr>
          <a:xfrm flipH="1">
            <a:off x="9098280" y="4480560"/>
            <a:ext cx="6247181" cy="457"/>
          </a:xfrm>
          <a:prstGeom prst="line">
            <a:avLst/>
          </a:prstGeom>
          <a:ln w="19050">
            <a:solidFill>
              <a:srgbClr val="C97A1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"/>
          <p:cNvCxnSpPr/>
          <p:nvPr/>
        </p:nvCxnSpPr>
        <p:spPr>
          <a:xfrm>
            <a:off x="9098280" y="4480560"/>
            <a:ext cx="457" cy="320040"/>
          </a:xfrm>
          <a:prstGeom prst="line">
            <a:avLst/>
          </a:prstGeom>
          <a:ln w="19050">
            <a:solidFill>
              <a:srgbClr val="C97A1E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Box"/>
          <p:cNvSpPr/>
          <p:nvPr/>
        </p:nvSpPr>
        <p:spPr>
          <a:xfrm>
            <a:off x="1417320" y="4800600"/>
            <a:ext cx="4876800" cy="1234440"/>
          </a:xfrm>
          <a:prstGeom prst="roundRect">
            <a:avLst>
              <a:gd name="adj" fmla="val 12000"/>
            </a:avLst>
          </a:prstGeom>
          <a:solidFill>
            <a:srgbClr val="EFEAFB"/>
          </a:solidFill>
          <a:ln w="9525">
            <a:solidFill>
              <a:srgbClr val="D6C6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4FB0"/>
                </a:solidFill>
                <a:latin typeface="Aptos" pitchFamily="34" charset="0"/>
              </a:rPr>
              <a:t>QC Integration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4FB0"/>
                </a:solidFill>
                <a:latin typeface="Aptos" pitchFamily="34" charset="0"/>
              </a:rPr>
              <a:t>Server</a:t>
            </a:r>
          </a:p>
        </p:txBody>
      </p:sp>
      <p:sp>
        <p:nvSpPr>
          <p:cNvPr id="1046" name="Box"/>
          <p:cNvSpPr/>
          <p:nvPr/>
        </p:nvSpPr>
        <p:spPr>
          <a:xfrm>
            <a:off x="6659880" y="4800600"/>
            <a:ext cx="4876800" cy="123444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D6FA5"/>
                </a:solidFill>
                <a:latin typeface="Aptos" pitchFamily="34" charset="0"/>
              </a:rPr>
              <a:t>UAT Integration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D6FA5"/>
                </a:solidFill>
                <a:latin typeface="Aptos" pitchFamily="34" charset="0"/>
              </a:rPr>
              <a:t>Server</a:t>
            </a:r>
          </a:p>
        </p:txBody>
      </p:sp>
      <p:sp>
        <p:nvSpPr>
          <p:cNvPr id="1047" name="Box"/>
          <p:cNvSpPr/>
          <p:nvPr/>
        </p:nvSpPr>
        <p:spPr>
          <a:xfrm>
            <a:off x="11902440" y="4800600"/>
            <a:ext cx="4876800" cy="1234440"/>
          </a:xfrm>
          <a:prstGeom prst="roundRect">
            <a:avLst>
              <a:gd name="adj" fmla="val 12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02B6E"/>
                </a:solidFill>
                <a:latin typeface="Aptos" pitchFamily="34" charset="0"/>
              </a:rPr>
              <a:t>PROD Integration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02B6E"/>
                </a:solidFill>
                <a:latin typeface="Aptos" pitchFamily="34" charset="0"/>
              </a:rPr>
              <a:t>Server Cluster (4 nodes)</a:t>
            </a:r>
          </a:p>
        </p:txBody>
      </p:sp>
      <p:sp>
        <p:nvSpPr>
          <p:cNvPr id="1048" name="Note"/>
          <p:cNvSpPr/>
          <p:nvPr/>
        </p:nvSpPr>
        <p:spPr>
          <a:xfrm>
            <a:off x="1417320" y="6355080"/>
            <a:ext cx="7066483" cy="100584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49" name="TextBox"/>
          <p:cNvSpPr txBox="1"/>
          <p:nvPr/>
        </p:nvSpPr>
        <p:spPr>
          <a:xfrm>
            <a:off x="1673352" y="6519672"/>
            <a:ext cx="65544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5B4FE0"/>
                </a:solidFill>
                <a:latin typeface="Aptos" pitchFamily="34" charset="0"/>
              </a:rPr>
              <a:t>SUPPORTING SERVICES</a:t>
            </a:r>
          </a:p>
        </p:txBody>
      </p:sp>
      <p:sp>
        <p:nvSpPr>
          <p:cNvPr id="1050" name="TextBox"/>
          <p:cNvSpPr txBox="1"/>
          <p:nvPr/>
        </p:nvSpPr>
        <p:spPr>
          <a:xfrm>
            <a:off x="1673352" y="6858000"/>
            <a:ext cx="65544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Jenkins Credentials store injects deployment credentials. Email Notification Service sends start, success, and failure messages.</a:t>
            </a:r>
          </a:p>
        </p:txBody>
      </p:sp>
      <p:sp>
        <p:nvSpPr>
          <p:cNvPr id="1051" name="Code"/>
          <p:cNvSpPr/>
          <p:nvPr/>
        </p:nvSpPr>
        <p:spPr>
          <a:xfrm>
            <a:off x="8758123" y="6355080"/>
            <a:ext cx="8021117" cy="100584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SAG_HOME=/sag/dbp1011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JAVA_HOME=/sag/dbp1011/jvm/jvm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ENVIRONMENT AND TARGET 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52" name="TableHeadBg"/>
          <p:cNvSpPr/>
          <p:nvPr/>
        </p:nvSpPr>
        <p:spPr>
          <a:xfrm>
            <a:off x="1417320" y="2514600"/>
            <a:ext cx="15361920" cy="502920"/>
          </a:xfrm>
          <a:prstGeom prst="roundRect">
            <a:avLst>
              <a:gd name="adj" fmla="val 1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3" name="TextBox"/>
          <p:cNvSpPr txBox="1"/>
          <p:nvPr/>
        </p:nvSpPr>
        <p:spPr>
          <a:xfrm>
            <a:off x="1554480" y="2514600"/>
            <a:ext cx="20890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Environment</a:t>
            </a:r>
          </a:p>
        </p:txBody>
      </p:sp>
      <p:sp>
        <p:nvSpPr>
          <p:cNvPr id="1054" name="TextBox"/>
          <p:cNvSpPr txBox="1"/>
          <p:nvPr/>
        </p:nvSpPr>
        <p:spPr>
          <a:xfrm>
            <a:off x="3917852" y="2514600"/>
            <a:ext cx="20890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Branch</a:t>
            </a:r>
          </a:p>
        </p:txBody>
      </p:sp>
      <p:sp>
        <p:nvSpPr>
          <p:cNvPr id="1055" name="TextBox"/>
          <p:cNvSpPr txBox="1"/>
          <p:nvPr/>
        </p:nvSpPr>
        <p:spPr>
          <a:xfrm>
            <a:off x="6281225" y="2514600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Candidate</a:t>
            </a:r>
          </a:p>
        </p:txBody>
      </p:sp>
      <p:sp>
        <p:nvSpPr>
          <p:cNvPr id="1056" name="TextBox"/>
          <p:cNvSpPr txBox="1"/>
          <p:nvPr/>
        </p:nvSpPr>
        <p:spPr>
          <a:xfrm>
            <a:off x="9353609" y="2514600"/>
            <a:ext cx="350707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Target alias</a:t>
            </a:r>
          </a:p>
        </p:txBody>
      </p:sp>
      <p:sp>
        <p:nvSpPr>
          <p:cNvPr id="1057" name="TextBox"/>
          <p:cNvSpPr txBox="1"/>
          <p:nvPr/>
        </p:nvSpPr>
        <p:spPr>
          <a:xfrm>
            <a:off x="13135004" y="2514600"/>
            <a:ext cx="350707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Target</a:t>
            </a:r>
          </a:p>
        </p:txBody>
      </p:sp>
      <p:sp>
        <p:nvSpPr>
          <p:cNvPr id="1058" name="TableRow0"/>
          <p:cNvSpPr/>
          <p:nvPr/>
        </p:nvSpPr>
        <p:spPr>
          <a:xfrm>
            <a:off x="1417320" y="3072384"/>
            <a:ext cx="1536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9" name="TextBox"/>
          <p:cNvSpPr txBox="1"/>
          <p:nvPr/>
        </p:nvSpPr>
        <p:spPr>
          <a:xfrm>
            <a:off x="1554480" y="3072384"/>
            <a:ext cx="20890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QC</a:t>
            </a:r>
          </a:p>
        </p:txBody>
      </p:sp>
      <p:sp>
        <p:nvSpPr>
          <p:cNvPr id="1060" name="TextBox"/>
          <p:cNvSpPr txBox="1"/>
          <p:nvPr/>
        </p:nvSpPr>
        <p:spPr>
          <a:xfrm>
            <a:off x="3917852" y="3072384"/>
            <a:ext cx="20890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QC</a:t>
            </a:r>
          </a:p>
        </p:txBody>
      </p:sp>
      <p:sp>
        <p:nvSpPr>
          <p:cNvPr id="1061" name="TextBox"/>
          <p:cNvSpPr txBox="1"/>
          <p:nvPr/>
        </p:nvSpPr>
        <p:spPr>
          <a:xfrm>
            <a:off x="6281225" y="3072384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&lt;EPIC&gt;_QC</a:t>
            </a:r>
          </a:p>
        </p:txBody>
      </p:sp>
      <p:sp>
        <p:nvSpPr>
          <p:cNvPr id="1062" name="TextBox"/>
          <p:cNvSpPr txBox="1"/>
          <p:nvPr/>
        </p:nvSpPr>
        <p:spPr>
          <a:xfrm>
            <a:off x="9353609" y="3072384"/>
            <a:ext cx="350707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QC_IS_181</a:t>
            </a:r>
          </a:p>
        </p:txBody>
      </p:sp>
      <p:sp>
        <p:nvSpPr>
          <p:cNvPr id="1063" name="TextBox"/>
          <p:cNvSpPr txBox="1"/>
          <p:nvPr/>
        </p:nvSpPr>
        <p:spPr>
          <a:xfrm>
            <a:off x="13135004" y="3072384"/>
            <a:ext cx="350707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10.24.7.181:5555</a:t>
            </a:r>
          </a:p>
        </p:txBody>
      </p:sp>
      <p:sp>
        <p:nvSpPr>
          <p:cNvPr id="1064" name="TableRow1"/>
          <p:cNvSpPr/>
          <p:nvPr/>
        </p:nvSpPr>
        <p:spPr>
          <a:xfrm>
            <a:off x="1417320" y="3639312"/>
            <a:ext cx="15361920" cy="566928"/>
          </a:xfrm>
          <a:prstGeom prst="rect">
            <a:avLst/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65" name="TextBox"/>
          <p:cNvSpPr txBox="1"/>
          <p:nvPr/>
        </p:nvSpPr>
        <p:spPr>
          <a:xfrm>
            <a:off x="1554480" y="3639312"/>
            <a:ext cx="20890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UAT</a:t>
            </a:r>
          </a:p>
        </p:txBody>
      </p:sp>
      <p:sp>
        <p:nvSpPr>
          <p:cNvPr id="1066" name="TextBox"/>
          <p:cNvSpPr txBox="1"/>
          <p:nvPr/>
        </p:nvSpPr>
        <p:spPr>
          <a:xfrm>
            <a:off x="3917852" y="3639312"/>
            <a:ext cx="20890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UAT</a:t>
            </a:r>
          </a:p>
        </p:txBody>
      </p:sp>
      <p:sp>
        <p:nvSpPr>
          <p:cNvPr id="1067" name="TextBox"/>
          <p:cNvSpPr txBox="1"/>
          <p:nvPr/>
        </p:nvSpPr>
        <p:spPr>
          <a:xfrm>
            <a:off x="6281225" y="3639312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&lt;EPIC&gt;_UAT</a:t>
            </a:r>
          </a:p>
        </p:txBody>
      </p:sp>
      <p:sp>
        <p:nvSpPr>
          <p:cNvPr id="1068" name="TextBox"/>
          <p:cNvSpPr txBox="1"/>
          <p:nvPr/>
        </p:nvSpPr>
        <p:spPr>
          <a:xfrm>
            <a:off x="9353609" y="3639312"/>
            <a:ext cx="350707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UAT_IS_27</a:t>
            </a:r>
          </a:p>
        </p:txBody>
      </p:sp>
      <p:sp>
        <p:nvSpPr>
          <p:cNvPr id="1069" name="TextBox"/>
          <p:cNvSpPr txBox="1"/>
          <p:nvPr/>
        </p:nvSpPr>
        <p:spPr>
          <a:xfrm>
            <a:off x="13135004" y="3639312"/>
            <a:ext cx="350707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10.24.7.27:5555</a:t>
            </a:r>
          </a:p>
        </p:txBody>
      </p:sp>
      <p:sp>
        <p:nvSpPr>
          <p:cNvPr id="1070" name="TableRow2"/>
          <p:cNvSpPr/>
          <p:nvPr/>
        </p:nvSpPr>
        <p:spPr>
          <a:xfrm>
            <a:off x="1417320" y="4206240"/>
            <a:ext cx="1536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1" name="TextBox"/>
          <p:cNvSpPr txBox="1"/>
          <p:nvPr/>
        </p:nvSpPr>
        <p:spPr>
          <a:xfrm>
            <a:off x="1554480" y="4206240"/>
            <a:ext cx="20890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PROD</a:t>
            </a:r>
          </a:p>
        </p:txBody>
      </p:sp>
      <p:sp>
        <p:nvSpPr>
          <p:cNvPr id="1072" name="TextBox"/>
          <p:cNvSpPr txBox="1"/>
          <p:nvPr/>
        </p:nvSpPr>
        <p:spPr>
          <a:xfrm>
            <a:off x="3917852" y="4206240"/>
            <a:ext cx="20890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PROD</a:t>
            </a:r>
          </a:p>
        </p:txBody>
      </p:sp>
      <p:sp>
        <p:nvSpPr>
          <p:cNvPr id="1073" name="TextBox"/>
          <p:cNvSpPr txBox="1"/>
          <p:nvPr/>
        </p:nvSpPr>
        <p:spPr>
          <a:xfrm>
            <a:off x="6281225" y="4206240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Courier New" pitchFamily="34" charset="0"/>
              </a:rPr>
              <a:t>&lt;EPIC&gt;_PROD</a:t>
            </a:r>
          </a:p>
        </p:txBody>
      </p:sp>
      <p:sp>
        <p:nvSpPr>
          <p:cNvPr id="1074" name="TextBox"/>
          <p:cNvSpPr txBox="1"/>
          <p:nvPr/>
        </p:nvSpPr>
        <p:spPr>
          <a:xfrm>
            <a:off x="9353609" y="4206240"/>
            <a:ext cx="350707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One selected PROD alias</a:t>
            </a:r>
          </a:p>
        </p:txBody>
      </p:sp>
      <p:sp>
        <p:nvSpPr>
          <p:cNvPr id="1075" name="TextBox"/>
          <p:cNvSpPr txBox="1"/>
          <p:nvPr/>
        </p:nvSpPr>
        <p:spPr>
          <a:xfrm>
            <a:off x="13135004" y="4206240"/>
            <a:ext cx="350707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Four-node cluster</a:t>
            </a:r>
          </a:p>
        </p:txBody>
      </p:sp>
      <p:sp>
        <p:nvSpPr>
          <p:cNvPr id="1076" name="TextBox"/>
          <p:cNvSpPr txBox="1"/>
          <p:nvPr/>
        </p:nvSpPr>
        <p:spPr>
          <a:xfrm>
            <a:off x="1417320" y="513892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PROD CLUSTER ALIASES</a:t>
            </a:r>
          </a:p>
        </p:txBody>
      </p:sp>
      <p:sp>
        <p:nvSpPr>
          <p:cNvPr id="1077" name="Code"/>
          <p:cNvSpPr/>
          <p:nvPr/>
        </p:nvSpPr>
        <p:spPr>
          <a:xfrm>
            <a:off x="1417320" y="5504688"/>
            <a:ext cx="7680960" cy="17373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PROD_IS1_20 → 10.24.49.20:5555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PROD_IS2_21 → 10.24.49.21:5555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PROD_IS3_22 → 10.24.49.22:5555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PROD_IS4_23 → 10.24.49.23:5555</a:t>
            </a:r>
          </a:p>
        </p:txBody>
      </p:sp>
      <p:sp>
        <p:nvSpPr>
          <p:cNvPr id="1078" name="Note"/>
          <p:cNvSpPr/>
          <p:nvPr/>
        </p:nvSpPr>
        <p:spPr>
          <a:xfrm>
            <a:off x="9464040" y="5504688"/>
            <a:ext cx="7315200" cy="173736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9" name="TextBox"/>
          <p:cNvSpPr txBox="1"/>
          <p:nvPr/>
        </p:nvSpPr>
        <p:spPr>
          <a:xfrm>
            <a:off x="9720072" y="5669280"/>
            <a:ext cx="680313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C97A1E"/>
                </a:solidFill>
                <a:latin typeface="Aptos" pitchFamily="34" charset="0"/>
              </a:rPr>
              <a:t>SINGLE-SELECT RULE</a:t>
            </a:r>
          </a:p>
        </p:txBody>
      </p:sp>
      <p:sp>
        <p:nvSpPr>
          <p:cNvPr id="1080" name="TextBox"/>
          <p:cNvSpPr txBox="1"/>
          <p:nvPr/>
        </p:nvSpPr>
        <p:spPr>
          <a:xfrm>
            <a:off x="9720072" y="6007608"/>
            <a:ext cx="680313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The PROD parameter is single-select. Only one alias is added to the PROD deployment map, although all four aliases are defined in the Deployer environment.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PROD CLUSTER SELECTION BEHAVIOR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1" name="Chip"/>
          <p:cNvSpPr/>
          <p:nvPr/>
        </p:nvSpPr>
        <p:spPr>
          <a:xfrm>
            <a:off x="141732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OPTION 2 — IMPLEMENTED</a:t>
            </a:r>
          </a:p>
        </p:txBody>
      </p:sp>
      <p:sp>
        <p:nvSpPr>
          <p:cNvPr id="1082" name="Badge"/>
          <p:cNvSpPr/>
          <p:nvPr/>
        </p:nvSpPr>
        <p:spPr>
          <a:xfrm>
            <a:off x="1463040" y="3008376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83" name="TextBox"/>
          <p:cNvSpPr txBox="1"/>
          <p:nvPr/>
        </p:nvSpPr>
        <p:spPr>
          <a:xfrm>
            <a:off x="1920240" y="2926080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All four PROD aliases are displayed.</a:t>
            </a:r>
          </a:p>
        </p:txBody>
      </p:sp>
      <p:sp>
        <p:nvSpPr>
          <p:cNvPr id="1084" name="Badge"/>
          <p:cNvSpPr/>
          <p:nvPr/>
        </p:nvSpPr>
        <p:spPr>
          <a:xfrm>
            <a:off x="1463040" y="3666744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085" name="TextBox"/>
          <p:cNvSpPr txBox="1"/>
          <p:nvPr/>
        </p:nvSpPr>
        <p:spPr>
          <a:xfrm>
            <a:off x="1920240" y="3584448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The operator selects exactly one alias.</a:t>
            </a:r>
          </a:p>
        </p:txBody>
      </p:sp>
      <p:sp>
        <p:nvSpPr>
          <p:cNvPr id="1086" name="Badge"/>
          <p:cNvSpPr/>
          <p:nvPr/>
        </p:nvSpPr>
        <p:spPr>
          <a:xfrm>
            <a:off x="1463040" y="4325112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087" name="TextBox"/>
          <p:cNvSpPr txBox="1"/>
          <p:nvPr/>
        </p:nvSpPr>
        <p:spPr>
          <a:xfrm>
            <a:off x="1920240" y="4242816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Only that alias is assigned to the PROD deployment map.</a:t>
            </a:r>
          </a:p>
        </p:txBody>
      </p:sp>
      <p:sp>
        <p:nvSpPr>
          <p:cNvPr id="1088" name="Badge"/>
          <p:cNvSpPr/>
          <p:nvPr/>
        </p:nvSpPr>
        <p:spPr>
          <a:xfrm>
            <a:off x="1463040" y="4983480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089" name="TextBox"/>
          <p:cNvSpPr txBox="1"/>
          <p:nvPr/>
        </p:nvSpPr>
        <p:spPr>
          <a:xfrm>
            <a:off x="1920240" y="4901184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All four aliases represent members of the same PROD cluster.</a:t>
            </a:r>
          </a:p>
        </p:txBody>
      </p:sp>
      <p:sp>
        <p:nvSpPr>
          <p:cNvPr id="1090" name="Badge"/>
          <p:cNvSpPr/>
          <p:nvPr/>
        </p:nvSpPr>
        <p:spPr>
          <a:xfrm>
            <a:off x="1463040" y="5641848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5</a:t>
            </a:r>
          </a:p>
        </p:txBody>
      </p:sp>
      <p:sp>
        <p:nvSpPr>
          <p:cNvPr id="1091" name="TextBox"/>
          <p:cNvSpPr txBox="1"/>
          <p:nvPr/>
        </p:nvSpPr>
        <p:spPr>
          <a:xfrm>
            <a:off x="1920240" y="5559552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The selected alias is recorded in &lt;EPIC&gt;.targets.</a:t>
            </a:r>
          </a:p>
        </p:txBody>
      </p:sp>
      <p:sp>
        <p:nvSpPr>
          <p:cNvPr id="1092" name="Badge"/>
          <p:cNvSpPr/>
          <p:nvPr/>
        </p:nvSpPr>
        <p:spPr>
          <a:xfrm>
            <a:off x="1463040" y="6300216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6</a:t>
            </a:r>
          </a:p>
        </p:txBody>
      </p:sp>
      <p:sp>
        <p:nvSpPr>
          <p:cNvPr id="1093" name="TextBox"/>
          <p:cNvSpPr txBox="1"/>
          <p:nvPr/>
        </p:nvSpPr>
        <p:spPr>
          <a:xfrm>
            <a:off x="1920240" y="6217920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Later deployments for the same EPIC must use the same PROD alias.</a:t>
            </a:r>
          </a:p>
        </p:txBody>
      </p:sp>
      <p:sp>
        <p:nvSpPr>
          <p:cNvPr id="1094" name="Badge"/>
          <p:cNvSpPr/>
          <p:nvPr/>
        </p:nvSpPr>
        <p:spPr>
          <a:xfrm>
            <a:off x="1463040" y="6958584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7</a:t>
            </a:r>
          </a:p>
        </p:txBody>
      </p:sp>
      <p:sp>
        <p:nvSpPr>
          <p:cNvPr id="1095" name="TextBox"/>
          <p:cNvSpPr txBox="1"/>
          <p:nvPr/>
        </p:nvSpPr>
        <p:spPr>
          <a:xfrm>
            <a:off x="1920240" y="6876288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Selecting a different alias fails the pipeline before modifying the Deployer project.</a:t>
            </a:r>
          </a:p>
        </p:txBody>
      </p:sp>
      <p:sp>
        <p:nvSpPr>
          <p:cNvPr id="1096" name="Badge"/>
          <p:cNvSpPr/>
          <p:nvPr/>
        </p:nvSpPr>
        <p:spPr>
          <a:xfrm>
            <a:off x="1463040" y="7616952"/>
            <a:ext cx="310896" cy="310896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8</a:t>
            </a:r>
          </a:p>
        </p:txBody>
      </p:sp>
      <p:sp>
        <p:nvSpPr>
          <p:cNvPr id="1097" name="TextBox"/>
          <p:cNvSpPr txBox="1"/>
          <p:nvPr/>
        </p:nvSpPr>
        <p:spPr>
          <a:xfrm>
            <a:off x="1920240" y="7534656"/>
            <a:ext cx="8714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This protects the existing PROD checkpoint.</a:t>
            </a:r>
          </a:p>
        </p:txBody>
      </p:sp>
      <p:sp>
        <p:nvSpPr>
          <p:cNvPr id="1098" name="Code"/>
          <p:cNvSpPr/>
          <p:nvPr/>
        </p:nvSpPr>
        <p:spPr>
          <a:xfrm>
            <a:off x="11000232" y="2926080"/>
            <a:ext cx="5779008" cy="21945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EPIC_DevOps30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 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First PROD alias: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  PROD_IS2_21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 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Future PROD runs: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  must continue using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  PROD_IS2_21</a:t>
            </a:r>
          </a:p>
        </p:txBody>
      </p:sp>
      <p:sp>
        <p:nvSpPr>
          <p:cNvPr id="1099" name="Note"/>
          <p:cNvSpPr/>
          <p:nvPr/>
        </p:nvSpPr>
        <p:spPr>
          <a:xfrm>
            <a:off x="11000232" y="5303520"/>
            <a:ext cx="5779008" cy="38862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0" name="TextBox"/>
          <p:cNvSpPr txBox="1"/>
          <p:nvPr/>
        </p:nvSpPr>
        <p:spPr>
          <a:xfrm>
            <a:off x="11256264" y="5468112"/>
            <a:ext cx="526694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C0392B"/>
                </a:solidFill>
                <a:latin typeface="Aptos" pitchFamily="34" charset="0"/>
              </a:rPr>
              <a:t>WHY IT MATTERS</a:t>
            </a:r>
          </a:p>
        </p:txBody>
      </p:sp>
      <p:sp>
        <p:nvSpPr>
          <p:cNvPr id="1101" name="TextBox"/>
          <p:cNvSpPr txBox="1"/>
          <p:nvPr/>
        </p:nvSpPr>
        <p:spPr>
          <a:xfrm>
            <a:off x="11256264" y="5806440"/>
            <a:ext cx="5266944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Switching the PROD alias mid-EPIC would target a different cluster member than the one holding the existing checkpoint.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SHARED EPIC DEPLOYER PROJECT DESIGN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02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One Deployer project is created per EPIC, with three independent deployment configurations inside it.</a:t>
            </a:r>
          </a:p>
        </p:txBody>
      </p:sp>
      <p:sp>
        <p:nvSpPr>
          <p:cNvPr id="1103" name="Code"/>
          <p:cNvSpPr/>
          <p:nvPr/>
        </p:nvSpPr>
        <p:spPr>
          <a:xfrm>
            <a:off x="1417320" y="2880360"/>
            <a:ext cx="15361920" cy="5943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D7DAF5"/>
                </a:solidFill>
                <a:latin typeface="Courier New" pitchFamily="34" charset="0"/>
              </a:rPr>
              <a:t>Project: &lt;EPIC&gt;</a:t>
            </a:r>
          </a:p>
        </p:txBody>
      </p:sp>
      <p:sp>
        <p:nvSpPr>
          <p:cNvPr id="1104" name="Box"/>
          <p:cNvSpPr/>
          <p:nvPr/>
        </p:nvSpPr>
        <p:spPr>
          <a:xfrm>
            <a:off x="1417320" y="3749040"/>
            <a:ext cx="4876800" cy="192024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5" name="Chip"/>
          <p:cNvSpPr/>
          <p:nvPr/>
        </p:nvSpPr>
        <p:spPr>
          <a:xfrm>
            <a:off x="1645920" y="39319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QC</a:t>
            </a:r>
          </a:p>
        </p:txBody>
      </p:sp>
      <p:sp>
        <p:nvSpPr>
          <p:cNvPr id="1106" name="TextBox"/>
          <p:cNvSpPr txBox="1"/>
          <p:nvPr/>
        </p:nvSpPr>
        <p:spPr>
          <a:xfrm>
            <a:off x="1645920" y="4434840"/>
            <a:ext cx="441960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252545"/>
                </a:solidFill>
                <a:latin typeface="Courier New" pitchFamily="34" charset="0"/>
              </a:rPr>
              <a:t>&lt;EPIC&gt;_QC_DEPLOYMENT_SET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252545"/>
                </a:solidFill>
                <a:latin typeface="Courier New" pitchFamily="34" charset="0"/>
              </a:rPr>
              <a:t>&lt;EPIC&gt;_QC_DEPLOYMENT_MAP</a:t>
            </a:r>
          </a:p>
          <a:p>
            <a:pPr algn="l">
              <a:buNone/>
            </a:pPr>
            <a:r>
              <a:rPr lang="en-US" sz="1000" b="1" dirty="0">
                <a:solidFill>
                  <a:srgbClr val="252545"/>
                </a:solidFill>
                <a:latin typeface="Courier New" pitchFamily="34" charset="0"/>
              </a:rPr>
              <a:t>&lt;EPIC&gt;_QC</a:t>
            </a:r>
          </a:p>
        </p:txBody>
      </p:sp>
      <p:sp>
        <p:nvSpPr>
          <p:cNvPr id="1107" name="Box"/>
          <p:cNvSpPr/>
          <p:nvPr/>
        </p:nvSpPr>
        <p:spPr>
          <a:xfrm>
            <a:off x="6659880" y="3749040"/>
            <a:ext cx="4876800" cy="192024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8" name="Chip"/>
          <p:cNvSpPr/>
          <p:nvPr/>
        </p:nvSpPr>
        <p:spPr>
          <a:xfrm>
            <a:off x="6888480" y="39319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D6FA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UAT</a:t>
            </a:r>
          </a:p>
        </p:txBody>
      </p:sp>
      <p:sp>
        <p:nvSpPr>
          <p:cNvPr id="1109" name="TextBox"/>
          <p:cNvSpPr txBox="1"/>
          <p:nvPr/>
        </p:nvSpPr>
        <p:spPr>
          <a:xfrm>
            <a:off x="6888480" y="4434840"/>
            <a:ext cx="441960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252545"/>
                </a:solidFill>
                <a:latin typeface="Courier New" pitchFamily="34" charset="0"/>
              </a:rPr>
              <a:t>&lt;EPIC&gt;_UAT_DEPLOYMENT_SET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252545"/>
                </a:solidFill>
                <a:latin typeface="Courier New" pitchFamily="34" charset="0"/>
              </a:rPr>
              <a:t>&lt;EPIC&gt;_UAT_DEPLOYMENT_MAP</a:t>
            </a:r>
          </a:p>
          <a:p>
            <a:pPr algn="l">
              <a:buNone/>
            </a:pPr>
            <a:r>
              <a:rPr lang="en-US" sz="1000" b="1" dirty="0">
                <a:solidFill>
                  <a:srgbClr val="252545"/>
                </a:solidFill>
                <a:latin typeface="Courier New" pitchFamily="34" charset="0"/>
              </a:rPr>
              <a:t>&lt;EPIC&gt;_UAT</a:t>
            </a:r>
          </a:p>
        </p:txBody>
      </p:sp>
      <p:sp>
        <p:nvSpPr>
          <p:cNvPr id="1110" name="Box"/>
          <p:cNvSpPr/>
          <p:nvPr/>
        </p:nvSpPr>
        <p:spPr>
          <a:xfrm>
            <a:off x="11902440" y="3749040"/>
            <a:ext cx="4876800" cy="1920240"/>
          </a:xfrm>
          <a:prstGeom prst="roundRect">
            <a:avLst>
              <a:gd name="adj" fmla="val 10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1" name="Chip"/>
          <p:cNvSpPr/>
          <p:nvPr/>
        </p:nvSpPr>
        <p:spPr>
          <a:xfrm>
            <a:off x="12131040" y="39319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PROD</a:t>
            </a:r>
          </a:p>
        </p:txBody>
      </p:sp>
      <p:sp>
        <p:nvSpPr>
          <p:cNvPr id="1112" name="TextBox"/>
          <p:cNvSpPr txBox="1"/>
          <p:nvPr/>
        </p:nvSpPr>
        <p:spPr>
          <a:xfrm>
            <a:off x="12131040" y="4434840"/>
            <a:ext cx="441960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252545"/>
                </a:solidFill>
                <a:latin typeface="Courier New" pitchFamily="34" charset="0"/>
              </a:rPr>
              <a:t>&lt;EPIC&gt;_PROD_DEPLOYMENT_SET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252545"/>
                </a:solidFill>
                <a:latin typeface="Courier New" pitchFamily="34" charset="0"/>
              </a:rPr>
              <a:t>&lt;EPIC&gt;_PROD_DEPLOYMENT_MAP</a:t>
            </a:r>
          </a:p>
          <a:p>
            <a:pPr algn="l">
              <a:buNone/>
            </a:pPr>
            <a:r>
              <a:rPr lang="en-US" sz="1000" b="1" dirty="0">
                <a:solidFill>
                  <a:srgbClr val="252545"/>
                </a:solidFill>
                <a:latin typeface="Courier New" pitchFamily="34" charset="0"/>
              </a:rPr>
              <a:t>&lt;EPIC&gt;_PROD</a:t>
            </a:r>
          </a:p>
        </p:txBody>
      </p:sp>
      <p:sp>
        <p:nvSpPr>
          <p:cNvPr id="1113" name="Note"/>
          <p:cNvSpPr/>
          <p:nvPr/>
        </p:nvSpPr>
        <p:spPr>
          <a:xfrm>
            <a:off x="1417320" y="5989320"/>
            <a:ext cx="15361920" cy="320040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4" name="TextBox"/>
          <p:cNvSpPr txBox="1"/>
          <p:nvPr/>
        </p:nvSpPr>
        <p:spPr>
          <a:xfrm>
            <a:off x="1673352" y="6153912"/>
            <a:ext cx="1484985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5B4FE0"/>
                </a:solidFill>
                <a:latin typeface="Aptos" pitchFamily="34" charset="0"/>
              </a:rPr>
              <a:t>SEPARATE CANDIDATES</a:t>
            </a:r>
          </a:p>
        </p:txBody>
      </p:sp>
      <p:sp>
        <p:nvSpPr>
          <p:cNvPr id="1115" name="TextBox"/>
          <p:cNvSpPr txBox="1"/>
          <p:nvPr/>
        </p:nvSpPr>
        <p:spPr>
          <a:xfrm>
            <a:off x="1673352" y="6492240"/>
            <a:ext cx="14849856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The candidates remain separate even though they belong to the same EPIC project — each environment keeps its own deployment history and checkpoint.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PROJECT AUTOMATOR TEMPLATES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6" name="Box"/>
          <p:cNvSpPr/>
          <p:nvPr/>
        </p:nvSpPr>
        <p:spPr>
          <a:xfrm>
            <a:off x="1417320" y="2331720"/>
            <a:ext cx="7498080" cy="22860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7" name="TextBox"/>
          <p:cNvSpPr txBox="1"/>
          <p:nvPr/>
        </p:nvSpPr>
        <p:spPr>
          <a:xfrm>
            <a:off x="1673352" y="2514600"/>
            <a:ext cx="698601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4FE0"/>
                </a:solidFill>
                <a:latin typeface="Courier New" pitchFamily="34" charset="0"/>
              </a:rPr>
              <a:t>ProjectAutomator.Repository.POC.template.xml</a:t>
            </a:r>
          </a:p>
        </p:txBody>
      </p:sp>
      <p:sp>
        <p:nvSpPr>
          <p:cNvPr id="1118" name="TextBox"/>
          <p:cNvSpPr txBox="1"/>
          <p:nvPr/>
        </p:nvSpPr>
        <p:spPr>
          <a:xfrm>
            <a:off x="1673352" y="2971800"/>
            <a:ext cx="6986016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Supports QC and UAT POC targets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Uses PREPROD_APP01 and PREPROD_APP02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Does not contain PROD components</a:t>
            </a:r>
          </a:p>
        </p:txBody>
      </p:sp>
      <p:sp>
        <p:nvSpPr>
          <p:cNvPr id="1119" name="Box"/>
          <p:cNvSpPr/>
          <p:nvPr/>
        </p:nvSpPr>
        <p:spPr>
          <a:xfrm>
            <a:off x="9281160" y="2331720"/>
            <a:ext cx="7498080" cy="228600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0" name="TextBox"/>
          <p:cNvSpPr txBox="1"/>
          <p:nvPr/>
        </p:nvSpPr>
        <p:spPr>
          <a:xfrm>
            <a:off x="9537192" y="2514600"/>
            <a:ext cx="698601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4FE0"/>
                </a:solidFill>
                <a:latin typeface="Courier New" pitchFamily="34" charset="0"/>
              </a:rPr>
              <a:t>ProjectAutomator.Repository.template.xml</a:t>
            </a:r>
          </a:p>
        </p:txBody>
      </p:sp>
      <p:sp>
        <p:nvSpPr>
          <p:cNvPr id="1121" name="TextBox"/>
          <p:cNvSpPr txBox="1"/>
          <p:nvPr/>
        </p:nvSpPr>
        <p:spPr>
          <a:xfrm>
            <a:off x="9537192" y="2971800"/>
            <a:ext cx="6986016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Supports QC, UAT, and PROD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Uses target alias placeholders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Defines all actual server aliases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Adds separate sets, maps, and candidates for all environments</a:t>
            </a:r>
          </a:p>
        </p:txBody>
      </p:sp>
      <p:sp>
        <p:nvSpPr>
          <p:cNvPr id="1122" name="TextBox"/>
          <p:cNvSpPr txBox="1"/>
          <p:nvPr/>
        </p:nvSpPr>
        <p:spPr>
          <a:xfrm>
            <a:off x="1417320" y="493776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ALL ALIASES DEFINED, ONLY THE SELECTED ONE IS MAPPED</a:t>
            </a:r>
          </a:p>
        </p:txBody>
      </p:sp>
      <p:sp>
        <p:nvSpPr>
          <p:cNvPr id="1123" name="Code"/>
          <p:cNvSpPr/>
          <p:nvPr/>
        </p:nvSpPr>
        <p:spPr>
          <a:xfrm>
            <a:off x="1417320" y="5349240"/>
            <a:ext cx="7498080" cy="384048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&lt;Environment&gt;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&lt;IS&gt;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  &lt;!-- All available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  &lt;!-- aliases defined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  &lt;!-- here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&lt;/IS&gt;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&lt;/Environment&gt;</a:t>
            </a:r>
          </a:p>
        </p:txBody>
      </p:sp>
      <p:sp>
        <p:nvSpPr>
          <p:cNvPr id="1124" name="Code"/>
          <p:cNvSpPr/>
          <p:nvPr/>
        </p:nvSpPr>
        <p:spPr>
          <a:xfrm>
            <a:off x="9281160" y="5349240"/>
            <a:ext cx="7498080" cy="384048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&lt;MapSetMapping&gt;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&lt;!-- Only the actual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&lt;!-- selected target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&lt;!-- alias is used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  &lt;!-- here --&gt;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D7DAF5"/>
                </a:solidFill>
                <a:latin typeface="Courier New" pitchFamily="34" charset="0"/>
              </a:rPr>
              <a:t>&lt;/MapSetMapping&gt;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JENKINS DEPLOYMENT PARAMETERS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5" name="Box"/>
          <p:cNvSpPr/>
          <p:nvPr/>
        </p:nvSpPr>
        <p:spPr>
          <a:xfrm>
            <a:off x="1417320" y="2331720"/>
            <a:ext cx="4876800" cy="173736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6" name="TextBox"/>
          <p:cNvSpPr txBox="1"/>
          <p:nvPr/>
        </p:nvSpPr>
        <p:spPr>
          <a:xfrm>
            <a:off x="1645920" y="2514600"/>
            <a:ext cx="4419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5B4FE0"/>
                </a:solidFill>
                <a:latin typeface="Courier New" pitchFamily="34" charset="0"/>
              </a:rPr>
              <a:t>EPIC_NAME</a:t>
            </a:r>
          </a:p>
        </p:txBody>
      </p:sp>
      <p:sp>
        <p:nvSpPr>
          <p:cNvPr id="1127" name="TextBox"/>
          <p:cNvSpPr txBox="1"/>
          <p:nvPr/>
        </p:nvSpPr>
        <p:spPr>
          <a:xfrm>
            <a:off x="1645920" y="2971800"/>
            <a:ext cx="4419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Jira EPIC / change reference used to name the shared Deployer project.</a:t>
            </a:r>
          </a:p>
        </p:txBody>
      </p:sp>
      <p:sp>
        <p:nvSpPr>
          <p:cNvPr id="1128" name="Box"/>
          <p:cNvSpPr/>
          <p:nvPr/>
        </p:nvSpPr>
        <p:spPr>
          <a:xfrm>
            <a:off x="6659880" y="2331720"/>
            <a:ext cx="4876800" cy="173736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9" name="TextBox"/>
          <p:cNvSpPr txBox="1"/>
          <p:nvPr/>
        </p:nvSpPr>
        <p:spPr>
          <a:xfrm>
            <a:off x="6888480" y="2514600"/>
            <a:ext cx="4419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5B4FE0"/>
                </a:solidFill>
                <a:latin typeface="Courier New" pitchFamily="34" charset="0"/>
              </a:rPr>
              <a:t>PACKAGES_TO_BUILD</a:t>
            </a:r>
          </a:p>
        </p:txBody>
      </p:sp>
      <p:sp>
        <p:nvSpPr>
          <p:cNvPr id="1130" name="TextBox"/>
          <p:cNvSpPr txBox="1"/>
          <p:nvPr/>
        </p:nvSpPr>
        <p:spPr>
          <a:xfrm>
            <a:off x="6888480" y="2971800"/>
            <a:ext cx="4419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Packages discovered dynamically from the selected Bitbucket branch.</a:t>
            </a:r>
          </a:p>
        </p:txBody>
      </p:sp>
      <p:sp>
        <p:nvSpPr>
          <p:cNvPr id="1131" name="Box"/>
          <p:cNvSpPr/>
          <p:nvPr/>
        </p:nvSpPr>
        <p:spPr>
          <a:xfrm>
            <a:off x="11902440" y="2331720"/>
            <a:ext cx="4876800" cy="173736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2" name="TextBox"/>
          <p:cNvSpPr txBox="1"/>
          <p:nvPr/>
        </p:nvSpPr>
        <p:spPr>
          <a:xfrm>
            <a:off x="12131040" y="2514600"/>
            <a:ext cx="4419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5B4FE0"/>
                </a:solidFill>
                <a:latin typeface="Courier New" pitchFamily="34" charset="0"/>
              </a:rPr>
              <a:t>TARGET_SCOPE</a:t>
            </a:r>
          </a:p>
        </p:txBody>
      </p:sp>
      <p:sp>
        <p:nvSpPr>
          <p:cNvPr id="1133" name="TextBox"/>
          <p:cNvSpPr txBox="1"/>
          <p:nvPr/>
        </p:nvSpPr>
        <p:spPr>
          <a:xfrm>
            <a:off x="12131040" y="2971800"/>
            <a:ext cx="4419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Environment target selection — single alias for QC, UAT, or PROD.</a:t>
            </a:r>
          </a:p>
        </p:txBody>
      </p:sp>
      <p:sp>
        <p:nvSpPr>
          <p:cNvPr id="1134" name="Box"/>
          <p:cNvSpPr/>
          <p:nvPr/>
        </p:nvSpPr>
        <p:spPr>
          <a:xfrm>
            <a:off x="1417320" y="4434840"/>
            <a:ext cx="15361920" cy="70104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Package names are discovered dynamically from the selected Bitbucket environment branch.</a:t>
            </a:r>
          </a:p>
        </p:txBody>
      </p:sp>
      <p:sp>
        <p:nvSpPr>
          <p:cNvPr id="1135" name="Box"/>
          <p:cNvSpPr/>
          <p:nvPr/>
        </p:nvSpPr>
        <p:spPr>
          <a:xfrm>
            <a:off x="1417320" y="5227320"/>
            <a:ext cx="15361920" cy="70104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System packages beginning with Wm and Wx are excluded.</a:t>
            </a:r>
          </a:p>
        </p:txBody>
      </p:sp>
      <p:sp>
        <p:nvSpPr>
          <p:cNvPr id="1136" name="Box"/>
          <p:cNvSpPr/>
          <p:nvPr/>
        </p:nvSpPr>
        <p:spPr>
          <a:xfrm>
            <a:off x="1417320" y="6019800"/>
            <a:ext cx="15361920" cy="70104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Default and default are excluded.</a:t>
            </a:r>
          </a:p>
        </p:txBody>
      </p:sp>
      <p:sp>
        <p:nvSpPr>
          <p:cNvPr id="1137" name="Box"/>
          <p:cNvSpPr/>
          <p:nvPr/>
        </p:nvSpPr>
        <p:spPr>
          <a:xfrm>
            <a:off x="1417320" y="6812280"/>
            <a:ext cx="15361920" cy="70104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QC and UAT contain one valid target.</a:t>
            </a:r>
          </a:p>
        </p:txBody>
      </p:sp>
      <p:sp>
        <p:nvSpPr>
          <p:cNvPr id="1138" name="Box"/>
          <p:cNvSpPr/>
          <p:nvPr/>
        </p:nvSpPr>
        <p:spPr>
          <a:xfrm>
            <a:off x="1417320" y="7604760"/>
            <a:ext cx="15361920" cy="70104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PROD contains four aliases but permits only one selection.</a:t>
            </a:r>
          </a:p>
        </p:txBody>
      </p:sp>
      <p:sp>
        <p:nvSpPr>
          <p:cNvPr id="1139" name="Box"/>
          <p:cNvSpPr/>
          <p:nvPr/>
        </p:nvSpPr>
        <p:spPr>
          <a:xfrm>
            <a:off x="1417320" y="8397240"/>
            <a:ext cx="15361920" cy="70104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EPIC and package names are validated before execution.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DEPLOYMENT PIPELINE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40" name="TextBox"/>
          <p:cNvSpPr txBox="1"/>
          <p:nvPr/>
        </p:nvSpPr>
        <p:spPr>
          <a:xfrm>
            <a:off x="1417320" y="228600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5B5F73"/>
                </a:solidFill>
                <a:latin typeface="Aptos" pitchFamily="34" charset="0"/>
              </a:rPr>
              <a:t>Twenty stages, five phases — the same pipeline runs for every environment.</a:t>
            </a:r>
          </a:p>
        </p:txBody>
      </p:sp>
      <p:sp>
        <p:nvSpPr>
          <p:cNvPr id="1141" name="Phase"/>
          <p:cNvSpPr/>
          <p:nvPr/>
        </p:nvSpPr>
        <p:spPr>
          <a:xfrm>
            <a:off x="1417320" y="2880360"/>
            <a:ext cx="2852928" cy="6309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42" name="PhaseHead"/>
          <p:cNvSpPr/>
          <p:nvPr/>
        </p:nvSpPr>
        <p:spPr>
          <a:xfrm>
            <a:off x="1417320" y="2880360"/>
            <a:ext cx="2852928" cy="566928"/>
          </a:xfrm>
          <a:prstGeom prst="roundRect">
            <a:avLst>
              <a:gd name="adj" fmla="val 3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43" name="PhaseNum"/>
          <p:cNvSpPr/>
          <p:nvPr/>
        </p:nvSpPr>
        <p:spPr>
          <a:xfrm>
            <a:off x="1609344" y="299008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5B4FE0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144" name="TextBox"/>
          <p:cNvSpPr txBox="1"/>
          <p:nvPr/>
        </p:nvSpPr>
        <p:spPr>
          <a:xfrm>
            <a:off x="2039112" y="2880360"/>
            <a:ext cx="2075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Prepare</a:t>
            </a:r>
          </a:p>
        </p:txBody>
      </p:sp>
      <p:sp>
        <p:nvSpPr>
          <p:cNvPr id="1145" name="Dot"/>
          <p:cNvSpPr/>
          <p:nvPr/>
        </p:nvSpPr>
        <p:spPr>
          <a:xfrm>
            <a:off x="1545336" y="39090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46" name="TextBox"/>
          <p:cNvSpPr txBox="1"/>
          <p:nvPr/>
        </p:nvSpPr>
        <p:spPr>
          <a:xfrm>
            <a:off x="1801368" y="359359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input</a:t>
            </a:r>
          </a:p>
        </p:txBody>
      </p:sp>
      <p:cxnSp>
        <p:nvCxnSpPr>
          <p:cNvPr id="1147" name="Connector"/>
          <p:cNvCxnSpPr/>
          <p:nvPr/>
        </p:nvCxnSpPr>
        <p:spPr>
          <a:xfrm>
            <a:off x="1618488" y="435254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Dot"/>
          <p:cNvSpPr/>
          <p:nvPr/>
        </p:nvSpPr>
        <p:spPr>
          <a:xfrm>
            <a:off x="1545336" y="46863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49" name="TextBox"/>
          <p:cNvSpPr txBox="1"/>
          <p:nvPr/>
        </p:nvSpPr>
        <p:spPr>
          <a:xfrm>
            <a:off x="1801368" y="437083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Set build name</a:t>
            </a:r>
          </a:p>
        </p:txBody>
      </p:sp>
      <p:cxnSp>
        <p:nvCxnSpPr>
          <p:cNvPr id="1150" name="Connector"/>
          <p:cNvCxnSpPr/>
          <p:nvPr/>
        </p:nvCxnSpPr>
        <p:spPr>
          <a:xfrm>
            <a:off x="1618488" y="51297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1" name="Dot"/>
          <p:cNvSpPr/>
          <p:nvPr/>
        </p:nvSpPr>
        <p:spPr>
          <a:xfrm>
            <a:off x="1545336" y="54635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52" name="TextBox"/>
          <p:cNvSpPr txBox="1"/>
          <p:nvPr/>
        </p:nvSpPr>
        <p:spPr>
          <a:xfrm>
            <a:off x="1801368" y="514807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Send start email</a:t>
            </a:r>
          </a:p>
        </p:txBody>
      </p:sp>
      <p:cxnSp>
        <p:nvCxnSpPr>
          <p:cNvPr id="1153" name="Connector"/>
          <p:cNvCxnSpPr/>
          <p:nvPr/>
        </p:nvCxnSpPr>
        <p:spPr>
          <a:xfrm>
            <a:off x="1618488" y="59070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Dot"/>
          <p:cNvSpPr/>
          <p:nvPr/>
        </p:nvSpPr>
        <p:spPr>
          <a:xfrm>
            <a:off x="1545336" y="62407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55" name="TextBox"/>
          <p:cNvSpPr txBox="1"/>
          <p:nvPr/>
        </p:nvSpPr>
        <p:spPr>
          <a:xfrm>
            <a:off x="1801368" y="592531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Checkout environment branch</a:t>
            </a:r>
          </a:p>
        </p:txBody>
      </p:sp>
      <p:cxnSp>
        <p:nvCxnSpPr>
          <p:cNvPr id="1156" name="Connector"/>
          <p:cNvCxnSpPr/>
          <p:nvPr/>
        </p:nvCxnSpPr>
        <p:spPr>
          <a:xfrm>
            <a:off x="4306824" y="6035040"/>
            <a:ext cx="20116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" name="Phase"/>
          <p:cNvSpPr/>
          <p:nvPr/>
        </p:nvSpPr>
        <p:spPr>
          <a:xfrm>
            <a:off x="4544568" y="2880360"/>
            <a:ext cx="2852928" cy="6309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58" name="PhaseHead"/>
          <p:cNvSpPr/>
          <p:nvPr/>
        </p:nvSpPr>
        <p:spPr>
          <a:xfrm>
            <a:off x="4544568" y="2880360"/>
            <a:ext cx="2852928" cy="566928"/>
          </a:xfrm>
          <a:prstGeom prst="roundRect">
            <a:avLst>
              <a:gd name="adj" fmla="val 3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59" name="PhaseNum"/>
          <p:cNvSpPr/>
          <p:nvPr/>
        </p:nvSpPr>
        <p:spPr>
          <a:xfrm>
            <a:off x="4736592" y="299008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5B4FE0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160" name="TextBox"/>
          <p:cNvSpPr txBox="1"/>
          <p:nvPr/>
        </p:nvSpPr>
        <p:spPr>
          <a:xfrm>
            <a:off x="5166360" y="2880360"/>
            <a:ext cx="2075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Validate</a:t>
            </a:r>
          </a:p>
        </p:txBody>
      </p:sp>
      <p:sp>
        <p:nvSpPr>
          <p:cNvPr id="1161" name="Dot"/>
          <p:cNvSpPr/>
          <p:nvPr/>
        </p:nvSpPr>
        <p:spPr>
          <a:xfrm>
            <a:off x="4672584" y="39090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62" name="TextBox"/>
          <p:cNvSpPr txBox="1"/>
          <p:nvPr/>
        </p:nvSpPr>
        <p:spPr>
          <a:xfrm>
            <a:off x="4928616" y="359359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repository content</a:t>
            </a:r>
          </a:p>
        </p:txBody>
      </p:sp>
      <p:cxnSp>
        <p:nvCxnSpPr>
          <p:cNvPr id="1163" name="Connector"/>
          <p:cNvCxnSpPr/>
          <p:nvPr/>
        </p:nvCxnSpPr>
        <p:spPr>
          <a:xfrm>
            <a:off x="4745736" y="435254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4" name="Dot"/>
          <p:cNvSpPr/>
          <p:nvPr/>
        </p:nvSpPr>
        <p:spPr>
          <a:xfrm>
            <a:off x="4672584" y="46863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65" name="TextBox"/>
          <p:cNvSpPr txBox="1"/>
          <p:nvPr/>
        </p:nvSpPr>
        <p:spPr>
          <a:xfrm>
            <a:off x="4928616" y="437083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ABE and Deployer tools</a:t>
            </a:r>
          </a:p>
        </p:txBody>
      </p:sp>
      <p:cxnSp>
        <p:nvCxnSpPr>
          <p:cNvPr id="1166" name="Connector"/>
          <p:cNvCxnSpPr/>
          <p:nvPr/>
        </p:nvCxnSpPr>
        <p:spPr>
          <a:xfrm>
            <a:off x="4745736" y="51297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7" name="Dot"/>
          <p:cNvSpPr/>
          <p:nvPr/>
        </p:nvSpPr>
        <p:spPr>
          <a:xfrm>
            <a:off x="4672584" y="54635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68" name="TextBox"/>
          <p:cNvSpPr txBox="1"/>
          <p:nvPr/>
        </p:nvSpPr>
        <p:spPr>
          <a:xfrm>
            <a:off x="4928616" y="514807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Check shared Deployer project</a:t>
            </a:r>
          </a:p>
        </p:txBody>
      </p:sp>
      <p:cxnSp>
        <p:nvCxnSpPr>
          <p:cNvPr id="1169" name="Connector"/>
          <p:cNvCxnSpPr/>
          <p:nvPr/>
        </p:nvCxnSpPr>
        <p:spPr>
          <a:xfrm>
            <a:off x="4745736" y="59070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0" name="Dot"/>
          <p:cNvSpPr/>
          <p:nvPr/>
        </p:nvSpPr>
        <p:spPr>
          <a:xfrm>
            <a:off x="4672584" y="62407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71" name="TextBox"/>
          <p:cNvSpPr txBox="1"/>
          <p:nvPr/>
        </p:nvSpPr>
        <p:spPr>
          <a:xfrm>
            <a:off x="4928616" y="592531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Prepare selected packages</a:t>
            </a:r>
          </a:p>
        </p:txBody>
      </p:sp>
      <p:cxnSp>
        <p:nvCxnSpPr>
          <p:cNvPr id="1172" name="Connector"/>
          <p:cNvCxnSpPr/>
          <p:nvPr/>
        </p:nvCxnSpPr>
        <p:spPr>
          <a:xfrm>
            <a:off x="7434072" y="6035040"/>
            <a:ext cx="20116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Phase"/>
          <p:cNvSpPr/>
          <p:nvPr/>
        </p:nvSpPr>
        <p:spPr>
          <a:xfrm>
            <a:off x="7671816" y="2880360"/>
            <a:ext cx="2852928" cy="6309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74" name="PhaseHead"/>
          <p:cNvSpPr/>
          <p:nvPr/>
        </p:nvSpPr>
        <p:spPr>
          <a:xfrm>
            <a:off x="7671816" y="2880360"/>
            <a:ext cx="2852928" cy="566928"/>
          </a:xfrm>
          <a:prstGeom prst="roundRect">
            <a:avLst>
              <a:gd name="adj" fmla="val 3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75" name="PhaseNum"/>
          <p:cNvSpPr/>
          <p:nvPr/>
        </p:nvSpPr>
        <p:spPr>
          <a:xfrm>
            <a:off x="7863840" y="299008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6B4FB0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176" name="TextBox"/>
          <p:cNvSpPr txBox="1"/>
          <p:nvPr/>
        </p:nvSpPr>
        <p:spPr>
          <a:xfrm>
            <a:off x="8293608" y="2880360"/>
            <a:ext cx="2075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Build</a:t>
            </a:r>
          </a:p>
        </p:txBody>
      </p:sp>
      <p:sp>
        <p:nvSpPr>
          <p:cNvPr id="1177" name="Dot"/>
          <p:cNvSpPr/>
          <p:nvPr/>
        </p:nvSpPr>
        <p:spPr>
          <a:xfrm>
            <a:off x="7799832" y="39090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78" name="TextBox"/>
          <p:cNvSpPr txBox="1"/>
          <p:nvPr/>
        </p:nvSpPr>
        <p:spPr>
          <a:xfrm>
            <a:off x="8055864" y="359359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Run ABE build</a:t>
            </a:r>
          </a:p>
        </p:txBody>
      </p:sp>
      <p:cxnSp>
        <p:nvCxnSpPr>
          <p:cNvPr id="1179" name="Connector"/>
          <p:cNvCxnSpPr/>
          <p:nvPr/>
        </p:nvCxnSpPr>
        <p:spPr>
          <a:xfrm>
            <a:off x="7872984" y="435254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0" name="Dot"/>
          <p:cNvSpPr/>
          <p:nvPr/>
        </p:nvSpPr>
        <p:spPr>
          <a:xfrm>
            <a:off x="7799832" y="46863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81" name="TextBox"/>
          <p:cNvSpPr txBox="1"/>
          <p:nvPr/>
        </p:nvSpPr>
        <p:spPr>
          <a:xfrm>
            <a:off x="8055864" y="437083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ACDL output</a:t>
            </a:r>
          </a:p>
        </p:txBody>
      </p:sp>
      <p:cxnSp>
        <p:nvCxnSpPr>
          <p:cNvPr id="1182" name="Connector"/>
          <p:cNvCxnSpPr/>
          <p:nvPr/>
        </p:nvCxnSpPr>
        <p:spPr>
          <a:xfrm>
            <a:off x="7872984" y="51297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3" name="Dot"/>
          <p:cNvSpPr/>
          <p:nvPr/>
        </p:nvSpPr>
        <p:spPr>
          <a:xfrm>
            <a:off x="7799832" y="54635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84" name="TextBox"/>
          <p:cNvSpPr txBox="1"/>
          <p:nvPr/>
        </p:nvSpPr>
        <p:spPr>
          <a:xfrm>
            <a:off x="8055864" y="514807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Generate Project Automator XML when required</a:t>
            </a:r>
          </a:p>
        </p:txBody>
      </p:sp>
      <p:cxnSp>
        <p:nvCxnSpPr>
          <p:cNvPr id="1185" name="Connector"/>
          <p:cNvCxnSpPr/>
          <p:nvPr/>
        </p:nvCxnSpPr>
        <p:spPr>
          <a:xfrm>
            <a:off x="7872984" y="59070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6" name="Dot"/>
          <p:cNvSpPr/>
          <p:nvPr/>
        </p:nvSpPr>
        <p:spPr>
          <a:xfrm>
            <a:off x="7799832" y="62407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87" name="TextBox"/>
          <p:cNvSpPr txBox="1"/>
          <p:nvPr/>
        </p:nvSpPr>
        <p:spPr>
          <a:xfrm>
            <a:off x="8055864" y="592531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Configure or validate shared project</a:t>
            </a:r>
          </a:p>
        </p:txBody>
      </p:sp>
      <p:cxnSp>
        <p:nvCxnSpPr>
          <p:cNvPr id="1188" name="Connector"/>
          <p:cNvCxnSpPr/>
          <p:nvPr/>
        </p:nvCxnSpPr>
        <p:spPr>
          <a:xfrm>
            <a:off x="10561320" y="6035040"/>
            <a:ext cx="20116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" name="Phase"/>
          <p:cNvSpPr/>
          <p:nvPr/>
        </p:nvSpPr>
        <p:spPr>
          <a:xfrm>
            <a:off x="10799064" y="2880360"/>
            <a:ext cx="2852928" cy="6309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90" name="PhaseHead"/>
          <p:cNvSpPr/>
          <p:nvPr/>
        </p:nvSpPr>
        <p:spPr>
          <a:xfrm>
            <a:off x="10799064" y="2880360"/>
            <a:ext cx="2852928" cy="566928"/>
          </a:xfrm>
          <a:prstGeom prst="roundRect">
            <a:avLst>
              <a:gd name="adj" fmla="val 30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91" name="PhaseNum"/>
          <p:cNvSpPr/>
          <p:nvPr/>
        </p:nvSpPr>
        <p:spPr>
          <a:xfrm>
            <a:off x="10991088" y="299008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C97A1E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192" name="TextBox"/>
          <p:cNvSpPr txBox="1"/>
          <p:nvPr/>
        </p:nvSpPr>
        <p:spPr>
          <a:xfrm>
            <a:off x="11420856" y="2880360"/>
            <a:ext cx="2075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Deploy &amp; Protect</a:t>
            </a:r>
          </a:p>
        </p:txBody>
      </p:sp>
      <p:sp>
        <p:nvSpPr>
          <p:cNvPr id="1193" name="Dot"/>
          <p:cNvSpPr/>
          <p:nvPr/>
        </p:nvSpPr>
        <p:spPr>
          <a:xfrm>
            <a:off x="10927080" y="39090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94" name="TextBox"/>
          <p:cNvSpPr txBox="1"/>
          <p:nvPr/>
        </p:nvSpPr>
        <p:spPr>
          <a:xfrm>
            <a:off x="11183112" y="359359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Create checkpoint</a:t>
            </a:r>
          </a:p>
        </p:txBody>
      </p:sp>
      <p:cxnSp>
        <p:nvCxnSpPr>
          <p:cNvPr id="1195" name="Connector"/>
          <p:cNvCxnSpPr/>
          <p:nvPr/>
        </p:nvCxnSpPr>
        <p:spPr>
          <a:xfrm>
            <a:off x="11000232" y="435254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6" name="Dot"/>
          <p:cNvSpPr/>
          <p:nvPr/>
        </p:nvSpPr>
        <p:spPr>
          <a:xfrm>
            <a:off x="10927080" y="46863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97" name="TextBox"/>
          <p:cNvSpPr txBox="1"/>
          <p:nvPr/>
        </p:nvSpPr>
        <p:spPr>
          <a:xfrm>
            <a:off x="11183112" y="437083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Deploy candidate</a:t>
            </a:r>
          </a:p>
        </p:txBody>
      </p:sp>
      <p:cxnSp>
        <p:nvCxnSpPr>
          <p:cNvPr id="1198" name="Connector"/>
          <p:cNvCxnSpPr/>
          <p:nvPr/>
        </p:nvCxnSpPr>
        <p:spPr>
          <a:xfrm>
            <a:off x="11000232" y="51297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9" name="Dot"/>
          <p:cNvSpPr/>
          <p:nvPr/>
        </p:nvSpPr>
        <p:spPr>
          <a:xfrm>
            <a:off x="10927080" y="54635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0" name="TextBox"/>
          <p:cNvSpPr txBox="1"/>
          <p:nvPr/>
        </p:nvSpPr>
        <p:spPr>
          <a:xfrm>
            <a:off x="11183112" y="514807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Automatic rollback if deployment fails</a:t>
            </a:r>
          </a:p>
        </p:txBody>
      </p:sp>
      <p:cxnSp>
        <p:nvCxnSpPr>
          <p:cNvPr id="1201" name="Connector"/>
          <p:cNvCxnSpPr/>
          <p:nvPr/>
        </p:nvCxnSpPr>
        <p:spPr>
          <a:xfrm>
            <a:off x="11000232" y="59070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2" name="Dot"/>
          <p:cNvSpPr/>
          <p:nvPr/>
        </p:nvSpPr>
        <p:spPr>
          <a:xfrm>
            <a:off x="10927080" y="62407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3" name="TextBox"/>
          <p:cNvSpPr txBox="1"/>
          <p:nvPr/>
        </p:nvSpPr>
        <p:spPr>
          <a:xfrm>
            <a:off x="11183112" y="592531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Retain candidate</a:t>
            </a:r>
          </a:p>
        </p:txBody>
      </p:sp>
      <p:cxnSp>
        <p:nvCxnSpPr>
          <p:cNvPr id="1204" name="Connector"/>
          <p:cNvCxnSpPr/>
          <p:nvPr/>
        </p:nvCxnSpPr>
        <p:spPr>
          <a:xfrm>
            <a:off x="13688568" y="6035040"/>
            <a:ext cx="20116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5" name="Phase"/>
          <p:cNvSpPr/>
          <p:nvPr/>
        </p:nvSpPr>
        <p:spPr>
          <a:xfrm>
            <a:off x="13926312" y="2880360"/>
            <a:ext cx="2852928" cy="6309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6" name="PhaseHead"/>
          <p:cNvSpPr/>
          <p:nvPr/>
        </p:nvSpPr>
        <p:spPr>
          <a:xfrm>
            <a:off x="13926312" y="2880360"/>
            <a:ext cx="2852928" cy="566928"/>
          </a:xfrm>
          <a:prstGeom prst="roundRect">
            <a:avLst>
              <a:gd name="adj" fmla="val 3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07" name="PhaseNum"/>
          <p:cNvSpPr/>
          <p:nvPr/>
        </p:nvSpPr>
        <p:spPr>
          <a:xfrm>
            <a:off x="14118336" y="299008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E8E5A"/>
                </a:solidFill>
                <a:latin typeface="Aptos Display" pitchFamily="34" charset="0"/>
              </a:rPr>
              <a:t>5</a:t>
            </a:r>
          </a:p>
        </p:txBody>
      </p:sp>
      <p:sp>
        <p:nvSpPr>
          <p:cNvPr id="1208" name="TextBox"/>
          <p:cNvSpPr txBox="1"/>
          <p:nvPr/>
        </p:nvSpPr>
        <p:spPr>
          <a:xfrm>
            <a:off x="14548104" y="2880360"/>
            <a:ext cx="2075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Finalize</a:t>
            </a:r>
          </a:p>
        </p:txBody>
      </p:sp>
      <p:sp>
        <p:nvSpPr>
          <p:cNvPr id="1209" name="Dot"/>
          <p:cNvSpPr/>
          <p:nvPr/>
        </p:nvSpPr>
        <p:spPr>
          <a:xfrm>
            <a:off x="14054328" y="39090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0" name="TextBox"/>
          <p:cNvSpPr txBox="1"/>
          <p:nvPr/>
        </p:nvSpPr>
        <p:spPr>
          <a:xfrm>
            <a:off x="14310360" y="359359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ZIP build output</a:t>
            </a:r>
          </a:p>
        </p:txBody>
      </p:sp>
      <p:cxnSp>
        <p:nvCxnSpPr>
          <p:cNvPr id="1211" name="Connector"/>
          <p:cNvCxnSpPr/>
          <p:nvPr/>
        </p:nvCxnSpPr>
        <p:spPr>
          <a:xfrm>
            <a:off x="14127480" y="435254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2" name="Dot"/>
          <p:cNvSpPr/>
          <p:nvPr/>
        </p:nvSpPr>
        <p:spPr>
          <a:xfrm>
            <a:off x="14054328" y="46863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3" name="TextBox"/>
          <p:cNvSpPr txBox="1"/>
          <p:nvPr/>
        </p:nvSpPr>
        <p:spPr>
          <a:xfrm>
            <a:off x="14310360" y="437083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Archive artifacts</a:t>
            </a:r>
          </a:p>
        </p:txBody>
      </p:sp>
      <p:cxnSp>
        <p:nvCxnSpPr>
          <p:cNvPr id="1214" name="Connector"/>
          <p:cNvCxnSpPr/>
          <p:nvPr/>
        </p:nvCxnSpPr>
        <p:spPr>
          <a:xfrm>
            <a:off x="14127480" y="51297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5" name="Dot"/>
          <p:cNvSpPr/>
          <p:nvPr/>
        </p:nvSpPr>
        <p:spPr>
          <a:xfrm>
            <a:off x="14054328" y="54635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6" name="TextBox"/>
          <p:cNvSpPr txBox="1"/>
          <p:nvPr/>
        </p:nvSpPr>
        <p:spPr>
          <a:xfrm>
            <a:off x="14310360" y="514807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Set final result</a:t>
            </a:r>
          </a:p>
        </p:txBody>
      </p:sp>
      <p:cxnSp>
        <p:nvCxnSpPr>
          <p:cNvPr id="1217" name="Connector"/>
          <p:cNvCxnSpPr/>
          <p:nvPr/>
        </p:nvCxnSpPr>
        <p:spPr>
          <a:xfrm>
            <a:off x="14127480" y="59070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" name="Dot"/>
          <p:cNvSpPr/>
          <p:nvPr/>
        </p:nvSpPr>
        <p:spPr>
          <a:xfrm>
            <a:off x="14054328" y="62407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9" name="TextBox"/>
          <p:cNvSpPr txBox="1"/>
          <p:nvPr/>
        </p:nvSpPr>
        <p:spPr>
          <a:xfrm>
            <a:off x="14310360" y="5925312"/>
            <a:ext cx="230428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Send final email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ABE BUILD PROCESS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20" name="Box"/>
          <p:cNvSpPr/>
          <p:nvPr/>
        </p:nvSpPr>
        <p:spPr>
          <a:xfrm>
            <a:off x="1417320" y="2331720"/>
            <a:ext cx="9524390" cy="960120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Only selected packages are copied into the temporary build source.</a:t>
            </a:r>
          </a:p>
        </p:txBody>
      </p:sp>
      <p:sp>
        <p:nvSpPr>
          <p:cNvPr id="1221" name="Box"/>
          <p:cNvSpPr/>
          <p:nvPr/>
        </p:nvSpPr>
        <p:spPr>
          <a:xfrm>
            <a:off x="1417320" y="3419856"/>
            <a:ext cx="9524390" cy="960120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ABE builds Integration Server assets.</a:t>
            </a:r>
          </a:p>
        </p:txBody>
      </p:sp>
      <p:sp>
        <p:nvSpPr>
          <p:cNvPr id="1222" name="Box"/>
          <p:cNvSpPr/>
          <p:nvPr/>
        </p:nvSpPr>
        <p:spPr>
          <a:xfrm>
            <a:off x="1417320" y="4507992"/>
            <a:ext cx="9524390" cy="960120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Expected output includes .acdl and package .zip files.</a:t>
            </a:r>
          </a:p>
        </p:txBody>
      </p:sp>
      <p:sp>
        <p:nvSpPr>
          <p:cNvPr id="1223" name="Box"/>
          <p:cNvSpPr/>
          <p:nvPr/>
        </p:nvSpPr>
        <p:spPr>
          <a:xfrm>
            <a:off x="1417320" y="5596128"/>
            <a:ext cx="9524390" cy="960120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pipeline fails if no ACDL files are generated.</a:t>
            </a:r>
          </a:p>
        </p:txBody>
      </p:sp>
      <p:sp>
        <p:nvSpPr>
          <p:cNvPr id="1224" name="Box"/>
          <p:cNvSpPr/>
          <p:nvPr/>
        </p:nvSpPr>
        <p:spPr>
          <a:xfrm>
            <a:off x="1417320" y="6684264"/>
            <a:ext cx="9524390" cy="960120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Build logs are stored under generated/abe-build.log.</a:t>
            </a:r>
          </a:p>
        </p:txBody>
      </p:sp>
      <p:sp>
        <p:nvSpPr>
          <p:cNvPr id="1225" name="Box"/>
          <p:cNvSpPr/>
          <p:nvPr/>
        </p:nvSpPr>
        <p:spPr>
          <a:xfrm>
            <a:off x="1417320" y="7772400"/>
            <a:ext cx="9524390" cy="960120"/>
          </a:xfrm>
          <a:prstGeom prst="roundRect">
            <a:avLst>
              <a:gd name="adj" fmla="val 18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Build output is archived as build_output.zip.</a:t>
            </a:r>
          </a:p>
        </p:txBody>
      </p:sp>
      <p:sp>
        <p:nvSpPr>
          <p:cNvPr id="1226" name="Note"/>
          <p:cNvSpPr/>
          <p:nvPr/>
        </p:nvSpPr>
        <p:spPr>
          <a:xfrm>
            <a:off x="11307470" y="2331720"/>
            <a:ext cx="5471770" cy="219456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27" name="TextBox"/>
          <p:cNvSpPr txBox="1"/>
          <p:nvPr/>
        </p:nvSpPr>
        <p:spPr>
          <a:xfrm>
            <a:off x="11563502" y="2496312"/>
            <a:ext cx="495970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5B4FE0"/>
                </a:solidFill>
                <a:latin typeface="Aptos" pitchFamily="34" charset="0"/>
              </a:rPr>
              <a:t>SHARED BUILD OUTPUT</a:t>
            </a:r>
          </a:p>
        </p:txBody>
      </p:sp>
      <p:sp>
        <p:nvSpPr>
          <p:cNvPr id="1228" name="TextBox"/>
          <p:cNvSpPr txBox="1"/>
          <p:nvPr/>
        </p:nvSpPr>
        <p:spPr>
          <a:xfrm>
            <a:off x="11563502" y="2834640"/>
            <a:ext cx="4959706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/>
            </a:r>
          </a:p>
        </p:txBody>
      </p:sp>
      <p:sp>
        <p:nvSpPr>
          <p:cNvPr id="1229" name="Code"/>
          <p:cNvSpPr/>
          <p:nvPr/>
        </p:nvSpPr>
        <p:spPr>
          <a:xfrm>
            <a:off x="11563502" y="2834640"/>
            <a:ext cx="5215738" cy="146304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D7DAF5"/>
                </a:solidFill>
                <a:latin typeface="Courier New" pitchFamily="34" charset="0"/>
              </a:rPr>
              <a:t>/sag/jenkins/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D7DAF5"/>
                </a:solidFill>
                <a:latin typeface="Courier New" pitchFamily="34" charset="0"/>
              </a:rPr>
              <a:t>  webmethods-deployer/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D7DAF5"/>
                </a:solidFill>
                <a:latin typeface="Courier New" pitchFamily="34" charset="0"/>
              </a:rPr>
              <a:t>    build_output</a:t>
            </a:r>
          </a:p>
        </p:txBody>
      </p:sp>
      <p:sp>
        <p:nvSpPr>
          <p:cNvPr id="1230" name="Note"/>
          <p:cNvSpPr/>
          <p:nvPr/>
        </p:nvSpPr>
        <p:spPr>
          <a:xfrm>
            <a:off x="11307470" y="4800600"/>
            <a:ext cx="5471770" cy="2651760"/>
          </a:xfrm>
          <a:prstGeom prst="roundRect">
            <a:avLst>
              <a:gd name="adj" fmla="val 1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31" name="TextBox"/>
          <p:cNvSpPr txBox="1"/>
          <p:nvPr/>
        </p:nvSpPr>
        <p:spPr>
          <a:xfrm>
            <a:off x="11563502" y="4965192"/>
            <a:ext cx="495970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1E8E5A"/>
                </a:solidFill>
                <a:latin typeface="Aptos" pitchFamily="34" charset="0"/>
              </a:rPr>
              <a:t>ARCHIVED OUTPUT</a:t>
            </a:r>
          </a:p>
        </p:txBody>
      </p:sp>
      <p:sp>
        <p:nvSpPr>
          <p:cNvPr id="1232" name="TextBox"/>
          <p:cNvSpPr txBox="1"/>
          <p:nvPr/>
        </p:nvSpPr>
        <p:spPr>
          <a:xfrm>
            <a:off x="11563502" y="5303520"/>
            <a:ext cx="4959706" cy="1965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build_output.zip and generated/abe-build.log are both retained for every build, success or failure.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SHARED PROJECT CREATION AND REUSE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33" name="Chip"/>
          <p:cNvSpPr/>
          <p:nvPr/>
        </p:nvSpPr>
        <p:spPr>
          <a:xfrm>
            <a:off x="1417320" y="233172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NEW EPIC</a:t>
            </a:r>
          </a:p>
        </p:txBody>
      </p:sp>
      <p:sp>
        <p:nvSpPr>
          <p:cNvPr id="1234" name="Box"/>
          <p:cNvSpPr/>
          <p:nvPr/>
        </p:nvSpPr>
        <p:spPr>
          <a:xfrm>
            <a:off x="1417320" y="2926080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Project not found</a:t>
            </a:r>
          </a:p>
        </p:txBody>
      </p:sp>
      <p:sp>
        <p:nvSpPr>
          <p:cNvPr id="1235" name="Box"/>
          <p:cNvSpPr/>
          <p:nvPr/>
        </p:nvSpPr>
        <p:spPr>
          <a:xfrm>
            <a:off x="1417320" y="3640328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Generate Project Automator XML</a:t>
            </a:r>
          </a:p>
        </p:txBody>
      </p:sp>
      <p:sp>
        <p:nvSpPr>
          <p:cNvPr id="1236" name="Box"/>
          <p:cNvSpPr/>
          <p:nvPr/>
        </p:nvSpPr>
        <p:spPr>
          <a:xfrm>
            <a:off x="1417320" y="4354576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Define QC, UAT, and PROD aliases</a:t>
            </a:r>
          </a:p>
        </p:txBody>
      </p:sp>
      <p:sp>
        <p:nvSpPr>
          <p:cNvPr id="1237" name="Box"/>
          <p:cNvSpPr/>
          <p:nvPr/>
        </p:nvSpPr>
        <p:spPr>
          <a:xfrm>
            <a:off x="1417320" y="5068824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Create project</a:t>
            </a:r>
          </a:p>
        </p:txBody>
      </p:sp>
      <p:sp>
        <p:nvSpPr>
          <p:cNvPr id="1238" name="Box"/>
          <p:cNvSpPr/>
          <p:nvPr/>
        </p:nvSpPr>
        <p:spPr>
          <a:xfrm>
            <a:off x="1417320" y="5783072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Create three deployment sets</a:t>
            </a:r>
          </a:p>
        </p:txBody>
      </p:sp>
      <p:sp>
        <p:nvSpPr>
          <p:cNvPr id="1239" name="Box"/>
          <p:cNvSpPr/>
          <p:nvPr/>
        </p:nvSpPr>
        <p:spPr>
          <a:xfrm>
            <a:off x="1417320" y="6497320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Create three maps</a:t>
            </a:r>
          </a:p>
        </p:txBody>
      </p:sp>
      <p:sp>
        <p:nvSpPr>
          <p:cNvPr id="1240" name="Box"/>
          <p:cNvSpPr/>
          <p:nvPr/>
        </p:nvSpPr>
        <p:spPr>
          <a:xfrm>
            <a:off x="1417320" y="7211568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Create three candidates</a:t>
            </a:r>
          </a:p>
        </p:txBody>
      </p:sp>
      <p:sp>
        <p:nvSpPr>
          <p:cNvPr id="1241" name="Box"/>
          <p:cNvSpPr/>
          <p:nvPr/>
        </p:nvSpPr>
        <p:spPr>
          <a:xfrm>
            <a:off x="1417320" y="7925816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Create package manifest</a:t>
            </a:r>
          </a:p>
        </p:txBody>
      </p:sp>
      <p:sp>
        <p:nvSpPr>
          <p:cNvPr id="1242" name="Box"/>
          <p:cNvSpPr/>
          <p:nvPr/>
        </p:nvSpPr>
        <p:spPr>
          <a:xfrm>
            <a:off x="1417320" y="8640064"/>
            <a:ext cx="7452360" cy="60452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52545"/>
                </a:solidFill>
                <a:latin typeface="Aptos" pitchFamily="34" charset="0"/>
              </a:rPr>
              <a:t>Create target manifest</a:t>
            </a:r>
          </a:p>
        </p:txBody>
      </p:sp>
      <p:sp>
        <p:nvSpPr>
          <p:cNvPr id="1243" name="Chip"/>
          <p:cNvSpPr/>
          <p:nvPr/>
        </p:nvSpPr>
        <p:spPr>
          <a:xfrm>
            <a:off x="9326880" y="233172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EXISTING EPIC</a:t>
            </a:r>
          </a:p>
        </p:txBody>
      </p:sp>
      <p:sp>
        <p:nvSpPr>
          <p:cNvPr id="1244" name="Box"/>
          <p:cNvSpPr/>
          <p:nvPr/>
        </p:nvSpPr>
        <p:spPr>
          <a:xfrm>
            <a:off x="9326880" y="2926080"/>
            <a:ext cx="7452360" cy="934212"/>
          </a:xfrm>
          <a:prstGeom prst="roundRect">
            <a:avLst>
              <a:gd name="adj" fmla="val 2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Project found</a:t>
            </a:r>
          </a:p>
        </p:txBody>
      </p:sp>
      <p:sp>
        <p:nvSpPr>
          <p:cNvPr id="1245" name="Box"/>
          <p:cNvSpPr/>
          <p:nvPr/>
        </p:nvSpPr>
        <p:spPr>
          <a:xfrm>
            <a:off x="9326880" y="3988308"/>
            <a:ext cx="7452360" cy="934212"/>
          </a:xfrm>
          <a:prstGeom prst="roundRect">
            <a:avLst>
              <a:gd name="adj" fmla="val 2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Skip Project Automator</a:t>
            </a:r>
          </a:p>
        </p:txBody>
      </p:sp>
      <p:sp>
        <p:nvSpPr>
          <p:cNvPr id="1246" name="Box"/>
          <p:cNvSpPr/>
          <p:nvPr/>
        </p:nvSpPr>
        <p:spPr>
          <a:xfrm>
            <a:off x="9326880" y="5050536"/>
            <a:ext cx="7452360" cy="934212"/>
          </a:xfrm>
          <a:prstGeom prst="roundRect">
            <a:avLst>
              <a:gd name="adj" fmla="val 2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Validate selected packages</a:t>
            </a:r>
          </a:p>
        </p:txBody>
      </p:sp>
      <p:sp>
        <p:nvSpPr>
          <p:cNvPr id="1247" name="Box"/>
          <p:cNvSpPr/>
          <p:nvPr/>
        </p:nvSpPr>
        <p:spPr>
          <a:xfrm>
            <a:off x="9326880" y="6112764"/>
            <a:ext cx="7452360" cy="934212"/>
          </a:xfrm>
          <a:prstGeom prst="roundRect">
            <a:avLst>
              <a:gd name="adj" fmla="val 2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Validate selected target</a:t>
            </a:r>
          </a:p>
        </p:txBody>
      </p:sp>
      <p:sp>
        <p:nvSpPr>
          <p:cNvPr id="1248" name="Box"/>
          <p:cNvSpPr/>
          <p:nvPr/>
        </p:nvSpPr>
        <p:spPr>
          <a:xfrm>
            <a:off x="9326880" y="7174992"/>
            <a:ext cx="7452360" cy="934212"/>
          </a:xfrm>
          <a:prstGeom prst="roundRect">
            <a:avLst>
              <a:gd name="adj" fmla="val 2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Preserve existing maps and checkpoints</a:t>
            </a:r>
          </a:p>
        </p:txBody>
      </p:sp>
      <p:sp>
        <p:nvSpPr>
          <p:cNvPr id="1249" name="Box"/>
          <p:cNvSpPr/>
          <p:nvPr/>
        </p:nvSpPr>
        <p:spPr>
          <a:xfrm>
            <a:off x="9326880" y="8237220"/>
            <a:ext cx="7452360" cy="934212"/>
          </a:xfrm>
          <a:prstGeom prst="roundRect">
            <a:avLst>
              <a:gd name="adj" fmla="val 2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Continue with checkpoint and deployment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PACKAGE MANIFEST PROTECTION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50" name="TextBox"/>
          <p:cNvSpPr txBox="1"/>
          <p:nvPr/>
        </p:nvSpPr>
        <p:spPr>
          <a:xfrm>
            <a:off x="1417320" y="23317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MANIFEST FILE</a:t>
            </a:r>
          </a:p>
        </p:txBody>
      </p:sp>
      <p:sp>
        <p:nvSpPr>
          <p:cNvPr id="1251" name="Code"/>
          <p:cNvSpPr/>
          <p:nvPr/>
        </p:nvSpPr>
        <p:spPr>
          <a:xfrm>
            <a:off x="1417320" y="2697480"/>
            <a:ext cx="15361920" cy="5943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/sag/jenkins/webmethods-deployer/project-manifests/&lt;EPIC&gt;.packages</a:t>
            </a:r>
          </a:p>
        </p:txBody>
      </p:sp>
      <p:sp>
        <p:nvSpPr>
          <p:cNvPr id="1252" name="TextBox"/>
          <p:cNvSpPr txBox="1"/>
          <p:nvPr/>
        </p:nvSpPr>
        <p:spPr>
          <a:xfrm>
            <a:off x="1417320" y="3520440"/>
            <a:ext cx="9217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PURPOSE</a:t>
            </a:r>
          </a:p>
        </p:txBody>
      </p:sp>
      <p:sp>
        <p:nvSpPr>
          <p:cNvPr id="1253" name="TextBox"/>
          <p:cNvSpPr txBox="1"/>
          <p:nvPr/>
        </p:nvSpPr>
        <p:spPr>
          <a:xfrm>
            <a:off x="1417320" y="3931920"/>
            <a:ext cx="9217152" cy="5120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52545"/>
                </a:solidFill>
                <a:latin typeface="Aptos" pitchFamily="34" charset="0"/>
              </a:rPr>
              <a:t>Stores the canonical package list</a:t>
            </a:r>
          </a:p>
          <a:p>
            <a:pPr marL="228600" indent="-2286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52545"/>
                </a:solidFill>
                <a:latin typeface="Aptos" pitchFamily="34" charset="0"/>
              </a:rPr>
              <a:t>Requires QC, UAT, and PROD to use the same selected packages</a:t>
            </a:r>
          </a:p>
          <a:p>
            <a:pPr marL="228600" indent="-2286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52545"/>
                </a:solidFill>
                <a:latin typeface="Aptos" pitchFamily="34" charset="0"/>
              </a:rPr>
              <a:t>Prevents unintentional deployment-set changes</a:t>
            </a:r>
          </a:p>
          <a:p>
            <a:pPr marL="228600" indent="-2286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52545"/>
                </a:solidFill>
                <a:latin typeface="Aptos" pitchFamily="34" charset="0"/>
              </a:rPr>
              <a:t>Protects checkpoints from being invalidated</a:t>
            </a:r>
          </a:p>
        </p:txBody>
      </p:sp>
      <p:sp>
        <p:nvSpPr>
          <p:cNvPr id="1254" name="TextBox"/>
          <p:cNvSpPr txBox="1"/>
          <p:nvPr/>
        </p:nvSpPr>
        <p:spPr>
          <a:xfrm>
            <a:off x="11000232" y="3520440"/>
            <a:ext cx="57790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EXAMPLE</a:t>
            </a:r>
          </a:p>
        </p:txBody>
      </p:sp>
      <p:sp>
        <p:nvSpPr>
          <p:cNvPr id="1255" name="Code"/>
          <p:cNvSpPr/>
          <p:nvPr/>
        </p:nvSpPr>
        <p:spPr>
          <a:xfrm>
            <a:off x="11000232" y="3886200"/>
            <a:ext cx="5779008" cy="12801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PSUtilities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TawnMedDomesticWorker</a:t>
            </a:r>
          </a:p>
        </p:txBody>
      </p:sp>
      <p:sp>
        <p:nvSpPr>
          <p:cNvPr id="1256" name="Note"/>
          <p:cNvSpPr/>
          <p:nvPr/>
        </p:nvSpPr>
        <p:spPr>
          <a:xfrm>
            <a:off x="11000232" y="5349240"/>
            <a:ext cx="5779008" cy="37033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57" name="TextBox"/>
          <p:cNvSpPr txBox="1"/>
          <p:nvPr/>
        </p:nvSpPr>
        <p:spPr>
          <a:xfrm>
            <a:off x="11256264" y="5513832"/>
            <a:ext cx="526694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C0392B"/>
                </a:solidFill>
                <a:latin typeface="Aptos" pitchFamily="34" charset="0"/>
              </a:rPr>
              <a:t>MISMATCH BEHAVIOR</a:t>
            </a:r>
          </a:p>
        </p:txBody>
      </p:sp>
      <p:sp>
        <p:nvSpPr>
          <p:cNvPr id="1258" name="TextBox"/>
          <p:cNvSpPr txBox="1"/>
          <p:nvPr/>
        </p:nvSpPr>
        <p:spPr>
          <a:xfrm>
            <a:off x="11256264" y="5852160"/>
            <a:ext cx="5266944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If the requested list differs, the pipeline stops before deployment.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TARGET MANIFEST PROTECTION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59" name="TextBox"/>
          <p:cNvSpPr txBox="1"/>
          <p:nvPr/>
        </p:nvSpPr>
        <p:spPr>
          <a:xfrm>
            <a:off x="1417320" y="23317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MANIFEST FILE</a:t>
            </a:r>
          </a:p>
        </p:txBody>
      </p:sp>
      <p:sp>
        <p:nvSpPr>
          <p:cNvPr id="1260" name="Code"/>
          <p:cNvSpPr/>
          <p:nvPr/>
        </p:nvSpPr>
        <p:spPr>
          <a:xfrm>
            <a:off x="1417320" y="2697480"/>
            <a:ext cx="15361920" cy="5943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/sag/jenkins/webmethods-deployer/project-manifests/&lt;EPIC&gt;.targets</a:t>
            </a:r>
          </a:p>
        </p:txBody>
      </p:sp>
      <p:sp>
        <p:nvSpPr>
          <p:cNvPr id="1261" name="TextBox"/>
          <p:cNvSpPr txBox="1"/>
          <p:nvPr/>
        </p:nvSpPr>
        <p:spPr>
          <a:xfrm>
            <a:off x="1417320" y="3520440"/>
            <a:ext cx="61447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EXAMPLE</a:t>
            </a:r>
          </a:p>
        </p:txBody>
      </p:sp>
      <p:sp>
        <p:nvSpPr>
          <p:cNvPr id="1262" name="Code"/>
          <p:cNvSpPr/>
          <p:nvPr/>
        </p:nvSpPr>
        <p:spPr>
          <a:xfrm>
            <a:off x="1417320" y="3886200"/>
            <a:ext cx="6144768" cy="146304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QC=QC_IS_181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UAT=UAT_IS_27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PROD=PROD_IS2_21</a:t>
            </a:r>
          </a:p>
        </p:txBody>
      </p:sp>
      <p:sp>
        <p:nvSpPr>
          <p:cNvPr id="1263" name="TextBox"/>
          <p:cNvSpPr txBox="1"/>
          <p:nvPr/>
        </p:nvSpPr>
        <p:spPr>
          <a:xfrm>
            <a:off x="7927848" y="3520440"/>
            <a:ext cx="8851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PURPOSE</a:t>
            </a:r>
          </a:p>
        </p:txBody>
      </p:sp>
      <p:sp>
        <p:nvSpPr>
          <p:cNvPr id="1264" name="TextBox"/>
          <p:cNvSpPr txBox="1"/>
          <p:nvPr/>
        </p:nvSpPr>
        <p:spPr>
          <a:xfrm>
            <a:off x="7927848" y="3886200"/>
            <a:ext cx="8851392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Records the aliases assigned to the shared project</a:t>
            </a:r>
          </a:p>
          <a:p>
            <a:pPr marL="228600" indent="-2286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Prevents a later run from changing an existing environment map</a:t>
            </a:r>
          </a:p>
          <a:p>
            <a:pPr marL="228600" indent="-2286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Protects environment checkpoints</a:t>
            </a:r>
          </a:p>
          <a:p>
            <a:pPr marL="228600" indent="-2286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Ensures PROD continues using its originally selected alias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CHECKPOINT CREATION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65" name="Code"/>
          <p:cNvSpPr/>
          <p:nvPr/>
        </p:nvSpPr>
        <p:spPr>
          <a:xfrm>
            <a:off x="1417320" y="2331720"/>
            <a:ext cx="7680960" cy="5943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Deployer.sh --checkpoint</a:t>
            </a:r>
          </a:p>
        </p:txBody>
      </p:sp>
      <p:sp>
        <p:nvSpPr>
          <p:cNvPr id="1266" name="Box"/>
          <p:cNvSpPr/>
          <p:nvPr/>
        </p:nvSpPr>
        <p:spPr>
          <a:xfrm>
            <a:off x="1417320" y="3108960"/>
            <a:ext cx="9524390" cy="566928"/>
          </a:xfrm>
          <a:prstGeom prst="roundRect">
            <a:avLst>
              <a:gd name="adj" fmla="val 22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Is environment-specific</a:t>
            </a:r>
          </a:p>
        </p:txBody>
      </p:sp>
      <p:sp>
        <p:nvSpPr>
          <p:cNvPr id="1267" name="Box"/>
          <p:cNvSpPr/>
          <p:nvPr/>
        </p:nvSpPr>
        <p:spPr>
          <a:xfrm>
            <a:off x="1417320" y="3785616"/>
            <a:ext cx="9524390" cy="566928"/>
          </a:xfrm>
          <a:prstGeom prst="roundRect">
            <a:avLst>
              <a:gd name="adj" fmla="val 22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Uses the environment candidate</a:t>
            </a:r>
          </a:p>
        </p:txBody>
      </p:sp>
      <p:sp>
        <p:nvSpPr>
          <p:cNvPr id="1268" name="Box"/>
          <p:cNvSpPr/>
          <p:nvPr/>
        </p:nvSpPr>
        <p:spPr>
          <a:xfrm>
            <a:off x="1417320" y="4462272"/>
            <a:ext cx="9524390" cy="566928"/>
          </a:xfrm>
          <a:prstGeom prst="roundRect">
            <a:avLst>
              <a:gd name="adj" fmla="val 22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Captures the current state of packages on the target</a:t>
            </a:r>
          </a:p>
        </p:txBody>
      </p:sp>
      <p:sp>
        <p:nvSpPr>
          <p:cNvPr id="1269" name="Box"/>
          <p:cNvSpPr/>
          <p:nvPr/>
        </p:nvSpPr>
        <p:spPr>
          <a:xfrm>
            <a:off x="1417320" y="5138928"/>
            <a:ext cx="9524390" cy="566928"/>
          </a:xfrm>
          <a:prstGeom prst="roundRect">
            <a:avLst>
              <a:gd name="adj" fmla="val 22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Is required before deployment</a:t>
            </a:r>
          </a:p>
        </p:txBody>
      </p:sp>
      <p:sp>
        <p:nvSpPr>
          <p:cNvPr id="1270" name="Box"/>
          <p:cNvSpPr/>
          <p:nvPr/>
        </p:nvSpPr>
        <p:spPr>
          <a:xfrm>
            <a:off x="1417320" y="5815584"/>
            <a:ext cx="9524390" cy="566928"/>
          </a:xfrm>
          <a:prstGeom prst="roundRect">
            <a:avLst>
              <a:gd name="adj" fmla="val 22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Creates a report and log</a:t>
            </a:r>
          </a:p>
        </p:txBody>
      </p:sp>
      <p:sp>
        <p:nvSpPr>
          <p:cNvPr id="1271" name="Box"/>
          <p:cNvSpPr/>
          <p:nvPr/>
        </p:nvSpPr>
        <p:spPr>
          <a:xfrm>
            <a:off x="1417320" y="6492240"/>
            <a:ext cx="9524390" cy="566928"/>
          </a:xfrm>
          <a:prstGeom prst="roundRect">
            <a:avLst>
              <a:gd name="adj" fmla="val 2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Stops deployment if checkpoint creation fails</a:t>
            </a:r>
          </a:p>
        </p:txBody>
      </p:sp>
      <p:sp>
        <p:nvSpPr>
          <p:cNvPr id="1272" name="TextBox"/>
          <p:cNvSpPr txBox="1"/>
          <p:nvPr/>
        </p:nvSpPr>
        <p:spPr>
          <a:xfrm>
            <a:off x="11307470" y="2331720"/>
            <a:ext cx="547177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INDEPENDENT CHECKPOINTS</a:t>
            </a:r>
          </a:p>
        </p:txBody>
      </p:sp>
      <p:sp>
        <p:nvSpPr>
          <p:cNvPr id="1273" name="Code"/>
          <p:cNvSpPr/>
          <p:nvPr/>
        </p:nvSpPr>
        <p:spPr>
          <a:xfrm>
            <a:off x="11307470" y="2697480"/>
            <a:ext cx="5471770" cy="164592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&lt;EPIC&gt;_QC checkpoint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&lt;EPIC&gt;_UAT checkpoint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&lt;EPIC&gt;_PROD checkpoint</a:t>
            </a:r>
          </a:p>
        </p:txBody>
      </p:sp>
      <p:sp>
        <p:nvSpPr>
          <p:cNvPr id="1274" name="Note"/>
          <p:cNvSpPr/>
          <p:nvPr/>
        </p:nvSpPr>
        <p:spPr>
          <a:xfrm>
            <a:off x="11307470" y="4480560"/>
            <a:ext cx="5471770" cy="146304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75" name="TextBox"/>
          <p:cNvSpPr txBox="1"/>
          <p:nvPr/>
        </p:nvSpPr>
        <p:spPr>
          <a:xfrm>
            <a:off x="11563502" y="4645152"/>
            <a:ext cx="495970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C97A1E"/>
                </a:solidFill>
                <a:latin typeface="Aptos" pitchFamily="34" charset="0"/>
              </a:rPr>
              <a:t>WHY IT MATTERS</a:t>
            </a:r>
          </a:p>
        </p:txBody>
      </p:sp>
      <p:sp>
        <p:nvSpPr>
          <p:cNvPr id="1276" name="TextBox"/>
          <p:cNvSpPr txBox="1"/>
          <p:nvPr/>
        </p:nvSpPr>
        <p:spPr>
          <a:xfrm>
            <a:off x="11563502" y="4983480"/>
            <a:ext cx="495970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Each checkpoint is scoped to its own environment candidate, so a QC checkpoint can never be used to restore UAT or PROD.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AUTOMATIC ROLLBACK ON DEPLOYMENT FAILURE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77" name="Box"/>
          <p:cNvSpPr/>
          <p:nvPr/>
        </p:nvSpPr>
        <p:spPr>
          <a:xfrm>
            <a:off x="6629400" y="2331720"/>
            <a:ext cx="4937760" cy="731520"/>
          </a:xfrm>
          <a:prstGeom prst="roundRect">
            <a:avLst>
              <a:gd name="adj" fmla="val 16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</a:rPr>
              <a:t>Deployment Starts</a:t>
            </a:r>
          </a:p>
        </p:txBody>
      </p:sp>
      <p:cxnSp>
        <p:nvCxnSpPr>
          <p:cNvPr id="1278" name="Connector"/>
          <p:cNvCxnSpPr/>
          <p:nvPr/>
        </p:nvCxnSpPr>
        <p:spPr>
          <a:xfrm>
            <a:off x="9098280" y="3063240"/>
            <a:ext cx="457" cy="457"/>
          </a:xfrm>
          <a:prstGeom prst="line">
            <a:avLst/>
          </a:prstGeom>
          <a:ln w="19050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Box"/>
          <p:cNvSpPr/>
          <p:nvPr/>
        </p:nvSpPr>
        <p:spPr>
          <a:xfrm>
            <a:off x="6629400" y="3063240"/>
            <a:ext cx="4937760" cy="6400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Deployment Successful?</a:t>
            </a:r>
          </a:p>
        </p:txBody>
      </p:sp>
      <p:cxnSp>
        <p:nvCxnSpPr>
          <p:cNvPr id="1280" name="Connector"/>
          <p:cNvCxnSpPr/>
          <p:nvPr/>
        </p:nvCxnSpPr>
        <p:spPr>
          <a:xfrm flipH="1">
            <a:off x="5120640" y="3703320"/>
            <a:ext cx="3977640" cy="457"/>
          </a:xfrm>
          <a:prstGeom prst="line">
            <a:avLst/>
          </a:prstGeom>
          <a:ln w="19050">
            <a:solidFill>
              <a:srgbClr val="1E8E5A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Connector"/>
          <p:cNvCxnSpPr/>
          <p:nvPr/>
        </p:nvCxnSpPr>
        <p:spPr>
          <a:xfrm>
            <a:off x="5120640" y="3703320"/>
            <a:ext cx="457" cy="182880"/>
          </a:xfrm>
          <a:prstGeom prst="line">
            <a:avLst/>
          </a:prstGeom>
          <a:ln w="19050">
            <a:solidFill>
              <a:srgbClr val="1E8E5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"/>
          <p:cNvCxnSpPr/>
          <p:nvPr/>
        </p:nvCxnSpPr>
        <p:spPr>
          <a:xfrm>
            <a:off x="9098280" y="3703320"/>
            <a:ext cx="3977640" cy="457"/>
          </a:xfrm>
          <a:prstGeom prst="line">
            <a:avLst/>
          </a:prstGeom>
          <a:ln w="19050">
            <a:solidFill>
              <a:srgbClr val="C0392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Connector"/>
          <p:cNvCxnSpPr/>
          <p:nvPr/>
        </p:nvCxnSpPr>
        <p:spPr>
          <a:xfrm>
            <a:off x="13075920" y="3703320"/>
            <a:ext cx="457" cy="182880"/>
          </a:xfrm>
          <a:prstGeom prst="line">
            <a:avLst/>
          </a:prstGeom>
          <a:ln w="19050">
            <a:solidFill>
              <a:srgbClr val="C0392B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Chip"/>
          <p:cNvSpPr/>
          <p:nvPr/>
        </p:nvSpPr>
        <p:spPr>
          <a:xfrm>
            <a:off x="4572000" y="38862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YES</a:t>
            </a:r>
          </a:p>
        </p:txBody>
      </p:sp>
      <p:sp>
        <p:nvSpPr>
          <p:cNvPr id="1285" name="Chip"/>
          <p:cNvSpPr/>
          <p:nvPr/>
        </p:nvSpPr>
        <p:spPr>
          <a:xfrm>
            <a:off x="12573000" y="38862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NO</a:t>
            </a:r>
          </a:p>
        </p:txBody>
      </p:sp>
      <p:sp>
        <p:nvSpPr>
          <p:cNvPr id="1286" name="Box"/>
          <p:cNvSpPr/>
          <p:nvPr/>
        </p:nvSpPr>
        <p:spPr>
          <a:xfrm>
            <a:off x="1417320" y="4434840"/>
            <a:ext cx="7406640" cy="1051560"/>
          </a:xfrm>
          <a:prstGeom prst="roundRect">
            <a:avLst>
              <a:gd name="adj" fmla="val 14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5E3C"/>
                </a:solidFill>
                <a:latin typeface="Aptos" pitchFamily="34" charset="0"/>
              </a:rPr>
              <a:t>Skip automatic rollback</a:t>
            </a:r>
          </a:p>
          <a:p>
            <a:pPr algn="ctr"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Retain candidate and checkpoint</a:t>
            </a:r>
          </a:p>
        </p:txBody>
      </p:sp>
      <p:sp>
        <p:nvSpPr>
          <p:cNvPr id="1287" name="Box"/>
          <p:cNvSpPr/>
          <p:nvPr/>
        </p:nvSpPr>
        <p:spPr>
          <a:xfrm>
            <a:off x="9372600" y="4434840"/>
            <a:ext cx="7406640" cy="5943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Was checkpoint created?</a:t>
            </a:r>
          </a:p>
        </p:txBody>
      </p:sp>
      <p:cxnSp>
        <p:nvCxnSpPr>
          <p:cNvPr id="1288" name="Connector"/>
          <p:cNvCxnSpPr/>
          <p:nvPr/>
        </p:nvCxnSpPr>
        <p:spPr>
          <a:xfrm flipH="1">
            <a:off x="11155680" y="5029200"/>
            <a:ext cx="1920240" cy="457"/>
          </a:xfrm>
          <a:prstGeom prst="line">
            <a:avLst/>
          </a:prstGeom>
          <a:ln w="15875">
            <a:solidFill>
              <a:srgbClr val="C97A1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Connector"/>
          <p:cNvCxnSpPr/>
          <p:nvPr/>
        </p:nvCxnSpPr>
        <p:spPr>
          <a:xfrm>
            <a:off x="11155680" y="5029200"/>
            <a:ext cx="457" cy="228600"/>
          </a:xfrm>
          <a:prstGeom prst="line">
            <a:avLst/>
          </a:prstGeom>
          <a:ln w="15875">
            <a:solidFill>
              <a:srgbClr val="C97A1E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"/>
          <p:cNvCxnSpPr/>
          <p:nvPr/>
        </p:nvCxnSpPr>
        <p:spPr>
          <a:xfrm>
            <a:off x="13075920" y="5029200"/>
            <a:ext cx="1920240" cy="457"/>
          </a:xfrm>
          <a:prstGeom prst="line">
            <a:avLst/>
          </a:prstGeom>
          <a:ln w="15875">
            <a:solidFill>
              <a:srgbClr val="5B5F7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Connector"/>
          <p:cNvCxnSpPr/>
          <p:nvPr/>
        </p:nvCxnSpPr>
        <p:spPr>
          <a:xfrm>
            <a:off x="14996160" y="5029200"/>
            <a:ext cx="457" cy="228600"/>
          </a:xfrm>
          <a:prstGeom prst="line">
            <a:avLst/>
          </a:prstGeom>
          <a:ln w="15875">
            <a:solidFill>
              <a:srgbClr val="5B5F73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Box"/>
          <p:cNvSpPr/>
          <p:nvPr/>
        </p:nvSpPr>
        <p:spPr>
          <a:xfrm>
            <a:off x="9372600" y="5257800"/>
            <a:ext cx="3566160" cy="1188720"/>
          </a:xfrm>
          <a:prstGeom prst="roundRect">
            <a:avLst>
              <a:gd name="adj" fmla="val 14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7A5B12"/>
                </a:solidFill>
                <a:latin typeface="Aptos" pitchFamily="34" charset="0"/>
              </a:rPr>
              <a:t>Run automatic rollback</a:t>
            </a:r>
          </a:p>
          <a:p>
            <a:pPr algn="ctr">
              <a:buNone/>
            </a:pPr>
            <a:r>
              <a:rPr lang="en-US" sz="950" dirty="0">
                <a:solidFill>
                  <a:srgbClr val="7A5B12"/>
                </a:solidFill>
                <a:latin typeface="Aptos" pitchFamily="34" charset="0"/>
              </a:rPr>
              <a:t>Record SUCCESS or FAILED</a:t>
            </a:r>
          </a:p>
        </p:txBody>
      </p:sp>
      <p:sp>
        <p:nvSpPr>
          <p:cNvPr id="1293" name="Box"/>
          <p:cNvSpPr/>
          <p:nvPr/>
        </p:nvSpPr>
        <p:spPr>
          <a:xfrm>
            <a:off x="13213080" y="5257800"/>
            <a:ext cx="3566160" cy="118872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Rollback unavailable</a:t>
            </a:r>
          </a:p>
          <a:p>
            <a:pPr algn="ctr">
              <a:buNone/>
            </a:pPr>
            <a:r>
              <a:rPr lang="en-US" sz="950" dirty="0">
                <a:solidFill>
                  <a:srgbClr val="5B5F73"/>
                </a:solidFill>
                <a:latin typeface="Aptos" pitchFamily="34" charset="0"/>
              </a:rPr>
              <a:t>Record NOT_AVAILABLE</a:t>
            </a:r>
          </a:p>
        </p:txBody>
      </p:sp>
      <p:cxnSp>
        <p:nvCxnSpPr>
          <p:cNvPr id="1294" name="Connector"/>
          <p:cNvCxnSpPr/>
          <p:nvPr/>
        </p:nvCxnSpPr>
        <p:spPr>
          <a:xfrm>
            <a:off x="5120640" y="5486400"/>
            <a:ext cx="457" cy="15087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5" name="Connector"/>
          <p:cNvCxnSpPr/>
          <p:nvPr/>
        </p:nvCxnSpPr>
        <p:spPr>
          <a:xfrm>
            <a:off x="11155680" y="6446520"/>
            <a:ext cx="457" cy="54864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"/>
          <p:cNvCxnSpPr/>
          <p:nvPr/>
        </p:nvCxnSpPr>
        <p:spPr>
          <a:xfrm>
            <a:off x="14996160" y="6446520"/>
            <a:ext cx="457" cy="54864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"/>
          <p:cNvCxnSpPr/>
          <p:nvPr/>
        </p:nvCxnSpPr>
        <p:spPr>
          <a:xfrm>
            <a:off x="5120640" y="6995160"/>
            <a:ext cx="3977640" cy="457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Connector"/>
          <p:cNvCxnSpPr/>
          <p:nvPr/>
        </p:nvCxnSpPr>
        <p:spPr>
          <a:xfrm flipH="1">
            <a:off x="9098280" y="6995160"/>
            <a:ext cx="5897880" cy="457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Connector"/>
          <p:cNvCxnSpPr/>
          <p:nvPr/>
        </p:nvCxnSpPr>
        <p:spPr>
          <a:xfrm>
            <a:off x="9098280" y="699516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" name="Box"/>
          <p:cNvSpPr/>
          <p:nvPr/>
        </p:nvSpPr>
        <p:spPr>
          <a:xfrm>
            <a:off x="6537960" y="7132320"/>
            <a:ext cx="5120640" cy="685800"/>
          </a:xfrm>
          <a:prstGeom prst="roundRect">
            <a:avLst>
              <a:gd name="adj" fmla="val 16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Mark Jenkins Result → Send Notification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MANUAL ROLLBACK JOBS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01" name="Chip"/>
          <p:cNvSpPr/>
          <p:nvPr/>
        </p:nvSpPr>
        <p:spPr>
          <a:xfrm>
            <a:off x="1417320" y="233172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QC Rollback Job</a:t>
            </a:r>
          </a:p>
        </p:txBody>
      </p:sp>
      <p:sp>
        <p:nvSpPr>
          <p:cNvPr id="1302" name="Chip"/>
          <p:cNvSpPr/>
          <p:nvPr/>
        </p:nvSpPr>
        <p:spPr>
          <a:xfrm>
            <a:off x="6629400" y="233172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1D6FA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UAT Rollback Job</a:t>
            </a:r>
          </a:p>
        </p:txBody>
      </p:sp>
      <p:sp>
        <p:nvSpPr>
          <p:cNvPr id="1303" name="Chip"/>
          <p:cNvSpPr/>
          <p:nvPr/>
        </p:nvSpPr>
        <p:spPr>
          <a:xfrm>
            <a:off x="11841480" y="233172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PROD Rollback Job</a:t>
            </a:r>
          </a:p>
        </p:txBody>
      </p:sp>
      <p:sp>
        <p:nvSpPr>
          <p:cNvPr id="1304" name="Step"/>
          <p:cNvSpPr/>
          <p:nvPr/>
        </p:nvSpPr>
        <p:spPr>
          <a:xfrm>
            <a:off x="1417320" y="301752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05" name="Badge"/>
          <p:cNvSpPr/>
          <p:nvPr/>
        </p:nvSpPr>
        <p:spPr>
          <a:xfrm>
            <a:off x="1536192" y="313639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306" name="TextBox"/>
          <p:cNvSpPr txBox="1"/>
          <p:nvPr/>
        </p:nvSpPr>
        <p:spPr>
          <a:xfrm>
            <a:off x="1984248" y="314553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Enter EPIC</a:t>
            </a:r>
          </a:p>
        </p:txBody>
      </p:sp>
      <p:sp>
        <p:nvSpPr>
          <p:cNvPr id="1307" name="Step"/>
          <p:cNvSpPr/>
          <p:nvPr/>
        </p:nvSpPr>
        <p:spPr>
          <a:xfrm>
            <a:off x="6629400" y="301752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08" name="Badge"/>
          <p:cNvSpPr/>
          <p:nvPr/>
        </p:nvSpPr>
        <p:spPr>
          <a:xfrm>
            <a:off x="6748272" y="313639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309" name="TextBox"/>
          <p:cNvSpPr txBox="1"/>
          <p:nvPr/>
        </p:nvSpPr>
        <p:spPr>
          <a:xfrm>
            <a:off x="7196328" y="314553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Confirm rollback checkbox</a:t>
            </a:r>
          </a:p>
        </p:txBody>
      </p:sp>
      <p:sp>
        <p:nvSpPr>
          <p:cNvPr id="1310" name="Step"/>
          <p:cNvSpPr/>
          <p:nvPr/>
        </p:nvSpPr>
        <p:spPr>
          <a:xfrm>
            <a:off x="11841480" y="301752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11" name="Badge"/>
          <p:cNvSpPr/>
          <p:nvPr/>
        </p:nvSpPr>
        <p:spPr>
          <a:xfrm>
            <a:off x="11960352" y="313639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312" name="TextBox"/>
          <p:cNvSpPr txBox="1"/>
          <p:nvPr/>
        </p:nvSpPr>
        <p:spPr>
          <a:xfrm>
            <a:off x="12408408" y="314553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Validate candidate and tools</a:t>
            </a:r>
          </a:p>
        </p:txBody>
      </p:sp>
      <p:sp>
        <p:nvSpPr>
          <p:cNvPr id="1313" name="Step"/>
          <p:cNvSpPr/>
          <p:nvPr/>
        </p:nvSpPr>
        <p:spPr>
          <a:xfrm>
            <a:off x="1417320" y="414528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14" name="Badge"/>
          <p:cNvSpPr/>
          <p:nvPr/>
        </p:nvSpPr>
        <p:spPr>
          <a:xfrm>
            <a:off x="1536192" y="426415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315" name="TextBox"/>
          <p:cNvSpPr txBox="1"/>
          <p:nvPr/>
        </p:nvSpPr>
        <p:spPr>
          <a:xfrm>
            <a:off x="1984248" y="427329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Request interactive approval</a:t>
            </a:r>
          </a:p>
        </p:txBody>
      </p:sp>
      <p:sp>
        <p:nvSpPr>
          <p:cNvPr id="1316" name="Step"/>
          <p:cNvSpPr/>
          <p:nvPr/>
        </p:nvSpPr>
        <p:spPr>
          <a:xfrm>
            <a:off x="6629400" y="414528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17" name="Badge"/>
          <p:cNvSpPr/>
          <p:nvPr/>
        </p:nvSpPr>
        <p:spPr>
          <a:xfrm>
            <a:off x="6748272" y="426415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5</a:t>
            </a:r>
          </a:p>
        </p:txBody>
      </p:sp>
      <p:sp>
        <p:nvSpPr>
          <p:cNvPr id="1318" name="TextBox"/>
          <p:cNvSpPr txBox="1"/>
          <p:nvPr/>
        </p:nvSpPr>
        <p:spPr>
          <a:xfrm>
            <a:off x="7196328" y="427329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Record approval comment</a:t>
            </a:r>
          </a:p>
        </p:txBody>
      </p:sp>
      <p:sp>
        <p:nvSpPr>
          <p:cNvPr id="1319" name="Step"/>
          <p:cNvSpPr/>
          <p:nvPr/>
        </p:nvSpPr>
        <p:spPr>
          <a:xfrm>
            <a:off x="11841480" y="414528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0" name="Badge"/>
          <p:cNvSpPr/>
          <p:nvPr/>
        </p:nvSpPr>
        <p:spPr>
          <a:xfrm>
            <a:off x="11960352" y="426415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6</a:t>
            </a:r>
          </a:p>
        </p:txBody>
      </p:sp>
      <p:sp>
        <p:nvSpPr>
          <p:cNvPr id="1321" name="TextBox"/>
          <p:cNvSpPr txBox="1"/>
          <p:nvPr/>
        </p:nvSpPr>
        <p:spPr>
          <a:xfrm>
            <a:off x="12408408" y="427329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Send rollback start email</a:t>
            </a:r>
          </a:p>
        </p:txBody>
      </p:sp>
      <p:sp>
        <p:nvSpPr>
          <p:cNvPr id="1322" name="Step"/>
          <p:cNvSpPr/>
          <p:nvPr/>
        </p:nvSpPr>
        <p:spPr>
          <a:xfrm>
            <a:off x="1417320" y="527304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3" name="Badge"/>
          <p:cNvSpPr/>
          <p:nvPr/>
        </p:nvSpPr>
        <p:spPr>
          <a:xfrm>
            <a:off x="1536192" y="539191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7</a:t>
            </a:r>
          </a:p>
        </p:txBody>
      </p:sp>
      <p:sp>
        <p:nvSpPr>
          <p:cNvPr id="1324" name="TextBox"/>
          <p:cNvSpPr txBox="1"/>
          <p:nvPr/>
        </p:nvSpPr>
        <p:spPr>
          <a:xfrm>
            <a:off x="1984248" y="540105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Execute Deployer rollback</a:t>
            </a:r>
          </a:p>
        </p:txBody>
      </p:sp>
      <p:sp>
        <p:nvSpPr>
          <p:cNvPr id="1325" name="Step"/>
          <p:cNvSpPr/>
          <p:nvPr/>
        </p:nvSpPr>
        <p:spPr>
          <a:xfrm>
            <a:off x="6629400" y="527304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6" name="Badge"/>
          <p:cNvSpPr/>
          <p:nvPr/>
        </p:nvSpPr>
        <p:spPr>
          <a:xfrm>
            <a:off x="6748272" y="539191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8</a:t>
            </a:r>
          </a:p>
        </p:txBody>
      </p:sp>
      <p:sp>
        <p:nvSpPr>
          <p:cNvPr id="1327" name="TextBox"/>
          <p:cNvSpPr txBox="1"/>
          <p:nvPr/>
        </p:nvSpPr>
        <p:spPr>
          <a:xfrm>
            <a:off x="7196328" y="540105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Archive rollback log/report</a:t>
            </a:r>
          </a:p>
        </p:txBody>
      </p:sp>
      <p:sp>
        <p:nvSpPr>
          <p:cNvPr id="1328" name="Step"/>
          <p:cNvSpPr/>
          <p:nvPr/>
        </p:nvSpPr>
        <p:spPr>
          <a:xfrm>
            <a:off x="11841480" y="5273040"/>
            <a:ext cx="4937760" cy="944880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9" name="Badge"/>
          <p:cNvSpPr/>
          <p:nvPr/>
        </p:nvSpPr>
        <p:spPr>
          <a:xfrm>
            <a:off x="11960352" y="5391912"/>
            <a:ext cx="384048" cy="384048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9</a:t>
            </a:r>
          </a:p>
        </p:txBody>
      </p:sp>
      <p:sp>
        <p:nvSpPr>
          <p:cNvPr id="1330" name="TextBox"/>
          <p:cNvSpPr txBox="1"/>
          <p:nvPr/>
        </p:nvSpPr>
        <p:spPr>
          <a:xfrm>
            <a:off x="12408408" y="5401056"/>
            <a:ext cx="4251960" cy="707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Send success or failure email</a:t>
            </a:r>
          </a:p>
        </p:txBody>
      </p:sp>
      <p:sp>
        <p:nvSpPr>
          <p:cNvPr id="1331" name="TextBox"/>
          <p:cNvSpPr txBox="1"/>
          <p:nvPr/>
        </p:nvSpPr>
        <p:spPr>
          <a:xfrm>
            <a:off x="1417320" y="6537960"/>
            <a:ext cx="691286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CANDIDATE NAMES</a:t>
            </a:r>
          </a:p>
        </p:txBody>
      </p:sp>
      <p:sp>
        <p:nvSpPr>
          <p:cNvPr id="1332" name="Code"/>
          <p:cNvSpPr/>
          <p:nvPr/>
        </p:nvSpPr>
        <p:spPr>
          <a:xfrm>
            <a:off x="1417320" y="6903720"/>
            <a:ext cx="6912864" cy="100584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&lt;EPIC&gt;_QC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&lt;EPIC&gt;_UAT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&lt;EPIC&gt;_PROD</a:t>
            </a:r>
          </a:p>
        </p:txBody>
      </p:sp>
      <p:sp>
        <p:nvSpPr>
          <p:cNvPr id="1333" name="Note"/>
          <p:cNvSpPr/>
          <p:nvPr/>
        </p:nvSpPr>
        <p:spPr>
          <a:xfrm>
            <a:off x="8695944" y="6537960"/>
            <a:ext cx="8083296" cy="1371600"/>
          </a:xfrm>
          <a:prstGeom prst="roundRect">
            <a:avLst>
              <a:gd name="adj" fmla="val 1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34" name="TextBox"/>
          <p:cNvSpPr txBox="1"/>
          <p:nvPr/>
        </p:nvSpPr>
        <p:spPr>
          <a:xfrm>
            <a:off x="8951976" y="6702552"/>
            <a:ext cx="75712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1E8E5A"/>
                </a:solidFill>
                <a:latin typeface="Aptos" pitchFamily="34" charset="0"/>
              </a:rPr>
              <a:t>SCOPE OF CHANGE</a:t>
            </a:r>
          </a:p>
        </p:txBody>
      </p:sp>
      <p:sp>
        <p:nvSpPr>
          <p:cNvPr id="1335" name="TextBox"/>
          <p:cNvSpPr txBox="1"/>
          <p:nvPr/>
        </p:nvSpPr>
        <p:spPr>
          <a:xfrm>
            <a:off x="8951976" y="7040880"/>
            <a:ext cx="757123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The rollback job does not modify the shared project, deployment set, map, or package manifest.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TESTED ROLLBACK SCENARIOS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36" name="Badge"/>
          <p:cNvSpPr/>
          <p:nvPr/>
        </p:nvSpPr>
        <p:spPr>
          <a:xfrm>
            <a:off x="3550920" y="2377440"/>
            <a:ext cx="548640" cy="54864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337" name="Box"/>
          <p:cNvSpPr/>
          <p:nvPr/>
        </p:nvSpPr>
        <p:spPr>
          <a:xfrm>
            <a:off x="1417320" y="3108960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QC deployment</a:t>
            </a:r>
          </a:p>
        </p:txBody>
      </p:sp>
      <p:cxnSp>
        <p:nvCxnSpPr>
          <p:cNvPr id="1338" name="Connector"/>
          <p:cNvCxnSpPr/>
          <p:nvPr/>
        </p:nvCxnSpPr>
        <p:spPr>
          <a:xfrm>
            <a:off x="3825240" y="3611880"/>
            <a:ext cx="457" cy="237744"/>
          </a:xfrm>
          <a:prstGeom prst="line">
            <a:avLst/>
          </a:prstGeom>
          <a:ln w="15875">
            <a:solidFill>
              <a:srgbClr val="5B4FE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9" name="Box"/>
          <p:cNvSpPr/>
          <p:nvPr/>
        </p:nvSpPr>
        <p:spPr>
          <a:xfrm>
            <a:off x="1417320" y="3867912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UAT deployment</a:t>
            </a:r>
          </a:p>
        </p:txBody>
      </p:sp>
      <p:cxnSp>
        <p:nvCxnSpPr>
          <p:cNvPr id="1340" name="Connector"/>
          <p:cNvCxnSpPr/>
          <p:nvPr/>
        </p:nvCxnSpPr>
        <p:spPr>
          <a:xfrm>
            <a:off x="3825240" y="4370832"/>
            <a:ext cx="457" cy="237744"/>
          </a:xfrm>
          <a:prstGeom prst="line">
            <a:avLst/>
          </a:prstGeom>
          <a:ln w="15875">
            <a:solidFill>
              <a:srgbClr val="5B4FE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" name="Box"/>
          <p:cNvSpPr/>
          <p:nvPr/>
        </p:nvSpPr>
        <p:spPr>
          <a:xfrm>
            <a:off x="1417320" y="4626864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UAT rollback</a:t>
            </a:r>
          </a:p>
        </p:txBody>
      </p:sp>
      <p:cxnSp>
        <p:nvCxnSpPr>
          <p:cNvPr id="1342" name="Connector"/>
          <p:cNvCxnSpPr/>
          <p:nvPr/>
        </p:nvCxnSpPr>
        <p:spPr>
          <a:xfrm>
            <a:off x="3825240" y="5129784"/>
            <a:ext cx="457" cy="237744"/>
          </a:xfrm>
          <a:prstGeom prst="line">
            <a:avLst/>
          </a:prstGeom>
          <a:ln w="15875">
            <a:solidFill>
              <a:srgbClr val="5B4FE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3" name="Box"/>
          <p:cNvSpPr/>
          <p:nvPr/>
        </p:nvSpPr>
        <p:spPr>
          <a:xfrm>
            <a:off x="1417320" y="5385816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QC rollback</a:t>
            </a:r>
          </a:p>
        </p:txBody>
      </p:sp>
      <p:sp>
        <p:nvSpPr>
          <p:cNvPr id="1344" name="TextBox"/>
          <p:cNvSpPr txBox="1"/>
          <p:nvPr/>
        </p:nvSpPr>
        <p:spPr>
          <a:xfrm>
            <a:off x="1417320" y="6281928"/>
            <a:ext cx="4815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5B5F73"/>
                </a:solidFill>
                <a:latin typeface="Aptos" pitchFamily="34" charset="0"/>
              </a:rPr>
              <a:t>EXPECTED RESULT</a:t>
            </a:r>
          </a:p>
        </p:txBody>
      </p:sp>
      <p:sp>
        <p:nvSpPr>
          <p:cNvPr id="1345" name="TextBox"/>
          <p:cNvSpPr txBox="1"/>
          <p:nvPr/>
        </p:nvSpPr>
        <p:spPr>
          <a:xfrm>
            <a:off x="1417320" y="6647688"/>
            <a:ext cx="4815840" cy="2542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UAT returns to its pre-UAT state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QC checkpoint remains usable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QC returns to its pre-QC state</a:t>
            </a:r>
          </a:p>
        </p:txBody>
      </p:sp>
      <p:sp>
        <p:nvSpPr>
          <p:cNvPr id="1346" name="Badge"/>
          <p:cNvSpPr/>
          <p:nvPr/>
        </p:nvSpPr>
        <p:spPr>
          <a:xfrm>
            <a:off x="8823960" y="2377440"/>
            <a:ext cx="548640" cy="54864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347" name="Box"/>
          <p:cNvSpPr/>
          <p:nvPr/>
        </p:nvSpPr>
        <p:spPr>
          <a:xfrm>
            <a:off x="6690360" y="3108960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QC deployment</a:t>
            </a:r>
          </a:p>
        </p:txBody>
      </p:sp>
      <p:cxnSp>
        <p:nvCxnSpPr>
          <p:cNvPr id="1348" name="Connector"/>
          <p:cNvCxnSpPr/>
          <p:nvPr/>
        </p:nvCxnSpPr>
        <p:spPr>
          <a:xfrm>
            <a:off x="9098280" y="3611880"/>
            <a:ext cx="457" cy="237744"/>
          </a:xfrm>
          <a:prstGeom prst="line">
            <a:avLst/>
          </a:prstGeom>
          <a:ln w="15875">
            <a:solidFill>
              <a:srgbClr val="6B4FB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9" name="Box"/>
          <p:cNvSpPr/>
          <p:nvPr/>
        </p:nvSpPr>
        <p:spPr>
          <a:xfrm>
            <a:off x="6690360" y="3867912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UAT deployment</a:t>
            </a:r>
          </a:p>
        </p:txBody>
      </p:sp>
      <p:cxnSp>
        <p:nvCxnSpPr>
          <p:cNvPr id="1350" name="Connector"/>
          <p:cNvCxnSpPr/>
          <p:nvPr/>
        </p:nvCxnSpPr>
        <p:spPr>
          <a:xfrm>
            <a:off x="9098280" y="4370832"/>
            <a:ext cx="457" cy="237744"/>
          </a:xfrm>
          <a:prstGeom prst="line">
            <a:avLst/>
          </a:prstGeom>
          <a:ln w="15875">
            <a:solidFill>
              <a:srgbClr val="6B4FB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1" name="Box"/>
          <p:cNvSpPr/>
          <p:nvPr/>
        </p:nvSpPr>
        <p:spPr>
          <a:xfrm>
            <a:off x="6690360" y="4626864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QC rollback</a:t>
            </a:r>
          </a:p>
        </p:txBody>
      </p:sp>
      <p:cxnSp>
        <p:nvCxnSpPr>
          <p:cNvPr id="1352" name="Connector"/>
          <p:cNvCxnSpPr/>
          <p:nvPr/>
        </p:nvCxnSpPr>
        <p:spPr>
          <a:xfrm>
            <a:off x="9098280" y="5129784"/>
            <a:ext cx="457" cy="237744"/>
          </a:xfrm>
          <a:prstGeom prst="line">
            <a:avLst/>
          </a:prstGeom>
          <a:ln w="15875">
            <a:solidFill>
              <a:srgbClr val="6B4FB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3" name="Box"/>
          <p:cNvSpPr/>
          <p:nvPr/>
        </p:nvSpPr>
        <p:spPr>
          <a:xfrm>
            <a:off x="6690360" y="5385816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UAT rollback</a:t>
            </a:r>
          </a:p>
        </p:txBody>
      </p:sp>
      <p:sp>
        <p:nvSpPr>
          <p:cNvPr id="1354" name="TextBox"/>
          <p:cNvSpPr txBox="1"/>
          <p:nvPr/>
        </p:nvSpPr>
        <p:spPr>
          <a:xfrm>
            <a:off x="6690360" y="6281928"/>
            <a:ext cx="4815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5B5F73"/>
                </a:solidFill>
                <a:latin typeface="Aptos" pitchFamily="34" charset="0"/>
              </a:rPr>
              <a:t>EXPECTED RESULT</a:t>
            </a:r>
          </a:p>
        </p:txBody>
      </p:sp>
      <p:sp>
        <p:nvSpPr>
          <p:cNvPr id="1355" name="TextBox"/>
          <p:cNvSpPr txBox="1"/>
          <p:nvPr/>
        </p:nvSpPr>
        <p:spPr>
          <a:xfrm>
            <a:off x="6690360" y="6647688"/>
            <a:ext cx="4815840" cy="2542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QC rollback does not invalidate UAT checkpoint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UAT rollback remains successful afterward</a:t>
            </a:r>
          </a:p>
        </p:txBody>
      </p:sp>
      <p:sp>
        <p:nvSpPr>
          <p:cNvPr id="1356" name="Badge"/>
          <p:cNvSpPr/>
          <p:nvPr/>
        </p:nvSpPr>
        <p:spPr>
          <a:xfrm>
            <a:off x="14097000" y="2377440"/>
            <a:ext cx="548640" cy="54864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357" name="Box"/>
          <p:cNvSpPr/>
          <p:nvPr/>
        </p:nvSpPr>
        <p:spPr>
          <a:xfrm>
            <a:off x="11963400" y="3108960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QC first deployment</a:t>
            </a:r>
          </a:p>
        </p:txBody>
      </p:sp>
      <p:cxnSp>
        <p:nvCxnSpPr>
          <p:cNvPr id="1358" name="Connector"/>
          <p:cNvCxnSpPr/>
          <p:nvPr/>
        </p:nvCxnSpPr>
        <p:spPr>
          <a:xfrm>
            <a:off x="14371320" y="3611880"/>
            <a:ext cx="457" cy="237744"/>
          </a:xfrm>
          <a:prstGeom prst="line">
            <a:avLst/>
          </a:prstGeom>
          <a:ln w="15875">
            <a:solidFill>
              <a:srgbClr val="A02B6E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9" name="Box"/>
          <p:cNvSpPr/>
          <p:nvPr/>
        </p:nvSpPr>
        <p:spPr>
          <a:xfrm>
            <a:off x="11963400" y="3867912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UAT deployment</a:t>
            </a:r>
          </a:p>
        </p:txBody>
      </p:sp>
      <p:cxnSp>
        <p:nvCxnSpPr>
          <p:cNvPr id="1360" name="Connector"/>
          <p:cNvCxnSpPr/>
          <p:nvPr/>
        </p:nvCxnSpPr>
        <p:spPr>
          <a:xfrm>
            <a:off x="14371320" y="4370832"/>
            <a:ext cx="457" cy="237744"/>
          </a:xfrm>
          <a:prstGeom prst="line">
            <a:avLst/>
          </a:prstGeom>
          <a:ln w="15875">
            <a:solidFill>
              <a:srgbClr val="A02B6E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1" name="Box"/>
          <p:cNvSpPr/>
          <p:nvPr/>
        </p:nvSpPr>
        <p:spPr>
          <a:xfrm>
            <a:off x="11963400" y="4626864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Repeat QC deployment</a:t>
            </a:r>
          </a:p>
        </p:txBody>
      </p:sp>
      <p:cxnSp>
        <p:nvCxnSpPr>
          <p:cNvPr id="1362" name="Connector"/>
          <p:cNvCxnSpPr/>
          <p:nvPr/>
        </p:nvCxnSpPr>
        <p:spPr>
          <a:xfrm>
            <a:off x="14371320" y="5129784"/>
            <a:ext cx="457" cy="237744"/>
          </a:xfrm>
          <a:prstGeom prst="line">
            <a:avLst/>
          </a:prstGeom>
          <a:ln w="15875">
            <a:solidFill>
              <a:srgbClr val="A02B6E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3" name="Box"/>
          <p:cNvSpPr/>
          <p:nvPr/>
        </p:nvSpPr>
        <p:spPr>
          <a:xfrm>
            <a:off x="11963400" y="5385816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QC rollback</a:t>
            </a:r>
          </a:p>
        </p:txBody>
      </p:sp>
      <p:cxnSp>
        <p:nvCxnSpPr>
          <p:cNvPr id="1364" name="Connector"/>
          <p:cNvCxnSpPr/>
          <p:nvPr/>
        </p:nvCxnSpPr>
        <p:spPr>
          <a:xfrm>
            <a:off x="14371320" y="5888736"/>
            <a:ext cx="457" cy="237744"/>
          </a:xfrm>
          <a:prstGeom prst="line">
            <a:avLst/>
          </a:prstGeom>
          <a:ln w="15875">
            <a:solidFill>
              <a:srgbClr val="A02B6E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Box"/>
          <p:cNvSpPr/>
          <p:nvPr/>
        </p:nvSpPr>
        <p:spPr>
          <a:xfrm>
            <a:off x="11963400" y="6144768"/>
            <a:ext cx="4815840" cy="50292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UAT rollback</a:t>
            </a:r>
          </a:p>
        </p:txBody>
      </p:sp>
      <p:sp>
        <p:nvSpPr>
          <p:cNvPr id="1366" name="TextBox"/>
          <p:cNvSpPr txBox="1"/>
          <p:nvPr/>
        </p:nvSpPr>
        <p:spPr>
          <a:xfrm>
            <a:off x="11963400" y="7040880"/>
            <a:ext cx="4815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5B5F73"/>
                </a:solidFill>
                <a:latin typeface="Aptos" pitchFamily="34" charset="0"/>
              </a:rPr>
              <a:t>EXPECTED RESULT</a:t>
            </a:r>
          </a:p>
        </p:txBody>
      </p:sp>
      <p:sp>
        <p:nvSpPr>
          <p:cNvPr id="1367" name="TextBox"/>
          <p:cNvSpPr txBox="1"/>
          <p:nvPr/>
        </p:nvSpPr>
        <p:spPr>
          <a:xfrm>
            <a:off x="11963400" y="7406640"/>
            <a:ext cx="4815840" cy="178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Repeated QC deployment creates a new QC checkpoint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QC rollback restores the state before the repeated deployment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UAT rollback independently restores the UAT pre-deployment state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JENKINS CONCURRENCY AND CREDENTIALS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68" name="TextBox"/>
          <p:cNvSpPr txBox="1"/>
          <p:nvPr/>
        </p:nvSpPr>
        <p:spPr>
          <a:xfrm>
            <a:off x="1417320" y="2331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SHARED RESOURCE LOCK</a:t>
            </a:r>
          </a:p>
        </p:txBody>
      </p:sp>
      <p:sp>
        <p:nvSpPr>
          <p:cNvPr id="1369" name="Code"/>
          <p:cNvSpPr/>
          <p:nvPr/>
        </p:nvSpPr>
        <p:spPr>
          <a:xfrm>
            <a:off x="1417320" y="2697480"/>
            <a:ext cx="8449056" cy="59436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D7DAF5"/>
                </a:solidFill>
                <a:latin typeface="Courier New" pitchFamily="34" charset="0"/>
              </a:rPr>
              <a:t>lock(resource: 'webMethods-Deployer-shared')</a:t>
            </a:r>
          </a:p>
        </p:txBody>
      </p:sp>
      <p:sp>
        <p:nvSpPr>
          <p:cNvPr id="1370" name="Box"/>
          <p:cNvSpPr/>
          <p:nvPr/>
        </p:nvSpPr>
        <p:spPr>
          <a:xfrm>
            <a:off x="1417320" y="3520440"/>
            <a:ext cx="8449056" cy="7772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Prevent concurrent jobs from changing shared Deployer resources</a:t>
            </a:r>
          </a:p>
        </p:txBody>
      </p:sp>
      <p:sp>
        <p:nvSpPr>
          <p:cNvPr id="1371" name="Box"/>
          <p:cNvSpPr/>
          <p:nvPr/>
        </p:nvSpPr>
        <p:spPr>
          <a:xfrm>
            <a:off x="1417320" y="4434840"/>
            <a:ext cx="8449056" cy="7772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Protect shared repository output</a:t>
            </a:r>
          </a:p>
        </p:txBody>
      </p:sp>
      <p:sp>
        <p:nvSpPr>
          <p:cNvPr id="1372" name="Box"/>
          <p:cNvSpPr/>
          <p:nvPr/>
        </p:nvSpPr>
        <p:spPr>
          <a:xfrm>
            <a:off x="1417320" y="5349240"/>
            <a:ext cx="8449056" cy="7772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Prevent checkpoint race conditions</a:t>
            </a:r>
          </a:p>
        </p:txBody>
      </p:sp>
      <p:sp>
        <p:nvSpPr>
          <p:cNvPr id="1373" name="TextBox"/>
          <p:cNvSpPr txBox="1"/>
          <p:nvPr/>
        </p:nvSpPr>
        <p:spPr>
          <a:xfrm>
            <a:off x="10232136" y="2331720"/>
            <a:ext cx="654710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CREDENTIALS</a:t>
            </a:r>
          </a:p>
        </p:txBody>
      </p:sp>
      <p:sp>
        <p:nvSpPr>
          <p:cNvPr id="1374" name="Code"/>
          <p:cNvSpPr/>
          <p:nvPr/>
        </p:nvSpPr>
        <p:spPr>
          <a:xfrm>
            <a:off x="10232136" y="2697480"/>
            <a:ext cx="6547104" cy="1371600"/>
          </a:xfrm>
          <a:prstGeom prst="roundRect">
            <a:avLst>
              <a:gd name="adj" fmla="val 6000"/>
            </a:avLst>
          </a:prstGeom>
          <a:solidFill>
            <a:srgbClr val="1E234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Admin_Bitbucket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API_IS_Deployer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D7DAF5"/>
                </a:solidFill>
                <a:latin typeface="Courier New" pitchFamily="34" charset="0"/>
              </a:rPr>
              <a:t>API_IS_Target</a:t>
            </a:r>
          </a:p>
        </p:txBody>
      </p:sp>
      <p:sp>
        <p:nvSpPr>
          <p:cNvPr id="1375" name="Note"/>
          <p:cNvSpPr/>
          <p:nvPr/>
        </p:nvSpPr>
        <p:spPr>
          <a:xfrm>
            <a:off x="10232136" y="4251960"/>
            <a:ext cx="6547104" cy="1737360"/>
          </a:xfrm>
          <a:prstGeom prst="roundRect">
            <a:avLst>
              <a:gd name="adj" fmla="val 10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76" name="TextBox"/>
          <p:cNvSpPr txBox="1"/>
          <p:nvPr/>
        </p:nvSpPr>
        <p:spPr>
          <a:xfrm>
            <a:off x="10488168" y="441655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1E8E5A"/>
                </a:solidFill>
                <a:latin typeface="Aptos" pitchFamily="34" charset="0"/>
              </a:rPr>
              <a:t>CREDENTIAL PROTECTION</a:t>
            </a:r>
          </a:p>
        </p:txBody>
      </p:sp>
      <p:sp>
        <p:nvSpPr>
          <p:cNvPr id="1377" name="TextBox"/>
          <p:cNvSpPr txBox="1"/>
          <p:nvPr/>
        </p:nvSpPr>
        <p:spPr>
          <a:xfrm>
            <a:off x="10488168" y="4754880"/>
            <a:ext cx="603504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Passwords are injected through Jenkins credentials and are never printed in the logs.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EMAIL, AUDIT, AND ARTIFACT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78" name="Box"/>
          <p:cNvSpPr/>
          <p:nvPr/>
        </p:nvSpPr>
        <p:spPr>
          <a:xfrm>
            <a:off x="1417320" y="2331720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79" name="Badge"/>
          <p:cNvSpPr/>
          <p:nvPr/>
        </p:nvSpPr>
        <p:spPr>
          <a:xfrm>
            <a:off x="1609344" y="2530602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80" name="TextBox"/>
          <p:cNvSpPr txBox="1"/>
          <p:nvPr/>
        </p:nvSpPr>
        <p:spPr>
          <a:xfrm>
            <a:off x="2103120" y="2331720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Start, success, and failure emails</a:t>
            </a:r>
          </a:p>
        </p:txBody>
      </p:sp>
      <p:sp>
        <p:nvSpPr>
          <p:cNvPr id="1381" name="Box"/>
          <p:cNvSpPr/>
          <p:nvPr/>
        </p:nvSpPr>
        <p:spPr>
          <a:xfrm>
            <a:off x="1417320" y="3204972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82" name="Badge"/>
          <p:cNvSpPr/>
          <p:nvPr/>
        </p:nvSpPr>
        <p:spPr>
          <a:xfrm>
            <a:off x="1609344" y="3403854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83" name="TextBox"/>
          <p:cNvSpPr txBox="1"/>
          <p:nvPr/>
        </p:nvSpPr>
        <p:spPr>
          <a:xfrm>
            <a:off x="2103120" y="3204972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Date and time in email subjects</a:t>
            </a:r>
          </a:p>
        </p:txBody>
      </p:sp>
      <p:sp>
        <p:nvSpPr>
          <p:cNvPr id="1384" name="Box"/>
          <p:cNvSpPr/>
          <p:nvPr/>
        </p:nvSpPr>
        <p:spPr>
          <a:xfrm>
            <a:off x="1417320" y="4078224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85" name="Badge"/>
          <p:cNvSpPr/>
          <p:nvPr/>
        </p:nvSpPr>
        <p:spPr>
          <a:xfrm>
            <a:off x="1609344" y="4277106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86" name="TextBox"/>
          <p:cNvSpPr txBox="1"/>
          <p:nvPr/>
        </p:nvSpPr>
        <p:spPr>
          <a:xfrm>
            <a:off x="2103120" y="4078224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Environment, EPIC, packages, targets, status, and Jenkins URL</a:t>
            </a:r>
          </a:p>
        </p:txBody>
      </p:sp>
      <p:sp>
        <p:nvSpPr>
          <p:cNvPr id="1387" name="Box"/>
          <p:cNvSpPr/>
          <p:nvPr/>
        </p:nvSpPr>
        <p:spPr>
          <a:xfrm>
            <a:off x="1417320" y="4951476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88" name="Badge"/>
          <p:cNvSpPr/>
          <p:nvPr/>
        </p:nvSpPr>
        <p:spPr>
          <a:xfrm>
            <a:off x="1609344" y="515035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89" name="TextBox"/>
          <p:cNvSpPr txBox="1"/>
          <p:nvPr/>
        </p:nvSpPr>
        <p:spPr>
          <a:xfrm>
            <a:off x="2103120" y="4951476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Project description contains creation date and time</a:t>
            </a:r>
          </a:p>
        </p:txBody>
      </p:sp>
      <p:sp>
        <p:nvSpPr>
          <p:cNvPr id="1390" name="Box"/>
          <p:cNvSpPr/>
          <p:nvPr/>
        </p:nvSpPr>
        <p:spPr>
          <a:xfrm>
            <a:off x="1417320" y="5824728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91" name="Badge"/>
          <p:cNvSpPr/>
          <p:nvPr/>
        </p:nvSpPr>
        <p:spPr>
          <a:xfrm>
            <a:off x="1609344" y="6023610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92" name="TextBox"/>
          <p:cNvSpPr txBox="1"/>
          <p:nvPr/>
        </p:nvSpPr>
        <p:spPr>
          <a:xfrm>
            <a:off x="2103120" y="5824728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ABE build logs are archived</a:t>
            </a:r>
          </a:p>
        </p:txBody>
      </p:sp>
      <p:sp>
        <p:nvSpPr>
          <p:cNvPr id="1393" name="Box"/>
          <p:cNvSpPr/>
          <p:nvPr/>
        </p:nvSpPr>
        <p:spPr>
          <a:xfrm>
            <a:off x="1417320" y="6697980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94" name="Badge"/>
          <p:cNvSpPr/>
          <p:nvPr/>
        </p:nvSpPr>
        <p:spPr>
          <a:xfrm>
            <a:off x="1609344" y="6896862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95" name="TextBox"/>
          <p:cNvSpPr txBox="1"/>
          <p:nvPr/>
        </p:nvSpPr>
        <p:spPr>
          <a:xfrm>
            <a:off x="2103120" y="6697980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Checkpoint and rollback logs are archived</a:t>
            </a:r>
          </a:p>
        </p:txBody>
      </p:sp>
      <p:sp>
        <p:nvSpPr>
          <p:cNvPr id="1396" name="Box"/>
          <p:cNvSpPr/>
          <p:nvPr/>
        </p:nvSpPr>
        <p:spPr>
          <a:xfrm>
            <a:off x="1417320" y="7571232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97" name="Badge"/>
          <p:cNvSpPr/>
          <p:nvPr/>
        </p:nvSpPr>
        <p:spPr>
          <a:xfrm>
            <a:off x="1609344" y="7770114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398" name="TextBox"/>
          <p:cNvSpPr txBox="1"/>
          <p:nvPr/>
        </p:nvSpPr>
        <p:spPr>
          <a:xfrm>
            <a:off x="2103120" y="7571232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Generated XML is handled carefully to avoid exposing credentials</a:t>
            </a:r>
          </a:p>
        </p:txBody>
      </p:sp>
      <p:sp>
        <p:nvSpPr>
          <p:cNvPr id="1399" name="Box"/>
          <p:cNvSpPr/>
          <p:nvPr/>
        </p:nvSpPr>
        <p:spPr>
          <a:xfrm>
            <a:off x="1417320" y="8444484"/>
            <a:ext cx="15361920" cy="745236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00" name="Badge"/>
          <p:cNvSpPr/>
          <p:nvPr/>
        </p:nvSpPr>
        <p:spPr>
          <a:xfrm>
            <a:off x="1609344" y="8643366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01" name="TextBox"/>
          <p:cNvSpPr txBox="1"/>
          <p:nvPr/>
        </p:nvSpPr>
        <p:spPr>
          <a:xfrm>
            <a:off x="2103120" y="8444484"/>
            <a:ext cx="14447520" cy="7452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Jenkins retains limited build history according to job configuration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SYNC_DEV_CODE • PURPOSE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02" name="TextBox"/>
          <p:cNvSpPr txBox="1"/>
          <p:nvPr/>
        </p:nvSpPr>
        <p:spPr>
          <a:xfrm>
            <a:off x="1417320" y="2331720"/>
            <a:ext cx="153619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600" dirty="0">
                <a:solidFill>
                  <a:srgbClr val="252545"/>
                </a:solidFill>
                <a:latin typeface="Aptos" pitchFamily="34" charset="0"/>
              </a:rPr>
              <a:t>Sync_Dev_Code synchronizes approved custom packages from the DEV Integration Server into the Bitbucket source repository.</a:t>
            </a:r>
          </a:p>
        </p:txBody>
      </p:sp>
      <p:sp>
        <p:nvSpPr>
          <p:cNvPr id="1403" name="Box"/>
          <p:cNvSpPr/>
          <p:nvPr/>
        </p:nvSpPr>
        <p:spPr>
          <a:xfrm>
            <a:off x="1417320" y="3703320"/>
            <a:ext cx="15361920" cy="10058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04" name="Badge"/>
          <p:cNvSpPr/>
          <p:nvPr/>
        </p:nvSpPr>
        <p:spPr>
          <a:xfrm>
            <a:off x="1636776" y="4014216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05" name="TextBox"/>
          <p:cNvSpPr txBox="1"/>
          <p:nvPr/>
        </p:nvSpPr>
        <p:spPr>
          <a:xfrm>
            <a:off x="2194560" y="3703320"/>
            <a:ext cx="1431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Capture current DEV Integration Server package source</a:t>
            </a:r>
          </a:p>
        </p:txBody>
      </p:sp>
      <p:sp>
        <p:nvSpPr>
          <p:cNvPr id="1406" name="Box"/>
          <p:cNvSpPr/>
          <p:nvPr/>
        </p:nvSpPr>
        <p:spPr>
          <a:xfrm>
            <a:off x="1417320" y="4892040"/>
            <a:ext cx="15361920" cy="10058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07" name="Badge"/>
          <p:cNvSpPr/>
          <p:nvPr/>
        </p:nvSpPr>
        <p:spPr>
          <a:xfrm>
            <a:off x="1636776" y="5202936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08" name="TextBox"/>
          <p:cNvSpPr txBox="1"/>
          <p:nvPr/>
        </p:nvSpPr>
        <p:spPr>
          <a:xfrm>
            <a:off x="2194560" y="4892040"/>
            <a:ext cx="1431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Maintain Bitbucket as the source-controlled system of record</a:t>
            </a:r>
          </a:p>
        </p:txBody>
      </p:sp>
      <p:sp>
        <p:nvSpPr>
          <p:cNvPr id="1409" name="Box"/>
          <p:cNvSpPr/>
          <p:nvPr/>
        </p:nvSpPr>
        <p:spPr>
          <a:xfrm>
            <a:off x="1417320" y="6080760"/>
            <a:ext cx="15361920" cy="10058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10" name="Badge"/>
          <p:cNvSpPr/>
          <p:nvPr/>
        </p:nvSpPr>
        <p:spPr>
          <a:xfrm>
            <a:off x="1636776" y="6391656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11" name="TextBox"/>
          <p:cNvSpPr txBox="1"/>
          <p:nvPr/>
        </p:nvSpPr>
        <p:spPr>
          <a:xfrm>
            <a:off x="2194560" y="6080760"/>
            <a:ext cx="1431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Support environment branching</a:t>
            </a:r>
          </a:p>
        </p:txBody>
      </p:sp>
      <p:sp>
        <p:nvSpPr>
          <p:cNvPr id="1412" name="Box"/>
          <p:cNvSpPr/>
          <p:nvPr/>
        </p:nvSpPr>
        <p:spPr>
          <a:xfrm>
            <a:off x="1417320" y="7269480"/>
            <a:ext cx="15361920" cy="10058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13" name="Badge"/>
          <p:cNvSpPr/>
          <p:nvPr/>
        </p:nvSpPr>
        <p:spPr>
          <a:xfrm>
            <a:off x="1636776" y="7580376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14" name="TextBox"/>
          <p:cNvSpPr txBox="1"/>
          <p:nvPr/>
        </p:nvSpPr>
        <p:spPr>
          <a:xfrm>
            <a:off x="2194560" y="7269480"/>
            <a:ext cx="1431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Allow QC, UAT, and PROD deployment jobs to build from repository branches</a:t>
            </a:r>
          </a:p>
        </p:txBody>
      </p:sp>
      <p:sp>
        <p:nvSpPr>
          <p:cNvPr id="1415" name="Box"/>
          <p:cNvSpPr/>
          <p:nvPr/>
        </p:nvSpPr>
        <p:spPr>
          <a:xfrm>
            <a:off x="1417320" y="8458200"/>
            <a:ext cx="15361920" cy="1005840"/>
          </a:xfrm>
          <a:prstGeom prst="roundRect">
            <a:avLst>
              <a:gd name="adj" fmla="val 16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16" name="Badge"/>
          <p:cNvSpPr/>
          <p:nvPr/>
        </p:nvSpPr>
        <p:spPr>
          <a:xfrm>
            <a:off x="1636776" y="8769096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17" name="TextBox"/>
          <p:cNvSpPr txBox="1"/>
          <p:nvPr/>
        </p:nvSpPr>
        <p:spPr>
          <a:xfrm>
            <a:off x="2194560" y="8458200"/>
            <a:ext cx="1431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Preserve traceability of package changes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SYNC_DEV_CODE • TECHNICAL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18" name="Box"/>
          <p:cNvSpPr/>
          <p:nvPr/>
        </p:nvSpPr>
        <p:spPr>
          <a:xfrm>
            <a:off x="1417320" y="233172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1. DEV Integration Server</a:t>
            </a:r>
          </a:p>
        </p:txBody>
      </p:sp>
      <p:cxnSp>
        <p:nvCxnSpPr>
          <p:cNvPr id="1419" name="Connector"/>
          <p:cNvCxnSpPr/>
          <p:nvPr/>
        </p:nvCxnSpPr>
        <p:spPr>
          <a:xfrm>
            <a:off x="4306824" y="285750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0" name="Box"/>
          <p:cNvSpPr/>
          <p:nvPr/>
        </p:nvSpPr>
        <p:spPr>
          <a:xfrm>
            <a:off x="4535424" y="233172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2. Discover custom packages</a:t>
            </a:r>
          </a:p>
        </p:txBody>
      </p:sp>
      <p:cxnSp>
        <p:nvCxnSpPr>
          <p:cNvPr id="1421" name="Connector"/>
          <p:cNvCxnSpPr/>
          <p:nvPr/>
        </p:nvCxnSpPr>
        <p:spPr>
          <a:xfrm>
            <a:off x="7424928" y="285750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2" name="Box"/>
          <p:cNvSpPr/>
          <p:nvPr/>
        </p:nvSpPr>
        <p:spPr>
          <a:xfrm>
            <a:off x="7653528" y="233172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3. Exclude Software AG/system packages</a:t>
            </a:r>
          </a:p>
        </p:txBody>
      </p:sp>
      <p:cxnSp>
        <p:nvCxnSpPr>
          <p:cNvPr id="1423" name="Connector"/>
          <p:cNvCxnSpPr/>
          <p:nvPr/>
        </p:nvCxnSpPr>
        <p:spPr>
          <a:xfrm>
            <a:off x="10543032" y="285750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4" name="Box"/>
          <p:cNvSpPr/>
          <p:nvPr/>
        </p:nvSpPr>
        <p:spPr>
          <a:xfrm>
            <a:off x="10771632" y="233172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4. Export/copy package source</a:t>
            </a:r>
          </a:p>
        </p:txBody>
      </p:sp>
      <p:cxnSp>
        <p:nvCxnSpPr>
          <p:cNvPr id="1425" name="Connector"/>
          <p:cNvCxnSpPr/>
          <p:nvPr/>
        </p:nvCxnSpPr>
        <p:spPr>
          <a:xfrm>
            <a:off x="13661136" y="285750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6" name="Box"/>
          <p:cNvSpPr/>
          <p:nvPr/>
        </p:nvSpPr>
        <p:spPr>
          <a:xfrm>
            <a:off x="13889736" y="233172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5. Clean runtime-generated files</a:t>
            </a:r>
          </a:p>
        </p:txBody>
      </p:sp>
      <p:cxnSp>
        <p:nvCxnSpPr>
          <p:cNvPr id="1427" name="Connector"/>
          <p:cNvCxnSpPr/>
          <p:nvPr/>
        </p:nvCxnSpPr>
        <p:spPr>
          <a:xfrm>
            <a:off x="15334488" y="3383280"/>
            <a:ext cx="457" cy="457200"/>
          </a:xfrm>
          <a:prstGeom prst="line">
            <a:avLst/>
          </a:prstGeom>
          <a:ln w="15875">
            <a:solidFill>
              <a:srgbClr val="C7C9E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8" name="Box"/>
          <p:cNvSpPr/>
          <p:nvPr/>
        </p:nvSpPr>
        <p:spPr>
          <a:xfrm>
            <a:off x="1417320" y="384048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6. Update local Git working copy</a:t>
            </a:r>
          </a:p>
        </p:txBody>
      </p:sp>
      <p:cxnSp>
        <p:nvCxnSpPr>
          <p:cNvPr id="1429" name="Connector"/>
          <p:cNvCxnSpPr/>
          <p:nvPr/>
        </p:nvCxnSpPr>
        <p:spPr>
          <a:xfrm>
            <a:off x="4306824" y="436626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" name="Box"/>
          <p:cNvSpPr/>
          <p:nvPr/>
        </p:nvSpPr>
        <p:spPr>
          <a:xfrm>
            <a:off x="4535424" y="384048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7. Review detected changes</a:t>
            </a:r>
          </a:p>
        </p:txBody>
      </p:sp>
      <p:cxnSp>
        <p:nvCxnSpPr>
          <p:cNvPr id="1431" name="Connector"/>
          <p:cNvCxnSpPr/>
          <p:nvPr/>
        </p:nvCxnSpPr>
        <p:spPr>
          <a:xfrm>
            <a:off x="7424928" y="436626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Box"/>
          <p:cNvSpPr/>
          <p:nvPr/>
        </p:nvSpPr>
        <p:spPr>
          <a:xfrm>
            <a:off x="7653528" y="384048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8. Commit using EPIC/change information</a:t>
            </a:r>
          </a:p>
        </p:txBody>
      </p:sp>
      <p:cxnSp>
        <p:nvCxnSpPr>
          <p:cNvPr id="1433" name="Connector"/>
          <p:cNvCxnSpPr/>
          <p:nvPr/>
        </p:nvCxnSpPr>
        <p:spPr>
          <a:xfrm>
            <a:off x="10543032" y="436626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" name="Box"/>
          <p:cNvSpPr/>
          <p:nvPr/>
        </p:nvSpPr>
        <p:spPr>
          <a:xfrm>
            <a:off x="10771632" y="384048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9. Push to Bitbucket DEV branch</a:t>
            </a:r>
          </a:p>
        </p:txBody>
      </p:sp>
      <p:cxnSp>
        <p:nvCxnSpPr>
          <p:cNvPr id="1435" name="Connector"/>
          <p:cNvCxnSpPr/>
          <p:nvPr/>
        </p:nvCxnSpPr>
        <p:spPr>
          <a:xfrm>
            <a:off x="13661136" y="4366260"/>
            <a:ext cx="22860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" name="Box"/>
          <p:cNvSpPr/>
          <p:nvPr/>
        </p:nvSpPr>
        <p:spPr>
          <a:xfrm>
            <a:off x="13889736" y="3840480"/>
            <a:ext cx="2889504" cy="1051560"/>
          </a:xfrm>
          <a:prstGeom prst="roundRect">
            <a:avLst>
              <a:gd name="adj" fmla="val 14000"/>
            </a:avLst>
          </a:prstGeom>
          <a:solidFill>
            <a:srgbClr val="EEF0FD"/>
          </a:solidFill>
          <a:ln w="9525">
            <a:solidFill>
              <a:srgbClr val="D3D8F7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52545"/>
                </a:solidFill>
                <a:latin typeface="Aptos" pitchFamily="34" charset="0"/>
              </a:rPr>
              <a:t>10. Review and promote through QC, UAT, and PROD branches</a:t>
            </a:r>
          </a:p>
        </p:txBody>
      </p:sp>
      <p:sp>
        <p:nvSpPr>
          <p:cNvPr id="1437" name="TextBox"/>
          <p:cNvSpPr txBox="1"/>
          <p:nvPr/>
        </p:nvSpPr>
        <p:spPr>
          <a:xfrm>
            <a:off x="1417320" y="502920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TYPICAL EXCLUSIONS</a:t>
            </a:r>
          </a:p>
        </p:txBody>
      </p:sp>
      <p:sp>
        <p:nvSpPr>
          <p:cNvPr id="1438" name="Chip"/>
          <p:cNvSpPr/>
          <p:nvPr/>
        </p:nvSpPr>
        <p:spPr>
          <a:xfrm>
            <a:off x="1417320" y="5440680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Wm*</a:t>
            </a:r>
          </a:p>
        </p:txBody>
      </p:sp>
      <p:sp>
        <p:nvSpPr>
          <p:cNvPr id="1439" name="Chip"/>
          <p:cNvSpPr/>
          <p:nvPr/>
        </p:nvSpPr>
        <p:spPr>
          <a:xfrm>
            <a:off x="4008120" y="5440680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Wx*</a:t>
            </a:r>
          </a:p>
        </p:txBody>
      </p:sp>
      <p:sp>
        <p:nvSpPr>
          <p:cNvPr id="1440" name="Chip"/>
          <p:cNvSpPr/>
          <p:nvPr/>
        </p:nvSpPr>
        <p:spPr>
          <a:xfrm>
            <a:off x="6598920" y="5440680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Test*</a:t>
            </a:r>
          </a:p>
        </p:txBody>
      </p:sp>
      <p:sp>
        <p:nvSpPr>
          <p:cNvPr id="1441" name="Chip"/>
          <p:cNvSpPr/>
          <p:nvPr/>
        </p:nvSpPr>
        <p:spPr>
          <a:xfrm>
            <a:off x="9189720" y="5440680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Sample*</a:t>
            </a:r>
          </a:p>
        </p:txBody>
      </p:sp>
      <p:sp>
        <p:nvSpPr>
          <p:cNvPr id="1442" name="Chip"/>
          <p:cNvSpPr/>
          <p:nvPr/>
        </p:nvSpPr>
        <p:spPr>
          <a:xfrm>
            <a:off x="11780520" y="5440680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Default</a:t>
            </a:r>
          </a:p>
        </p:txBody>
      </p:sp>
      <p:sp>
        <p:nvSpPr>
          <p:cNvPr id="1443" name="Chip"/>
          <p:cNvSpPr/>
          <p:nvPr/>
        </p:nvSpPr>
        <p:spPr>
          <a:xfrm>
            <a:off x="14371320" y="5440680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MSTest</a:t>
            </a:r>
          </a:p>
        </p:txBody>
      </p:sp>
      <p:sp>
        <p:nvSpPr>
          <p:cNvPr id="1444" name="Chip"/>
          <p:cNvSpPr/>
          <p:nvPr/>
        </p:nvSpPr>
        <p:spPr>
          <a:xfrm>
            <a:off x="1417320" y="6089904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TerracottaExamples</a:t>
            </a:r>
          </a:p>
        </p:txBody>
      </p:sp>
      <p:sp>
        <p:nvSpPr>
          <p:cNvPr id="1445" name="Chip"/>
          <p:cNvSpPr/>
          <p:nvPr/>
        </p:nvSpPr>
        <p:spPr>
          <a:xfrm>
            <a:off x="4008120" y="6089904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Runtime logs</a:t>
            </a:r>
          </a:p>
        </p:txBody>
      </p:sp>
      <p:sp>
        <p:nvSpPr>
          <p:cNvPr id="1446" name="Chip"/>
          <p:cNvSpPr/>
          <p:nvPr/>
        </p:nvSpPr>
        <p:spPr>
          <a:xfrm>
            <a:off x="6598920" y="6089904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Cache</a:t>
            </a:r>
          </a:p>
        </p:txBody>
      </p:sp>
      <p:sp>
        <p:nvSpPr>
          <p:cNvPr id="1447" name="Chip"/>
          <p:cNvSpPr/>
          <p:nvPr/>
        </p:nvSpPr>
        <p:spPr>
          <a:xfrm>
            <a:off x="9189720" y="6089904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Temporary files</a:t>
            </a:r>
          </a:p>
        </p:txBody>
      </p:sp>
      <p:sp>
        <p:nvSpPr>
          <p:cNvPr id="1448" name="Chip"/>
          <p:cNvSpPr/>
          <p:nvPr/>
        </p:nvSpPr>
        <p:spPr>
          <a:xfrm>
            <a:off x="11780520" y="6089904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Statistics</a:t>
            </a:r>
          </a:p>
        </p:txBody>
      </p:sp>
      <p:sp>
        <p:nvSpPr>
          <p:cNvPr id="1449" name="Chip"/>
          <p:cNvSpPr/>
          <p:nvPr/>
        </p:nvSpPr>
        <p:spPr>
          <a:xfrm>
            <a:off x="14371320" y="6089904"/>
            <a:ext cx="2407920" cy="5029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Audit/runtime data</a:t>
            </a:r>
          </a:p>
        </p:txBody>
      </p:sp>
      <p:sp>
        <p:nvSpPr>
          <p:cNvPr id="1450" name="Note"/>
          <p:cNvSpPr/>
          <p:nvPr/>
        </p:nvSpPr>
        <p:spPr>
          <a:xfrm>
            <a:off x="1417320" y="6967728"/>
            <a:ext cx="15361920" cy="2221992"/>
          </a:xfrm>
          <a:prstGeom prst="roundRect">
            <a:avLst>
              <a:gd name="adj" fmla="val 10000"/>
            </a:avLst>
          </a:prstGeom>
          <a:solidFill>
            <a:srgbClr val="FDF1E2"/>
          </a:solidFill>
          <a:ln w="9525">
            <a:solidFill>
              <a:srgbClr val="F0D6AC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51" name="TextBox"/>
          <p:cNvSpPr txBox="1"/>
          <p:nvPr/>
        </p:nvSpPr>
        <p:spPr>
          <a:xfrm>
            <a:off x="1673352" y="7132320"/>
            <a:ext cx="1484985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dirty="0">
                <a:solidFill>
                  <a:srgbClr val="C97A1E"/>
                </a:solidFill>
                <a:latin typeface="Aptos" pitchFamily="34" charset="0"/>
              </a:rPr>
              <a:t>CONFIGURATION NOTE</a:t>
            </a:r>
          </a:p>
        </p:txBody>
      </p:sp>
      <p:sp>
        <p:nvSpPr>
          <p:cNvPr id="1452" name="TextBox"/>
          <p:cNvSpPr txBox="1"/>
          <p:nvPr/>
        </p:nvSpPr>
        <p:spPr>
          <a:xfrm>
            <a:off x="1673352" y="7470648"/>
            <a:ext cx="14849856" cy="1536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52545"/>
                </a:solidFill>
                <a:latin typeface="Aptos" pitchFamily="34" charset="0"/>
              </a:rPr>
              <a:t>The exact source Integration Server and branch configuration must follow the deployed Sync_Dev_Code Jenkins job.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CI/CD &amp; DEV CODE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END-TO-END LIFECYCLE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53" name="Box"/>
          <p:cNvSpPr/>
          <p:nvPr/>
        </p:nvSpPr>
        <p:spPr>
          <a:xfrm>
            <a:off x="1417320" y="233172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1. Developer/Integration Team changes DEV</a:t>
            </a:r>
          </a:p>
        </p:txBody>
      </p:sp>
      <p:cxnSp>
        <p:nvCxnSpPr>
          <p:cNvPr id="1454" name="Connector"/>
          <p:cNvCxnSpPr/>
          <p:nvPr/>
        </p:nvCxnSpPr>
        <p:spPr>
          <a:xfrm>
            <a:off x="3825240" y="276606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5" name="Box"/>
          <p:cNvSpPr/>
          <p:nvPr/>
        </p:nvSpPr>
        <p:spPr>
          <a:xfrm>
            <a:off x="4008120" y="233172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2. Run Sync_Dev_Code</a:t>
            </a:r>
          </a:p>
        </p:txBody>
      </p:sp>
      <p:cxnSp>
        <p:nvCxnSpPr>
          <p:cNvPr id="1456" name="Connector"/>
          <p:cNvCxnSpPr/>
          <p:nvPr/>
        </p:nvCxnSpPr>
        <p:spPr>
          <a:xfrm>
            <a:off x="6416040" y="276606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7" name="Box"/>
          <p:cNvSpPr/>
          <p:nvPr/>
        </p:nvSpPr>
        <p:spPr>
          <a:xfrm>
            <a:off x="6598920" y="233172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3. Commit source to Bitbucket DEV</a:t>
            </a:r>
          </a:p>
        </p:txBody>
      </p:sp>
      <p:cxnSp>
        <p:nvCxnSpPr>
          <p:cNvPr id="1458" name="Connector"/>
          <p:cNvCxnSpPr/>
          <p:nvPr/>
        </p:nvCxnSpPr>
        <p:spPr>
          <a:xfrm>
            <a:off x="9006840" y="276606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9" name="Box"/>
          <p:cNvSpPr/>
          <p:nvPr/>
        </p:nvSpPr>
        <p:spPr>
          <a:xfrm>
            <a:off x="9189720" y="233172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4. Review and promote branch to QC</a:t>
            </a:r>
          </a:p>
        </p:txBody>
      </p:sp>
      <p:cxnSp>
        <p:nvCxnSpPr>
          <p:cNvPr id="1460" name="Connector"/>
          <p:cNvCxnSpPr/>
          <p:nvPr/>
        </p:nvCxnSpPr>
        <p:spPr>
          <a:xfrm>
            <a:off x="11597640" y="276606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1" name="Box"/>
          <p:cNvSpPr/>
          <p:nvPr/>
        </p:nvSpPr>
        <p:spPr>
          <a:xfrm>
            <a:off x="11780520" y="233172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5. QC deployment and validation</a:t>
            </a:r>
          </a:p>
        </p:txBody>
      </p:sp>
      <p:cxnSp>
        <p:nvCxnSpPr>
          <p:cNvPr id="1462" name="Connector"/>
          <p:cNvCxnSpPr/>
          <p:nvPr/>
        </p:nvCxnSpPr>
        <p:spPr>
          <a:xfrm>
            <a:off x="14188440" y="276606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3" name="Box"/>
          <p:cNvSpPr/>
          <p:nvPr/>
        </p:nvSpPr>
        <p:spPr>
          <a:xfrm>
            <a:off x="14371320" y="233172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1D6FA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6. Promote branch to UAT</a:t>
            </a:r>
          </a:p>
        </p:txBody>
      </p:sp>
      <p:cxnSp>
        <p:nvCxnSpPr>
          <p:cNvPr id="1464" name="Connector"/>
          <p:cNvCxnSpPr/>
          <p:nvPr/>
        </p:nvCxnSpPr>
        <p:spPr>
          <a:xfrm>
            <a:off x="15575280" y="3200400"/>
            <a:ext cx="457" cy="320040"/>
          </a:xfrm>
          <a:prstGeom prst="line">
            <a:avLst/>
          </a:prstGeom>
          <a:ln w="15875">
            <a:solidFill>
              <a:srgbClr val="252545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5" name="Box"/>
          <p:cNvSpPr/>
          <p:nvPr/>
        </p:nvSpPr>
        <p:spPr>
          <a:xfrm>
            <a:off x="1417320" y="352044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1D6FA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7. UAT deployment and validation</a:t>
            </a:r>
          </a:p>
        </p:txBody>
      </p:sp>
      <p:cxnSp>
        <p:nvCxnSpPr>
          <p:cNvPr id="1466" name="Connector"/>
          <p:cNvCxnSpPr/>
          <p:nvPr/>
        </p:nvCxnSpPr>
        <p:spPr>
          <a:xfrm>
            <a:off x="3825240" y="395478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7" name="Box"/>
          <p:cNvSpPr/>
          <p:nvPr/>
        </p:nvSpPr>
        <p:spPr>
          <a:xfrm>
            <a:off x="4008120" y="352044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8. Promote branch to PROD</a:t>
            </a:r>
          </a:p>
        </p:txBody>
      </p:sp>
      <p:cxnSp>
        <p:nvCxnSpPr>
          <p:cNvPr id="1468" name="Connector"/>
          <p:cNvCxnSpPr/>
          <p:nvPr/>
        </p:nvCxnSpPr>
        <p:spPr>
          <a:xfrm>
            <a:off x="6416040" y="395478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9" name="Box"/>
          <p:cNvSpPr/>
          <p:nvPr/>
        </p:nvSpPr>
        <p:spPr>
          <a:xfrm>
            <a:off x="6598920" y="352044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9. Select one PROD cluster alias</a:t>
            </a:r>
          </a:p>
        </p:txBody>
      </p:sp>
      <p:cxnSp>
        <p:nvCxnSpPr>
          <p:cNvPr id="1470" name="Connector"/>
          <p:cNvCxnSpPr/>
          <p:nvPr/>
        </p:nvCxnSpPr>
        <p:spPr>
          <a:xfrm>
            <a:off x="9006840" y="395478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1" name="Box"/>
          <p:cNvSpPr/>
          <p:nvPr/>
        </p:nvSpPr>
        <p:spPr>
          <a:xfrm>
            <a:off x="9189720" y="352044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10. PROD checkpoint</a:t>
            </a:r>
          </a:p>
        </p:txBody>
      </p:sp>
      <p:cxnSp>
        <p:nvCxnSpPr>
          <p:cNvPr id="1472" name="Connector"/>
          <p:cNvCxnSpPr/>
          <p:nvPr/>
        </p:nvCxnSpPr>
        <p:spPr>
          <a:xfrm>
            <a:off x="11597640" y="395478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Box"/>
          <p:cNvSpPr/>
          <p:nvPr/>
        </p:nvSpPr>
        <p:spPr>
          <a:xfrm>
            <a:off x="11780520" y="352044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11. PROD deployment</a:t>
            </a:r>
          </a:p>
        </p:txBody>
      </p:sp>
      <p:cxnSp>
        <p:nvCxnSpPr>
          <p:cNvPr id="1474" name="Connector"/>
          <p:cNvCxnSpPr/>
          <p:nvPr/>
        </p:nvCxnSpPr>
        <p:spPr>
          <a:xfrm>
            <a:off x="14188440" y="3954780"/>
            <a:ext cx="182880" cy="457"/>
          </a:xfrm>
          <a:prstGeom prst="line">
            <a:avLst/>
          </a:prstGeom>
          <a:ln w="158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" name="Box"/>
          <p:cNvSpPr/>
          <p:nvPr/>
        </p:nvSpPr>
        <p:spPr>
          <a:xfrm>
            <a:off x="14371320" y="3520440"/>
            <a:ext cx="2407920" cy="86868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12. Rollback if required</a:t>
            </a:r>
          </a:p>
        </p:txBody>
      </p:sp>
      <p:sp>
        <p:nvSpPr>
          <p:cNvPr id="1476" name="TextBox"/>
          <p:cNvSpPr txBox="1"/>
          <p:nvPr/>
        </p:nvSpPr>
        <p:spPr>
          <a:xfrm>
            <a:off x="1417320" y="457200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5B5F73"/>
                </a:solidFill>
                <a:latin typeface="Aptos" pitchFamily="34" charset="0"/>
              </a:rPr>
              <a:t>MAIN TECHNICAL CONTROLS</a:t>
            </a:r>
          </a:p>
        </p:txBody>
      </p:sp>
      <p:sp>
        <p:nvSpPr>
          <p:cNvPr id="1477" name="Box"/>
          <p:cNvSpPr/>
          <p:nvPr/>
        </p:nvSpPr>
        <p:spPr>
          <a:xfrm>
            <a:off x="1417320" y="5029200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78" name="Badge"/>
          <p:cNvSpPr/>
          <p:nvPr/>
        </p:nvSpPr>
        <p:spPr>
          <a:xfrm>
            <a:off x="1591056" y="5527548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79" name="TextBox"/>
          <p:cNvSpPr txBox="1"/>
          <p:nvPr/>
        </p:nvSpPr>
        <p:spPr>
          <a:xfrm>
            <a:off x="1984248" y="5029200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Source-controlled packages</a:t>
            </a:r>
          </a:p>
        </p:txBody>
      </p:sp>
      <p:sp>
        <p:nvSpPr>
          <p:cNvPr id="1480" name="Box"/>
          <p:cNvSpPr/>
          <p:nvPr/>
        </p:nvSpPr>
        <p:spPr>
          <a:xfrm>
            <a:off x="6629400" y="5029200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81" name="Badge"/>
          <p:cNvSpPr/>
          <p:nvPr/>
        </p:nvSpPr>
        <p:spPr>
          <a:xfrm>
            <a:off x="6803136" y="5527548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82" name="TextBox"/>
          <p:cNvSpPr txBox="1"/>
          <p:nvPr/>
        </p:nvSpPr>
        <p:spPr>
          <a:xfrm>
            <a:off x="7196328" y="5029200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Environment branches</a:t>
            </a:r>
          </a:p>
        </p:txBody>
      </p:sp>
      <p:sp>
        <p:nvSpPr>
          <p:cNvPr id="1483" name="Box"/>
          <p:cNvSpPr/>
          <p:nvPr/>
        </p:nvSpPr>
        <p:spPr>
          <a:xfrm>
            <a:off x="11841480" y="5029200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84" name="Badge"/>
          <p:cNvSpPr/>
          <p:nvPr/>
        </p:nvSpPr>
        <p:spPr>
          <a:xfrm>
            <a:off x="12015216" y="5527548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85" name="TextBox"/>
          <p:cNvSpPr txBox="1"/>
          <p:nvPr/>
        </p:nvSpPr>
        <p:spPr>
          <a:xfrm>
            <a:off x="12408408" y="5029200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Pre-deployment checkpoints</a:t>
            </a:r>
          </a:p>
        </p:txBody>
      </p:sp>
      <p:sp>
        <p:nvSpPr>
          <p:cNvPr id="1486" name="Box"/>
          <p:cNvSpPr/>
          <p:nvPr/>
        </p:nvSpPr>
        <p:spPr>
          <a:xfrm>
            <a:off x="1417320" y="6464808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87" name="Badge"/>
          <p:cNvSpPr/>
          <p:nvPr/>
        </p:nvSpPr>
        <p:spPr>
          <a:xfrm>
            <a:off x="1591056" y="6963156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88" name="TextBox"/>
          <p:cNvSpPr txBox="1"/>
          <p:nvPr/>
        </p:nvSpPr>
        <p:spPr>
          <a:xfrm>
            <a:off x="1984248" y="6464808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Independent environment candidates</a:t>
            </a:r>
          </a:p>
        </p:txBody>
      </p:sp>
      <p:sp>
        <p:nvSpPr>
          <p:cNvPr id="1489" name="Box"/>
          <p:cNvSpPr/>
          <p:nvPr/>
        </p:nvSpPr>
        <p:spPr>
          <a:xfrm>
            <a:off x="6629400" y="6464808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90" name="Badge"/>
          <p:cNvSpPr/>
          <p:nvPr/>
        </p:nvSpPr>
        <p:spPr>
          <a:xfrm>
            <a:off x="6803136" y="6963156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91" name="TextBox"/>
          <p:cNvSpPr txBox="1"/>
          <p:nvPr/>
        </p:nvSpPr>
        <p:spPr>
          <a:xfrm>
            <a:off x="7196328" y="6464808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Shared package validation</a:t>
            </a:r>
          </a:p>
        </p:txBody>
      </p:sp>
      <p:sp>
        <p:nvSpPr>
          <p:cNvPr id="1492" name="Box"/>
          <p:cNvSpPr/>
          <p:nvPr/>
        </p:nvSpPr>
        <p:spPr>
          <a:xfrm>
            <a:off x="11841480" y="6464808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93" name="Badge"/>
          <p:cNvSpPr/>
          <p:nvPr/>
        </p:nvSpPr>
        <p:spPr>
          <a:xfrm>
            <a:off x="12015216" y="6963156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94" name="TextBox"/>
          <p:cNvSpPr txBox="1"/>
          <p:nvPr/>
        </p:nvSpPr>
        <p:spPr>
          <a:xfrm>
            <a:off x="12408408" y="6464808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Target alias validation</a:t>
            </a:r>
          </a:p>
        </p:txBody>
      </p:sp>
      <p:sp>
        <p:nvSpPr>
          <p:cNvPr id="1495" name="Box"/>
          <p:cNvSpPr/>
          <p:nvPr/>
        </p:nvSpPr>
        <p:spPr>
          <a:xfrm>
            <a:off x="1417320" y="7900416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96" name="Badge"/>
          <p:cNvSpPr/>
          <p:nvPr/>
        </p:nvSpPr>
        <p:spPr>
          <a:xfrm>
            <a:off x="1591056" y="8398764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497" name="TextBox"/>
          <p:cNvSpPr txBox="1"/>
          <p:nvPr/>
        </p:nvSpPr>
        <p:spPr>
          <a:xfrm>
            <a:off x="1984248" y="7900416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Serialized Deployer access</a:t>
            </a:r>
          </a:p>
        </p:txBody>
      </p:sp>
      <p:sp>
        <p:nvSpPr>
          <p:cNvPr id="1498" name="Box"/>
          <p:cNvSpPr/>
          <p:nvPr/>
        </p:nvSpPr>
        <p:spPr>
          <a:xfrm>
            <a:off x="6629400" y="7900416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99" name="Badge"/>
          <p:cNvSpPr/>
          <p:nvPr/>
        </p:nvSpPr>
        <p:spPr>
          <a:xfrm>
            <a:off x="6803136" y="8398764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500" name="TextBox"/>
          <p:cNvSpPr txBox="1"/>
          <p:nvPr/>
        </p:nvSpPr>
        <p:spPr>
          <a:xfrm>
            <a:off x="7196328" y="7900416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Automatic and approved manual rollback</a:t>
            </a:r>
          </a:p>
        </p:txBody>
      </p:sp>
      <p:sp>
        <p:nvSpPr>
          <p:cNvPr id="1501" name="Box"/>
          <p:cNvSpPr/>
          <p:nvPr/>
        </p:nvSpPr>
        <p:spPr>
          <a:xfrm>
            <a:off x="11841480" y="7900416"/>
            <a:ext cx="4937760" cy="128930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502" name="Badge"/>
          <p:cNvSpPr/>
          <p:nvPr/>
        </p:nvSpPr>
        <p:spPr>
          <a:xfrm>
            <a:off x="12015216" y="8398764"/>
            <a:ext cx="292608" cy="29260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503" name="TextBox"/>
          <p:cNvSpPr txBox="1"/>
          <p:nvPr/>
        </p:nvSpPr>
        <p:spPr>
          <a:xfrm>
            <a:off x="12408408" y="7900416"/>
            <a:ext cx="4206240" cy="1289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Auditable reports and notifications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3672</TotalTime>
  <Words>269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-apple-system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66</cp:revision>
  <dcterms:created xsi:type="dcterms:W3CDTF">2026-05-12T05:42:29Z</dcterms:created>
  <dcterms:modified xsi:type="dcterms:W3CDTF">2026-06-10T08:33:58Z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