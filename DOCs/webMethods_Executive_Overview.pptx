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2"/>
  </p:sldMasterIdLst>
  <p:notesMasterIdLst>
    <p:notesMasterId r:id="rId8"/>
  </p:notesMasterIdLst>
  <p:sldIdLst>
    <p:sldId id="256" r:id="rId3"/>
    <p:sldId id="272" r:id="rId6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2" r:id="rId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9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D64"/>
    <a:srgbClr val="C74C4C"/>
    <a:srgbClr val="E6961C"/>
    <a:srgbClr val="325DCC"/>
    <a:srgbClr val="D6D1ED"/>
    <a:srgbClr val="8F73F2"/>
    <a:srgbClr val="6B47F5"/>
    <a:srgbClr val="8780F2"/>
    <a:srgbClr val="FFC7A0"/>
    <a:srgbClr val="FF7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6" autoAdjust="0"/>
    <p:restoredTop sz="94207" autoAdjust="0"/>
  </p:normalViewPr>
  <p:slideViewPr>
    <p:cSldViewPr showGuides="1">
      <p:cViewPr varScale="1">
        <p:scale>
          <a:sx n="71" d="100"/>
          <a:sy n="71" d="100"/>
        </p:scale>
        <p:origin x="666" y="72"/>
      </p:cViewPr>
      <p:guideLst>
        <p:guide orient="horz" pos="2201"/>
        <p:guide pos="2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CB5D5-E095-42EC-B8C1-D73AD4D7C4AC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21DA3-7E7F-4364-BD8C-E18967705E5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7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7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28700" y="3289685"/>
            <a:ext cx="964662" cy="964662"/>
          </a:xfrm>
          <a:custGeom>
            <a:avLst/>
            <a:gdLst/>
            <a:ahLst/>
            <a:cxnLst/>
            <a:rect l="l" t="t" r="r" b="b"/>
            <a:pathLst>
              <a:path w="964662" h="964662">
                <a:moveTo>
                  <a:pt x="0" y="0"/>
                </a:moveTo>
                <a:lnTo>
                  <a:pt x="964662" y="0"/>
                </a:lnTo>
                <a:lnTo>
                  <a:pt x="964662" y="964662"/>
                </a:lnTo>
                <a:lnTo>
                  <a:pt x="0" y="964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5" name="Freeform 5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44000" y="4300000"/>
            <a:ext cx="11000000" cy="220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sz="400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Deployment Automation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44000" y="6950000"/>
            <a:ext cx="11000000" cy="450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890" b="1" dirty="0">
                <a:solidFill>
                  <a:srgbClr val="FFFFFF">
                    <a:alpha val="68627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Executive Overview</a:t>
            </a:r>
          </a:p>
        </p:txBody>
      </p:sp>
      <p:sp>
        <p:nvSpPr>
          <p:cNvPr id="8" name="GTBClassificationH1190887526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WHAT IS WEBMETHODS INTEGRATION SERVER?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01" name="TextBox"/>
          <p:cNvSpPr txBox="1"/>
          <p:nvPr/>
        </p:nvSpPr>
        <p:spPr>
          <a:xfrm>
            <a:off x="1417320" y="2423160"/>
            <a:ext cx="1536192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webMethods Integration Server is the platform that connects our business systems and automates how information moves between them. The pieces of integration logic it runs — called packages — must be built, tested, and released safely as they move from development into production.</a:t>
            </a:r>
          </a:p>
        </p:txBody>
      </p:sp>
      <p:sp>
        <p:nvSpPr>
          <p:cNvPr id="1002" name="Box"/>
          <p:cNvSpPr/>
          <p:nvPr/>
        </p:nvSpPr>
        <p:spPr>
          <a:xfrm>
            <a:off x="141732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3" name="TextBox"/>
          <p:cNvSpPr txBox="1"/>
          <p:nvPr/>
        </p:nvSpPr>
        <p:spPr>
          <a:xfrm>
            <a:off x="173736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Connects our systems</a:t>
            </a:r>
          </a:p>
        </p:txBody>
      </p:sp>
      <p:sp>
        <p:nvSpPr>
          <p:cNvPr id="1004" name="TextBox"/>
          <p:cNvSpPr txBox="1"/>
          <p:nvPr/>
        </p:nvSpPr>
        <p:spPr>
          <a:xfrm>
            <a:off x="173736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Links core business applications so they can share data and work together.</a:t>
            </a:r>
          </a:p>
        </p:txBody>
      </p:sp>
      <p:sp>
        <p:nvSpPr>
          <p:cNvPr id="1005" name="Box"/>
          <p:cNvSpPr/>
          <p:nvPr/>
        </p:nvSpPr>
        <p:spPr>
          <a:xfrm>
            <a:off x="669036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6" name="TextBox"/>
          <p:cNvSpPr txBox="1"/>
          <p:nvPr/>
        </p:nvSpPr>
        <p:spPr>
          <a:xfrm>
            <a:off x="701040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Automates processes</a:t>
            </a:r>
          </a:p>
        </p:txBody>
      </p:sp>
      <p:sp>
        <p:nvSpPr>
          <p:cNvPr id="1007" name="TextBox"/>
          <p:cNvSpPr txBox="1"/>
          <p:nvPr/>
        </p:nvSpPr>
        <p:spPr>
          <a:xfrm>
            <a:off x="701040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Runs the business logic that moves information between systems automatically.</a:t>
            </a:r>
          </a:p>
        </p:txBody>
      </p:sp>
      <p:sp>
        <p:nvSpPr>
          <p:cNvPr id="1008" name="Box"/>
          <p:cNvSpPr/>
          <p:nvPr/>
        </p:nvSpPr>
        <p:spPr>
          <a:xfrm>
            <a:off x="11963400" y="4434840"/>
            <a:ext cx="4815840" cy="301752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09" name="TextBox"/>
          <p:cNvSpPr txBox="1"/>
          <p:nvPr/>
        </p:nvSpPr>
        <p:spPr>
          <a:xfrm>
            <a:off x="12283440" y="4754880"/>
            <a:ext cx="417576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600" b="1" dirty="0">
                <a:solidFill>
                  <a:srgbClr val="252545"/>
                </a:solidFill>
                <a:latin typeface="Aptos" pitchFamily="34" charset="0"/>
              </a:rPr>
              <a:t>Hosts our “packages”</a:t>
            </a:r>
          </a:p>
        </p:txBody>
      </p:sp>
      <p:sp>
        <p:nvSpPr>
          <p:cNvPr id="1010" name="TextBox"/>
          <p:cNvSpPr txBox="1"/>
          <p:nvPr/>
        </p:nvSpPr>
        <p:spPr>
          <a:xfrm>
            <a:off x="12283440" y="5577840"/>
            <a:ext cx="417576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Packages are the units of integration logic this presentation is about keeping safe.</a:t>
            </a:r>
          </a:p>
        </p:txBody>
      </p:sp>
      <p:sp>
        <p:nvSpPr>
          <p:cNvPr id="1011" name="TextBox"/>
          <p:cNvSpPr txBox="1"/>
          <p:nvPr/>
        </p:nvSpPr>
        <p:spPr>
          <a:xfrm>
            <a:off x="1417320" y="790956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350" dirty="0">
                <a:solidFill>
                  <a:srgbClr val="5B5F73"/>
                </a:solidFill>
                <a:latin typeface="Aptos" pitchFamily="34" charset="0"/>
              </a:rPr>
              <a:t>This presentation explains, in simple terms, how we keep those packages moving safely from development through to production.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E2C79">
                <a:alpha val="100000"/>
              </a:srgbClr>
            </a:gs>
            <a:gs pos="50000">
              <a:srgbClr val="9A84DC">
                <a:alpha val="100000"/>
              </a:srgbClr>
            </a:gs>
            <a:gs pos="100000">
              <a:srgbClr val="8F73F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6930" y="195887"/>
            <a:ext cx="3503507" cy="1052269"/>
          </a:xfrm>
          <a:custGeom>
            <a:avLst/>
            <a:gdLst/>
            <a:ahLst/>
            <a:cxnLst/>
            <a:rect l="l" t="t" r="r" b="b"/>
            <a:pathLst>
              <a:path w="3503507" h="1052269">
                <a:moveTo>
                  <a:pt x="0" y="0"/>
                </a:moveTo>
                <a:lnTo>
                  <a:pt x="3503507" y="0"/>
                </a:lnTo>
                <a:lnTo>
                  <a:pt x="3503507" y="1052269"/>
                </a:lnTo>
                <a:lnTo>
                  <a:pt x="0" y="1052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2587519" y="0"/>
            <a:ext cx="5690956" cy="10287000"/>
            <a:chOff x="0" y="0"/>
            <a:chExt cx="7631832" cy="13795338"/>
          </a:xfrm>
        </p:grpSpPr>
        <p:sp>
          <p:nvSpPr>
            <p:cNvPr id="4" name="Freeform 4" descr="Image"/>
            <p:cNvSpPr/>
            <p:nvPr/>
          </p:nvSpPr>
          <p:spPr>
            <a:xfrm>
              <a:off x="0" y="0"/>
              <a:ext cx="7631811" cy="13795375"/>
            </a:xfrm>
            <a:custGeom>
              <a:avLst/>
              <a:gdLst/>
              <a:ahLst/>
              <a:cxnLst/>
              <a:rect l="l" t="t" r="r" b="b"/>
              <a:pathLst>
                <a:path w="7631811" h="13795375">
                  <a:moveTo>
                    <a:pt x="0" y="0"/>
                  </a:moveTo>
                  <a:lnTo>
                    <a:pt x="7631811" y="0"/>
                  </a:lnTo>
                  <a:lnTo>
                    <a:pt x="7631811" y="13795375"/>
                  </a:lnTo>
                  <a:lnTo>
                    <a:pt x="0" y="137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74" b="-74"/>
              </a:stretch>
            </a:blipFill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067680"/>
            <a:ext cx="5690940" cy="1295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25"/>
              </a:lnSpc>
              <a:spcBef>
                <a:spcPct val="0"/>
              </a:spcBef>
            </a:pPr>
            <a:r>
              <a:rPr lang="en-US" sz="8440" b="1" dirty="0">
                <a:solidFill>
                  <a:srgbClr val="FFFFFF"/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143" y="5369305"/>
            <a:ext cx="5257857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30"/>
              </a:lnSpc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Questions &amp; Discussion</a:t>
            </a:r>
          </a:p>
          <a:p>
            <a:pPr algn="ctr">
              <a:lnSpc>
                <a:spcPts val="3130"/>
              </a:lnSpc>
              <a:spcBef>
                <a:spcPct val="0"/>
              </a:spcBef>
            </a:pPr>
            <a:r>
              <a:rPr lang="en-US" sz="2610" b="1" dirty="0">
                <a:solidFill>
                  <a:srgbClr val="FFFFFF">
                    <a:alpha val="40000"/>
                  </a:srgbClr>
                </a:solidFill>
                <a:latin typeface="+mj-lt"/>
                <a:ea typeface="Tawuniya" panose="00000500000000000000" pitchFamily="50" charset="-78"/>
                <a:cs typeface="Tawuniya" panose="00000500000000000000" pitchFamily="50" charset="-78"/>
                <a:sym typeface="Arimo Bold"/>
              </a:rPr>
              <a:t>webMethods Deployment Automation</a:t>
            </a:r>
          </a:p>
        </p:txBody>
      </p:sp>
      <p:sp>
        <p:nvSpPr>
          <p:cNvPr id="7" name="GTBClassificationH331034338"/>
          <p:cNvSpPr txBox="1"/>
          <p:nvPr/>
        </p:nvSpPr>
        <p:spPr>
          <a:xfrm>
            <a:off x="0" y="0"/>
            <a:ext cx="18288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 dirty="0">
                <a:solidFill>
                  <a:srgbClr val="000000">
                    <a:alpha val="70000"/>
                  </a:srgbClr>
                </a:solidFill>
                <a:latin typeface="+mj-lt"/>
              </a:rPr>
              <a:t>Classification:</a:t>
            </a:r>
            <a:r>
              <a:rPr lang="en-US" sz="1400" dirty="0">
                <a:solidFill>
                  <a:srgbClr val="000000">
                    <a:alpha val="70000"/>
                  </a:srgbClr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6A1B9A">
                    <a:alpha val="70000"/>
                  </a:srgbClr>
                </a:solidFill>
                <a:latin typeface="+mj-lt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THE BUSINESS CHALLENGE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12" name="TextBox"/>
          <p:cNvSpPr txBox="1"/>
          <p:nvPr/>
        </p:nvSpPr>
        <p:spPr>
          <a:xfrm>
            <a:off x="1417320" y="2514600"/>
            <a:ext cx="15361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2000" b="1" dirty="0">
                <a:solidFill>
                  <a:srgbClr val="252545"/>
                </a:solidFill>
                <a:latin typeface="Aptos" pitchFamily="34" charset="0"/>
              </a:rPr>
              <a:t>Moving changes between environments by hand is slow, inconsistent, and risky.</a:t>
            </a:r>
          </a:p>
        </p:txBody>
      </p:sp>
      <p:sp>
        <p:nvSpPr>
          <p:cNvPr id="1013" name="Box"/>
          <p:cNvSpPr/>
          <p:nvPr/>
        </p:nvSpPr>
        <p:spPr>
          <a:xfrm>
            <a:off x="141732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4" name="TextBox"/>
          <p:cNvSpPr txBox="1"/>
          <p:nvPr/>
        </p:nvSpPr>
        <p:spPr>
          <a:xfrm>
            <a:off x="167335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Human error</a:t>
            </a:r>
          </a:p>
        </p:txBody>
      </p:sp>
      <p:sp>
        <p:nvSpPr>
          <p:cNvPr id="1015" name="TextBox"/>
          <p:cNvSpPr txBox="1"/>
          <p:nvPr/>
        </p:nvSpPr>
        <p:spPr>
          <a:xfrm>
            <a:off x="167335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Manual steps are easy to get wrong, especially under time pressure.</a:t>
            </a:r>
          </a:p>
        </p:txBody>
      </p:sp>
      <p:sp>
        <p:nvSpPr>
          <p:cNvPr id="1016" name="Box"/>
          <p:cNvSpPr/>
          <p:nvPr/>
        </p:nvSpPr>
        <p:spPr>
          <a:xfrm>
            <a:off x="534924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17" name="TextBox"/>
          <p:cNvSpPr txBox="1"/>
          <p:nvPr/>
        </p:nvSpPr>
        <p:spPr>
          <a:xfrm>
            <a:off x="560527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Slower releases</a:t>
            </a:r>
          </a:p>
        </p:txBody>
      </p:sp>
      <p:sp>
        <p:nvSpPr>
          <p:cNvPr id="1018" name="TextBox"/>
          <p:cNvSpPr txBox="1"/>
          <p:nvPr/>
        </p:nvSpPr>
        <p:spPr>
          <a:xfrm>
            <a:off x="560527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Every manual handoff adds delay before value reaches the business.</a:t>
            </a:r>
          </a:p>
        </p:txBody>
      </p:sp>
      <p:sp>
        <p:nvSpPr>
          <p:cNvPr id="1019" name="Box"/>
          <p:cNvSpPr/>
          <p:nvPr/>
        </p:nvSpPr>
        <p:spPr>
          <a:xfrm>
            <a:off x="928116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0" name="TextBox"/>
          <p:cNvSpPr txBox="1"/>
          <p:nvPr/>
        </p:nvSpPr>
        <p:spPr>
          <a:xfrm>
            <a:off x="953719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Limited visibility</a:t>
            </a:r>
          </a:p>
        </p:txBody>
      </p:sp>
      <p:sp>
        <p:nvSpPr>
          <p:cNvPr id="1021" name="TextBox"/>
          <p:cNvSpPr txBox="1"/>
          <p:nvPr/>
        </p:nvSpPr>
        <p:spPr>
          <a:xfrm>
            <a:off x="953719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It's hard to know exactly what changed, when, and by whom.</a:t>
            </a:r>
          </a:p>
        </p:txBody>
      </p:sp>
      <p:sp>
        <p:nvSpPr>
          <p:cNvPr id="1022" name="Box"/>
          <p:cNvSpPr/>
          <p:nvPr/>
        </p:nvSpPr>
        <p:spPr>
          <a:xfrm>
            <a:off x="13213080" y="370332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9525">
            <a:solidFill>
              <a:srgbClr val="F0C4C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3" name="TextBox"/>
          <p:cNvSpPr txBox="1"/>
          <p:nvPr/>
        </p:nvSpPr>
        <p:spPr>
          <a:xfrm>
            <a:off x="13469112" y="4023360"/>
            <a:ext cx="3054096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8A2E24"/>
                </a:solidFill>
                <a:latin typeface="Aptos" pitchFamily="34" charset="0"/>
              </a:rPr>
              <a:t>Growing risk</a:t>
            </a:r>
          </a:p>
        </p:txBody>
      </p:sp>
      <p:sp>
        <p:nvSpPr>
          <p:cNvPr id="1024" name="TextBox"/>
          <p:cNvSpPr txBox="1"/>
          <p:nvPr/>
        </p:nvSpPr>
        <p:spPr>
          <a:xfrm>
            <a:off x="13469112" y="4754880"/>
            <a:ext cx="3054096" cy="2011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8A2E24"/>
                </a:solidFill>
                <a:latin typeface="Aptos" pitchFamily="34" charset="0"/>
              </a:rPr>
              <a:t>More systems now depend on integration — mistakes have bigger impact.</a:t>
            </a:r>
          </a:p>
        </p:txBody>
      </p:sp>
      <p:sp>
        <p:nvSpPr>
          <p:cNvPr id="1025" name="Box"/>
          <p:cNvSpPr/>
          <p:nvPr/>
        </p:nvSpPr>
        <p:spPr>
          <a:xfrm>
            <a:off x="1417320" y="7452360"/>
            <a:ext cx="15361920" cy="914400"/>
          </a:xfrm>
          <a:prstGeom prst="roundRect">
            <a:avLst>
              <a:gd name="adj" fmla="val 12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</a:rPr>
              <a:t>Automation removes these risks by making every release consistent, approved, and reversible.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OUR SOLUTION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26" name="TextBox"/>
          <p:cNvSpPr txBox="1"/>
          <p:nvPr/>
        </p:nvSpPr>
        <p:spPr>
          <a:xfrm>
            <a:off x="1417320" y="242316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We've automated the process into three simple, dependable capabilities.</a:t>
            </a:r>
          </a:p>
        </p:txBody>
      </p:sp>
      <p:sp>
        <p:nvSpPr>
          <p:cNvPr id="1027" name="Box"/>
          <p:cNvSpPr/>
          <p:nvPr/>
        </p:nvSpPr>
        <p:spPr>
          <a:xfrm>
            <a:off x="141732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28" name="Badge"/>
          <p:cNvSpPr/>
          <p:nvPr/>
        </p:nvSpPr>
        <p:spPr>
          <a:xfrm>
            <a:off x="3413760" y="402336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29" name="TextBox"/>
          <p:cNvSpPr txBox="1"/>
          <p:nvPr/>
        </p:nvSpPr>
        <p:spPr>
          <a:xfrm>
            <a:off x="169164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Stay in Sync</a:t>
            </a:r>
          </a:p>
        </p:txBody>
      </p:sp>
      <p:sp>
        <p:nvSpPr>
          <p:cNvPr id="1030" name="TextBox"/>
          <p:cNvSpPr txBox="1"/>
          <p:nvPr/>
        </p:nvSpPr>
        <p:spPr>
          <a:xfrm>
            <a:off x="178308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Development changes are automatically kept up to date, ready for release.</a:t>
            </a:r>
          </a:p>
        </p:txBody>
      </p:sp>
      <p:sp>
        <p:nvSpPr>
          <p:cNvPr id="1031" name="Box"/>
          <p:cNvSpPr/>
          <p:nvPr/>
        </p:nvSpPr>
        <p:spPr>
          <a:xfrm>
            <a:off x="669036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2" name="Badge"/>
          <p:cNvSpPr/>
          <p:nvPr/>
        </p:nvSpPr>
        <p:spPr>
          <a:xfrm>
            <a:off x="8686800" y="4023360"/>
            <a:ext cx="822960" cy="82296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033" name="TextBox"/>
          <p:cNvSpPr txBox="1"/>
          <p:nvPr/>
        </p:nvSpPr>
        <p:spPr>
          <a:xfrm>
            <a:off x="696468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Deploy Safely</a:t>
            </a:r>
          </a:p>
        </p:txBody>
      </p:sp>
      <p:sp>
        <p:nvSpPr>
          <p:cNvPr id="1034" name="TextBox"/>
          <p:cNvSpPr txBox="1"/>
          <p:nvPr/>
        </p:nvSpPr>
        <p:spPr>
          <a:xfrm>
            <a:off x="705612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Only approved changes are built and released — the same reliable way, every time.</a:t>
            </a:r>
          </a:p>
        </p:txBody>
      </p:sp>
      <p:sp>
        <p:nvSpPr>
          <p:cNvPr id="1035" name="Box"/>
          <p:cNvSpPr/>
          <p:nvPr/>
        </p:nvSpPr>
        <p:spPr>
          <a:xfrm>
            <a:off x="11963400" y="3520440"/>
            <a:ext cx="4815840" cy="4206240"/>
          </a:xfrm>
          <a:prstGeom prst="roundRect">
            <a:avLst>
              <a:gd name="adj" fmla="val 10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36" name="Badge"/>
          <p:cNvSpPr/>
          <p:nvPr/>
        </p:nvSpPr>
        <p:spPr>
          <a:xfrm>
            <a:off x="13959840" y="4023360"/>
            <a:ext cx="822960" cy="82296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037" name="TextBox"/>
          <p:cNvSpPr txBox="1"/>
          <p:nvPr/>
        </p:nvSpPr>
        <p:spPr>
          <a:xfrm>
            <a:off x="12237720" y="5120640"/>
            <a:ext cx="42672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700" b="1" dirty="0">
                <a:solidFill>
                  <a:srgbClr val="252545"/>
                </a:solidFill>
                <a:latin typeface="Aptos" pitchFamily="34" charset="0"/>
              </a:rPr>
              <a:t>Roll Back Instantly</a:t>
            </a:r>
          </a:p>
        </p:txBody>
      </p:sp>
      <p:sp>
        <p:nvSpPr>
          <p:cNvPr id="1038" name="TextBox"/>
          <p:cNvSpPr txBox="1"/>
          <p:nvPr/>
        </p:nvSpPr>
        <p:spPr>
          <a:xfrm>
            <a:off x="12329160" y="5760720"/>
            <a:ext cx="4084320" cy="1737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If anything goes wrong, the previous version is automatically restored.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END-TO-END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9" name="TextBox"/>
          <p:cNvSpPr txBox="1"/>
          <p:nvPr/>
        </p:nvSpPr>
        <p:spPr>
          <a:xfrm>
            <a:off x="1417320" y="2514600"/>
            <a:ext cx="153619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Every change follows the same protected path, from development to production.</a:t>
            </a:r>
          </a:p>
        </p:txBody>
      </p:sp>
      <p:sp>
        <p:nvSpPr>
          <p:cNvPr id="1040" name="Box"/>
          <p:cNvSpPr/>
          <p:nvPr/>
        </p:nvSpPr>
        <p:spPr>
          <a:xfrm>
            <a:off x="14173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252545"/>
                </a:solidFill>
                <a:latin typeface="Aptos" pitchFamily="34" charset="0"/>
              </a:rPr>
              <a:t>DEV</a:t>
            </a:r>
          </a:p>
        </p:txBody>
      </p:sp>
      <p:sp>
        <p:nvSpPr>
          <p:cNvPr id="1041" name="Box"/>
          <p:cNvSpPr/>
          <p:nvPr/>
        </p:nvSpPr>
        <p:spPr>
          <a:xfrm>
            <a:off x="54178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6B4FB0"/>
                </a:solidFill>
                <a:latin typeface="Aptos" pitchFamily="34" charset="0"/>
              </a:rPr>
              <a:t>QC</a:t>
            </a:r>
          </a:p>
        </p:txBody>
      </p:sp>
      <p:cxnSp>
        <p:nvCxnSpPr>
          <p:cNvPr id="1042" name="Connector"/>
          <p:cNvCxnSpPr/>
          <p:nvPr/>
        </p:nvCxnSpPr>
        <p:spPr>
          <a:xfrm>
            <a:off x="48326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Box"/>
          <p:cNvSpPr/>
          <p:nvPr/>
        </p:nvSpPr>
        <p:spPr>
          <a:xfrm>
            <a:off x="94183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1D6FA5"/>
                </a:solidFill>
                <a:latin typeface="Aptos" pitchFamily="34" charset="0"/>
              </a:rPr>
              <a:t>UAT</a:t>
            </a:r>
          </a:p>
        </p:txBody>
      </p:sp>
      <p:cxnSp>
        <p:nvCxnSpPr>
          <p:cNvPr id="1044" name="Connector"/>
          <p:cNvCxnSpPr/>
          <p:nvPr/>
        </p:nvCxnSpPr>
        <p:spPr>
          <a:xfrm>
            <a:off x="88331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Box"/>
          <p:cNvSpPr/>
          <p:nvPr/>
        </p:nvSpPr>
        <p:spPr>
          <a:xfrm>
            <a:off x="13418820" y="3886200"/>
            <a:ext cx="3360420" cy="1737360"/>
          </a:xfrm>
          <a:prstGeom prst="roundRect">
            <a:avLst>
              <a:gd name="adj" fmla="val 16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2200" b="1" dirty="0">
                <a:solidFill>
                  <a:srgbClr val="A02B6E"/>
                </a:solidFill>
                <a:latin typeface="Aptos" pitchFamily="34" charset="0"/>
              </a:rPr>
              <a:t>PROD</a:t>
            </a:r>
          </a:p>
        </p:txBody>
      </p:sp>
      <p:cxnSp>
        <p:nvCxnSpPr>
          <p:cNvPr id="1046" name="Connector"/>
          <p:cNvCxnSpPr/>
          <p:nvPr/>
        </p:nvCxnSpPr>
        <p:spPr>
          <a:xfrm>
            <a:off x="12833604" y="4754880"/>
            <a:ext cx="530352" cy="457"/>
          </a:xfrm>
          <a:prstGeom prst="line">
            <a:avLst/>
          </a:prstGeom>
          <a:ln w="28575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7" name="Box"/>
          <p:cNvSpPr/>
          <p:nvPr/>
        </p:nvSpPr>
        <p:spPr>
          <a:xfrm>
            <a:off x="1417320" y="6263640"/>
            <a:ext cx="15361920" cy="13716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 w="9525">
            <a:solidFill>
              <a:srgbClr val="F0DFAF"/>
            </a:solidFill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500" b="1" dirty="0">
                <a:solidFill>
                  <a:srgbClr val="7A5B12"/>
                </a:solidFill>
                <a:latin typeface="Aptos" pitchFamily="34" charset="0"/>
              </a:rPr>
              <a:t>Protected at every step by required approvals and an automatic safety net that restores the previous version if anything fails.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KEY BENEFITS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48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What this means for the business.</a:t>
            </a:r>
          </a:p>
        </p:txBody>
      </p:sp>
      <p:sp>
        <p:nvSpPr>
          <p:cNvPr id="1049" name="Box"/>
          <p:cNvSpPr/>
          <p:nvPr/>
        </p:nvSpPr>
        <p:spPr>
          <a:xfrm>
            <a:off x="1417320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0" name="Badge"/>
          <p:cNvSpPr/>
          <p:nvPr/>
        </p:nvSpPr>
        <p:spPr>
          <a:xfrm>
            <a:off x="2505456" y="4069080"/>
            <a:ext cx="640080" cy="64008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51" name="TextBox"/>
          <p:cNvSpPr txBox="1"/>
          <p:nvPr/>
        </p:nvSpPr>
        <p:spPr>
          <a:xfrm>
            <a:off x="1554480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Faster Releases</a:t>
            </a:r>
          </a:p>
        </p:txBody>
      </p:sp>
      <p:sp>
        <p:nvSpPr>
          <p:cNvPr id="1052" name="Box"/>
          <p:cNvSpPr/>
          <p:nvPr/>
        </p:nvSpPr>
        <p:spPr>
          <a:xfrm>
            <a:off x="4553712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3" name="Badge"/>
          <p:cNvSpPr/>
          <p:nvPr/>
        </p:nvSpPr>
        <p:spPr>
          <a:xfrm>
            <a:off x="5641848" y="4069080"/>
            <a:ext cx="640080" cy="640080"/>
          </a:xfrm>
          <a:prstGeom prst="ellipse">
            <a:avLst/>
          </a:prstGeom>
          <a:solidFill>
            <a:srgbClr val="6B4FB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54" name="TextBox"/>
          <p:cNvSpPr txBox="1"/>
          <p:nvPr/>
        </p:nvSpPr>
        <p:spPr>
          <a:xfrm>
            <a:off x="4690872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Fewer Errors</a:t>
            </a:r>
          </a:p>
        </p:txBody>
      </p:sp>
      <p:sp>
        <p:nvSpPr>
          <p:cNvPr id="1055" name="Box"/>
          <p:cNvSpPr/>
          <p:nvPr/>
        </p:nvSpPr>
        <p:spPr>
          <a:xfrm>
            <a:off x="7690104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6" name="Badge"/>
          <p:cNvSpPr/>
          <p:nvPr/>
        </p:nvSpPr>
        <p:spPr>
          <a:xfrm>
            <a:off x="8778240" y="4069080"/>
            <a:ext cx="640080" cy="640080"/>
          </a:xfrm>
          <a:prstGeom prst="ellipse">
            <a:avLst/>
          </a:prstGeom>
          <a:solidFill>
            <a:srgbClr val="252545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57" name="TextBox"/>
          <p:cNvSpPr txBox="1"/>
          <p:nvPr/>
        </p:nvSpPr>
        <p:spPr>
          <a:xfrm>
            <a:off x="7827264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Full Audit Trail</a:t>
            </a:r>
          </a:p>
        </p:txBody>
      </p:sp>
      <p:sp>
        <p:nvSpPr>
          <p:cNvPr id="1058" name="Box"/>
          <p:cNvSpPr/>
          <p:nvPr/>
        </p:nvSpPr>
        <p:spPr>
          <a:xfrm>
            <a:off x="10826496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59" name="Badge"/>
          <p:cNvSpPr/>
          <p:nvPr/>
        </p:nvSpPr>
        <p:spPr>
          <a:xfrm>
            <a:off x="11914632" y="4069080"/>
            <a:ext cx="640080" cy="640080"/>
          </a:xfrm>
          <a:prstGeom prst="ellipse">
            <a:avLst/>
          </a:prstGeom>
          <a:solidFill>
            <a:srgbClr val="A02B6E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60" name="TextBox"/>
          <p:cNvSpPr txBox="1"/>
          <p:nvPr/>
        </p:nvSpPr>
        <p:spPr>
          <a:xfrm>
            <a:off x="10963656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Stronger Security</a:t>
            </a:r>
          </a:p>
        </p:txBody>
      </p:sp>
      <p:sp>
        <p:nvSpPr>
          <p:cNvPr id="1061" name="Box"/>
          <p:cNvSpPr/>
          <p:nvPr/>
        </p:nvSpPr>
        <p:spPr>
          <a:xfrm>
            <a:off x="13962888" y="3520440"/>
            <a:ext cx="2816352" cy="31089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62" name="Badge"/>
          <p:cNvSpPr/>
          <p:nvPr/>
        </p:nvSpPr>
        <p:spPr>
          <a:xfrm>
            <a:off x="15051024" y="406908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63" name="TextBox"/>
          <p:cNvSpPr txBox="1"/>
          <p:nvPr/>
        </p:nvSpPr>
        <p:spPr>
          <a:xfrm>
            <a:off x="14100048" y="4983480"/>
            <a:ext cx="2542032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252545"/>
                </a:solidFill>
                <a:latin typeface="Aptos" pitchFamily="34" charset="0"/>
              </a:rPr>
              <a:t>Consistent Process</a:t>
            </a:r>
          </a:p>
        </p:txBody>
      </p:sp>
      <p:sp>
        <p:nvSpPr>
          <p:cNvPr id="1064" name="TextBox"/>
          <p:cNvSpPr txBox="1"/>
          <p:nvPr/>
        </p:nvSpPr>
        <p:spPr>
          <a:xfrm>
            <a:off x="1417320" y="7178040"/>
            <a:ext cx="153619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450" dirty="0">
                <a:solidFill>
                  <a:srgbClr val="5B5F73"/>
                </a:solidFill>
                <a:latin typeface="Aptos" pitchFamily="34" charset="0"/>
              </a:rPr>
              <a:t>The result: our teams release with confidence, and the business can trust that every change was tested, approved, and reversible.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SAFETY &amp;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65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Safety and control are built into every release, not added afterward.</a:t>
            </a:r>
          </a:p>
        </p:txBody>
      </p:sp>
      <p:sp>
        <p:nvSpPr>
          <p:cNvPr id="1066" name="Box"/>
          <p:cNvSpPr/>
          <p:nvPr/>
        </p:nvSpPr>
        <p:spPr>
          <a:xfrm>
            <a:off x="141732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67" name="Badge"/>
          <p:cNvSpPr/>
          <p:nvPr/>
        </p:nvSpPr>
        <p:spPr>
          <a:xfrm>
            <a:off x="164592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68" name="TextBox"/>
          <p:cNvSpPr txBox="1"/>
          <p:nvPr/>
        </p:nvSpPr>
        <p:spPr>
          <a:xfrm>
            <a:off x="167335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Approved before it moves</a:t>
            </a:r>
          </a:p>
        </p:txBody>
      </p:sp>
      <p:sp>
        <p:nvSpPr>
          <p:cNvPr id="1069" name="TextBox"/>
          <p:cNvSpPr txBox="1"/>
          <p:nvPr/>
        </p:nvSpPr>
        <p:spPr>
          <a:xfrm>
            <a:off x="167335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Every change is reviewed and approved before advancing to the next environment.</a:t>
            </a:r>
          </a:p>
        </p:txBody>
      </p:sp>
      <p:sp>
        <p:nvSpPr>
          <p:cNvPr id="1070" name="Box"/>
          <p:cNvSpPr/>
          <p:nvPr/>
        </p:nvSpPr>
        <p:spPr>
          <a:xfrm>
            <a:off x="534924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1" name="Badge"/>
          <p:cNvSpPr/>
          <p:nvPr/>
        </p:nvSpPr>
        <p:spPr>
          <a:xfrm>
            <a:off x="557784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72" name="TextBox"/>
          <p:cNvSpPr txBox="1"/>
          <p:nvPr/>
        </p:nvSpPr>
        <p:spPr>
          <a:xfrm>
            <a:off x="560527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Protected before it deploys</a:t>
            </a:r>
          </a:p>
        </p:txBody>
      </p:sp>
      <p:sp>
        <p:nvSpPr>
          <p:cNvPr id="1073" name="TextBox"/>
          <p:cNvSpPr txBox="1"/>
          <p:nvPr/>
        </p:nvSpPr>
        <p:spPr>
          <a:xfrm>
            <a:off x="560527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A safety snapshot is taken before every release, so we can always go back.</a:t>
            </a:r>
          </a:p>
        </p:txBody>
      </p:sp>
      <p:sp>
        <p:nvSpPr>
          <p:cNvPr id="1074" name="Box"/>
          <p:cNvSpPr/>
          <p:nvPr/>
        </p:nvSpPr>
        <p:spPr>
          <a:xfrm>
            <a:off x="928116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5" name="Badge"/>
          <p:cNvSpPr/>
          <p:nvPr/>
        </p:nvSpPr>
        <p:spPr>
          <a:xfrm>
            <a:off x="950976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76" name="TextBox"/>
          <p:cNvSpPr txBox="1"/>
          <p:nvPr/>
        </p:nvSpPr>
        <p:spPr>
          <a:xfrm>
            <a:off x="953719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Automatically recovered</a:t>
            </a:r>
          </a:p>
        </p:txBody>
      </p:sp>
      <p:sp>
        <p:nvSpPr>
          <p:cNvPr id="1077" name="TextBox"/>
          <p:cNvSpPr txBox="1"/>
          <p:nvPr/>
        </p:nvSpPr>
        <p:spPr>
          <a:xfrm>
            <a:off x="953719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If a release fails, the previous version is restored automatically — no manual scramble.</a:t>
            </a:r>
          </a:p>
        </p:txBody>
      </p:sp>
      <p:sp>
        <p:nvSpPr>
          <p:cNvPr id="1078" name="Box"/>
          <p:cNvSpPr/>
          <p:nvPr/>
        </p:nvSpPr>
        <p:spPr>
          <a:xfrm>
            <a:off x="13213080" y="3520440"/>
            <a:ext cx="3566160" cy="3291840"/>
          </a:xfrm>
          <a:prstGeom prst="roundRect">
            <a:avLst>
              <a:gd name="adj" fmla="val 12000"/>
            </a:avLst>
          </a:prstGeom>
          <a:solidFill>
            <a:srgbClr val="E6F4ED"/>
          </a:solidFill>
          <a:ln w="9525">
            <a:solidFill>
              <a:srgbClr val="BFE3D2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79" name="Badge"/>
          <p:cNvSpPr/>
          <p:nvPr/>
        </p:nvSpPr>
        <p:spPr>
          <a:xfrm>
            <a:off x="13441680" y="3749040"/>
            <a:ext cx="457200" cy="45720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</a:rPr>
              <a:t>✓</a:t>
            </a:r>
          </a:p>
        </p:txBody>
      </p:sp>
      <p:sp>
        <p:nvSpPr>
          <p:cNvPr id="1080" name="TextBox"/>
          <p:cNvSpPr txBox="1"/>
          <p:nvPr/>
        </p:nvSpPr>
        <p:spPr>
          <a:xfrm>
            <a:off x="13469112" y="4572000"/>
            <a:ext cx="3054096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1B5E3C"/>
                </a:solidFill>
                <a:latin typeface="Aptos" pitchFamily="34" charset="0"/>
              </a:rPr>
              <a:t>Credentials stay protected</a:t>
            </a:r>
          </a:p>
        </p:txBody>
      </p:sp>
      <p:sp>
        <p:nvSpPr>
          <p:cNvPr id="1081" name="TextBox"/>
          <p:cNvSpPr txBox="1"/>
          <p:nvPr/>
        </p:nvSpPr>
        <p:spPr>
          <a:xfrm>
            <a:off x="13469112" y="5349240"/>
            <a:ext cx="3054096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1B5E3C"/>
                </a:solidFill>
                <a:latin typeface="Aptos" pitchFamily="34" charset="0"/>
              </a:rPr>
              <a:t>Passwords and access are never exposed in the process or its logs.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ENVIRONMENTS AT A GLANCE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82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Four environments, one consistent process.</a:t>
            </a:r>
          </a:p>
        </p:txBody>
      </p:sp>
      <p:sp>
        <p:nvSpPr>
          <p:cNvPr id="1083" name="Box"/>
          <p:cNvSpPr/>
          <p:nvPr/>
        </p:nvSpPr>
        <p:spPr>
          <a:xfrm>
            <a:off x="1417320" y="3520440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4" name="TextBox"/>
          <p:cNvSpPr txBox="1"/>
          <p:nvPr/>
        </p:nvSpPr>
        <p:spPr>
          <a:xfrm>
            <a:off x="1783080" y="3520440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252545"/>
                </a:solidFill>
                <a:latin typeface="Aptos" pitchFamily="34" charset="0"/>
              </a:rPr>
              <a:t>DEV</a:t>
            </a:r>
          </a:p>
        </p:txBody>
      </p:sp>
      <p:sp>
        <p:nvSpPr>
          <p:cNvPr id="1085" name="TextBox"/>
          <p:cNvSpPr txBox="1"/>
          <p:nvPr/>
        </p:nvSpPr>
        <p:spPr>
          <a:xfrm>
            <a:off x="4160520" y="3520440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changes are developed and automatically kept in sync.</a:t>
            </a:r>
          </a:p>
        </p:txBody>
      </p:sp>
      <p:sp>
        <p:nvSpPr>
          <p:cNvPr id="1086" name="Box"/>
          <p:cNvSpPr/>
          <p:nvPr/>
        </p:nvSpPr>
        <p:spPr>
          <a:xfrm>
            <a:off x="1417320" y="4773168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EFEAFB"/>
          </a:solidFill>
          <a:ln w="9525">
            <a:solidFill>
              <a:srgbClr val="D6C6F5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87" name="TextBox"/>
          <p:cNvSpPr txBox="1"/>
          <p:nvPr/>
        </p:nvSpPr>
        <p:spPr>
          <a:xfrm>
            <a:off x="1783080" y="4773168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6B4FB0"/>
                </a:solidFill>
                <a:latin typeface="Aptos" pitchFamily="34" charset="0"/>
              </a:rPr>
              <a:t>QC</a:t>
            </a:r>
          </a:p>
        </p:txBody>
      </p:sp>
      <p:sp>
        <p:nvSpPr>
          <p:cNvPr id="1088" name="TextBox"/>
          <p:cNvSpPr txBox="1"/>
          <p:nvPr/>
        </p:nvSpPr>
        <p:spPr>
          <a:xfrm>
            <a:off x="4160520" y="4773168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changes are tested before wider release.</a:t>
            </a:r>
          </a:p>
        </p:txBody>
      </p:sp>
      <p:sp>
        <p:nvSpPr>
          <p:cNvPr id="1089" name="Box"/>
          <p:cNvSpPr/>
          <p:nvPr/>
        </p:nvSpPr>
        <p:spPr>
          <a:xfrm>
            <a:off x="1417320" y="6025896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E9F2FB"/>
          </a:solidFill>
          <a:ln w="9525">
            <a:solidFill>
              <a:srgbClr val="C3DEF5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0" name="TextBox"/>
          <p:cNvSpPr txBox="1"/>
          <p:nvPr/>
        </p:nvSpPr>
        <p:spPr>
          <a:xfrm>
            <a:off x="1783080" y="6025896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D6FA5"/>
                </a:solidFill>
                <a:latin typeface="Aptos" pitchFamily="34" charset="0"/>
              </a:rPr>
              <a:t>UAT</a:t>
            </a:r>
          </a:p>
        </p:txBody>
      </p:sp>
      <p:sp>
        <p:nvSpPr>
          <p:cNvPr id="1091" name="TextBox"/>
          <p:cNvSpPr txBox="1"/>
          <p:nvPr/>
        </p:nvSpPr>
        <p:spPr>
          <a:xfrm>
            <a:off x="4160520" y="6025896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the business confirms changes are ready.</a:t>
            </a:r>
          </a:p>
        </p:txBody>
      </p:sp>
      <p:sp>
        <p:nvSpPr>
          <p:cNvPr id="1092" name="Box"/>
          <p:cNvSpPr/>
          <p:nvPr/>
        </p:nvSpPr>
        <p:spPr>
          <a:xfrm>
            <a:off x="1417320" y="7278624"/>
            <a:ext cx="15361920" cy="1051560"/>
          </a:xfrm>
          <a:prstGeom prst="roundRect">
            <a:avLst>
              <a:gd name="adj" fmla="val 14000"/>
            </a:avLst>
          </a:prstGeom>
          <a:solidFill>
            <a:srgbClr val="FBEAF3"/>
          </a:solidFill>
          <a:ln w="9525">
            <a:solidFill>
              <a:srgbClr val="F0C0DE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3" name="TextBox"/>
          <p:cNvSpPr txBox="1"/>
          <p:nvPr/>
        </p:nvSpPr>
        <p:spPr>
          <a:xfrm>
            <a:off x="1783080" y="7278624"/>
            <a:ext cx="23774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A02B6E"/>
                </a:solidFill>
                <a:latin typeface="Aptos" pitchFamily="34" charset="0"/>
              </a:rPr>
              <a:t>PROD</a:t>
            </a:r>
          </a:p>
        </p:txBody>
      </p:sp>
      <p:sp>
        <p:nvSpPr>
          <p:cNvPr id="1094" name="TextBox"/>
          <p:cNvSpPr txBox="1"/>
          <p:nvPr/>
        </p:nvSpPr>
        <p:spPr>
          <a:xfrm>
            <a:off x="4160520" y="7278624"/>
            <a:ext cx="1225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n-US" sz="1350" dirty="0">
                <a:solidFill>
                  <a:srgbClr val="252545"/>
                </a:solidFill>
                <a:latin typeface="Aptos" pitchFamily="34" charset="0"/>
              </a:rPr>
              <a:t>Where our live systems run for the business.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795250" y="427720"/>
            <a:ext cx="12000000" cy="4847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150" b="1" dirty="0">
                <a:solidFill>
                  <a:srgbClr val="252545"/>
                </a:solidFill>
                <a:latin typeface="Aptos Display" pitchFamily="34" charset="0"/>
              </a:rPr>
              <a:t>WEBMETHODS DEPLOYMENT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250" y="952500"/>
            <a:ext cx="10951898" cy="4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2400" b="1" dirty="0">
                <a:solidFill>
                  <a:srgbClr val="6B6FA0"/>
                </a:solidFill>
                <a:latin typeface="Aptos Display" pitchFamily="34" charset="0"/>
              </a:rPr>
              <a:t>NEXT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900" y="1754870"/>
            <a:ext cx="16623411" cy="8148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0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95" name="TextBox"/>
          <p:cNvSpPr txBox="1"/>
          <p:nvPr/>
        </p:nvSpPr>
        <p:spPr>
          <a:xfrm>
            <a:off x="1417320" y="2423160"/>
            <a:ext cx="153619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800" dirty="0">
                <a:solidFill>
                  <a:srgbClr val="252545"/>
                </a:solidFill>
                <a:latin typeface="Aptos" pitchFamily="34" charset="0"/>
              </a:rPr>
              <a:t>Where we go from here.</a:t>
            </a:r>
          </a:p>
        </p:txBody>
      </p:sp>
      <p:sp>
        <p:nvSpPr>
          <p:cNvPr id="1096" name="Box"/>
          <p:cNvSpPr/>
          <p:nvPr/>
        </p:nvSpPr>
        <p:spPr>
          <a:xfrm>
            <a:off x="141732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097" name="Badge"/>
          <p:cNvSpPr/>
          <p:nvPr/>
        </p:nvSpPr>
        <p:spPr>
          <a:xfrm>
            <a:off x="338328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1</a:t>
            </a:r>
          </a:p>
        </p:txBody>
      </p:sp>
      <p:sp>
        <p:nvSpPr>
          <p:cNvPr id="1098" name="TextBox"/>
          <p:cNvSpPr txBox="1"/>
          <p:nvPr/>
        </p:nvSpPr>
        <p:spPr>
          <a:xfrm>
            <a:off x="169164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Finalize Details</a:t>
            </a:r>
          </a:p>
        </p:txBody>
      </p:sp>
      <p:sp>
        <p:nvSpPr>
          <p:cNvPr id="1099" name="TextBox"/>
          <p:cNvSpPr txBox="1"/>
          <p:nvPr/>
        </p:nvSpPr>
        <p:spPr>
          <a:xfrm>
            <a:off x="178308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Confirm the remaining UAT and PROD environment details.</a:t>
            </a:r>
          </a:p>
        </p:txBody>
      </p:sp>
      <p:cxnSp>
        <p:nvCxnSpPr>
          <p:cNvPr id="1100" name="Connector"/>
          <p:cNvCxnSpPr/>
          <p:nvPr/>
        </p:nvCxnSpPr>
        <p:spPr>
          <a:xfrm>
            <a:off x="6227064" y="553212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Box"/>
          <p:cNvSpPr/>
          <p:nvPr/>
        </p:nvSpPr>
        <p:spPr>
          <a:xfrm>
            <a:off x="672084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2" name="Badge"/>
          <p:cNvSpPr/>
          <p:nvPr/>
        </p:nvSpPr>
        <p:spPr>
          <a:xfrm>
            <a:off x="868680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2</a:t>
            </a:r>
          </a:p>
        </p:txBody>
      </p:sp>
      <p:sp>
        <p:nvSpPr>
          <p:cNvPr id="1103" name="TextBox"/>
          <p:cNvSpPr txBox="1"/>
          <p:nvPr/>
        </p:nvSpPr>
        <p:spPr>
          <a:xfrm>
            <a:off x="699516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Pilot</a:t>
            </a:r>
          </a:p>
        </p:txBody>
      </p:sp>
      <p:sp>
        <p:nvSpPr>
          <p:cNvPr id="1104" name="TextBox"/>
          <p:cNvSpPr txBox="1"/>
          <p:nvPr/>
        </p:nvSpPr>
        <p:spPr>
          <a:xfrm>
            <a:off x="708660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Run the full process end-to-end in QC to validate it in practice.</a:t>
            </a:r>
          </a:p>
        </p:txBody>
      </p:sp>
      <p:cxnSp>
        <p:nvCxnSpPr>
          <p:cNvPr id="1105" name="Connector"/>
          <p:cNvCxnSpPr/>
          <p:nvPr/>
        </p:nvCxnSpPr>
        <p:spPr>
          <a:xfrm>
            <a:off x="11530584" y="5532120"/>
            <a:ext cx="438912" cy="457"/>
          </a:xfrm>
          <a:prstGeom prst="line">
            <a:avLst/>
          </a:prstGeom>
          <a:ln w="25400">
            <a:solidFill>
              <a:srgbClr val="252545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6" name="Box"/>
          <p:cNvSpPr/>
          <p:nvPr/>
        </p:nvSpPr>
        <p:spPr>
          <a:xfrm>
            <a:off x="12024360" y="3703320"/>
            <a:ext cx="4754880" cy="3657600"/>
          </a:xfrm>
          <a:prstGeom prst="roundRect">
            <a:avLst>
              <a:gd name="adj" fmla="val 12000"/>
            </a:avLst>
          </a:prstGeom>
          <a:solidFill>
            <a:srgbClr val="F5F5FB"/>
          </a:solidFill>
          <a:ln w="9525">
            <a:solidFill>
              <a:srgbClr val="DEDFF0"/>
            </a:solidFill>
          </a:ln>
          <a:effectLst/>
        </p:spPr>
        <p:txBody>
          <a:bodyPr wrap="square" lIns="45720" tIns="27432" rIns="45720" bIns="27432" anchor="t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252545"/>
                </a:solidFill>
                <a:latin typeface="Aptos" pitchFamily="34" charset="0"/>
              </a:rPr>
              <a:t> </a:t>
            </a:r>
          </a:p>
        </p:txBody>
      </p:sp>
      <p:sp>
        <p:nvSpPr>
          <p:cNvPr id="1107" name="Badge"/>
          <p:cNvSpPr/>
          <p:nvPr/>
        </p:nvSpPr>
        <p:spPr>
          <a:xfrm>
            <a:off x="13990320" y="4206240"/>
            <a:ext cx="822960" cy="822960"/>
          </a:xfrm>
          <a:prstGeom prst="ellipse">
            <a:avLst/>
          </a:prstGeom>
          <a:solidFill>
            <a:srgbClr val="5B4FE0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</a:rPr>
              <a:t>3</a:t>
            </a:r>
          </a:p>
        </p:txBody>
      </p:sp>
      <p:sp>
        <p:nvSpPr>
          <p:cNvPr id="1108" name="TextBox"/>
          <p:cNvSpPr txBox="1"/>
          <p:nvPr/>
        </p:nvSpPr>
        <p:spPr>
          <a:xfrm>
            <a:off x="12298680" y="530352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252545"/>
                </a:solidFill>
                <a:latin typeface="Aptos" pitchFamily="34" charset="0"/>
              </a:rPr>
              <a:t>Roll Out</a:t>
            </a:r>
          </a:p>
        </p:txBody>
      </p:sp>
      <p:sp>
        <p:nvSpPr>
          <p:cNvPr id="1109" name="TextBox"/>
          <p:cNvSpPr txBox="1"/>
          <p:nvPr/>
        </p:nvSpPr>
        <p:spPr>
          <a:xfrm>
            <a:off x="12390120" y="5943600"/>
            <a:ext cx="402336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6000"/>
              </a:lnSpc>
              <a:buNone/>
            </a:pPr>
            <a:r>
              <a:rPr lang="en-US" sz="1250" dirty="0">
                <a:solidFill>
                  <a:srgbClr val="5B5F73"/>
                </a:solidFill>
                <a:latin typeface="Aptos" pitchFamily="34" charset="0"/>
              </a:rPr>
              <a:t>Extend the same proven process to UAT and PROD.</a:t>
            </a:r>
          </a:p>
        </p:txBody>
      </p:sp>
      <p:sp>
        <p:nvSpPr>
          <p:cNvPr id="1110" name="Box"/>
          <p:cNvSpPr/>
          <p:nvPr/>
        </p:nvSpPr>
        <p:spPr>
          <a:xfrm>
            <a:off x="1417320" y="7726680"/>
            <a:ext cx="15361920" cy="777240"/>
          </a:xfrm>
          <a:prstGeom prst="roundRect">
            <a:avLst>
              <a:gd name="adj" fmla="val 14000"/>
            </a:avLst>
          </a:prstGeom>
          <a:solidFill>
            <a:srgbClr val="252545"/>
          </a:solidFill>
          <a:ln w="9525">
            <a:noFill/>
          </a:ln>
          <a:effectLst/>
        </p:spPr>
        <p:txBody>
          <a:bodyPr wrap="square" lIns="45720" tIns="27432" rIns="45720" bIns="27432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</a:rPr>
              <a:t>QC is ready today. UAT and PROD follow the same proven path once details are confirmed.</a:t>
            </a:r>
          </a:p>
        </p:txBody>
      </p:sp>
      <p:pic>
        <p:nvPicPr>
          <p:cNvPr id="241" name="Image 0" descr="/mnt/data/templat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6360" y="384048"/>
            <a:ext cx="1069848" cy="877824"/>
          </a:xfrm>
          <a:prstGeom prst="rect">
            <a:avLst/>
          </a:prstGeom>
        </p:spPr>
      </p:pic>
      <p:sp>
        <p:nvSpPr>
          <p:cNvPr id="4" name="Shape 0">
            <a:extLst>
              <a:ext uri="{FF2B5EF4-FFF2-40B4-BE49-F238E27FC236}">
                <a16:creationId xmlns:a16="http://schemas.microsoft.com/office/drawing/2014/main" id="{D63D60F1-D7C0-EF88-E29D-5AD6CE70E2C3}"/>
              </a:ext>
            </a:extLst>
          </p:cNvPr>
          <p:cNvSpPr/>
          <p:nvPr/>
        </p:nvSpPr>
        <p:spPr>
          <a:xfrm>
            <a:off x="548640" y="370332"/>
            <a:ext cx="137160" cy="1152144"/>
          </a:xfrm>
          <a:prstGeom prst="rect">
            <a:avLst/>
          </a:prstGeom>
          <a:solidFill>
            <a:srgbClr val="8B7CFF"/>
          </a:solidFill>
          <a:ln w="12700">
            <a:solidFill>
              <a:srgbClr val="8B7CFF"/>
            </a:solidFill>
            <a:prstDash val="solid"/>
          </a:ln>
        </p:spPr>
        <p:txBody>
          <a:bodyPr/>
          <a:lstStyle/>
          <a:p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228255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02/08/47 04:32:15 م</timestamp>
  <userName>TAWN\VDR000322</userName>
  <computerName>LTHQISD-A2X1143.TAWN.COM</computerName>
  <guid>{487a4754-da0f-4ebb-9a6d-ab42203ba5de}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/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F31BFC59-43D1-4653-9F61-0840CF994A9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3672</TotalTime>
  <Words>269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Display</vt:lpstr>
      <vt:lpstr>Arial</vt:lpstr>
      <vt:lpstr>-apple-system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T&amp;D QC Weekly Report 21 Jan</dc:title>
  <dc:creator>Yara Aldughaim</dc:creator>
  <cp:keywords>ClassificationData:&lt;Classification:Internal&gt;</cp:keywords>
  <cp:lastModifiedBy>Mohamed Elarief</cp:lastModifiedBy>
  <cp:revision>66</cp:revision>
  <dcterms:created xsi:type="dcterms:W3CDTF">2026-05-12T05:42:29Z</dcterms:created>
  <dcterms:modified xsi:type="dcterms:W3CDTF">2026-06-10T08:33:58Z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TAWN\VDR000322</vt:lpwstr>
  </property>
  <property fmtid="{D5CDD505-2E9C-101B-9397-08002B2CF9AE}" pid="4" name="ClassificationHost">
    <vt:lpwstr>LTHQISD-A2X1143.TAWN.COM</vt:lpwstr>
  </property>
  <property fmtid="{D5CDD505-2E9C-101B-9397-08002B2CF9AE}" pid="5" name="ClassificationDate">
    <vt:lpwstr>02/08/47 04:32:15 م</vt:lpwstr>
  </property>
  <property fmtid="{D5CDD505-2E9C-101B-9397-08002B2CF9AE}" pid="6" name="ClassificationGUID">
    <vt:lpwstr>{487a4754-da0f-4ebb-9a6d-ab42203ba5de}</vt:lpwstr>
  </property>
  <property fmtid="{D5CDD505-2E9C-101B-9397-08002B2CF9AE}" pid="7" name="KSOProductBuildVer">
    <vt:lpwstr>1033-12.1.25880.25880</vt:lpwstr>
  </property>
  <property fmtid="{D5CDD505-2E9C-101B-9397-08002B2CF9AE}" pid="8" name="ICV">
    <vt:lpwstr>7C7C2032D2F5AB1308BC026ACD429EA4_42</vt:lpwstr>
  </property>
</Properties>
</file>