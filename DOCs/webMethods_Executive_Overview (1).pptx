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72" r:id="rId6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62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300000"/>
            <a:ext cx="11000000" cy="22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Deployment Automation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695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Executive Overview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WHAT IS WEBMETHODS INTEGRATION SERVER?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1" name="TextBox"/>
          <p:cNvSpPr txBox="1"/>
          <p:nvPr/>
        </p:nvSpPr>
        <p:spPr>
          <a:xfrm>
            <a:off x="1417320" y="2423160"/>
            <a:ext cx="15361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webMethods Integration Server is the platform that connects our business systems and automates how information moves between them. The pieces of integration logic it runs — called packages — must be built, tested, and released safely as they move from development into production.</a:t>
            </a:r>
          </a:p>
        </p:txBody>
      </p:sp>
      <p:sp>
        <p:nvSpPr>
          <p:cNvPr id="1002" name="Box"/>
          <p:cNvSpPr/>
          <p:nvPr/>
        </p:nvSpPr>
        <p:spPr>
          <a:xfrm>
            <a:off x="141732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173736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Connects our systems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173736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Links core business applications so they can share data and work together.</a:t>
            </a:r>
          </a:p>
        </p:txBody>
      </p:sp>
      <p:sp>
        <p:nvSpPr>
          <p:cNvPr id="1005" name="Box"/>
          <p:cNvSpPr/>
          <p:nvPr/>
        </p:nvSpPr>
        <p:spPr>
          <a:xfrm>
            <a:off x="669036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701040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Automates processes</a:t>
            </a:r>
          </a:p>
        </p:txBody>
      </p:sp>
      <p:sp>
        <p:nvSpPr>
          <p:cNvPr id="1007" name="TextBox"/>
          <p:cNvSpPr txBox="1"/>
          <p:nvPr/>
        </p:nvSpPr>
        <p:spPr>
          <a:xfrm>
            <a:off x="701040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Runs the business logic that moves information between systems automatically.</a:t>
            </a:r>
          </a:p>
        </p:txBody>
      </p:sp>
      <p:sp>
        <p:nvSpPr>
          <p:cNvPr id="1008" name="Box"/>
          <p:cNvSpPr/>
          <p:nvPr/>
        </p:nvSpPr>
        <p:spPr>
          <a:xfrm>
            <a:off x="1196340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1228344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Hosts our “packages”</a:t>
            </a:r>
          </a:p>
        </p:txBody>
      </p:sp>
      <p:sp>
        <p:nvSpPr>
          <p:cNvPr id="1010" name="TextBox"/>
          <p:cNvSpPr txBox="1"/>
          <p:nvPr/>
        </p:nvSpPr>
        <p:spPr>
          <a:xfrm>
            <a:off x="1228344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Packages are the units of integration logic this presentation is about keeping safe.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1417320" y="790956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This presentation explains, in simple terms, how we keep those packages moving safely from development through to production.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4" name="Freeform 4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67680"/>
            <a:ext cx="569094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  <a:spcBef>
                <a:spcPct val="0"/>
              </a:spcBef>
            </a:pPr>
            <a:r>
              <a:rPr lang="en-US" sz="844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143" y="5369305"/>
            <a:ext cx="525785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Questions &amp; Discussion</a:t>
            </a:r>
          </a:p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Deployment Automation</a:t>
            </a:r>
          </a:p>
        </p:txBody>
      </p:sp>
      <p:sp>
        <p:nvSpPr>
          <p:cNvPr id="7" name="GTBClassificationH331034338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THE BUSINESS CHALLENGE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12" name="TextBox"/>
          <p:cNvSpPr txBox="1"/>
          <p:nvPr/>
        </p:nvSpPr>
        <p:spPr>
          <a:xfrm>
            <a:off x="1417320" y="2514600"/>
            <a:ext cx="15361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252545"/>
                </a:solidFill>
                <a:latin typeface="Aptos" pitchFamily="34" charset="0"/>
              </a:rPr>
              <a:t>Moving changes between environments by hand is slow, inconsistent, and risky.</a:t>
            </a:r>
          </a:p>
        </p:txBody>
      </p:sp>
      <p:sp>
        <p:nvSpPr>
          <p:cNvPr id="1013" name="Box"/>
          <p:cNvSpPr/>
          <p:nvPr/>
        </p:nvSpPr>
        <p:spPr>
          <a:xfrm>
            <a:off x="141732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4" name="TextBox"/>
          <p:cNvSpPr txBox="1"/>
          <p:nvPr/>
        </p:nvSpPr>
        <p:spPr>
          <a:xfrm>
            <a:off x="167335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Human error</a:t>
            </a:r>
          </a:p>
        </p:txBody>
      </p:sp>
      <p:sp>
        <p:nvSpPr>
          <p:cNvPr id="1015" name="TextBox"/>
          <p:cNvSpPr txBox="1"/>
          <p:nvPr/>
        </p:nvSpPr>
        <p:spPr>
          <a:xfrm>
            <a:off x="167335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Manual steps are easy to get wrong, especially under time pressure.</a:t>
            </a:r>
          </a:p>
        </p:txBody>
      </p:sp>
      <p:sp>
        <p:nvSpPr>
          <p:cNvPr id="1016" name="Box"/>
          <p:cNvSpPr/>
          <p:nvPr/>
        </p:nvSpPr>
        <p:spPr>
          <a:xfrm>
            <a:off x="534924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7" name="TextBox"/>
          <p:cNvSpPr txBox="1"/>
          <p:nvPr/>
        </p:nvSpPr>
        <p:spPr>
          <a:xfrm>
            <a:off x="560527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Slower releases</a:t>
            </a:r>
          </a:p>
        </p:txBody>
      </p:sp>
      <p:sp>
        <p:nvSpPr>
          <p:cNvPr id="1018" name="TextBox"/>
          <p:cNvSpPr txBox="1"/>
          <p:nvPr/>
        </p:nvSpPr>
        <p:spPr>
          <a:xfrm>
            <a:off x="560527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Every manual handoff adds delay before value reaches the business.</a:t>
            </a:r>
          </a:p>
        </p:txBody>
      </p:sp>
      <p:sp>
        <p:nvSpPr>
          <p:cNvPr id="1019" name="Box"/>
          <p:cNvSpPr/>
          <p:nvPr/>
        </p:nvSpPr>
        <p:spPr>
          <a:xfrm>
            <a:off x="928116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0" name="TextBox"/>
          <p:cNvSpPr txBox="1"/>
          <p:nvPr/>
        </p:nvSpPr>
        <p:spPr>
          <a:xfrm>
            <a:off x="953719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Limited visibility</a:t>
            </a:r>
          </a:p>
        </p:txBody>
      </p:sp>
      <p:sp>
        <p:nvSpPr>
          <p:cNvPr id="1021" name="TextBox"/>
          <p:cNvSpPr txBox="1"/>
          <p:nvPr/>
        </p:nvSpPr>
        <p:spPr>
          <a:xfrm>
            <a:off x="953719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It's hard to know exactly what changed, when, and by whom.</a:t>
            </a:r>
          </a:p>
        </p:txBody>
      </p:sp>
      <p:sp>
        <p:nvSpPr>
          <p:cNvPr id="1022" name="Box"/>
          <p:cNvSpPr/>
          <p:nvPr/>
        </p:nvSpPr>
        <p:spPr>
          <a:xfrm>
            <a:off x="1321308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3" name="TextBox"/>
          <p:cNvSpPr txBox="1"/>
          <p:nvPr/>
        </p:nvSpPr>
        <p:spPr>
          <a:xfrm>
            <a:off x="1346911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Growing risk</a:t>
            </a:r>
          </a:p>
        </p:txBody>
      </p:sp>
      <p:sp>
        <p:nvSpPr>
          <p:cNvPr id="1024" name="TextBox"/>
          <p:cNvSpPr txBox="1"/>
          <p:nvPr/>
        </p:nvSpPr>
        <p:spPr>
          <a:xfrm>
            <a:off x="1346911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More systems now depend on integration — mistakes have bigger impact.</a:t>
            </a:r>
          </a:p>
        </p:txBody>
      </p:sp>
      <p:sp>
        <p:nvSpPr>
          <p:cNvPr id="1025" name="Box"/>
          <p:cNvSpPr/>
          <p:nvPr/>
        </p:nvSpPr>
        <p:spPr>
          <a:xfrm>
            <a:off x="1417320" y="7452360"/>
            <a:ext cx="15361920" cy="914400"/>
          </a:xfrm>
          <a:prstGeom prst="roundRect">
            <a:avLst>
              <a:gd name="adj" fmla="val 12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</a:rPr>
              <a:t>Automation removes these risks by making every release consistent, approved, and reversible.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OUR SOLUTION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6" name="TextBox"/>
          <p:cNvSpPr txBox="1"/>
          <p:nvPr/>
        </p:nvSpPr>
        <p:spPr>
          <a:xfrm>
            <a:off x="1417320" y="242316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We've automated the process into three simple, dependable capabilities.</a:t>
            </a:r>
          </a:p>
        </p:txBody>
      </p:sp>
      <p:sp>
        <p:nvSpPr>
          <p:cNvPr id="1027" name="Box"/>
          <p:cNvSpPr/>
          <p:nvPr/>
        </p:nvSpPr>
        <p:spPr>
          <a:xfrm>
            <a:off x="141732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8" name="Badge"/>
          <p:cNvSpPr/>
          <p:nvPr/>
        </p:nvSpPr>
        <p:spPr>
          <a:xfrm>
            <a:off x="3413760" y="402336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29" name="TextBox"/>
          <p:cNvSpPr txBox="1"/>
          <p:nvPr/>
        </p:nvSpPr>
        <p:spPr>
          <a:xfrm>
            <a:off x="169164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Stay in Sync</a:t>
            </a:r>
          </a:p>
        </p:txBody>
      </p:sp>
      <p:sp>
        <p:nvSpPr>
          <p:cNvPr id="1030" name="TextBox"/>
          <p:cNvSpPr txBox="1"/>
          <p:nvPr/>
        </p:nvSpPr>
        <p:spPr>
          <a:xfrm>
            <a:off x="178308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Development changes are automatically kept up to date, ready for release.</a:t>
            </a:r>
          </a:p>
        </p:txBody>
      </p:sp>
      <p:sp>
        <p:nvSpPr>
          <p:cNvPr id="1031" name="Box"/>
          <p:cNvSpPr/>
          <p:nvPr/>
        </p:nvSpPr>
        <p:spPr>
          <a:xfrm>
            <a:off x="669036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2" name="Badge"/>
          <p:cNvSpPr/>
          <p:nvPr/>
        </p:nvSpPr>
        <p:spPr>
          <a:xfrm>
            <a:off x="8686800" y="4023360"/>
            <a:ext cx="822960" cy="82296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33" name="TextBox"/>
          <p:cNvSpPr txBox="1"/>
          <p:nvPr/>
        </p:nvSpPr>
        <p:spPr>
          <a:xfrm>
            <a:off x="696468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Deploy Safely</a:t>
            </a:r>
          </a:p>
        </p:txBody>
      </p:sp>
      <p:sp>
        <p:nvSpPr>
          <p:cNvPr id="1034" name="TextBox"/>
          <p:cNvSpPr txBox="1"/>
          <p:nvPr/>
        </p:nvSpPr>
        <p:spPr>
          <a:xfrm>
            <a:off x="705612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Only approved changes are built and released — the same reliable way, every time.</a:t>
            </a:r>
          </a:p>
        </p:txBody>
      </p:sp>
      <p:sp>
        <p:nvSpPr>
          <p:cNvPr id="1035" name="Box"/>
          <p:cNvSpPr/>
          <p:nvPr/>
        </p:nvSpPr>
        <p:spPr>
          <a:xfrm>
            <a:off x="1196340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6" name="Badge"/>
          <p:cNvSpPr/>
          <p:nvPr/>
        </p:nvSpPr>
        <p:spPr>
          <a:xfrm>
            <a:off x="13959840" y="4023360"/>
            <a:ext cx="822960" cy="82296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37" name="TextBox"/>
          <p:cNvSpPr txBox="1"/>
          <p:nvPr/>
        </p:nvSpPr>
        <p:spPr>
          <a:xfrm>
            <a:off x="1223772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Roll Back Instantly</a:t>
            </a:r>
          </a:p>
        </p:txBody>
      </p:sp>
      <p:sp>
        <p:nvSpPr>
          <p:cNvPr id="1038" name="TextBox"/>
          <p:cNvSpPr txBox="1"/>
          <p:nvPr/>
        </p:nvSpPr>
        <p:spPr>
          <a:xfrm>
            <a:off x="1232916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If anything goes wrong, the previous version is automatically restored.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APPROACH 1 • DEV SYNCHRONIZATION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9" name="Box"/>
          <p:cNvSpPr/>
          <p:nvPr/>
        </p:nvSpPr>
        <p:spPr>
          <a:xfrm>
            <a:off x="1417320" y="2423160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40" name="TextBox"/>
          <p:cNvSpPr txBox="1"/>
          <p:nvPr/>
        </p:nvSpPr>
        <p:spPr>
          <a:xfrm>
            <a:off x="1783080" y="2423160"/>
            <a:ext cx="14630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5B4FE0"/>
                </a:solidFill>
                <a:latin typeface="Aptos" pitchFamily="34" charset="0"/>
              </a:rPr>
              <a:t>GOAL</a:t>
            </a:r>
          </a:p>
        </p:txBody>
      </p:sp>
      <p:sp>
        <p:nvSpPr>
          <p:cNvPr id="1041" name="TextBox"/>
          <p:cNvSpPr txBox="1"/>
          <p:nvPr/>
        </p:nvSpPr>
        <p:spPr>
          <a:xfrm>
            <a:off x="3337560" y="2423160"/>
            <a:ext cx="13075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52545"/>
                </a:solidFill>
                <a:latin typeface="Aptos" pitchFamily="34" charset="0"/>
              </a:rPr>
              <a:t>Keep our source repository automatically up to date with every development change.</a:t>
            </a:r>
          </a:p>
        </p:txBody>
      </p:sp>
      <p:sp>
        <p:nvSpPr>
          <p:cNvPr id="1042" name="TextBox"/>
          <p:cNvSpPr txBox="1"/>
          <p:nvPr/>
        </p:nvSpPr>
        <p:spPr>
          <a:xfrm>
            <a:off x="1417320" y="3749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Each day, changes made on the development server are automatically checked and saved to our central repository — no manual work, and nothing is missed.</a:t>
            </a:r>
          </a:p>
        </p:txBody>
      </p:sp>
      <p:sp>
        <p:nvSpPr>
          <p:cNvPr id="1043" name="Box"/>
          <p:cNvSpPr/>
          <p:nvPr/>
        </p:nvSpPr>
        <p:spPr>
          <a:xfrm>
            <a:off x="443484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Development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Server</a:t>
            </a:r>
          </a:p>
        </p:txBody>
      </p:sp>
      <p:sp>
        <p:nvSpPr>
          <p:cNvPr id="1044" name="Box"/>
          <p:cNvSpPr/>
          <p:nvPr/>
        </p:nvSpPr>
        <p:spPr>
          <a:xfrm>
            <a:off x="772668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solidFill>
              <a:srgbClr val="5B4FE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Automatic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Check</a:t>
            </a:r>
          </a:p>
        </p:txBody>
      </p:sp>
      <p:cxnSp>
        <p:nvCxnSpPr>
          <p:cNvPr id="1045" name="Connector"/>
          <p:cNvCxnSpPr/>
          <p:nvPr/>
        </p:nvCxnSpPr>
        <p:spPr>
          <a:xfrm>
            <a:off x="723290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Box"/>
          <p:cNvSpPr/>
          <p:nvPr/>
        </p:nvSpPr>
        <p:spPr>
          <a:xfrm>
            <a:off x="1101852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1E8E5A"/>
          </a:solidFill>
          <a:ln w="9525">
            <a:solidFill>
              <a:srgbClr val="1E8E5A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Repository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Updated</a:t>
            </a:r>
          </a:p>
        </p:txBody>
      </p:sp>
      <p:cxnSp>
        <p:nvCxnSpPr>
          <p:cNvPr id="1047" name="Connector"/>
          <p:cNvCxnSpPr/>
          <p:nvPr/>
        </p:nvCxnSpPr>
        <p:spPr>
          <a:xfrm>
            <a:off x="1052474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"/>
          <p:cNvSpPr txBox="1"/>
          <p:nvPr/>
        </p:nvSpPr>
        <p:spPr>
          <a:xfrm>
            <a:off x="1417320" y="7178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4000"/>
              </a:lnSpc>
              <a:buNone/>
            </a:pPr>
            <a:r>
              <a:rPr lang="en-US" sz="1300" dirty="0">
                <a:solidFill>
                  <a:srgbClr val="5B5F73"/>
                </a:solidFill>
                <a:latin typeface="Aptos" pitchFamily="34" charset="0"/>
              </a:rPr>
              <a:t>If nothing changed, the repository is simply left as is — no unnecessary updates are made.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APPROACH 2 • TARGET ENVIRONMENT DEPLOYMENT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9" name="Box"/>
          <p:cNvSpPr/>
          <p:nvPr/>
        </p:nvSpPr>
        <p:spPr>
          <a:xfrm>
            <a:off x="1417320" y="2423160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0" name="TextBox"/>
          <p:cNvSpPr txBox="1"/>
          <p:nvPr/>
        </p:nvSpPr>
        <p:spPr>
          <a:xfrm>
            <a:off x="1783080" y="2423160"/>
            <a:ext cx="14630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5B4FE0"/>
                </a:solidFill>
                <a:latin typeface="Aptos" pitchFamily="34" charset="0"/>
              </a:rPr>
              <a:t>GOAL</a:t>
            </a:r>
          </a:p>
        </p:txBody>
      </p:sp>
      <p:sp>
        <p:nvSpPr>
          <p:cNvPr id="1051" name="TextBox"/>
          <p:cNvSpPr txBox="1"/>
          <p:nvPr/>
        </p:nvSpPr>
        <p:spPr>
          <a:xfrm>
            <a:off x="3337560" y="2423160"/>
            <a:ext cx="13075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52545"/>
                </a:solidFill>
                <a:latin typeface="Aptos" pitchFamily="34" charset="0"/>
              </a:rPr>
              <a:t>Move approved changes into QC, UAT, or PROD safely and consistently.</a:t>
            </a:r>
          </a:p>
        </p:txBody>
      </p:sp>
      <p:sp>
        <p:nvSpPr>
          <p:cNvPr id="1052" name="TextBox"/>
          <p:cNvSpPr txBox="1"/>
          <p:nvPr/>
        </p:nvSpPr>
        <p:spPr>
          <a:xfrm>
            <a:off x="1417320" y="3749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When a release is ready, the system builds only the approved changes and deploys them the same reliable way every time — to whichever environment is targeted.</a:t>
            </a:r>
          </a:p>
        </p:txBody>
      </p:sp>
      <p:sp>
        <p:nvSpPr>
          <p:cNvPr id="1053" name="Box"/>
          <p:cNvSpPr/>
          <p:nvPr/>
        </p:nvSpPr>
        <p:spPr>
          <a:xfrm>
            <a:off x="278892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Approved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Changes</a:t>
            </a:r>
          </a:p>
        </p:txBody>
      </p:sp>
      <p:sp>
        <p:nvSpPr>
          <p:cNvPr id="1054" name="Box"/>
          <p:cNvSpPr/>
          <p:nvPr/>
        </p:nvSpPr>
        <p:spPr>
          <a:xfrm>
            <a:off x="608076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6B4FB0"/>
          </a:solidFill>
          <a:ln w="9525">
            <a:solidFill>
              <a:srgbClr val="6B4FB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Build</a:t>
            </a:r>
          </a:p>
        </p:txBody>
      </p:sp>
      <p:cxnSp>
        <p:nvCxnSpPr>
          <p:cNvPr id="1055" name="Connector"/>
          <p:cNvCxnSpPr/>
          <p:nvPr/>
        </p:nvCxnSpPr>
        <p:spPr>
          <a:xfrm>
            <a:off x="558698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Box"/>
          <p:cNvSpPr/>
          <p:nvPr/>
        </p:nvSpPr>
        <p:spPr>
          <a:xfrm>
            <a:off x="937260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solidFill>
              <a:srgbClr val="5B4FE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Safety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Snapshot</a:t>
            </a:r>
          </a:p>
        </p:txBody>
      </p:sp>
      <p:cxnSp>
        <p:nvCxnSpPr>
          <p:cNvPr id="1057" name="Connector"/>
          <p:cNvCxnSpPr/>
          <p:nvPr/>
        </p:nvCxnSpPr>
        <p:spPr>
          <a:xfrm>
            <a:off x="887882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Box"/>
          <p:cNvSpPr/>
          <p:nvPr/>
        </p:nvSpPr>
        <p:spPr>
          <a:xfrm>
            <a:off x="1266444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A02B6E"/>
          </a:solidFill>
          <a:ln w="9525">
            <a:solidFill>
              <a:srgbClr val="A02B6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Deploy to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Target</a:t>
            </a:r>
          </a:p>
        </p:txBody>
      </p:sp>
      <p:cxnSp>
        <p:nvCxnSpPr>
          <p:cNvPr id="1059" name="Connector"/>
          <p:cNvCxnSpPr/>
          <p:nvPr/>
        </p:nvCxnSpPr>
        <p:spPr>
          <a:xfrm>
            <a:off x="1217066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TextBox"/>
          <p:cNvSpPr txBox="1"/>
          <p:nvPr/>
        </p:nvSpPr>
        <p:spPr>
          <a:xfrm>
            <a:off x="1417320" y="7178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4000"/>
              </a:lnSpc>
              <a:buNone/>
            </a:pPr>
            <a:r>
              <a:rPr lang="en-US" sz="1300" dirty="0">
                <a:solidFill>
                  <a:srgbClr val="5B5F73"/>
                </a:solidFill>
                <a:latin typeface="Aptos" pitchFamily="34" charset="0"/>
              </a:rPr>
              <a:t>The same process runs for QC, UAT, and PROD — only the destination changes.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APPROACH 3 • MANUAL ROLLBACK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1" name="Box"/>
          <p:cNvSpPr/>
          <p:nvPr/>
        </p:nvSpPr>
        <p:spPr>
          <a:xfrm>
            <a:off x="1417320" y="2423160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62" name="TextBox"/>
          <p:cNvSpPr txBox="1"/>
          <p:nvPr/>
        </p:nvSpPr>
        <p:spPr>
          <a:xfrm>
            <a:off x="1783080" y="2423160"/>
            <a:ext cx="14630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5B4FE0"/>
                </a:solidFill>
                <a:latin typeface="Aptos" pitchFamily="34" charset="0"/>
              </a:rPr>
              <a:t>GOAL</a:t>
            </a:r>
          </a:p>
        </p:txBody>
      </p:sp>
      <p:sp>
        <p:nvSpPr>
          <p:cNvPr id="1063" name="TextBox"/>
          <p:cNvSpPr txBox="1"/>
          <p:nvPr/>
        </p:nvSpPr>
        <p:spPr>
          <a:xfrm>
            <a:off x="3337560" y="2423160"/>
            <a:ext cx="13075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52545"/>
                </a:solidFill>
                <a:latin typeface="Aptos" pitchFamily="34" charset="0"/>
              </a:rPr>
              <a:t>Give an authorized person a safe, controlled way to undo a release if needed.</a:t>
            </a:r>
          </a:p>
        </p:txBody>
      </p:sp>
      <p:sp>
        <p:nvSpPr>
          <p:cNvPr id="1064" name="TextBox"/>
          <p:cNvSpPr txBox="1"/>
          <p:nvPr/>
        </p:nvSpPr>
        <p:spPr>
          <a:xfrm>
            <a:off x="1417320" y="3749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5B5F73"/>
                </a:solidFill>
                <a:latin typeface="Aptos" pitchFamily="34" charset="0"/>
              </a:rPr>
              <a:t>If a problem is found after a release, an authorized user can request a rollback. Once approved, the previous version is automatically restored.</a:t>
            </a:r>
          </a:p>
        </p:txBody>
      </p:sp>
      <p:sp>
        <p:nvSpPr>
          <p:cNvPr id="1065" name="Box"/>
          <p:cNvSpPr/>
          <p:nvPr/>
        </p:nvSpPr>
        <p:spPr>
          <a:xfrm>
            <a:off x="278892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Request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52545"/>
                </a:solidFill>
                <a:latin typeface="Aptos" pitchFamily="34" charset="0"/>
              </a:rPr>
              <a:t>Rollback</a:t>
            </a:r>
          </a:p>
        </p:txBody>
      </p:sp>
      <p:sp>
        <p:nvSpPr>
          <p:cNvPr id="1066" name="Box"/>
          <p:cNvSpPr/>
          <p:nvPr/>
        </p:nvSpPr>
        <p:spPr>
          <a:xfrm>
            <a:off x="608076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7A5B12"/>
                </a:solidFill>
                <a:latin typeface="Aptos" pitchFamily="34" charset="0"/>
              </a:rPr>
              <a:t>Approval</a:t>
            </a:r>
          </a:p>
        </p:txBody>
      </p:sp>
      <p:cxnSp>
        <p:nvCxnSpPr>
          <p:cNvPr id="1067" name="Connector"/>
          <p:cNvCxnSpPr/>
          <p:nvPr/>
        </p:nvCxnSpPr>
        <p:spPr>
          <a:xfrm>
            <a:off x="558698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Box"/>
          <p:cNvSpPr/>
          <p:nvPr/>
        </p:nvSpPr>
        <p:spPr>
          <a:xfrm>
            <a:off x="937260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solidFill>
              <a:srgbClr val="5B4FE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Restore Previous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Version</a:t>
            </a:r>
          </a:p>
        </p:txBody>
      </p:sp>
      <p:cxnSp>
        <p:nvCxnSpPr>
          <p:cNvPr id="1069" name="Connector"/>
          <p:cNvCxnSpPr/>
          <p:nvPr/>
        </p:nvCxnSpPr>
        <p:spPr>
          <a:xfrm>
            <a:off x="887882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Box"/>
          <p:cNvSpPr/>
          <p:nvPr/>
        </p:nvSpPr>
        <p:spPr>
          <a:xfrm>
            <a:off x="12664440" y="5166360"/>
            <a:ext cx="2743200" cy="1554480"/>
          </a:xfrm>
          <a:prstGeom prst="roundRect">
            <a:avLst>
              <a:gd name="adj" fmla="val 16000"/>
            </a:avLst>
          </a:prstGeom>
          <a:solidFill>
            <a:srgbClr val="1E8E5A"/>
          </a:solidFill>
          <a:ln w="9525">
            <a:solidFill>
              <a:srgbClr val="1E8E5A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Confirmation</a:t>
            </a:r>
          </a:p>
        </p:txBody>
      </p:sp>
      <p:cxnSp>
        <p:nvCxnSpPr>
          <p:cNvPr id="1071" name="Connector"/>
          <p:cNvCxnSpPr/>
          <p:nvPr/>
        </p:nvCxnSpPr>
        <p:spPr>
          <a:xfrm>
            <a:off x="12170664" y="594360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TextBox"/>
          <p:cNvSpPr txBox="1"/>
          <p:nvPr/>
        </p:nvSpPr>
        <p:spPr>
          <a:xfrm>
            <a:off x="1417320" y="7178040"/>
            <a:ext cx="15361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4000"/>
              </a:lnSpc>
              <a:buNone/>
            </a:pPr>
            <a:r>
              <a:rPr lang="en-US" sz="1300" dirty="0">
                <a:solidFill>
                  <a:srgbClr val="5B5F73"/>
                </a:solidFill>
                <a:latin typeface="Aptos" pitchFamily="34" charset="0"/>
              </a:rPr>
              <a:t>Nothing is restored until an authorized approver signs off.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END-TO-END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73" name="TextBox"/>
          <p:cNvSpPr txBox="1"/>
          <p:nvPr/>
        </p:nvSpPr>
        <p:spPr>
          <a:xfrm>
            <a:off x="1417320" y="251460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Every change follows the same protected path, from development to production.</a:t>
            </a:r>
          </a:p>
        </p:txBody>
      </p:sp>
      <p:sp>
        <p:nvSpPr>
          <p:cNvPr id="1074" name="Box"/>
          <p:cNvSpPr/>
          <p:nvPr/>
        </p:nvSpPr>
        <p:spPr>
          <a:xfrm>
            <a:off x="14173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252545"/>
                </a:solidFill>
                <a:latin typeface="Aptos" pitchFamily="34" charset="0"/>
              </a:rPr>
              <a:t>DEV</a:t>
            </a:r>
          </a:p>
        </p:txBody>
      </p:sp>
      <p:sp>
        <p:nvSpPr>
          <p:cNvPr id="1075" name="Box"/>
          <p:cNvSpPr/>
          <p:nvPr/>
        </p:nvSpPr>
        <p:spPr>
          <a:xfrm>
            <a:off x="54178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6B4FB0"/>
                </a:solidFill>
                <a:latin typeface="Aptos" pitchFamily="34" charset="0"/>
              </a:rPr>
              <a:t>QC</a:t>
            </a:r>
          </a:p>
        </p:txBody>
      </p:sp>
      <p:cxnSp>
        <p:nvCxnSpPr>
          <p:cNvPr id="1076" name="Connector"/>
          <p:cNvCxnSpPr/>
          <p:nvPr/>
        </p:nvCxnSpPr>
        <p:spPr>
          <a:xfrm>
            <a:off x="48326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Box"/>
          <p:cNvSpPr/>
          <p:nvPr/>
        </p:nvSpPr>
        <p:spPr>
          <a:xfrm>
            <a:off x="94183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1D6FA5"/>
                </a:solidFill>
                <a:latin typeface="Aptos" pitchFamily="34" charset="0"/>
              </a:rPr>
              <a:t>UAT</a:t>
            </a:r>
          </a:p>
        </p:txBody>
      </p:sp>
      <p:cxnSp>
        <p:nvCxnSpPr>
          <p:cNvPr id="1078" name="Connector"/>
          <p:cNvCxnSpPr/>
          <p:nvPr/>
        </p:nvCxnSpPr>
        <p:spPr>
          <a:xfrm>
            <a:off x="88331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Box"/>
          <p:cNvSpPr/>
          <p:nvPr/>
        </p:nvSpPr>
        <p:spPr>
          <a:xfrm>
            <a:off x="134188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A02B6E"/>
                </a:solidFill>
                <a:latin typeface="Aptos" pitchFamily="34" charset="0"/>
              </a:rPr>
              <a:t>PROD</a:t>
            </a:r>
          </a:p>
        </p:txBody>
      </p:sp>
      <p:cxnSp>
        <p:nvCxnSpPr>
          <p:cNvPr id="1080" name="Connector"/>
          <p:cNvCxnSpPr/>
          <p:nvPr/>
        </p:nvCxnSpPr>
        <p:spPr>
          <a:xfrm>
            <a:off x="128336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1" name="Box"/>
          <p:cNvSpPr/>
          <p:nvPr/>
        </p:nvSpPr>
        <p:spPr>
          <a:xfrm>
            <a:off x="1417320" y="6263640"/>
            <a:ext cx="15361920" cy="13716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7A5B12"/>
                </a:solidFill>
                <a:latin typeface="Aptos" pitchFamily="34" charset="0"/>
              </a:rPr>
              <a:t>Protected at every step by required approvals and an automatic safety net that restores the previous version if anything fails.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KEY BENEFITS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2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What this means for the business.</a:t>
            </a:r>
          </a:p>
        </p:txBody>
      </p:sp>
      <p:sp>
        <p:nvSpPr>
          <p:cNvPr id="1083" name="Box"/>
          <p:cNvSpPr/>
          <p:nvPr/>
        </p:nvSpPr>
        <p:spPr>
          <a:xfrm>
            <a:off x="1417320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4" name="Badge"/>
          <p:cNvSpPr/>
          <p:nvPr/>
        </p:nvSpPr>
        <p:spPr>
          <a:xfrm>
            <a:off x="2505456" y="4069080"/>
            <a:ext cx="640080" cy="64008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5" name="TextBox"/>
          <p:cNvSpPr txBox="1"/>
          <p:nvPr/>
        </p:nvSpPr>
        <p:spPr>
          <a:xfrm>
            <a:off x="1554480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Faster Releases</a:t>
            </a:r>
          </a:p>
        </p:txBody>
      </p:sp>
      <p:sp>
        <p:nvSpPr>
          <p:cNvPr id="1086" name="Box"/>
          <p:cNvSpPr/>
          <p:nvPr/>
        </p:nvSpPr>
        <p:spPr>
          <a:xfrm>
            <a:off x="4553712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7" name="Badge"/>
          <p:cNvSpPr/>
          <p:nvPr/>
        </p:nvSpPr>
        <p:spPr>
          <a:xfrm>
            <a:off x="5641848" y="4069080"/>
            <a:ext cx="640080" cy="64008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8" name="TextBox"/>
          <p:cNvSpPr txBox="1"/>
          <p:nvPr/>
        </p:nvSpPr>
        <p:spPr>
          <a:xfrm>
            <a:off x="4690872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Fewer Errors</a:t>
            </a:r>
          </a:p>
        </p:txBody>
      </p:sp>
      <p:sp>
        <p:nvSpPr>
          <p:cNvPr id="1089" name="Box"/>
          <p:cNvSpPr/>
          <p:nvPr/>
        </p:nvSpPr>
        <p:spPr>
          <a:xfrm>
            <a:off x="7690104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0" name="Badge"/>
          <p:cNvSpPr/>
          <p:nvPr/>
        </p:nvSpPr>
        <p:spPr>
          <a:xfrm>
            <a:off x="8778240" y="4069080"/>
            <a:ext cx="640080" cy="640080"/>
          </a:xfrm>
          <a:prstGeom prst="ellipse">
            <a:avLst/>
          </a:prstGeom>
          <a:solidFill>
            <a:srgbClr val="25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1" name="TextBox"/>
          <p:cNvSpPr txBox="1"/>
          <p:nvPr/>
        </p:nvSpPr>
        <p:spPr>
          <a:xfrm>
            <a:off x="7827264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Full Audit Trail</a:t>
            </a:r>
          </a:p>
        </p:txBody>
      </p:sp>
      <p:sp>
        <p:nvSpPr>
          <p:cNvPr id="1092" name="Box"/>
          <p:cNvSpPr/>
          <p:nvPr/>
        </p:nvSpPr>
        <p:spPr>
          <a:xfrm>
            <a:off x="10826496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3" name="Badge"/>
          <p:cNvSpPr/>
          <p:nvPr/>
        </p:nvSpPr>
        <p:spPr>
          <a:xfrm>
            <a:off x="11914632" y="4069080"/>
            <a:ext cx="640080" cy="64008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4" name="TextBox"/>
          <p:cNvSpPr txBox="1"/>
          <p:nvPr/>
        </p:nvSpPr>
        <p:spPr>
          <a:xfrm>
            <a:off x="10963656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Stronger Security</a:t>
            </a:r>
          </a:p>
        </p:txBody>
      </p:sp>
      <p:sp>
        <p:nvSpPr>
          <p:cNvPr id="1095" name="Box"/>
          <p:cNvSpPr/>
          <p:nvPr/>
        </p:nvSpPr>
        <p:spPr>
          <a:xfrm>
            <a:off x="13962888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6" name="Badge"/>
          <p:cNvSpPr/>
          <p:nvPr/>
        </p:nvSpPr>
        <p:spPr>
          <a:xfrm>
            <a:off x="15051024" y="406908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7" name="TextBox"/>
          <p:cNvSpPr txBox="1"/>
          <p:nvPr/>
        </p:nvSpPr>
        <p:spPr>
          <a:xfrm>
            <a:off x="14100048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Consistent Process</a:t>
            </a:r>
          </a:p>
        </p:txBody>
      </p:sp>
      <p:sp>
        <p:nvSpPr>
          <p:cNvPr id="1098" name="TextBox"/>
          <p:cNvSpPr txBox="1"/>
          <p:nvPr/>
        </p:nvSpPr>
        <p:spPr>
          <a:xfrm>
            <a:off x="1417320" y="7178040"/>
            <a:ext cx="15361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450" dirty="0">
                <a:solidFill>
                  <a:srgbClr val="5B5F73"/>
                </a:solidFill>
                <a:latin typeface="Aptos" pitchFamily="34" charset="0"/>
              </a:rPr>
              <a:t>The result: our teams release with confidence, and the business can trust that every change was tested, approved, and reversible.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SAFETY &amp;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99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Safety and control are built into every release, not added afterward.</a:t>
            </a:r>
          </a:p>
        </p:txBody>
      </p:sp>
      <p:sp>
        <p:nvSpPr>
          <p:cNvPr id="1100" name="Box"/>
          <p:cNvSpPr/>
          <p:nvPr/>
        </p:nvSpPr>
        <p:spPr>
          <a:xfrm>
            <a:off x="141732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1" name="Badge"/>
          <p:cNvSpPr/>
          <p:nvPr/>
        </p:nvSpPr>
        <p:spPr>
          <a:xfrm>
            <a:off x="164592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02" name="TextBox"/>
          <p:cNvSpPr txBox="1"/>
          <p:nvPr/>
        </p:nvSpPr>
        <p:spPr>
          <a:xfrm>
            <a:off x="167335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Approved before it moves</a:t>
            </a:r>
          </a:p>
        </p:txBody>
      </p:sp>
      <p:sp>
        <p:nvSpPr>
          <p:cNvPr id="1103" name="TextBox"/>
          <p:cNvSpPr txBox="1"/>
          <p:nvPr/>
        </p:nvSpPr>
        <p:spPr>
          <a:xfrm>
            <a:off x="167335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Every change is reviewed and approved before advancing to the next environment.</a:t>
            </a:r>
          </a:p>
        </p:txBody>
      </p:sp>
      <p:sp>
        <p:nvSpPr>
          <p:cNvPr id="1104" name="Box"/>
          <p:cNvSpPr/>
          <p:nvPr/>
        </p:nvSpPr>
        <p:spPr>
          <a:xfrm>
            <a:off x="534924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5" name="Badge"/>
          <p:cNvSpPr/>
          <p:nvPr/>
        </p:nvSpPr>
        <p:spPr>
          <a:xfrm>
            <a:off x="557784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06" name="TextBox"/>
          <p:cNvSpPr txBox="1"/>
          <p:nvPr/>
        </p:nvSpPr>
        <p:spPr>
          <a:xfrm>
            <a:off x="560527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Protected before it deploys</a:t>
            </a:r>
          </a:p>
        </p:txBody>
      </p:sp>
      <p:sp>
        <p:nvSpPr>
          <p:cNvPr id="1107" name="TextBox"/>
          <p:cNvSpPr txBox="1"/>
          <p:nvPr/>
        </p:nvSpPr>
        <p:spPr>
          <a:xfrm>
            <a:off x="560527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A safety snapshot is taken before every release, so we can always go back.</a:t>
            </a:r>
          </a:p>
        </p:txBody>
      </p:sp>
      <p:sp>
        <p:nvSpPr>
          <p:cNvPr id="1108" name="Box"/>
          <p:cNvSpPr/>
          <p:nvPr/>
        </p:nvSpPr>
        <p:spPr>
          <a:xfrm>
            <a:off x="928116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9" name="Badge"/>
          <p:cNvSpPr/>
          <p:nvPr/>
        </p:nvSpPr>
        <p:spPr>
          <a:xfrm>
            <a:off x="950976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0" name="TextBox"/>
          <p:cNvSpPr txBox="1"/>
          <p:nvPr/>
        </p:nvSpPr>
        <p:spPr>
          <a:xfrm>
            <a:off x="953719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Automatically recovered</a:t>
            </a:r>
          </a:p>
        </p:txBody>
      </p:sp>
      <p:sp>
        <p:nvSpPr>
          <p:cNvPr id="1111" name="TextBox"/>
          <p:cNvSpPr txBox="1"/>
          <p:nvPr/>
        </p:nvSpPr>
        <p:spPr>
          <a:xfrm>
            <a:off x="953719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If a release fails, the previous version is restored automatically — no manual scramble.</a:t>
            </a:r>
          </a:p>
        </p:txBody>
      </p:sp>
      <p:sp>
        <p:nvSpPr>
          <p:cNvPr id="1112" name="Box"/>
          <p:cNvSpPr/>
          <p:nvPr/>
        </p:nvSpPr>
        <p:spPr>
          <a:xfrm>
            <a:off x="1321308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3" name="Badge"/>
          <p:cNvSpPr/>
          <p:nvPr/>
        </p:nvSpPr>
        <p:spPr>
          <a:xfrm>
            <a:off x="1344168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4" name="TextBox"/>
          <p:cNvSpPr txBox="1"/>
          <p:nvPr/>
        </p:nvSpPr>
        <p:spPr>
          <a:xfrm>
            <a:off x="1346911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Credentials stay protected</a:t>
            </a:r>
          </a:p>
        </p:txBody>
      </p:sp>
      <p:sp>
        <p:nvSpPr>
          <p:cNvPr id="1115" name="TextBox"/>
          <p:cNvSpPr txBox="1"/>
          <p:nvPr/>
        </p:nvSpPr>
        <p:spPr>
          <a:xfrm>
            <a:off x="1346911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Passwords and access are never exposed in the process or its logs.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ENVIRONMENTS AT A GLANCE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6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Four environments, one consistent process.</a:t>
            </a:r>
          </a:p>
        </p:txBody>
      </p:sp>
      <p:sp>
        <p:nvSpPr>
          <p:cNvPr id="1117" name="Box"/>
          <p:cNvSpPr/>
          <p:nvPr/>
        </p:nvSpPr>
        <p:spPr>
          <a:xfrm>
            <a:off x="1417320" y="3520440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8" name="TextBox"/>
          <p:cNvSpPr txBox="1"/>
          <p:nvPr/>
        </p:nvSpPr>
        <p:spPr>
          <a:xfrm>
            <a:off x="1783080" y="3520440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252545"/>
                </a:solidFill>
                <a:latin typeface="Aptos" pitchFamily="34" charset="0"/>
              </a:rPr>
              <a:t>DEV</a:t>
            </a:r>
          </a:p>
        </p:txBody>
      </p:sp>
      <p:sp>
        <p:nvSpPr>
          <p:cNvPr id="1119" name="TextBox"/>
          <p:cNvSpPr txBox="1"/>
          <p:nvPr/>
        </p:nvSpPr>
        <p:spPr>
          <a:xfrm>
            <a:off x="4160520" y="3520440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changes are developed and automatically kept in sync.</a:t>
            </a:r>
          </a:p>
        </p:txBody>
      </p:sp>
      <p:sp>
        <p:nvSpPr>
          <p:cNvPr id="1120" name="Box"/>
          <p:cNvSpPr/>
          <p:nvPr/>
        </p:nvSpPr>
        <p:spPr>
          <a:xfrm>
            <a:off x="1417320" y="4773168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1" name="TextBox"/>
          <p:cNvSpPr txBox="1"/>
          <p:nvPr/>
        </p:nvSpPr>
        <p:spPr>
          <a:xfrm>
            <a:off x="1783080" y="4773168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6B4FB0"/>
                </a:solidFill>
                <a:latin typeface="Aptos" pitchFamily="34" charset="0"/>
              </a:rPr>
              <a:t>QC</a:t>
            </a:r>
          </a:p>
        </p:txBody>
      </p:sp>
      <p:sp>
        <p:nvSpPr>
          <p:cNvPr id="1122" name="TextBox"/>
          <p:cNvSpPr txBox="1"/>
          <p:nvPr/>
        </p:nvSpPr>
        <p:spPr>
          <a:xfrm>
            <a:off x="4160520" y="4773168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changes are tested before wider release.</a:t>
            </a:r>
          </a:p>
        </p:txBody>
      </p:sp>
      <p:sp>
        <p:nvSpPr>
          <p:cNvPr id="1123" name="Box"/>
          <p:cNvSpPr/>
          <p:nvPr/>
        </p:nvSpPr>
        <p:spPr>
          <a:xfrm>
            <a:off x="1417320" y="6025896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4" name="TextBox"/>
          <p:cNvSpPr txBox="1"/>
          <p:nvPr/>
        </p:nvSpPr>
        <p:spPr>
          <a:xfrm>
            <a:off x="1783080" y="6025896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D6FA5"/>
                </a:solidFill>
                <a:latin typeface="Aptos" pitchFamily="34" charset="0"/>
              </a:rPr>
              <a:t>UAT</a:t>
            </a:r>
          </a:p>
        </p:txBody>
      </p:sp>
      <p:sp>
        <p:nvSpPr>
          <p:cNvPr id="1125" name="TextBox"/>
          <p:cNvSpPr txBox="1"/>
          <p:nvPr/>
        </p:nvSpPr>
        <p:spPr>
          <a:xfrm>
            <a:off x="4160520" y="6025896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the business confirms changes are ready.</a:t>
            </a:r>
          </a:p>
        </p:txBody>
      </p:sp>
      <p:sp>
        <p:nvSpPr>
          <p:cNvPr id="1126" name="Box"/>
          <p:cNvSpPr/>
          <p:nvPr/>
        </p:nvSpPr>
        <p:spPr>
          <a:xfrm>
            <a:off x="1417320" y="7278624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7" name="TextBox"/>
          <p:cNvSpPr txBox="1"/>
          <p:nvPr/>
        </p:nvSpPr>
        <p:spPr>
          <a:xfrm>
            <a:off x="1783080" y="7278624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A02B6E"/>
                </a:solidFill>
                <a:latin typeface="Aptos" pitchFamily="34" charset="0"/>
              </a:rPr>
              <a:t>PROD</a:t>
            </a:r>
          </a:p>
        </p:txBody>
      </p:sp>
      <p:sp>
        <p:nvSpPr>
          <p:cNvPr id="1128" name="TextBox"/>
          <p:cNvSpPr txBox="1"/>
          <p:nvPr/>
        </p:nvSpPr>
        <p:spPr>
          <a:xfrm>
            <a:off x="4160520" y="7278624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our live systems run for the business.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NEXT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9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Where we go from here.</a:t>
            </a:r>
          </a:p>
        </p:txBody>
      </p:sp>
      <p:sp>
        <p:nvSpPr>
          <p:cNvPr id="1130" name="Box"/>
          <p:cNvSpPr/>
          <p:nvPr/>
        </p:nvSpPr>
        <p:spPr>
          <a:xfrm>
            <a:off x="141732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1" name="Badge"/>
          <p:cNvSpPr/>
          <p:nvPr/>
        </p:nvSpPr>
        <p:spPr>
          <a:xfrm>
            <a:off x="338328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132" name="TextBox"/>
          <p:cNvSpPr txBox="1"/>
          <p:nvPr/>
        </p:nvSpPr>
        <p:spPr>
          <a:xfrm>
            <a:off x="169164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Finalize Details</a:t>
            </a:r>
          </a:p>
        </p:txBody>
      </p:sp>
      <p:sp>
        <p:nvSpPr>
          <p:cNvPr id="1133" name="TextBox"/>
          <p:cNvSpPr txBox="1"/>
          <p:nvPr/>
        </p:nvSpPr>
        <p:spPr>
          <a:xfrm>
            <a:off x="178308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Confirm the remaining UAT and PROD environment details.</a:t>
            </a:r>
          </a:p>
        </p:txBody>
      </p:sp>
      <p:cxnSp>
        <p:nvCxnSpPr>
          <p:cNvPr id="1134" name="Connector"/>
          <p:cNvCxnSpPr/>
          <p:nvPr/>
        </p:nvCxnSpPr>
        <p:spPr>
          <a:xfrm>
            <a:off x="6227064" y="553212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Box"/>
          <p:cNvSpPr/>
          <p:nvPr/>
        </p:nvSpPr>
        <p:spPr>
          <a:xfrm>
            <a:off x="672084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6" name="Badge"/>
          <p:cNvSpPr/>
          <p:nvPr/>
        </p:nvSpPr>
        <p:spPr>
          <a:xfrm>
            <a:off x="868680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137" name="TextBox"/>
          <p:cNvSpPr txBox="1"/>
          <p:nvPr/>
        </p:nvSpPr>
        <p:spPr>
          <a:xfrm>
            <a:off x="699516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Pilot</a:t>
            </a:r>
          </a:p>
        </p:txBody>
      </p:sp>
      <p:sp>
        <p:nvSpPr>
          <p:cNvPr id="1138" name="TextBox"/>
          <p:cNvSpPr txBox="1"/>
          <p:nvPr/>
        </p:nvSpPr>
        <p:spPr>
          <a:xfrm>
            <a:off x="708660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Run the full process end-to-end in QC to validate it in practice.</a:t>
            </a:r>
          </a:p>
        </p:txBody>
      </p:sp>
      <p:cxnSp>
        <p:nvCxnSpPr>
          <p:cNvPr id="1139" name="Connector"/>
          <p:cNvCxnSpPr/>
          <p:nvPr/>
        </p:nvCxnSpPr>
        <p:spPr>
          <a:xfrm>
            <a:off x="11530584" y="553212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0" name="Box"/>
          <p:cNvSpPr/>
          <p:nvPr/>
        </p:nvSpPr>
        <p:spPr>
          <a:xfrm>
            <a:off x="1202436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41" name="Badge"/>
          <p:cNvSpPr/>
          <p:nvPr/>
        </p:nvSpPr>
        <p:spPr>
          <a:xfrm>
            <a:off x="1399032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142" name="TextBox"/>
          <p:cNvSpPr txBox="1"/>
          <p:nvPr/>
        </p:nvSpPr>
        <p:spPr>
          <a:xfrm>
            <a:off x="1229868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Roll Out</a:t>
            </a:r>
          </a:p>
        </p:txBody>
      </p:sp>
      <p:sp>
        <p:nvSpPr>
          <p:cNvPr id="1143" name="TextBox"/>
          <p:cNvSpPr txBox="1"/>
          <p:nvPr/>
        </p:nvSpPr>
        <p:spPr>
          <a:xfrm>
            <a:off x="1239012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Extend the same proven process to UAT and PROD.</a:t>
            </a:r>
          </a:p>
        </p:txBody>
      </p:sp>
      <p:sp>
        <p:nvSpPr>
          <p:cNvPr id="1144" name="Box"/>
          <p:cNvSpPr/>
          <p:nvPr/>
        </p:nvSpPr>
        <p:spPr>
          <a:xfrm>
            <a:off x="1417320" y="7726680"/>
            <a:ext cx="15361920" cy="777240"/>
          </a:xfrm>
          <a:prstGeom prst="roundRect">
            <a:avLst>
              <a:gd name="adj" fmla="val 14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QC is ready today. UAT and PROD follow the same proven path once details are confirmed.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