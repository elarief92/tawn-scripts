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2"/>
  </p:sldMasterIdLst>
  <p:notesMasterIdLst>
    <p:notesMasterId r:id="rId17"/>
  </p:notesMasterIdLst>
  <p:sldIdLst>
    <p:sldId id="256" r:id="rId3"/>
    <p:sldId id="273" r:id="rId4"/>
    <p:sldId id="283" r:id="rId5"/>
    <p:sldId id="280" r:id="rId6"/>
    <p:sldId id="281" r:id="rId7"/>
    <p:sldId id="282" r:id="rId8"/>
    <p:sldId id="279" r:id="rId9"/>
    <p:sldId id="278" r:id="rId10"/>
    <p:sldId id="274" r:id="rId11"/>
    <p:sldId id="275" r:id="rId12"/>
    <p:sldId id="276" r:id="rId13"/>
    <p:sldId id="277" r:id="rId14"/>
    <p:sldId id="272" r:id="rId15"/>
    <p:sldId id="262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 userDrawn="1">
          <p15:clr>
            <a:srgbClr val="A4A3A4"/>
          </p15:clr>
        </p15:guide>
        <p15:guide id="2" pos="2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EE2E"/>
    <a:srgbClr val="FFC7A0"/>
    <a:srgbClr val="D6D1ED"/>
    <a:srgbClr val="169D64"/>
    <a:srgbClr val="C74C4C"/>
    <a:srgbClr val="E6961C"/>
    <a:srgbClr val="325DCC"/>
    <a:srgbClr val="8F73F2"/>
    <a:srgbClr val="6B47F5"/>
    <a:srgbClr val="878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6" autoAdjust="0"/>
    <p:restoredTop sz="94207" autoAdjust="0"/>
  </p:normalViewPr>
  <p:slideViewPr>
    <p:cSldViewPr showGuides="1">
      <p:cViewPr>
        <p:scale>
          <a:sx n="66" d="100"/>
          <a:sy n="66" d="100"/>
        </p:scale>
        <p:origin x="252" y="240"/>
      </p:cViewPr>
      <p:guideLst>
        <p:guide orient="horz" pos="2201"/>
        <p:guide pos="29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DR000691\Downloads\SonarQube_7_Project_Detailed_Dashboar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DR000691\Downloads\SonarQube_7_Project_Detailed_Dashboar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DR000691\Downloads\SonarQube_7_Project_Detailed_Dashboard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DR000691\Downloads\SonarQube_7_Project_Detailed_Dashboar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Coverage by Project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948387981353077E-2"/>
          <c:y val="8.8021347014681339E-2"/>
          <c:w val="0.95139505882660191"/>
          <c:h val="0.81162936545577136"/>
        </c:manualLayout>
      </c:layout>
      <c:barChart>
        <c:barDir val="col"/>
        <c:grouping val="clustered"/>
        <c:varyColors val="0"/>
        <c:ser>
          <c:idx val="0"/>
          <c:order val="0"/>
          <c:tx>
            <c:v>Coverage %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'Editable Charts'!$A$2:$A$8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Insurance V3</c:v>
                </c:pt>
                <c:pt idx="5">
                  <c:v>Recovery Portal V3</c:v>
                </c:pt>
                <c:pt idx="6">
                  <c:v>Workshop Portal V3</c:v>
                </c:pt>
              </c:strCache>
            </c:strRef>
          </c:cat>
          <c:val>
            <c:numRef>
              <c:f>'Editable Charts'!$E$2:$E$8</c:f>
              <c:numCache>
                <c:formatCode>General</c:formatCode>
                <c:ptCount val="7"/>
                <c:pt idx="0">
                  <c:v>85.6</c:v>
                </c:pt>
                <c:pt idx="1">
                  <c:v>50.5</c:v>
                </c:pt>
                <c:pt idx="2">
                  <c:v>45.6</c:v>
                </c:pt>
                <c:pt idx="3">
                  <c:v>55.3</c:v>
                </c:pt>
                <c:pt idx="4">
                  <c:v>44.3</c:v>
                </c:pt>
                <c:pt idx="5">
                  <c:v>42.7</c:v>
                </c:pt>
                <c:pt idx="6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BF-47B0-8C7D-AE2CF9BA85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030001"/>
        <c:axId val="50030002"/>
      </c:barChart>
      <c:catAx>
        <c:axId val="500300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30002"/>
        <c:crosses val="autoZero"/>
        <c:auto val="1"/>
        <c:lblAlgn val="ctr"/>
        <c:lblOffset val="100"/>
        <c:noMultiLvlLbl val="0"/>
      </c:catAx>
      <c:valAx>
        <c:axId val="5003000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/>
                  <a:t>Coverage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3000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Code Duplication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7821730782460768E-2"/>
          <c:y val="8.8760590052825675E-2"/>
          <c:w val="0.95344117628664171"/>
          <c:h val="0.82270557161367486"/>
        </c:manualLayout>
      </c:layout>
      <c:barChart>
        <c:barDir val="col"/>
        <c:grouping val="clustered"/>
        <c:varyColors val="0"/>
        <c:ser>
          <c:idx val="0"/>
          <c:order val="0"/>
          <c:tx>
            <c:v>Duplications %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'Editable Charts'!$A$2:$A$8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Insurance V3</c:v>
                </c:pt>
                <c:pt idx="5">
                  <c:v>Recovery Portal V3</c:v>
                </c:pt>
                <c:pt idx="6">
                  <c:v>Workshop Portal V3</c:v>
                </c:pt>
              </c:strCache>
            </c:strRef>
          </c:cat>
          <c:val>
            <c:numRef>
              <c:f>'Editable Charts'!$F$2:$F$8</c:f>
              <c:numCache>
                <c:formatCode>General</c:formatCode>
                <c:ptCount val="7"/>
                <c:pt idx="0">
                  <c:v>0</c:v>
                </c:pt>
                <c:pt idx="1">
                  <c:v>16.2</c:v>
                </c:pt>
                <c:pt idx="2">
                  <c:v>7.5</c:v>
                </c:pt>
                <c:pt idx="3">
                  <c:v>1.5</c:v>
                </c:pt>
                <c:pt idx="4">
                  <c:v>6.9</c:v>
                </c:pt>
                <c:pt idx="5">
                  <c:v>11.4</c:v>
                </c:pt>
                <c:pt idx="6">
                  <c:v>11.9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E8-4FD3-888A-BAEE60C7C5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040001"/>
        <c:axId val="50040002"/>
      </c:barChart>
      <c:catAx>
        <c:axId val="500400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40002"/>
        <c:crosses val="autoZero"/>
        <c:auto val="1"/>
        <c:lblAlgn val="ctr"/>
        <c:lblOffset val="100"/>
        <c:noMultiLvlLbl val="0"/>
      </c:catAx>
      <c:valAx>
        <c:axId val="5004000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Duplications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4000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Reliability Issues (Bugs)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8713462646437491E-2"/>
          <c:y val="9.1066059924327647E-2"/>
          <c:w val="0.95234344792266823"/>
          <c:h val="0.80511350853870534"/>
        </c:manualLayout>
      </c:layout>
      <c:barChart>
        <c:barDir val="col"/>
        <c:grouping val="clustered"/>
        <c:varyColors val="0"/>
        <c:ser>
          <c:idx val="0"/>
          <c:order val="0"/>
          <c:tx>
            <c:v>Bugs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'Editable Charts'!$A$2:$A$8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Insurance V3</c:v>
                </c:pt>
                <c:pt idx="5">
                  <c:v>Recovery Portal V3</c:v>
                </c:pt>
                <c:pt idx="6">
                  <c:v>Workshop Portal V3</c:v>
                </c:pt>
              </c:strCache>
            </c:strRef>
          </c:cat>
          <c:val>
            <c:numRef>
              <c:f>'Editable Charts'!$B$2:$B$8</c:f>
              <c:numCache>
                <c:formatCode>General</c:formatCode>
                <c:ptCount val="7"/>
                <c:pt idx="0">
                  <c:v>17</c:v>
                </c:pt>
                <c:pt idx="1">
                  <c:v>7</c:v>
                </c:pt>
                <c:pt idx="2">
                  <c:v>0</c:v>
                </c:pt>
                <c:pt idx="3">
                  <c:v>2</c:v>
                </c:pt>
                <c:pt idx="4">
                  <c:v>13</c:v>
                </c:pt>
                <c:pt idx="5">
                  <c:v>0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DA-4E38-A690-C178F217AD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010001"/>
        <c:axId val="50010002"/>
      </c:barChart>
      <c:catAx>
        <c:axId val="500100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10002"/>
        <c:crosses val="autoZero"/>
        <c:auto val="1"/>
        <c:lblAlgn val="ctr"/>
        <c:lblOffset val="100"/>
        <c:noMultiLvlLbl val="0"/>
      </c:catAx>
      <c:valAx>
        <c:axId val="5001000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Bugs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1000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Maintainability Issues (Code Smells)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2459458051808466E-2"/>
          <c:y val="9.1066059924327647E-2"/>
          <c:w val="0.94872113926228252"/>
          <c:h val="0.79212649555169246"/>
        </c:manualLayout>
      </c:layout>
      <c:barChart>
        <c:barDir val="col"/>
        <c:grouping val="clustered"/>
        <c:varyColors val="0"/>
        <c:ser>
          <c:idx val="0"/>
          <c:order val="0"/>
          <c:tx>
            <c:v>Code Smells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'Editable Charts'!$A$2:$A$8</c:f>
              <c:strCache>
                <c:ptCount val="7"/>
                <c:pt idx="0">
                  <c:v>Life OTP</c:v>
                </c:pt>
                <c:pt idx="1">
                  <c:v>Sales Motor V3</c:v>
                </c:pt>
                <c:pt idx="2">
                  <c:v>BFF Web</c:v>
                </c:pt>
                <c:pt idx="3">
                  <c:v>Visit Visa V3</c:v>
                </c:pt>
                <c:pt idx="4">
                  <c:v>Travel Insurance V3</c:v>
                </c:pt>
                <c:pt idx="5">
                  <c:v>Recovery Portal V3</c:v>
                </c:pt>
                <c:pt idx="6">
                  <c:v>Workshop Portal V3</c:v>
                </c:pt>
              </c:strCache>
            </c:strRef>
          </c:cat>
          <c:val>
            <c:numRef>
              <c:f>'Editable Charts'!$D$2:$D$8</c:f>
              <c:numCache>
                <c:formatCode>General</c:formatCode>
                <c:ptCount val="7"/>
                <c:pt idx="0">
                  <c:v>37</c:v>
                </c:pt>
                <c:pt idx="1">
                  <c:v>100</c:v>
                </c:pt>
                <c:pt idx="2">
                  <c:v>20</c:v>
                </c:pt>
                <c:pt idx="3">
                  <c:v>91</c:v>
                </c:pt>
                <c:pt idx="4">
                  <c:v>131</c:v>
                </c:pt>
                <c:pt idx="5">
                  <c:v>28</c:v>
                </c:pt>
                <c:pt idx="6">
                  <c:v>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A6-4171-908E-12046BCF97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020001"/>
        <c:axId val="50020002"/>
      </c:barChart>
      <c:catAx>
        <c:axId val="500200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20002"/>
        <c:crosses val="autoZero"/>
        <c:auto val="1"/>
        <c:lblAlgn val="ctr"/>
        <c:lblOffset val="100"/>
        <c:noMultiLvlLbl val="0"/>
      </c:catAx>
      <c:valAx>
        <c:axId val="5002000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Code Smells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02000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Compliance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3CEE2E"/>
              </a:solidFill>
            </c:spPr>
            <c:extLst>
              <c:ext xmlns:c16="http://schemas.microsoft.com/office/drawing/2014/chart" uri="{C3380CC4-5D6E-409C-BE32-E72D297353CC}">
                <c16:uniqueId val="{00000001-00CE-466E-9C18-7C0C6EA051FA}"/>
              </c:ext>
            </c:extLst>
          </c:dPt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CE-466E-9C18-7C0C6EA051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CB5D5-E095-42EC-B8C1-D73AD4D7C4A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21DA3-7E7F-4364-BD8C-E18967705E5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7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E2C79">
                <a:alpha val="100000"/>
              </a:srgbClr>
            </a:gs>
            <a:gs pos="50000">
              <a:srgbClr val="9A84DC">
                <a:alpha val="100000"/>
              </a:srgbClr>
            </a:gs>
            <a:gs pos="100000">
              <a:srgbClr val="8F73F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930" y="195887"/>
            <a:ext cx="3503507" cy="1052269"/>
          </a:xfrm>
          <a:custGeom>
            <a:avLst/>
            <a:gdLst/>
            <a:ahLst/>
            <a:cxnLst/>
            <a:rect l="l" t="t" r="r" b="b"/>
            <a:pathLst>
              <a:path w="3503507" h="1052269">
                <a:moveTo>
                  <a:pt x="0" y="0"/>
                </a:moveTo>
                <a:lnTo>
                  <a:pt x="3503507" y="0"/>
                </a:lnTo>
                <a:lnTo>
                  <a:pt x="3503507" y="1052269"/>
                </a:lnTo>
                <a:lnTo>
                  <a:pt x="0" y="10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3289685"/>
            <a:ext cx="964662" cy="964662"/>
          </a:xfrm>
          <a:custGeom>
            <a:avLst/>
            <a:gdLst/>
            <a:ahLst/>
            <a:cxnLst/>
            <a:rect l="l" t="t" r="r" b="b"/>
            <a:pathLst>
              <a:path w="964662" h="964662">
                <a:moveTo>
                  <a:pt x="0" y="0"/>
                </a:moveTo>
                <a:lnTo>
                  <a:pt x="964662" y="0"/>
                </a:lnTo>
                <a:lnTo>
                  <a:pt x="964662" y="964662"/>
                </a:lnTo>
                <a:lnTo>
                  <a:pt x="0" y="964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>
              <a:latin typeface="+mj-lt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2587519" y="0"/>
            <a:ext cx="5690956" cy="10287000"/>
            <a:chOff x="0" y="0"/>
            <a:chExt cx="7631832" cy="13795338"/>
          </a:xfrm>
        </p:grpSpPr>
        <p:sp>
          <p:nvSpPr>
            <p:cNvPr id="5" name="Freeform 5" descr="Image"/>
            <p:cNvSpPr/>
            <p:nvPr/>
          </p:nvSpPr>
          <p:spPr>
            <a:xfrm>
              <a:off x="0" y="0"/>
              <a:ext cx="7631811" cy="13795375"/>
            </a:xfrm>
            <a:custGeom>
              <a:avLst/>
              <a:gdLst/>
              <a:ahLst/>
              <a:cxnLst/>
              <a:rect l="l" t="t" r="r" b="b"/>
              <a:pathLst>
                <a:path w="7631811" h="13795375">
                  <a:moveTo>
                    <a:pt x="0" y="0"/>
                  </a:moveTo>
                  <a:lnTo>
                    <a:pt x="7631811" y="0"/>
                  </a:lnTo>
                  <a:lnTo>
                    <a:pt x="7631811" y="13795375"/>
                  </a:lnTo>
                  <a:lnTo>
                    <a:pt x="0" y="13795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b="-74"/>
              </a:stretch>
            </a:blipFill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65734" y="4448175"/>
            <a:ext cx="6506666" cy="1590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5200" b="1" dirty="0">
                <a:solidFill>
                  <a:srgbClr val="FFFFFF"/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SonarQube Implementation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69462" y="6833443"/>
            <a:ext cx="1447800" cy="288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sz="1890" b="1" dirty="0">
                <a:solidFill>
                  <a:srgbClr val="FFFFFF">
                    <a:alpha val="68627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10/06/2026</a:t>
            </a:r>
          </a:p>
        </p:txBody>
      </p:sp>
      <p:sp>
        <p:nvSpPr>
          <p:cNvPr id="8" name="GTBClassificationH1190887526"/>
          <p:cNvSpPr txBox="1"/>
          <p:nvPr/>
        </p:nvSpPr>
        <p:spPr>
          <a:xfrm>
            <a:off x="0" y="0"/>
            <a:ext cx="18288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dirty="0">
                <a:solidFill>
                  <a:srgbClr val="000000">
                    <a:alpha val="70000"/>
                  </a:srgbClr>
                </a:solidFill>
                <a:latin typeface="+mj-lt"/>
              </a:rPr>
              <a:t>Classification:</a:t>
            </a:r>
            <a:r>
              <a:rPr lang="en-US" sz="1400" dirty="0">
                <a:solidFill>
                  <a:srgbClr val="000000">
                    <a:alpha val="70000"/>
                  </a:srgbClr>
                </a:solidFill>
                <a:latin typeface="+mj-lt"/>
              </a:rPr>
              <a:t> </a:t>
            </a:r>
            <a:r>
              <a:rPr lang="en-US" sz="1400" b="1" dirty="0">
                <a:solidFill>
                  <a:srgbClr val="6A1B9A">
                    <a:alpha val="70000"/>
                  </a:srgbClr>
                </a:solidFill>
                <a:latin typeface="+mj-lt"/>
              </a:rPr>
              <a:t>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475777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150" b="1" dirty="0">
                <a:solidFill>
                  <a:srgbClr val="252545"/>
                </a:solidFill>
                <a:latin typeface="Aptos Display" pitchFamily="34" charset="0"/>
              </a:rPr>
              <a:t>SonarQube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731033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400" b="1" dirty="0">
                <a:solidFill>
                  <a:srgbClr val="A1A5C8"/>
                </a:solidFill>
                <a:latin typeface="Aptos Display" pitchFamily="34" charset="0"/>
              </a:rPr>
              <a:t>Previous State (Before CI/CD Governance &amp; SonarQube</a:t>
            </a:r>
            <a:r>
              <a:rPr lang="en-US" sz="2400" b="1" dirty="0"/>
              <a:t>)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714CB7-A3FE-771C-CB07-0B356D836BF6}"/>
              </a:ext>
            </a:extLst>
          </p:cNvPr>
          <p:cNvSpPr txBox="1"/>
          <p:nvPr/>
        </p:nvSpPr>
        <p:spPr>
          <a:xfrm>
            <a:off x="609600" y="1866900"/>
            <a:ext cx="14698980" cy="670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Challenges: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No standardized CI/CD governance framework across applications.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Code quality validation was largely manual and inconsistent.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Limited visibility of security, reliability, and maintainability metrics.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No automated enforcement of quality controls before deployment.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Pull Request approvals were performed without quality gate validation.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Inconsistent naming conventions and release traceability.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Business Impact: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Higher deployment risk.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Limited governance and compliance visibility.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Reactive defect detection.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Inconsistent quality standards across teams.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Reduced traceability between requirements, releases, and deployments.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811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475777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150" b="1" dirty="0">
                <a:solidFill>
                  <a:srgbClr val="252545"/>
                </a:solidFill>
                <a:latin typeface="Aptos Display" pitchFamily="34" charset="0"/>
              </a:rPr>
              <a:t>SonarQube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239443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A1A5C8"/>
                </a:solidFill>
                <a:latin typeface="Aptos Display" pitchFamily="34" charset="0"/>
              </a:rPr>
              <a:t>Project Objectives</a:t>
            </a:r>
            <a:endParaRPr sz="2400" b="1" dirty="0">
              <a:solidFill>
                <a:srgbClr val="A1A5C8"/>
              </a:solidFill>
              <a:latin typeface="Aptos Display" pitchFamily="34" charset="0"/>
            </a:endParaRP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714CB7-A3FE-771C-CB07-0B356D836BF6}"/>
              </a:ext>
            </a:extLst>
          </p:cNvPr>
          <p:cNvSpPr txBox="1"/>
          <p:nvPr/>
        </p:nvSpPr>
        <p:spPr>
          <a:xfrm>
            <a:off x="617220" y="1866900"/>
            <a:ext cx="14698980" cy="3653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Standardize CI/CD governance, security controls, and quality enforcement across different applications.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Key Objectives: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Implement SonarQube Quality Gates.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Standardize CI/CD governance and quality controls.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Enforce code quality through SonarQube Quality Gates.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Integrate automated security and secret scanning.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Establish consistent naming and release management standards.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Improve traceability, compliance, and overall software quality.</a:t>
            </a:r>
          </a:p>
        </p:txBody>
      </p:sp>
    </p:spTree>
    <p:extLst>
      <p:ext uri="{BB962C8B-B14F-4D97-AF65-F5344CB8AC3E}">
        <p14:creationId xmlns:p14="http://schemas.microsoft.com/office/powerpoint/2010/main" val="1129679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475777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150" b="1" dirty="0">
                <a:solidFill>
                  <a:srgbClr val="252545"/>
                </a:solidFill>
                <a:latin typeface="Aptos Display" pitchFamily="34" charset="0"/>
              </a:rPr>
              <a:t>SonarQube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431310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A1A5C8"/>
                </a:solidFill>
                <a:latin typeface="Aptos Display" pitchFamily="34" charset="0"/>
              </a:rPr>
              <a:t>Target CI/CD Quality Governance</a:t>
            </a:r>
            <a:endParaRPr sz="2400" b="1" dirty="0">
              <a:solidFill>
                <a:srgbClr val="A1A5C8"/>
              </a:solidFill>
              <a:latin typeface="Aptos Display" pitchFamily="34" charset="0"/>
            </a:endParaRP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2B532F-D6E0-E697-3BDA-761621226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553319"/>
            <a:ext cx="15997238" cy="757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036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475777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150" b="1" dirty="0">
                <a:solidFill>
                  <a:srgbClr val="252545"/>
                </a:solidFill>
                <a:latin typeface="Aptos Display" pitchFamily="34" charset="0"/>
              </a:rPr>
              <a:t>SonarQube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4009752" cy="4037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b="1" kern="0" cap="all" spc="7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A1A5C8"/>
                </a:solidFill>
                <a:latin typeface="Aptos Display" pitchFamily="34" charset="0"/>
              </a:rPr>
              <a:t>Naming Convention Standard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2A4BA7-D7A6-4272-1B7E-E3A183B96C49}"/>
              </a:ext>
            </a:extLst>
          </p:cNvPr>
          <p:cNvSpPr txBox="1"/>
          <p:nvPr/>
        </p:nvSpPr>
        <p:spPr>
          <a:xfrm>
            <a:off x="795250" y="1790700"/>
            <a:ext cx="16273550" cy="8263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Current State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Release Name is currently aligned only with the EPIC Name.</a:t>
            </a:r>
          </a:p>
          <a:p>
            <a:pPr>
              <a:lnSpc>
                <a:spcPct val="150000"/>
              </a:lnSpc>
            </a:pPr>
            <a:r>
              <a:rPr lang="en-US" dirty="0"/>
              <a:t>  	Example: EPIC8033</a:t>
            </a:r>
          </a:p>
          <a:p>
            <a:endParaRPr lang="en-US" dirty="0"/>
          </a:p>
          <a:p>
            <a:r>
              <a:rPr lang="en-US" b="1" dirty="0"/>
              <a:t>Proposed Jenkins Release Naming Standard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Format:</a:t>
            </a:r>
          </a:p>
          <a:p>
            <a:pPr>
              <a:lnSpc>
                <a:spcPct val="150000"/>
              </a:lnSpc>
            </a:pPr>
            <a:r>
              <a:rPr lang="en-US" dirty="0"/>
              <a:t>  	</a:t>
            </a:r>
            <a:r>
              <a:rPr lang="en-US" dirty="0">
                <a:highlight>
                  <a:srgbClr val="D6D1ED"/>
                </a:highlight>
              </a:rPr>
              <a:t>&lt;EPIC NAME&gt; ⇔ R&lt;ReleaseNumber&gt;-&lt;LOB&gt;-v&lt;Major.Minor.Patch&gt;-&lt;Environment&gt;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>
              <a:lnSpc>
                <a:spcPct val="150000"/>
              </a:lnSpc>
            </a:pPr>
            <a:r>
              <a:rPr lang="en-US" dirty="0"/>
              <a:t>  	EPIC8033 ⇔ R25-DXP-v1.0.0-DEV</a:t>
            </a:r>
          </a:p>
          <a:p>
            <a:endParaRPr lang="en-US" dirty="0"/>
          </a:p>
          <a:p>
            <a:r>
              <a:rPr lang="en-US" b="1" dirty="0"/>
              <a:t>SonarQube Project Naming Standard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Format:</a:t>
            </a:r>
          </a:p>
          <a:p>
            <a:pPr>
              <a:lnSpc>
                <a:spcPct val="150000"/>
              </a:lnSpc>
            </a:pPr>
            <a:r>
              <a:rPr lang="en-US" dirty="0"/>
              <a:t> 	 </a:t>
            </a:r>
            <a:r>
              <a:rPr lang="en-US" dirty="0">
                <a:highlight>
                  <a:srgbClr val="D6D1ED"/>
                </a:highlight>
              </a:rPr>
              <a:t>&lt;LOB&gt;-&lt;Jenkins Job Name&gt;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>
              <a:lnSpc>
                <a:spcPct val="150000"/>
              </a:lnSpc>
            </a:pPr>
            <a:r>
              <a:rPr lang="en-US" dirty="0"/>
              <a:t>  	DXP-BFF-AAMAL-ESERVICES</a:t>
            </a:r>
          </a:p>
          <a:p>
            <a:endParaRPr lang="en-US" dirty="0"/>
          </a:p>
          <a:p>
            <a:r>
              <a:rPr lang="en-US" b="1" dirty="0"/>
              <a:t>Benefits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Consistent naming across Jenkins and SonarQube.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Improved traceability between EPICs, releases, and applications.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Simplified reporting and governance.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Standardized portfolio management.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147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475777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150" b="1" dirty="0">
                <a:solidFill>
                  <a:srgbClr val="252545"/>
                </a:solidFill>
                <a:latin typeface="Aptos Display" pitchFamily="34" charset="0"/>
              </a:rPr>
              <a:t>SonarQube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870192" cy="4037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A1A5C8"/>
                </a:solidFill>
                <a:latin typeface="Aptos Display" pitchFamily="34" charset="0"/>
              </a:rPr>
              <a:t>PR Decoration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2A4BA7-D7A6-4272-1B7E-E3A183B96C49}"/>
              </a:ext>
            </a:extLst>
          </p:cNvPr>
          <p:cNvSpPr txBox="1"/>
          <p:nvPr/>
        </p:nvSpPr>
        <p:spPr>
          <a:xfrm>
            <a:off x="685800" y="1790700"/>
            <a:ext cx="16273550" cy="604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Previous State (Before PR Decoration)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Pull Requests could be reviewed and approved without visibility of code quality results.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Current Usage: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Enabled for Pull Requests targeting DEV branch.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Displays SonarQube results directly in Bitbucket PRs.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Benefits: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Immediate feedback to developers.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Prevents merging low-quality code.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Faster code review process.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Enforces Quality Gates before approval.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Improves code review efficiency and governance.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Stronger alignment with ITQMS quality controls.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853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475777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150" b="1" dirty="0">
                <a:solidFill>
                  <a:srgbClr val="252545"/>
                </a:solidFill>
                <a:latin typeface="Aptos Display" pitchFamily="34" charset="0"/>
              </a:rPr>
              <a:t>SonarQube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85230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A1A5C8"/>
                </a:solidFill>
                <a:latin typeface="Aptos Display" pitchFamily="34" charset="0"/>
              </a:rPr>
              <a:t>Overall Status</a:t>
            </a:r>
            <a:endParaRPr sz="2400" b="1" dirty="0">
              <a:solidFill>
                <a:srgbClr val="A1A5C8"/>
              </a:solidFill>
              <a:latin typeface="Aptos Display" pitchFamily="34" charset="0"/>
            </a:endParaRP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6D0796D-0A54-1322-2F1D-68C2344AA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073074"/>
              </p:ext>
            </p:extLst>
          </p:nvPr>
        </p:nvGraphicFramePr>
        <p:xfrm>
          <a:off x="1426027" y="3238500"/>
          <a:ext cx="15435945" cy="480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5631">
                  <a:extLst>
                    <a:ext uri="{9D8B030D-6E8A-4147-A177-3AD203B41FA5}">
                      <a16:colId xmlns:a16="http://schemas.microsoft.com/office/drawing/2014/main" val="861506230"/>
                    </a:ext>
                  </a:extLst>
                </a:gridCol>
                <a:gridCol w="2154339">
                  <a:extLst>
                    <a:ext uri="{9D8B030D-6E8A-4147-A177-3AD203B41FA5}">
                      <a16:colId xmlns:a16="http://schemas.microsoft.com/office/drawing/2014/main" val="1262901282"/>
                    </a:ext>
                  </a:extLst>
                </a:gridCol>
                <a:gridCol w="2154339">
                  <a:extLst>
                    <a:ext uri="{9D8B030D-6E8A-4147-A177-3AD203B41FA5}">
                      <a16:colId xmlns:a16="http://schemas.microsoft.com/office/drawing/2014/main" val="1133574504"/>
                    </a:ext>
                  </a:extLst>
                </a:gridCol>
                <a:gridCol w="2154339">
                  <a:extLst>
                    <a:ext uri="{9D8B030D-6E8A-4147-A177-3AD203B41FA5}">
                      <a16:colId xmlns:a16="http://schemas.microsoft.com/office/drawing/2014/main" val="1693496150"/>
                    </a:ext>
                  </a:extLst>
                </a:gridCol>
                <a:gridCol w="2154339">
                  <a:extLst>
                    <a:ext uri="{9D8B030D-6E8A-4147-A177-3AD203B41FA5}">
                      <a16:colId xmlns:a16="http://schemas.microsoft.com/office/drawing/2014/main" val="1044928999"/>
                    </a:ext>
                  </a:extLst>
                </a:gridCol>
                <a:gridCol w="2154339">
                  <a:extLst>
                    <a:ext uri="{9D8B030D-6E8A-4147-A177-3AD203B41FA5}">
                      <a16:colId xmlns:a16="http://schemas.microsoft.com/office/drawing/2014/main" val="767362"/>
                    </a:ext>
                  </a:extLst>
                </a:gridCol>
                <a:gridCol w="1338619">
                  <a:extLst>
                    <a:ext uri="{9D8B030D-6E8A-4147-A177-3AD203B41FA5}">
                      <a16:colId xmlns:a16="http://schemas.microsoft.com/office/drawing/2014/main" val="631875463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Project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Bugs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Vulnerabilities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Code Smells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Coverage %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Duplications %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Security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24287687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Life OTP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37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85.6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7205304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Sales Motor V3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50.5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16.2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5256035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BFF Web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20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45.6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7.5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3951346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Visit Visa V3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91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55.3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1.5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063377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Travel Insurance V3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131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44.3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6.9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49342966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Recovery Portal V3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28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42.7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11.4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84319618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Workshop Portal V3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179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43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11.9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697226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953FF7E-8F09-DCE3-1427-EA8756CF7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025" y="1763304"/>
            <a:ext cx="15435945" cy="56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94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475777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150" b="1" dirty="0">
                <a:solidFill>
                  <a:srgbClr val="252545"/>
                </a:solidFill>
                <a:latin typeface="Aptos Display" pitchFamily="34" charset="0"/>
              </a:rPr>
              <a:t>SonarQube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213244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A1A5C8"/>
                </a:solidFill>
                <a:latin typeface="Aptos Display" pitchFamily="34" charset="0"/>
              </a:rPr>
              <a:t>Coverage Status</a:t>
            </a:r>
            <a:endParaRPr sz="2400" b="1" dirty="0">
              <a:solidFill>
                <a:srgbClr val="A1A5C8"/>
              </a:solidFill>
              <a:latin typeface="Aptos Display" pitchFamily="34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50900" y="3117850"/>
            <a:ext cx="16623411" cy="674143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1152525" y="3390900"/>
            <a:ext cx="3461385" cy="2273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i="0" dirty="0">
                <a:solidFill>
                  <a:srgbClr val="172B4D"/>
                </a:solidFill>
                <a:effectLst/>
                <a:latin typeface="-apple-system"/>
              </a:rPr>
              <a:t>Coverage by project</a:t>
            </a:r>
            <a:endParaRPr sz="2000" b="1" dirty="0">
              <a:solidFill>
                <a:srgbClr val="2D2B46"/>
              </a:solidFill>
              <a:latin typeface="Apto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618BF4-2208-F633-1450-A4C9A7845C79}"/>
              </a:ext>
            </a:extLst>
          </p:cNvPr>
          <p:cNvGrpSpPr/>
          <p:nvPr/>
        </p:nvGrpSpPr>
        <p:grpSpPr>
          <a:xfrm>
            <a:off x="8059247" y="1611829"/>
            <a:ext cx="2306666" cy="1216025"/>
            <a:chOff x="990600" y="1729105"/>
            <a:chExt cx="1853565" cy="1216025"/>
          </a:xfrm>
        </p:grpSpPr>
        <p:sp>
          <p:nvSpPr>
            <p:cNvPr id="205" name="Rounded Rectangle 204"/>
            <p:cNvSpPr/>
            <p:nvPr/>
          </p:nvSpPr>
          <p:spPr>
            <a:xfrm>
              <a:off x="990600" y="1729105"/>
              <a:ext cx="1853565" cy="1216025"/>
            </a:xfrm>
            <a:prstGeom prst="roundRect">
              <a:avLst/>
            </a:prstGeom>
            <a:solidFill>
              <a:srgbClr val="F7F7FC"/>
            </a:solidFill>
            <a:ln w="7620">
              <a:solidFill>
                <a:srgbClr val="E5E5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/>
            </a:p>
          </p:txBody>
        </p:sp>
        <p:sp>
          <p:nvSpPr>
            <p:cNvPr id="206" name="TextBox 9"/>
            <p:cNvSpPr txBox="1"/>
            <p:nvPr/>
          </p:nvSpPr>
          <p:spPr>
            <a:xfrm>
              <a:off x="1210310" y="1948180"/>
              <a:ext cx="154686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707491"/>
                  </a:solidFill>
                  <a:latin typeface="Aptos"/>
                </a:rPr>
                <a:t>Condition</a:t>
              </a:r>
              <a:endParaRPr sz="1400" b="1" dirty="0">
                <a:solidFill>
                  <a:srgbClr val="707491"/>
                </a:solidFill>
                <a:latin typeface="Aptos"/>
              </a:endParaRPr>
            </a:p>
          </p:txBody>
        </p:sp>
        <p:sp>
          <p:nvSpPr>
            <p:cNvPr id="207" name="TextBox 10"/>
            <p:cNvSpPr txBox="1"/>
            <p:nvPr/>
          </p:nvSpPr>
          <p:spPr>
            <a:xfrm>
              <a:off x="1210183" y="2166366"/>
              <a:ext cx="1396275" cy="5539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ptos"/>
                </a:rPr>
                <a:t>&gt;= 40%</a:t>
              </a:r>
            </a:p>
          </p:txBody>
        </p:sp>
      </p:grp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0000000-0008-0000-03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936170"/>
              </p:ext>
            </p:extLst>
          </p:nvPr>
        </p:nvGraphicFramePr>
        <p:xfrm>
          <a:off x="1066800" y="3492742"/>
          <a:ext cx="15316200" cy="6070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82911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475777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150" b="1" dirty="0">
                <a:solidFill>
                  <a:srgbClr val="252545"/>
                </a:solidFill>
                <a:latin typeface="Aptos Display" pitchFamily="34" charset="0"/>
              </a:rPr>
              <a:t>SonarQube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317349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A1A5C8"/>
                </a:solidFill>
                <a:latin typeface="Aptos Display" pitchFamily="34" charset="0"/>
              </a:rPr>
              <a:t>Code Duplication Status</a:t>
            </a:r>
            <a:endParaRPr sz="2400" b="1" dirty="0">
              <a:solidFill>
                <a:srgbClr val="A1A5C8"/>
              </a:solidFill>
              <a:latin typeface="Aptos Display" pitchFamily="34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50900" y="3117850"/>
            <a:ext cx="16623411" cy="674143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1152525" y="3390900"/>
            <a:ext cx="3461385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i="0" dirty="0">
                <a:solidFill>
                  <a:srgbClr val="172B4D"/>
                </a:solidFill>
                <a:effectLst/>
                <a:latin typeface="-apple-system"/>
              </a:rPr>
              <a:t>Code Duplication by project</a:t>
            </a:r>
            <a:endParaRPr sz="2000" b="1" dirty="0">
              <a:solidFill>
                <a:srgbClr val="2D2B46"/>
              </a:solidFill>
              <a:latin typeface="Apto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618BF4-2208-F633-1450-A4C9A7845C79}"/>
              </a:ext>
            </a:extLst>
          </p:cNvPr>
          <p:cNvGrpSpPr/>
          <p:nvPr/>
        </p:nvGrpSpPr>
        <p:grpSpPr>
          <a:xfrm>
            <a:off x="8059247" y="1611829"/>
            <a:ext cx="2306666" cy="1216025"/>
            <a:chOff x="990600" y="1729105"/>
            <a:chExt cx="1853565" cy="1216025"/>
          </a:xfrm>
        </p:grpSpPr>
        <p:sp>
          <p:nvSpPr>
            <p:cNvPr id="205" name="Rounded Rectangle 204"/>
            <p:cNvSpPr/>
            <p:nvPr/>
          </p:nvSpPr>
          <p:spPr>
            <a:xfrm>
              <a:off x="990600" y="1729105"/>
              <a:ext cx="1853565" cy="1216025"/>
            </a:xfrm>
            <a:prstGeom prst="roundRect">
              <a:avLst/>
            </a:prstGeom>
            <a:solidFill>
              <a:srgbClr val="F7F7FC"/>
            </a:solidFill>
            <a:ln w="7620">
              <a:solidFill>
                <a:srgbClr val="E5E5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/>
            </a:p>
          </p:txBody>
        </p:sp>
        <p:sp>
          <p:nvSpPr>
            <p:cNvPr id="206" name="TextBox 9"/>
            <p:cNvSpPr txBox="1"/>
            <p:nvPr/>
          </p:nvSpPr>
          <p:spPr>
            <a:xfrm>
              <a:off x="1210310" y="1948180"/>
              <a:ext cx="154686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707491"/>
                  </a:solidFill>
                  <a:latin typeface="Aptos"/>
                </a:rPr>
                <a:t>Condition</a:t>
              </a:r>
              <a:endParaRPr sz="1400" b="1" dirty="0">
                <a:solidFill>
                  <a:srgbClr val="707491"/>
                </a:solidFill>
                <a:latin typeface="Aptos"/>
              </a:endParaRPr>
            </a:p>
          </p:txBody>
        </p:sp>
        <p:sp>
          <p:nvSpPr>
            <p:cNvPr id="207" name="TextBox 10"/>
            <p:cNvSpPr txBox="1"/>
            <p:nvPr/>
          </p:nvSpPr>
          <p:spPr>
            <a:xfrm>
              <a:off x="1210183" y="2166366"/>
              <a:ext cx="1396275" cy="5539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ptos"/>
                </a:rPr>
                <a:t>&lt;= 20%</a:t>
              </a:r>
            </a:p>
          </p:txBody>
        </p:sp>
      </p:grp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0000000-0008-0000-0300-00000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6859106"/>
              </p:ext>
            </p:extLst>
          </p:nvPr>
        </p:nvGraphicFramePr>
        <p:xfrm>
          <a:off x="850900" y="3695700"/>
          <a:ext cx="15989300" cy="601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55899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475777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150" b="1" dirty="0">
                <a:solidFill>
                  <a:srgbClr val="252545"/>
                </a:solidFill>
                <a:latin typeface="Aptos Display" pitchFamily="34" charset="0"/>
              </a:rPr>
              <a:t>SonarQube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313226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A1A5C8"/>
                </a:solidFill>
                <a:latin typeface="Aptos Display" pitchFamily="34" charset="0"/>
              </a:rPr>
              <a:t>Reliability Issues (Bugs)</a:t>
            </a:r>
            <a:endParaRPr sz="2400" b="1" dirty="0">
              <a:solidFill>
                <a:srgbClr val="A1A5C8"/>
              </a:solidFill>
              <a:latin typeface="Aptos Display" pitchFamily="34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50900" y="3117850"/>
            <a:ext cx="16623411" cy="674143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1152525" y="3390900"/>
            <a:ext cx="402907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172B4D"/>
                </a:solidFill>
                <a:latin typeface="-apple-system"/>
              </a:rPr>
              <a:t>Reliability Issues (Bugs) by Project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618BF4-2208-F633-1450-A4C9A7845C79}"/>
              </a:ext>
            </a:extLst>
          </p:cNvPr>
          <p:cNvGrpSpPr/>
          <p:nvPr/>
        </p:nvGrpSpPr>
        <p:grpSpPr>
          <a:xfrm>
            <a:off x="8059247" y="1611829"/>
            <a:ext cx="2306666" cy="1216025"/>
            <a:chOff x="990600" y="1729105"/>
            <a:chExt cx="1853565" cy="1216025"/>
          </a:xfrm>
        </p:grpSpPr>
        <p:sp>
          <p:nvSpPr>
            <p:cNvPr id="205" name="Rounded Rectangle 204"/>
            <p:cNvSpPr/>
            <p:nvPr/>
          </p:nvSpPr>
          <p:spPr>
            <a:xfrm>
              <a:off x="990600" y="1729105"/>
              <a:ext cx="1853565" cy="1216025"/>
            </a:xfrm>
            <a:prstGeom prst="roundRect">
              <a:avLst/>
            </a:prstGeom>
            <a:solidFill>
              <a:srgbClr val="F7F7FC"/>
            </a:solidFill>
            <a:ln w="7620">
              <a:solidFill>
                <a:srgbClr val="E5E5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/>
            </a:p>
          </p:txBody>
        </p:sp>
        <p:sp>
          <p:nvSpPr>
            <p:cNvPr id="206" name="TextBox 9"/>
            <p:cNvSpPr txBox="1"/>
            <p:nvPr/>
          </p:nvSpPr>
          <p:spPr>
            <a:xfrm>
              <a:off x="1210310" y="1948180"/>
              <a:ext cx="154686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707491"/>
                  </a:solidFill>
                  <a:latin typeface="Aptos"/>
                </a:rPr>
                <a:t>Condition</a:t>
              </a:r>
              <a:endParaRPr sz="1400" b="1" dirty="0">
                <a:solidFill>
                  <a:srgbClr val="707491"/>
                </a:solidFill>
                <a:latin typeface="Aptos"/>
              </a:endParaRPr>
            </a:p>
          </p:txBody>
        </p:sp>
        <p:sp>
          <p:nvSpPr>
            <p:cNvPr id="207" name="TextBox 10"/>
            <p:cNvSpPr txBox="1"/>
            <p:nvPr/>
          </p:nvSpPr>
          <p:spPr>
            <a:xfrm>
              <a:off x="1210183" y="2166366"/>
              <a:ext cx="1396275" cy="5539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ptos"/>
                </a:rPr>
                <a:t>&lt;= 300</a:t>
              </a:r>
            </a:p>
          </p:txBody>
        </p:sp>
      </p:grp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6504642"/>
              </p:ext>
            </p:extLst>
          </p:nvPr>
        </p:nvGraphicFramePr>
        <p:xfrm>
          <a:off x="1295400" y="3771900"/>
          <a:ext cx="15621000" cy="586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35674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475777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150" b="1" dirty="0">
                <a:solidFill>
                  <a:srgbClr val="252545"/>
                </a:solidFill>
                <a:latin typeface="Aptos Display" pitchFamily="34" charset="0"/>
              </a:rPr>
              <a:t>SonarQube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614982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A1A5C8"/>
                </a:solidFill>
                <a:latin typeface="Aptos Display" pitchFamily="34" charset="0"/>
              </a:rPr>
              <a:t>Maintainability Issues (Code Smells) by Project</a:t>
            </a:r>
            <a:endParaRPr sz="2400" b="1" dirty="0">
              <a:solidFill>
                <a:srgbClr val="A1A5C8"/>
              </a:solidFill>
              <a:latin typeface="Aptos Display" pitchFamily="34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50900" y="3117850"/>
            <a:ext cx="16623411" cy="674143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1152525" y="3390900"/>
            <a:ext cx="5639623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172B4D"/>
                </a:solidFill>
                <a:latin typeface="-apple-system"/>
              </a:rPr>
              <a:t>Maintainability Issues (Code Smells) by Project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618BF4-2208-F633-1450-A4C9A7845C79}"/>
              </a:ext>
            </a:extLst>
          </p:cNvPr>
          <p:cNvGrpSpPr/>
          <p:nvPr/>
        </p:nvGrpSpPr>
        <p:grpSpPr>
          <a:xfrm>
            <a:off x="8059247" y="1611829"/>
            <a:ext cx="2306666" cy="1216025"/>
            <a:chOff x="990600" y="1729105"/>
            <a:chExt cx="1853565" cy="1216025"/>
          </a:xfrm>
        </p:grpSpPr>
        <p:sp>
          <p:nvSpPr>
            <p:cNvPr id="205" name="Rounded Rectangle 204"/>
            <p:cNvSpPr/>
            <p:nvPr/>
          </p:nvSpPr>
          <p:spPr>
            <a:xfrm>
              <a:off x="990600" y="1729105"/>
              <a:ext cx="1853565" cy="1216025"/>
            </a:xfrm>
            <a:prstGeom prst="roundRect">
              <a:avLst/>
            </a:prstGeom>
            <a:solidFill>
              <a:srgbClr val="F7F7FC"/>
            </a:solidFill>
            <a:ln w="7620">
              <a:solidFill>
                <a:srgbClr val="E5E5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/>
            </a:p>
          </p:txBody>
        </p:sp>
        <p:sp>
          <p:nvSpPr>
            <p:cNvPr id="206" name="TextBox 9"/>
            <p:cNvSpPr txBox="1"/>
            <p:nvPr/>
          </p:nvSpPr>
          <p:spPr>
            <a:xfrm>
              <a:off x="1210310" y="1948180"/>
              <a:ext cx="1546860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707491"/>
                  </a:solidFill>
                  <a:latin typeface="Aptos"/>
                </a:rPr>
                <a:t>Condition</a:t>
              </a:r>
              <a:endParaRPr sz="1400" b="1" dirty="0">
                <a:solidFill>
                  <a:srgbClr val="707491"/>
                </a:solidFill>
                <a:latin typeface="Aptos"/>
              </a:endParaRPr>
            </a:p>
          </p:txBody>
        </p:sp>
        <p:sp>
          <p:nvSpPr>
            <p:cNvPr id="207" name="TextBox 10"/>
            <p:cNvSpPr txBox="1"/>
            <p:nvPr/>
          </p:nvSpPr>
          <p:spPr>
            <a:xfrm>
              <a:off x="1210183" y="2166366"/>
              <a:ext cx="1396275" cy="5539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ptos"/>
                </a:rPr>
                <a:t>&lt;= 300</a:t>
              </a:r>
            </a:p>
          </p:txBody>
        </p:sp>
      </p:grp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0000000-0008-0000-03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587204"/>
              </p:ext>
            </p:extLst>
          </p:nvPr>
        </p:nvGraphicFramePr>
        <p:xfrm>
          <a:off x="1152524" y="3771900"/>
          <a:ext cx="15840075" cy="586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63158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475777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150" b="1" dirty="0">
                <a:solidFill>
                  <a:srgbClr val="252545"/>
                </a:solidFill>
                <a:latin typeface="Aptos Display" pitchFamily="34" charset="0"/>
              </a:rPr>
              <a:t>SonarQube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273472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A1A5C8"/>
                </a:solidFill>
                <a:latin typeface="Aptos Display" pitchFamily="34" charset="0"/>
              </a:rPr>
              <a:t>Security Compliance</a:t>
            </a:r>
            <a:endParaRPr sz="2400" b="1" dirty="0">
              <a:solidFill>
                <a:srgbClr val="A1A5C8"/>
              </a:solidFill>
              <a:latin typeface="Aptos Display" pitchFamily="34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50900" y="3117850"/>
            <a:ext cx="16623411" cy="674143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Applications Assessed: 7</a:t>
            </a:r>
          </a:p>
          <a:p>
            <a:r>
              <a:rPr lang="en-US" sz="2800" dirty="0">
                <a:solidFill>
                  <a:schemeClr val="tx1"/>
                </a:solidFill>
              </a:rPr>
              <a:t>Security Rating A: 7/7</a:t>
            </a:r>
          </a:p>
          <a:p>
            <a:r>
              <a:rPr lang="en-US" sz="2800" dirty="0">
                <a:solidFill>
                  <a:schemeClr val="tx1"/>
                </a:solidFill>
              </a:rPr>
              <a:t>Vulnerabilities: 0</a:t>
            </a:r>
          </a:p>
          <a:p>
            <a:r>
              <a:rPr lang="en-US" sz="2800" dirty="0">
                <a:solidFill>
                  <a:schemeClr val="tx1"/>
                </a:solidFill>
              </a:rPr>
              <a:t>Quality Gate Compliance: 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1555" y="3514514"/>
            <a:ext cx="3314246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000" b="1" dirty="0">
                <a:solidFill>
                  <a:srgbClr val="172B4D"/>
                </a:solidFill>
                <a:latin typeface="-apple-system"/>
              </a:rPr>
              <a:t>Security Compliance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618BF4-2208-F633-1450-A4C9A7845C79}"/>
              </a:ext>
            </a:extLst>
          </p:cNvPr>
          <p:cNvGrpSpPr/>
          <p:nvPr/>
        </p:nvGrpSpPr>
        <p:grpSpPr>
          <a:xfrm>
            <a:off x="1181555" y="1611828"/>
            <a:ext cx="2306666" cy="1216025"/>
            <a:chOff x="990600" y="1729105"/>
            <a:chExt cx="1853565" cy="1216025"/>
          </a:xfrm>
          <a:solidFill>
            <a:srgbClr val="3CEE2E"/>
          </a:solidFill>
        </p:grpSpPr>
        <p:sp>
          <p:nvSpPr>
            <p:cNvPr id="205" name="Rounded Rectangle 204"/>
            <p:cNvSpPr/>
            <p:nvPr/>
          </p:nvSpPr>
          <p:spPr>
            <a:xfrm>
              <a:off x="990600" y="1729105"/>
              <a:ext cx="1853565" cy="1216025"/>
            </a:xfrm>
            <a:prstGeom prst="roundRect">
              <a:avLst/>
            </a:prstGeom>
            <a:grpFill/>
            <a:ln w="7620">
              <a:solidFill>
                <a:srgbClr val="E5E5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/>
            </a:p>
          </p:txBody>
        </p:sp>
        <p:sp>
          <p:nvSpPr>
            <p:cNvPr id="206" name="TextBox 9"/>
            <p:cNvSpPr txBox="1"/>
            <p:nvPr/>
          </p:nvSpPr>
          <p:spPr>
            <a:xfrm>
              <a:off x="1134890" y="1876250"/>
              <a:ext cx="1546860" cy="430887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800" b="1" dirty="0">
                  <a:latin typeface="Aptos"/>
                </a:rPr>
                <a:t>A</a:t>
              </a:r>
              <a:endParaRPr sz="2800" b="1" dirty="0">
                <a:latin typeface="Aptos"/>
              </a:endParaRPr>
            </a:p>
          </p:txBody>
        </p:sp>
        <p:sp>
          <p:nvSpPr>
            <p:cNvPr id="207" name="TextBox 10"/>
            <p:cNvSpPr txBox="1"/>
            <p:nvPr/>
          </p:nvSpPr>
          <p:spPr>
            <a:xfrm>
              <a:off x="1210182" y="2278583"/>
              <a:ext cx="1396275" cy="215444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200" b="1" dirty="0">
                  <a:latin typeface="Aptos"/>
                </a:rPr>
                <a:t>Best / </a:t>
              </a:r>
              <a:r>
                <a:rPr lang="en-US" sz="1400" b="1" dirty="0">
                  <a:latin typeface="Aptos"/>
                </a:rPr>
                <a:t>very</a:t>
              </a:r>
              <a:r>
                <a:rPr lang="en-US" sz="1200" b="1" dirty="0">
                  <a:latin typeface="Aptos"/>
                </a:rPr>
                <a:t> low risk</a:t>
              </a:r>
            </a:p>
          </p:txBody>
        </p:sp>
      </p:grp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74EAAA5-50E0-F9AC-FF37-2E57FCC50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644324"/>
              </p:ext>
            </p:extLst>
          </p:nvPr>
        </p:nvGraphicFramePr>
        <p:xfrm>
          <a:off x="6324600" y="4207231"/>
          <a:ext cx="9372600" cy="5235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B4B05FA8-403D-FCFE-C1F6-AF0C309920FE}"/>
              </a:ext>
            </a:extLst>
          </p:cNvPr>
          <p:cNvGrpSpPr/>
          <p:nvPr/>
        </p:nvGrpSpPr>
        <p:grpSpPr>
          <a:xfrm>
            <a:off x="7990667" y="1613826"/>
            <a:ext cx="2306666" cy="1216025"/>
            <a:chOff x="990600" y="1729105"/>
            <a:chExt cx="1853565" cy="1216025"/>
          </a:xfrm>
          <a:solidFill>
            <a:srgbClr val="FFC000"/>
          </a:solidFill>
        </p:grpSpPr>
        <p:sp>
          <p:nvSpPr>
            <p:cNvPr id="6" name="Rounded Rectangle 204">
              <a:extLst>
                <a:ext uri="{FF2B5EF4-FFF2-40B4-BE49-F238E27FC236}">
                  <a16:creationId xmlns:a16="http://schemas.microsoft.com/office/drawing/2014/main" id="{BACDF843-5554-A99A-186C-2653D34C94D2}"/>
                </a:ext>
              </a:extLst>
            </p:cNvPr>
            <p:cNvSpPr/>
            <p:nvPr/>
          </p:nvSpPr>
          <p:spPr>
            <a:xfrm>
              <a:off x="990600" y="1729105"/>
              <a:ext cx="1853565" cy="1216025"/>
            </a:xfrm>
            <a:prstGeom prst="roundRect">
              <a:avLst/>
            </a:prstGeom>
            <a:grpFill/>
            <a:ln w="7620">
              <a:solidFill>
                <a:srgbClr val="E5E5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/>
            </a:p>
          </p:txBody>
        </p:sp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AF811A30-90CA-E95B-1C38-CE4407339367}"/>
                </a:ext>
              </a:extLst>
            </p:cNvPr>
            <p:cNvSpPr txBox="1"/>
            <p:nvPr/>
          </p:nvSpPr>
          <p:spPr>
            <a:xfrm>
              <a:off x="1134890" y="1876250"/>
              <a:ext cx="1546860" cy="430887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800" b="1" dirty="0">
                  <a:latin typeface="Aptos"/>
                </a:rPr>
                <a:t>C</a:t>
              </a:r>
              <a:endParaRPr sz="2800" b="1" dirty="0">
                <a:latin typeface="Aptos"/>
              </a:endParaRPr>
            </a:p>
          </p:txBody>
        </p:sp>
        <p:sp>
          <p:nvSpPr>
            <p:cNvPr id="9" name="TextBox 10">
              <a:extLst>
                <a:ext uri="{FF2B5EF4-FFF2-40B4-BE49-F238E27FC236}">
                  <a16:creationId xmlns:a16="http://schemas.microsoft.com/office/drawing/2014/main" id="{472BB56C-2B6A-D85E-F094-6835D46BE6BD}"/>
                </a:ext>
              </a:extLst>
            </p:cNvPr>
            <p:cNvSpPr txBox="1"/>
            <p:nvPr/>
          </p:nvSpPr>
          <p:spPr>
            <a:xfrm>
              <a:off x="1210182" y="2278583"/>
              <a:ext cx="1396275" cy="215444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400" b="1" dirty="0">
                  <a:latin typeface="Aptos"/>
                </a:rPr>
                <a:t>Medium</a:t>
              </a:r>
              <a:r>
                <a:rPr lang="en-US" sz="1200" b="1" dirty="0">
                  <a:latin typeface="Aptos"/>
                </a:rPr>
                <a:t> risk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3BE514-4AD1-4761-D949-C77B8B566477}"/>
              </a:ext>
            </a:extLst>
          </p:cNvPr>
          <p:cNvGrpSpPr/>
          <p:nvPr/>
        </p:nvGrpSpPr>
        <p:grpSpPr>
          <a:xfrm>
            <a:off x="4394039" y="1611827"/>
            <a:ext cx="2306666" cy="1216025"/>
            <a:chOff x="990600" y="1729105"/>
            <a:chExt cx="1853565" cy="1216025"/>
          </a:xfrm>
          <a:solidFill>
            <a:srgbClr val="00B050"/>
          </a:solidFill>
        </p:grpSpPr>
        <p:sp>
          <p:nvSpPr>
            <p:cNvPr id="13" name="Rounded Rectangle 204">
              <a:extLst>
                <a:ext uri="{FF2B5EF4-FFF2-40B4-BE49-F238E27FC236}">
                  <a16:creationId xmlns:a16="http://schemas.microsoft.com/office/drawing/2014/main" id="{E6B562D0-3150-7CDB-E5D0-8F1EAFDEB636}"/>
                </a:ext>
              </a:extLst>
            </p:cNvPr>
            <p:cNvSpPr/>
            <p:nvPr/>
          </p:nvSpPr>
          <p:spPr>
            <a:xfrm>
              <a:off x="990600" y="1729105"/>
              <a:ext cx="1853565" cy="1216025"/>
            </a:xfrm>
            <a:prstGeom prst="roundRect">
              <a:avLst/>
            </a:prstGeom>
            <a:grpFill/>
            <a:ln w="7620">
              <a:solidFill>
                <a:srgbClr val="E5E5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/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6808BDEE-F0BA-818A-527D-0CF4765BAADD}"/>
                </a:ext>
              </a:extLst>
            </p:cNvPr>
            <p:cNvSpPr txBox="1"/>
            <p:nvPr/>
          </p:nvSpPr>
          <p:spPr>
            <a:xfrm>
              <a:off x="1134890" y="1876250"/>
              <a:ext cx="1546860" cy="430887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800" b="1" dirty="0">
                  <a:latin typeface="Aptos"/>
                </a:rPr>
                <a:t>B</a:t>
              </a:r>
              <a:endParaRPr sz="2800" b="1" dirty="0">
                <a:latin typeface="Aptos"/>
              </a:endParaRPr>
            </a:p>
          </p:txBody>
        </p: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482D66AA-680A-69C1-F0B1-F880AB516D97}"/>
                </a:ext>
              </a:extLst>
            </p:cNvPr>
            <p:cNvSpPr txBox="1"/>
            <p:nvPr/>
          </p:nvSpPr>
          <p:spPr>
            <a:xfrm>
              <a:off x="1210182" y="2278583"/>
              <a:ext cx="1396275" cy="215444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200" b="1" dirty="0">
                  <a:latin typeface="Aptos"/>
                </a:rPr>
                <a:t>Low </a:t>
              </a:r>
              <a:r>
                <a:rPr lang="en-US" sz="1400" b="1" dirty="0">
                  <a:latin typeface="Aptos"/>
                </a:rPr>
                <a:t>risk</a:t>
              </a:r>
              <a:endParaRPr lang="en-US" sz="1200" b="1" dirty="0">
                <a:latin typeface="Apto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1FB469F-3991-84BA-3500-4914FDB14F82}"/>
              </a:ext>
            </a:extLst>
          </p:cNvPr>
          <p:cNvGrpSpPr/>
          <p:nvPr/>
        </p:nvGrpSpPr>
        <p:grpSpPr>
          <a:xfrm>
            <a:off x="11203151" y="1611827"/>
            <a:ext cx="2306666" cy="1216025"/>
            <a:chOff x="990600" y="1729105"/>
            <a:chExt cx="1853565" cy="1216025"/>
          </a:xfrm>
          <a:solidFill>
            <a:srgbClr val="FFC7A0"/>
          </a:solidFill>
        </p:grpSpPr>
        <p:sp>
          <p:nvSpPr>
            <p:cNvPr id="17" name="Rounded Rectangle 204">
              <a:extLst>
                <a:ext uri="{FF2B5EF4-FFF2-40B4-BE49-F238E27FC236}">
                  <a16:creationId xmlns:a16="http://schemas.microsoft.com/office/drawing/2014/main" id="{0C56EA4F-CDA5-E3BD-3FFF-B21986EFDEB8}"/>
                </a:ext>
              </a:extLst>
            </p:cNvPr>
            <p:cNvSpPr/>
            <p:nvPr/>
          </p:nvSpPr>
          <p:spPr>
            <a:xfrm>
              <a:off x="990600" y="1729105"/>
              <a:ext cx="1853565" cy="1216025"/>
            </a:xfrm>
            <a:prstGeom prst="roundRect">
              <a:avLst/>
            </a:prstGeom>
            <a:grpFill/>
            <a:ln w="7620">
              <a:solidFill>
                <a:srgbClr val="E5E5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A022D822-4A24-83DF-FE38-BBAAF326A3B2}"/>
                </a:ext>
              </a:extLst>
            </p:cNvPr>
            <p:cNvSpPr txBox="1"/>
            <p:nvPr/>
          </p:nvSpPr>
          <p:spPr>
            <a:xfrm>
              <a:off x="1134890" y="1876250"/>
              <a:ext cx="1546860" cy="430887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800" b="1" dirty="0">
                  <a:latin typeface="Aptos"/>
                </a:rPr>
                <a:t>D</a:t>
              </a:r>
              <a:endParaRPr sz="2800" b="1" dirty="0">
                <a:latin typeface="Aptos"/>
              </a:endParaRPr>
            </a:p>
          </p:txBody>
        </p:sp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0D3D708E-5852-CB85-585B-3C6672EFE37C}"/>
                </a:ext>
              </a:extLst>
            </p:cNvPr>
            <p:cNvSpPr txBox="1"/>
            <p:nvPr/>
          </p:nvSpPr>
          <p:spPr>
            <a:xfrm>
              <a:off x="1210182" y="2278583"/>
              <a:ext cx="1396275" cy="215444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400" b="1" dirty="0">
                  <a:latin typeface="Aptos"/>
                </a:rPr>
                <a:t>High</a:t>
              </a:r>
              <a:r>
                <a:rPr lang="en-US" sz="1200" b="1" dirty="0">
                  <a:latin typeface="Aptos"/>
                </a:rPr>
                <a:t> risk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16C03E6-1316-37FB-B4B4-4A4930C81793}"/>
              </a:ext>
            </a:extLst>
          </p:cNvPr>
          <p:cNvGrpSpPr/>
          <p:nvPr/>
        </p:nvGrpSpPr>
        <p:grpSpPr>
          <a:xfrm>
            <a:off x="14799779" y="1549871"/>
            <a:ext cx="2306666" cy="1216025"/>
            <a:chOff x="990600" y="1729105"/>
            <a:chExt cx="1853565" cy="1216025"/>
          </a:xfrm>
          <a:solidFill>
            <a:srgbClr val="FF0000"/>
          </a:solidFill>
        </p:grpSpPr>
        <p:sp>
          <p:nvSpPr>
            <p:cNvPr id="21" name="Rounded Rectangle 204">
              <a:extLst>
                <a:ext uri="{FF2B5EF4-FFF2-40B4-BE49-F238E27FC236}">
                  <a16:creationId xmlns:a16="http://schemas.microsoft.com/office/drawing/2014/main" id="{424D2257-5689-F877-FD49-1A827E16C52C}"/>
                </a:ext>
              </a:extLst>
            </p:cNvPr>
            <p:cNvSpPr/>
            <p:nvPr/>
          </p:nvSpPr>
          <p:spPr>
            <a:xfrm>
              <a:off x="990600" y="1729105"/>
              <a:ext cx="1853565" cy="1216025"/>
            </a:xfrm>
            <a:prstGeom prst="roundRect">
              <a:avLst/>
            </a:prstGeom>
            <a:grpFill/>
            <a:ln w="7620">
              <a:solidFill>
                <a:srgbClr val="E5E5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000"/>
            </a:p>
          </p:txBody>
        </p:sp>
        <p:sp>
          <p:nvSpPr>
            <p:cNvPr id="22" name="TextBox 9">
              <a:extLst>
                <a:ext uri="{FF2B5EF4-FFF2-40B4-BE49-F238E27FC236}">
                  <a16:creationId xmlns:a16="http://schemas.microsoft.com/office/drawing/2014/main" id="{5FB15F76-D347-FBF0-3AAD-8B8046DD2403}"/>
                </a:ext>
              </a:extLst>
            </p:cNvPr>
            <p:cNvSpPr txBox="1"/>
            <p:nvPr/>
          </p:nvSpPr>
          <p:spPr>
            <a:xfrm>
              <a:off x="1134890" y="1876250"/>
              <a:ext cx="1546860" cy="430887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800" b="1" dirty="0">
                  <a:latin typeface="Aptos"/>
                </a:rPr>
                <a:t>E</a:t>
              </a:r>
              <a:endParaRPr sz="2800" b="1" dirty="0">
                <a:latin typeface="Aptos"/>
              </a:endParaRPr>
            </a:p>
          </p:txBody>
        </p:sp>
        <p:sp>
          <p:nvSpPr>
            <p:cNvPr id="23" name="TextBox 10">
              <a:extLst>
                <a:ext uri="{FF2B5EF4-FFF2-40B4-BE49-F238E27FC236}">
                  <a16:creationId xmlns:a16="http://schemas.microsoft.com/office/drawing/2014/main" id="{9AF0902A-C6A7-888B-844E-C0A78DF2B1D4}"/>
                </a:ext>
              </a:extLst>
            </p:cNvPr>
            <p:cNvSpPr txBox="1"/>
            <p:nvPr/>
          </p:nvSpPr>
          <p:spPr>
            <a:xfrm>
              <a:off x="1210182" y="2278583"/>
              <a:ext cx="1396275" cy="215444"/>
            </a:xfrm>
            <a:prstGeom prst="rect">
              <a:avLst/>
            </a:prstGeom>
            <a:grp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400" b="1" dirty="0">
                  <a:latin typeface="Aptos"/>
                </a:rPr>
                <a:t>Highest</a:t>
              </a:r>
              <a:r>
                <a:rPr lang="en-US" sz="1200" b="1" dirty="0">
                  <a:latin typeface="Aptos"/>
                </a:rPr>
                <a:t> risk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3569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475777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150" b="1" dirty="0">
                <a:solidFill>
                  <a:srgbClr val="252545"/>
                </a:solidFill>
                <a:latin typeface="Aptos Display" pitchFamily="34" charset="0"/>
              </a:rPr>
              <a:t>SonarQube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255313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A1A5C8"/>
                </a:solidFill>
                <a:latin typeface="Aptos Display" pitchFamily="34" charset="0"/>
              </a:rPr>
              <a:t>STATUS SUMMARY</a:t>
            </a:r>
            <a:endParaRPr sz="2400" b="1" dirty="0">
              <a:solidFill>
                <a:srgbClr val="A1A5C8"/>
              </a:solidFill>
              <a:latin typeface="Aptos Display" pitchFamily="34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1152525" y="2095500"/>
            <a:ext cx="15916275" cy="7391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SonarQube Implementation Summary</a:t>
            </a:r>
          </a:p>
          <a:p>
            <a:pPr>
              <a:lnSpc>
                <a:spcPct val="150000"/>
              </a:lnSpc>
            </a:pPr>
            <a:r>
              <a:rPr lang="en-US" dirty="0"/>
              <a:t>A total of </a:t>
            </a:r>
            <a:r>
              <a:rPr lang="en-US" b="1" dirty="0"/>
              <a:t>7 DXP applications</a:t>
            </a:r>
            <a:r>
              <a:rPr lang="en-US" dirty="0"/>
              <a:t> were successfully onboarded to SonarQube, achieving </a:t>
            </a:r>
            <a:r>
              <a:rPr lang="en-US" b="1" dirty="0"/>
              <a:t>100% Quality Gate compliance</a:t>
            </a:r>
            <a:r>
              <a:rPr lang="en-US" dirty="0"/>
              <a:t> across the portfolio.</a:t>
            </a:r>
          </a:p>
          <a:p>
            <a:pPr>
              <a:lnSpc>
                <a:spcPct val="150000"/>
              </a:lnSpc>
            </a:pPr>
            <a:r>
              <a:rPr lang="en-US" dirty="0"/>
              <a:t>All applications achieved </a:t>
            </a:r>
            <a:r>
              <a:rPr lang="en-US" b="1" dirty="0"/>
              <a:t>Security Rating A</a:t>
            </a:r>
            <a:r>
              <a:rPr lang="en-US" dirty="0"/>
              <a:t> and </a:t>
            </a:r>
            <a:r>
              <a:rPr lang="en-US" b="1" dirty="0"/>
              <a:t>Maintainability Rating A</a:t>
            </a:r>
            <a:r>
              <a:rPr lang="en-US" dirty="0"/>
              <a:t>, reflecting strong security controls and code quality standards. Reliability remains the main improvement area, with </a:t>
            </a:r>
            <a:r>
              <a:rPr lang="en-US" b="1" dirty="0"/>
              <a:t>5 applications rated C</a:t>
            </a:r>
            <a:r>
              <a:rPr lang="en-US" dirty="0"/>
              <a:t> due to identified software defects, while </a:t>
            </a:r>
            <a:r>
              <a:rPr lang="en-US" b="1" dirty="0"/>
              <a:t>2 applications achieved Reliability Rating A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Overall test coverage exceeded the minimum governance target of </a:t>
            </a:r>
            <a:r>
              <a:rPr lang="en-US" b="1" dirty="0"/>
              <a:t>40%</a:t>
            </a:r>
            <a:r>
              <a:rPr lang="en-US" dirty="0"/>
              <a:t>, and all applications remained within the approved code duplication threshold.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sz="2000" b="1" dirty="0"/>
              <a:t>Key Observations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7 applications onboarded successfully.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100% Quality Gate compliance achieved.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100% Security Rating A.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100% Maintainability Rating A.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Reliability improvements required in 5 applications.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Life OTP and Travel Insurance V3 have the highest number of identified bugs.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Workshop Portal V3 has the highest technical debt (code smells).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E2C79">
                <a:alpha val="100000"/>
              </a:srgbClr>
            </a:gs>
            <a:gs pos="50000">
              <a:srgbClr val="9A84DC">
                <a:alpha val="100000"/>
              </a:srgbClr>
            </a:gs>
            <a:gs pos="100000">
              <a:srgbClr val="8F73F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930" y="195887"/>
            <a:ext cx="3503507" cy="1052269"/>
          </a:xfrm>
          <a:custGeom>
            <a:avLst/>
            <a:gdLst/>
            <a:ahLst/>
            <a:cxnLst/>
            <a:rect l="l" t="t" r="r" b="b"/>
            <a:pathLst>
              <a:path w="3503507" h="1052269">
                <a:moveTo>
                  <a:pt x="0" y="0"/>
                </a:moveTo>
                <a:lnTo>
                  <a:pt x="3503507" y="0"/>
                </a:lnTo>
                <a:lnTo>
                  <a:pt x="3503507" y="1052269"/>
                </a:lnTo>
                <a:lnTo>
                  <a:pt x="0" y="10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>
              <a:latin typeface="+mj-lt"/>
            </a:endParaRP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2587519" y="0"/>
            <a:ext cx="5690956" cy="10287000"/>
            <a:chOff x="0" y="0"/>
            <a:chExt cx="7631832" cy="13795338"/>
          </a:xfrm>
        </p:grpSpPr>
        <p:sp>
          <p:nvSpPr>
            <p:cNvPr id="4" name="Freeform 4" descr="Image"/>
            <p:cNvSpPr/>
            <p:nvPr/>
          </p:nvSpPr>
          <p:spPr>
            <a:xfrm>
              <a:off x="0" y="0"/>
              <a:ext cx="7631811" cy="13795375"/>
            </a:xfrm>
            <a:custGeom>
              <a:avLst/>
              <a:gdLst/>
              <a:ahLst/>
              <a:cxnLst/>
              <a:rect l="l" t="t" r="r" b="b"/>
              <a:pathLst>
                <a:path w="7631811" h="13795375">
                  <a:moveTo>
                    <a:pt x="0" y="0"/>
                  </a:moveTo>
                  <a:lnTo>
                    <a:pt x="7631811" y="0"/>
                  </a:lnTo>
                  <a:lnTo>
                    <a:pt x="7631811" y="13795375"/>
                  </a:lnTo>
                  <a:lnTo>
                    <a:pt x="0" y="13795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4" b="-74"/>
              </a:stretch>
            </a:blipFill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067680"/>
            <a:ext cx="5690940" cy="129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25"/>
              </a:lnSpc>
              <a:spcBef>
                <a:spcPct val="0"/>
              </a:spcBef>
            </a:pPr>
            <a:r>
              <a:rPr lang="en-US" sz="8440" b="1" dirty="0">
                <a:solidFill>
                  <a:srgbClr val="FFFFFF"/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143" y="5369305"/>
            <a:ext cx="5257857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30"/>
              </a:lnSpc>
            </a:pPr>
            <a:r>
              <a:rPr lang="en-US" sz="2610" b="1" dirty="0">
                <a:solidFill>
                  <a:srgbClr val="FFFFFF">
                    <a:alpha val="40000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Taking the Technology &amp; Digital</a:t>
            </a:r>
          </a:p>
          <a:p>
            <a:pPr algn="ctr">
              <a:lnSpc>
                <a:spcPts val="3130"/>
              </a:lnSpc>
              <a:spcBef>
                <a:spcPct val="0"/>
              </a:spcBef>
            </a:pPr>
            <a:r>
              <a:rPr lang="en-US" sz="2610" b="1" dirty="0">
                <a:solidFill>
                  <a:srgbClr val="FFFFFF">
                    <a:alpha val="40000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to the Next Level</a:t>
            </a:r>
          </a:p>
        </p:txBody>
      </p:sp>
      <p:sp>
        <p:nvSpPr>
          <p:cNvPr id="7" name="GTBClassificationH331034338"/>
          <p:cNvSpPr txBox="1"/>
          <p:nvPr/>
        </p:nvSpPr>
        <p:spPr>
          <a:xfrm>
            <a:off x="0" y="0"/>
            <a:ext cx="18288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dirty="0">
                <a:solidFill>
                  <a:srgbClr val="000000">
                    <a:alpha val="70000"/>
                  </a:srgbClr>
                </a:solidFill>
                <a:latin typeface="+mj-lt"/>
              </a:rPr>
              <a:t>Classification:</a:t>
            </a:r>
            <a:r>
              <a:rPr lang="en-US" sz="1400" dirty="0">
                <a:solidFill>
                  <a:srgbClr val="000000">
                    <a:alpha val="70000"/>
                  </a:srgbClr>
                </a:solidFill>
                <a:latin typeface="+mj-lt"/>
              </a:rPr>
              <a:t> </a:t>
            </a:r>
            <a:r>
              <a:rPr lang="en-US" sz="1400" b="1" dirty="0">
                <a:solidFill>
                  <a:srgbClr val="6A1B9A">
                    <a:alpha val="70000"/>
                  </a:srgbClr>
                </a:solidFill>
                <a:latin typeface="+mj-lt"/>
              </a:rPr>
              <a:t>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Internal</attrValue>
  <customPropName>Classification</customPropName>
  <timestamp>02/08/47 04:32:15 م</timestamp>
  <userName>TAWN\VDR000322</userName>
  <computerName>LTHQISD-A2X1143.TAWN.COM</computerName>
  <guid>{487a4754-da0f-4ebb-9a6d-ab42203ba5de}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/>
    </r>
    <r>
      <fontName>arial</fontName>
      <fontColor>6A1B9A</fontColor>
      <fontSize>14</fontSize>
      <b/>
      <text xml:space="preserve">Internal</text>
    </r>
  </hdr>
</GTBClassification>
</file>

<file path=customXml/itemProps1.xml><?xml version="1.0" encoding="utf-8"?>
<ds:datastoreItem xmlns:ds="http://schemas.openxmlformats.org/officeDocument/2006/customXml" ds:itemID="{F31BFC59-43D1-4653-9F61-0840CF994A9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3898</TotalTime>
  <Words>751</Words>
  <Application>Microsoft Office PowerPoint</Application>
  <PresentationFormat>Custom</PresentationFormat>
  <Paragraphs>200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 Display</vt:lpstr>
      <vt:lpstr>-apple-system</vt:lpstr>
      <vt:lpstr>Arial</vt:lpstr>
      <vt:lpstr>Calibri</vt:lpstr>
      <vt:lpstr>Aptos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T&amp;D QC Weekly Report 21 Jan</dc:title>
  <dc:creator>Yara Aldughaim</dc:creator>
  <cp:keywords>ClassificationData:&lt;Classification:Internal&gt;</cp:keywords>
  <cp:lastModifiedBy>Mohamed Elarief</cp:lastModifiedBy>
  <cp:revision>82</cp:revision>
  <dcterms:created xsi:type="dcterms:W3CDTF">2026-05-12T05:42:29Z</dcterms:created>
  <dcterms:modified xsi:type="dcterms:W3CDTF">2026-06-10T12:53:50Z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Internal</vt:lpwstr>
  </property>
  <property fmtid="{D5CDD505-2E9C-101B-9397-08002B2CF9AE}" pid="3" name="ClassifiedBy">
    <vt:lpwstr>TAWN\VDR000322</vt:lpwstr>
  </property>
  <property fmtid="{D5CDD505-2E9C-101B-9397-08002B2CF9AE}" pid="4" name="ClassificationHost">
    <vt:lpwstr>LTHQISD-A2X1143.TAWN.COM</vt:lpwstr>
  </property>
  <property fmtid="{D5CDD505-2E9C-101B-9397-08002B2CF9AE}" pid="5" name="ClassificationDate">
    <vt:lpwstr>02/08/47 04:32:15 م</vt:lpwstr>
  </property>
  <property fmtid="{D5CDD505-2E9C-101B-9397-08002B2CF9AE}" pid="6" name="ClassificationGUID">
    <vt:lpwstr>{487a4754-da0f-4ebb-9a6d-ab42203ba5de}</vt:lpwstr>
  </property>
  <property fmtid="{D5CDD505-2E9C-101B-9397-08002B2CF9AE}" pid="7" name="KSOProductBuildVer">
    <vt:lpwstr>1033-12.1.25880.25880</vt:lpwstr>
  </property>
  <property fmtid="{D5CDD505-2E9C-101B-9397-08002B2CF9AE}" pid="8" name="ICV">
    <vt:lpwstr>7C7C2032D2F5AB1308BC026ACD429EA4_42</vt:lpwstr>
  </property>
</Properties>
</file>