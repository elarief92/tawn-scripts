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6F51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73-4DBB-BE99-7F2F9DF04B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73-4DBB-BE99-7F2F9DF04B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73-4DBB-BE99-7F2F9DF04BB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C73-4DBB-BE99-7F2F9DF04BB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C73-4DBB-BE99-7F2F9DF04BB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C73-4DBB-BE99-7F2F9DF04BB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C73-4DBB-BE99-7F2F9DF04B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85.6</c:v>
                </c:pt>
                <c:pt idx="1">
                  <c:v>50.5</c:v>
                </c:pt>
                <c:pt idx="2">
                  <c:v>45.6</c:v>
                </c:pt>
                <c:pt idx="3">
                  <c:v>55.3</c:v>
                </c:pt>
                <c:pt idx="4">
                  <c:v>44.3</c:v>
                </c:pt>
                <c:pt idx="5">
                  <c:v>42.7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C73-4DBB-BE99-7F2F9DF04B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7E-40F2-9564-1CB530E9B72F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7E-40F2-9564-1CB530E9B7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F7E-40F2-9564-1CB530E9B7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F7E-40F2-9564-1CB530E9B72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F7E-40F2-9564-1CB530E9B72F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7E-40F2-9564-1CB530E9B72F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7E-40F2-9564-1CB530E9B7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16.2</c:v>
                </c:pt>
                <c:pt idx="2">
                  <c:v>7.5</c:v>
                </c:pt>
                <c:pt idx="3">
                  <c:v>1.5</c:v>
                </c:pt>
                <c:pt idx="4">
                  <c:v>6.9</c:v>
                </c:pt>
                <c:pt idx="5">
                  <c:v>11.4</c:v>
                </c:pt>
                <c:pt idx="6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F7E-40F2-9564-1CB530E9B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F2-48FA-8C60-DA0E3339F40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F2-48FA-8C60-DA0E3339F403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F2-48FA-8C60-DA0E3339F403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F2-48FA-8C60-DA0E3339F4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9F2-48FA-8C60-DA0E3339F403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9F2-48FA-8C60-DA0E3339F403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9F2-48FA-8C60-DA0E3339F4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7</c:v>
                </c:pt>
                <c:pt idx="2">
                  <c:v>0</c:v>
                </c:pt>
                <c:pt idx="3">
                  <c:v>2</c:v>
                </c:pt>
                <c:pt idx="4">
                  <c:v>13</c:v>
                </c:pt>
                <c:pt idx="5">
                  <c:v>0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9F2-48FA-8C60-DA0E3339F4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B7-4DB1-9CE2-A2CB6EFDC2F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B7-4DB1-9CE2-A2CB6EFDC2F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B7-4DB1-9CE2-A2CB6EFDC2F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B7-4DB1-9CE2-A2CB6EFDC2F0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B7-4DB1-9CE2-A2CB6EFDC2F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7B7-4DB1-9CE2-A2CB6EFDC2F0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B7-4DB1-9CE2-A2CB6EFDC2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</c:v>
                </c:pt>
                <c:pt idx="1">
                  <c:v>100</c:v>
                </c:pt>
                <c:pt idx="2">
                  <c:v>20</c:v>
                </c:pt>
                <c:pt idx="3">
                  <c:v>91</c:v>
                </c:pt>
                <c:pt idx="4">
                  <c:v>131</c:v>
                </c:pt>
                <c:pt idx="5">
                  <c:v>28</c:v>
                </c:pt>
                <c:pt idx="6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7B7-4DB1-9CE2-A2CB6EFDC2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30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_unpacked/ppt/media/image3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680960" y="-182880"/>
            <a:ext cx="4754880" cy="7498080"/>
          </a:xfrm>
          <a:prstGeom prst="rect">
            <a:avLst/>
          </a:prstGeom>
        </p:spPr>
      </p:pic>
      <p:pic>
        <p:nvPicPr>
          <p:cNvPr id="3" name="Image 1" descr="/home/claude/sq_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2103120" cy="6400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1945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02920" y="22128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502920" y="2926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02920" y="3657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Report</a:t>
            </a:r>
            <a:endParaRPr lang="en-US" sz="5400" dirty="0"/>
          </a:p>
        </p:txBody>
      </p:sp>
      <p:sp>
        <p:nvSpPr>
          <p:cNvPr id="8" name="Shape 4"/>
          <p:cNvSpPr/>
          <p:nvPr/>
        </p:nvSpPr>
        <p:spPr>
          <a:xfrm>
            <a:off x="502920" y="4663440"/>
            <a:ext cx="3657600" cy="0"/>
          </a:xfrm>
          <a:prstGeom prst="line">
            <a:avLst/>
          </a:prstGeom>
          <a:noFill/>
          <a:ln w="19050">
            <a:solidFill>
              <a:srgbClr val="A1A5C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800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Governance &amp; Code Quality Enforcement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10/06/2026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1100" dirty="0"/>
          </a:p>
        </p:txBody>
      </p:sp>
      <p:sp>
        <p:nvSpPr>
          <p:cNvPr id="12" name="GTBClassificationH1901434320">
            <a:extLst>
              <a:ext uri="{FF2B5EF4-FFF2-40B4-BE49-F238E27FC236}">
                <a16:creationId xmlns:a16="http://schemas.microsoft.com/office/drawing/2014/main" id="{A2E7C953-E952-5728-5CF1-4A9D202B03CD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— Before CI/CD Governance &amp; SonarQube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CI/CD governance framework across applications.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validation was largely manual and inconsistent.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of security, reliability, and maintainability metrics.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enforcement of quality controls before deployment.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approvals performed without quality gate validation.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 conventions and release traceability.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3258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37960" y="19202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9568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deployment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2194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gate blocking bad code from reaching production.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37960" y="26060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2642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governance visibility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28803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pane to track security, bugs, and code smells.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37960" y="32918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328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defect detection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35661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discovered in production rather than during development.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39776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4014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 standards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75120" y="42519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followed its own undocumented process.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37960" y="46634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7000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traceability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75120" y="4937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requirements, releases, and deployments.</a:t>
            </a:r>
            <a:endParaRPr lang="en-US" sz="1100" dirty="0"/>
          </a:p>
        </p:txBody>
      </p:sp>
      <p:sp>
        <p:nvSpPr>
          <p:cNvPr id="27" name="GTBClassificationH856908150">
            <a:extLst>
              <a:ext uri="{FF2B5EF4-FFF2-40B4-BE49-F238E27FC236}">
                <a16:creationId xmlns:a16="http://schemas.microsoft.com/office/drawing/2014/main" id="{8C24B130-34EB-924F-A2D4-29D835FB10A6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CI/CD governance, security controls, and quality enforcement across all applications.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128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SonarQube Quality Gates across all Java and React CI/CD pipelines.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9320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Governance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0799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pipeline structure, naming, and deployment controls.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7532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991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991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2512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Enforcement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3991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quality through automated gate checks on every build.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6128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Secret Scanning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607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security scanning and secret detection in every pipeline run.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34340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0799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0799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9320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799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consistent naming for releases and SonarQube projects.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7532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43991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991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02512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Compliance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43991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full traceability from Bitbucket → Jenkins → Deployment and align with ITQMS.</a:t>
            </a:r>
            <a:endParaRPr lang="en-US" sz="1200" dirty="0"/>
          </a:p>
        </p:txBody>
      </p:sp>
      <p:sp>
        <p:nvSpPr>
          <p:cNvPr id="38" name="GTBClassificationH1854486790">
            <a:extLst>
              <a:ext uri="{FF2B5EF4-FFF2-40B4-BE49-F238E27FC236}">
                <a16:creationId xmlns:a16="http://schemas.microsoft.com/office/drawing/2014/main" id="{E8DD599B-40E9-95BA-6FF9-186A80BC67D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CI/CD Quality Governance Pipeline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runs through a single standardized pipeline enforcing security, quality, and coverage at every stage.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0078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7452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7452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7452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6382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33756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3756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33756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2686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0060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0060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0060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990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26364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6364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26364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5294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72668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2668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🚦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72668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Check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01598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918972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8972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18972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47902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65276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1065276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1065276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114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applies across all environments: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214884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37744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7744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411480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34340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34340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08076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30936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0936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804672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27532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3E2C79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7532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411480" y="47548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Security, Quality &amp; Compliance Controls at Every Stage</a:t>
            </a:r>
            <a:endParaRPr lang="en-US" sz="1200" dirty="0"/>
          </a:p>
        </p:txBody>
      </p:sp>
      <p:sp>
        <p:nvSpPr>
          <p:cNvPr id="55" name="GTBClassificationH931666918">
            <a:extLst>
              <a:ext uri="{FF2B5EF4-FFF2-40B4-BE49-F238E27FC236}">
                <a16:creationId xmlns:a16="http://schemas.microsoft.com/office/drawing/2014/main" id="{1F21EDA6-64E2-7709-B375-C1BD6CF40CC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Standard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3492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name is aligned only with EPIC Name.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395728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FF0F0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395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EPIC8033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926080"/>
            <a:ext cx="484632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Release Naming Standard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364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365760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0F8F0"/>
          </a:solidFill>
          <a:ln w="6350">
            <a:solidFill>
              <a:srgbClr val="C0E8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6576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&lt;EPIC NAME&gt; ⇔ R&lt;Num&gt;-&lt;LOB&gt;-v&lt;Maj.Min.Pat&gt;-&lt;Env&gt;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" y="4361688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0F8F0"/>
          </a:solidFill>
          <a:ln w="6350">
            <a:solidFill>
              <a:srgbClr val="C0E8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43616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EPIC8033 ⇔ R25-DXP-v1.0.0-DEV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132588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Project Naming Standard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1810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55080" y="2103120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2103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&lt;LOB&gt;-&lt;Jenkins Job Name&gt;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55080" y="2807208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2807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DXP-BFF-AAMAL-ESERVICES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80760" y="3931920"/>
            <a:ext cx="5669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5508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355080" y="4434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across Jenkins and SonarQube.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traceability between EPICs, releases, and applications.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reporting and governance.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portfolio management.</a:t>
            </a:r>
            <a:endParaRPr lang="en-US" sz="1200" dirty="0"/>
          </a:p>
        </p:txBody>
      </p:sp>
      <p:sp>
        <p:nvSpPr>
          <p:cNvPr id="32" name="GTBClassificationH1119846895">
            <a:extLst>
              <a:ext uri="{FF2B5EF4-FFF2-40B4-BE49-F238E27FC236}">
                <a16:creationId xmlns:a16="http://schemas.microsoft.com/office/drawing/2014/main" id="{652F0AFB-93EA-0AAF-1F13-E0A832A11B9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Decoration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— Before PR Decoration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could be reviewed and approved without visibility of code quality results. No SonarQube feedback was visible inside Bitbucket.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907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for Pull Requests targeting the DEV branch.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SonarQube results directly in Bitbucket PRs.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13258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PR Decoration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18288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to developers on code quality.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merging low-quality code into main branches.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informed code review process.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Quality Gates before PR approval.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review efficiency and governance.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alignment with ITQMS quality controls.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749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 Decoration Works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4884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37744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37744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4340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4340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0936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0936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4672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7532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7532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Posted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1268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24128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24128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Approved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33" name="GTBClassificationH1520665462">
            <a:extLst>
              <a:ext uri="{FF2B5EF4-FFF2-40B4-BE49-F238E27FC236}">
                <a16:creationId xmlns:a16="http://schemas.microsoft.com/office/drawing/2014/main" id="{3EDB3055-B37D-9058-D451-C2FB0BA5B11F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417320"/>
            <a:ext cx="11338560" cy="457200"/>
          </a:xfrm>
          <a:prstGeom prst="roundRect">
            <a:avLst/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6324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7260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18745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6324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776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40680" y="1874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1874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0956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726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23317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 V3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6324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9776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4068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7512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9095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37260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" y="27889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063240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9776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4068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7512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0956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37260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1480" y="32461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 V3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06324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97764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4068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67512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90956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3726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11480" y="37033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V3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063240" y="3703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97764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44068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67512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90956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937260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411480" y="41605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" y="4160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 V3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3063240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397764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4406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66751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90956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9372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11480" y="46177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 V3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306324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397764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544068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67512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790956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37260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411480" y="48463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Passed Quality Gate   |   Coverage threshold: ≥ 40%   |   Duplication threshold: ≤ 20%</a:t>
            </a:r>
            <a:endParaRPr lang="en-US" sz="1100" dirty="0"/>
          </a:p>
        </p:txBody>
      </p:sp>
      <p:sp>
        <p:nvSpPr>
          <p:cNvPr id="72" name="GTBClassificationH1241267316">
            <a:extLst>
              <a:ext uri="{FF2B5EF4-FFF2-40B4-BE49-F238E27FC236}">
                <a16:creationId xmlns:a16="http://schemas.microsoft.com/office/drawing/2014/main" id="{3DB3517B-5F43-759F-5D49-0503A7BCB0B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Threshold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383280" y="3630168"/>
            <a:ext cx="83667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38328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threshold</a:t>
            </a:r>
            <a:endParaRPr lang="en-US" sz="1100" dirty="0"/>
          </a:p>
        </p:txBody>
      </p:sp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Duplication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Threshold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383280" y="2029968"/>
            <a:ext cx="83667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38328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threshold</a:t>
            </a:r>
            <a:endParaRPr lang="en-US" sz="1100" dirty="0"/>
          </a:p>
        </p:txBody>
      </p:sp>
      <p:sp>
        <p:nvSpPr>
          <p:cNvPr id="14" name="GTBClassificationH768883221">
            <a:extLst>
              <a:ext uri="{FF2B5EF4-FFF2-40B4-BE49-F238E27FC236}">
                <a16:creationId xmlns:a16="http://schemas.microsoft.com/office/drawing/2014/main" id="{36CA939A-5316-DE54-05A5-18F335BCA0B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(Bugs) by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Bugs Allowed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TBClassificationH1242082137">
            <a:extLst>
              <a:ext uri="{FF2B5EF4-FFF2-40B4-BE49-F238E27FC236}">
                <a16:creationId xmlns:a16="http://schemas.microsoft.com/office/drawing/2014/main" id="{9970028D-F5C7-CF26-BE4B-C7D95017C21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(Code Smells) by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Code Smells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TBClassificationH1256057719">
            <a:extLst>
              <a:ext uri="{FF2B5EF4-FFF2-40B4-BE49-F238E27FC236}">
                <a16:creationId xmlns:a16="http://schemas.microsoft.com/office/drawing/2014/main" id="{57E576ED-C97A-ABF5-9DF3-A727D423CF4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Compliance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8328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26364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5256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14400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1089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Scale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148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1148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very low risk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8892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78892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27889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6636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16636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516636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54380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4380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5438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92124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92124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992124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4709160"/>
            <a:ext cx="11338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85800" y="4846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7 DXP applications achieved Security Rating A with 0 vulnerabilities detected. 100% Quality Gate compliance maintained across the entire portfolio.</a:t>
            </a:r>
            <a:endParaRPr lang="en-US" sz="1300" dirty="0"/>
          </a:p>
        </p:txBody>
      </p:sp>
      <p:sp>
        <p:nvSpPr>
          <p:cNvPr id="37" name="GTBClassificationH1648324666">
            <a:extLst>
              <a:ext uri="{FF2B5EF4-FFF2-40B4-BE49-F238E27FC236}">
                <a16:creationId xmlns:a16="http://schemas.microsoft.com/office/drawing/2014/main" id="{7BAAC6E8-3579-2091-1513-8303684B760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11338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</a:t>
            </a: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DXP applications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successfully onboarded to SonarQube, achieving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 Gate compliance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portfolio. All applications achieved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A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Rating A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Reliability remains the main improvement area —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 applications rated C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identified software defects. Overall test coverage exceeded the 40% governance target.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306324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1208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applications onboarded successfully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65576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858768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 Gate compliance achieved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0216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9944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803136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Security Rating A across all apps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244584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54312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747504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Maintainability Rating 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1208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14400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improvements needed in 5 apps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55848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65576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858768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 &amp; Travel Insurance — highest bug count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0216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9944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803136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 V3 — highest technical debt</a:t>
            </a:r>
            <a:endParaRPr lang="en-US" sz="1100" dirty="0"/>
          </a:p>
        </p:txBody>
      </p:sp>
      <p:sp>
        <p:nvSpPr>
          <p:cNvPr id="31" name="GTBClassificationH1795811893">
            <a:extLst>
              <a:ext uri="{FF2B5EF4-FFF2-40B4-BE49-F238E27FC236}">
                <a16:creationId xmlns:a16="http://schemas.microsoft.com/office/drawing/2014/main" id="{B759AADC-FB62-7787-200D-CA87B341904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_unpacked/ppt/media/image3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498080" y="-274320"/>
            <a:ext cx="5029200" cy="7589520"/>
          </a:xfrm>
          <a:prstGeom prst="rect">
            <a:avLst/>
          </a:prstGeom>
        </p:spPr>
      </p:pic>
      <p:pic>
        <p:nvPicPr>
          <p:cNvPr id="3" name="Image 1" descr="/home/claude/sq_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210312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194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502920" y="3154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7200" dirty="0"/>
          </a:p>
        </p:txBody>
      </p:sp>
      <p:sp>
        <p:nvSpPr>
          <p:cNvPr id="6" name="Shape 2"/>
          <p:cNvSpPr/>
          <p:nvPr/>
        </p:nvSpPr>
        <p:spPr>
          <a:xfrm>
            <a:off x="502920" y="4389120"/>
            <a:ext cx="3200400" cy="0"/>
          </a:xfrm>
          <a:prstGeom prst="line">
            <a:avLst/>
          </a:prstGeom>
          <a:noFill/>
          <a:ln w="19050">
            <a:solidFill>
              <a:srgbClr val="A1A5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572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A09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Technology &amp; Digital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A09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Level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1100" dirty="0"/>
          </a:p>
        </p:txBody>
      </p:sp>
      <p:sp>
        <p:nvSpPr>
          <p:cNvPr id="9" name="GTBClassificationH774228365">
            <a:extLst>
              <a:ext uri="{FF2B5EF4-FFF2-40B4-BE49-F238E27FC236}">
                <a16:creationId xmlns:a16="http://schemas.microsoft.com/office/drawing/2014/main" id="{4ECB2CC6-9E86-CC36-4E97-8C84EEC18A05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25/12/47 09:01:24 ص</timestamp>
  <userName>TAWN\VDR000691</userName>
  <computerName>LTHQISD-A2Y480.TAWN.COM</computerName>
  <guid>{3cf226fd-977f-4f64-afba-6138625039f0}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A061271-52FD-4FCC-893A-04B44A8473E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999</Words>
  <Application>Microsoft Office PowerPoint</Application>
  <PresentationFormat>Widescreen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ClassificationData:&lt;Classification:Internal&gt;</cp:keywords>
  <cp:lastModifiedBy>Mohamed Elarief</cp:lastModifiedBy>
  <cp:revision>3</cp:revision>
  <dcterms:created xsi:type="dcterms:W3CDTF">2026-06-11T05:56:32Z</dcterms:created>
  <dcterms:modified xsi:type="dcterms:W3CDTF">2026-06-11T06:05:01Z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TAWN\VDR000691</vt:lpwstr>
  </property>
  <property fmtid="{D5CDD505-2E9C-101B-9397-08002B2CF9AE}" pid="4" name="ClassificationHost">
    <vt:lpwstr>LTHQISD-A2Y480.TAWN.COM</vt:lpwstr>
  </property>
  <property fmtid="{D5CDD505-2E9C-101B-9397-08002B2CF9AE}" pid="5" name="ClassificationDate">
    <vt:lpwstr>25/12/47 09:01:24 ص</vt:lpwstr>
  </property>
  <property fmtid="{D5CDD505-2E9C-101B-9397-08002B2CF9AE}" pid="6" name="ClassificationGUID">
    <vt:lpwstr>{3cf226fd-977f-4f64-afba-6138625039f0}</vt:lpwstr>
  </property>
</Properties>
</file>