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3.xml" ContentType="application/vnd.openxmlformats-officedocument.drawingml.chart+xml"/>
  <Override PartName="/ppt/notesSlides/notesSlide12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9.xml" ContentType="application/vnd.openxmlformats-officedocument.drawingml.chart+xml"/>
  <Override PartName="/ppt/notesSlides/notesSlide18.xml" ContentType="application/vnd.openxmlformats-officedocument.presentationml.notes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25.xml" ContentType="application/vnd.openxmlformats-officedocument.drawingml.chart+xml"/>
  <Override PartName="/ppt/notesSlides/notesSlide21.xml" ContentType="application/vnd.openxmlformats-officedocument.presentationml.notesSlide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31.xml" ContentType="application/vnd.openxmlformats-officedocument.drawingml.chart+xml"/>
  <Override PartName="/ppt/notesSlides/notesSlide24.xml" ContentType="application/vnd.openxmlformats-officedocument.presentationml.notesSlide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2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135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8575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5A-4467-9E64-14BCDA2E91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8575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5A-4467-9E64-14BCDA2E910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8575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Sheet1!$D$2:$D$25</c:f>
              <c:numCache>
                <c:formatCode>General</c:formatCode>
                <c:ptCount val="24"/>
                <c:pt idx="0">
                  <c:v>13</c:v>
                </c:pt>
                <c:pt idx="1">
                  <c:v>13</c:v>
                </c:pt>
                <c:pt idx="2">
                  <c:v>14</c:v>
                </c:pt>
                <c:pt idx="3">
                  <c:v>14</c:v>
                </c:pt>
                <c:pt idx="4">
                  <c:v>86</c:v>
                </c:pt>
                <c:pt idx="5">
                  <c:v>78</c:v>
                </c:pt>
                <c:pt idx="6">
                  <c:v>78</c:v>
                </c:pt>
                <c:pt idx="7">
                  <c:v>78</c:v>
                </c:pt>
                <c:pt idx="8">
                  <c:v>78</c:v>
                </c:pt>
                <c:pt idx="9">
                  <c:v>45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46</c:v>
                </c:pt>
                <c:pt idx="16">
                  <c:v>20</c:v>
                </c:pt>
                <c:pt idx="17">
                  <c:v>20</c:v>
                </c:pt>
                <c:pt idx="18">
                  <c:v>20</c:v>
                </c:pt>
                <c:pt idx="19">
                  <c:v>20</c:v>
                </c:pt>
                <c:pt idx="20">
                  <c:v>20</c:v>
                </c:pt>
                <c:pt idx="21">
                  <c:v>23</c:v>
                </c:pt>
                <c:pt idx="22">
                  <c:v>20</c:v>
                </c:pt>
                <c:pt idx="23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95A-4467-9E64-14BCDA2E910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8575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Sheet1!$E$2:$E$25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95A-4467-9E64-14BCDA2E910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8575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Sheet1!$F$2:$F$25</c:f>
              <c:numCache>
                <c:formatCode>General</c:formatCode>
                <c:ptCount val="24"/>
                <c:pt idx="0">
                  <c:v>24.3</c:v>
                </c:pt>
                <c:pt idx="1">
                  <c:v>24.3</c:v>
                </c:pt>
                <c:pt idx="2">
                  <c:v>28.8</c:v>
                </c:pt>
                <c:pt idx="3">
                  <c:v>28.8</c:v>
                </c:pt>
                <c:pt idx="4">
                  <c:v>45.7</c:v>
                </c:pt>
                <c:pt idx="5">
                  <c:v>45.7</c:v>
                </c:pt>
                <c:pt idx="6">
                  <c:v>45.7</c:v>
                </c:pt>
                <c:pt idx="7">
                  <c:v>45.7</c:v>
                </c:pt>
                <c:pt idx="8">
                  <c:v>45.7</c:v>
                </c:pt>
                <c:pt idx="9">
                  <c:v>45.7</c:v>
                </c:pt>
                <c:pt idx="10">
                  <c:v>45.7</c:v>
                </c:pt>
                <c:pt idx="11">
                  <c:v>45.7</c:v>
                </c:pt>
                <c:pt idx="12">
                  <c:v>45.7</c:v>
                </c:pt>
                <c:pt idx="13">
                  <c:v>45.7</c:v>
                </c:pt>
                <c:pt idx="14">
                  <c:v>45.7</c:v>
                </c:pt>
                <c:pt idx="15">
                  <c:v>45.7</c:v>
                </c:pt>
                <c:pt idx="16">
                  <c:v>45.7</c:v>
                </c:pt>
                <c:pt idx="17">
                  <c:v>45.6</c:v>
                </c:pt>
                <c:pt idx="18">
                  <c:v>45.6</c:v>
                </c:pt>
                <c:pt idx="19">
                  <c:v>45.6</c:v>
                </c:pt>
                <c:pt idx="20">
                  <c:v>45.6</c:v>
                </c:pt>
                <c:pt idx="21">
                  <c:v>45.6</c:v>
                </c:pt>
                <c:pt idx="22">
                  <c:v>45.6</c:v>
                </c:pt>
                <c:pt idx="23">
                  <c:v>45.6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95A-4467-9E64-14BCDA2E91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4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DA8-4153-A0B0-3512C6261F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5400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7C-4189-84B7-77F258E4A3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13</c:v>
                </c:pt>
                <c:pt idx="1">
                  <c:v>13</c:v>
                </c:pt>
                <c:pt idx="2">
                  <c:v>14</c:v>
                </c:pt>
                <c:pt idx="3">
                  <c:v>14</c:v>
                </c:pt>
                <c:pt idx="4">
                  <c:v>86</c:v>
                </c:pt>
                <c:pt idx="5">
                  <c:v>78</c:v>
                </c:pt>
                <c:pt idx="6">
                  <c:v>78</c:v>
                </c:pt>
                <c:pt idx="7">
                  <c:v>78</c:v>
                </c:pt>
                <c:pt idx="8">
                  <c:v>78</c:v>
                </c:pt>
                <c:pt idx="9">
                  <c:v>45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46</c:v>
                </c:pt>
                <c:pt idx="16">
                  <c:v>20</c:v>
                </c:pt>
                <c:pt idx="17">
                  <c:v>20</c:v>
                </c:pt>
                <c:pt idx="18">
                  <c:v>20</c:v>
                </c:pt>
                <c:pt idx="19">
                  <c:v>20</c:v>
                </c:pt>
                <c:pt idx="20">
                  <c:v>20</c:v>
                </c:pt>
                <c:pt idx="21">
                  <c:v>23</c:v>
                </c:pt>
                <c:pt idx="22">
                  <c:v>20</c:v>
                </c:pt>
                <c:pt idx="23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FA-4DA0-8E23-5B45BACD2C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5400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21-425D-B958-D498181E46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Sheet1!$A$2:$A$25</c:f>
              <c:strCache>
                <c:ptCount val="24"/>
                <c:pt idx="0">
                  <c:v>May 7</c:v>
                </c:pt>
                <c:pt idx="1">
                  <c:v>May 7</c:v>
                </c:pt>
                <c:pt idx="2">
                  <c:v>May 7</c:v>
                </c:pt>
                <c:pt idx="3">
                  <c:v>May 7</c:v>
                </c:pt>
                <c:pt idx="4">
                  <c:v>May 10</c:v>
                </c:pt>
                <c:pt idx="5">
                  <c:v>May 11</c:v>
                </c:pt>
                <c:pt idx="6">
                  <c:v>May 12</c:v>
                </c:pt>
                <c:pt idx="7">
                  <c:v>May 12</c:v>
                </c:pt>
                <c:pt idx="8">
                  <c:v>May 13</c:v>
                </c:pt>
                <c:pt idx="9">
                  <c:v>May 13</c:v>
                </c:pt>
                <c:pt idx="10">
                  <c:v>May 13</c:v>
                </c:pt>
                <c:pt idx="11">
                  <c:v>May 13</c:v>
                </c:pt>
                <c:pt idx="12">
                  <c:v>May 14</c:v>
                </c:pt>
                <c:pt idx="13">
                  <c:v>May 14</c:v>
                </c:pt>
                <c:pt idx="14">
                  <c:v>May 14</c:v>
                </c:pt>
                <c:pt idx="15">
                  <c:v>May 14</c:v>
                </c:pt>
                <c:pt idx="16">
                  <c:v>May 14</c:v>
                </c:pt>
                <c:pt idx="17">
                  <c:v>Jun 4</c:v>
                </c:pt>
                <c:pt idx="18">
                  <c:v>Jun 4</c:v>
                </c:pt>
                <c:pt idx="19">
                  <c:v>Jun 4</c:v>
                </c:pt>
                <c:pt idx="20">
                  <c:v>Jun 8</c:v>
                </c:pt>
                <c:pt idx="21">
                  <c:v>Jun 8</c:v>
                </c:pt>
                <c:pt idx="22">
                  <c:v>Jun 8</c:v>
                </c:pt>
                <c:pt idx="23">
                  <c:v>Jun 28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24.3</c:v>
                </c:pt>
                <c:pt idx="1">
                  <c:v>24.3</c:v>
                </c:pt>
                <c:pt idx="2">
                  <c:v>28.8</c:v>
                </c:pt>
                <c:pt idx="3">
                  <c:v>28.8</c:v>
                </c:pt>
                <c:pt idx="4">
                  <c:v>45.7</c:v>
                </c:pt>
                <c:pt idx="5">
                  <c:v>45.7</c:v>
                </c:pt>
                <c:pt idx="6">
                  <c:v>45.7</c:v>
                </c:pt>
                <c:pt idx="7">
                  <c:v>45.7</c:v>
                </c:pt>
                <c:pt idx="8">
                  <c:v>45.7</c:v>
                </c:pt>
                <c:pt idx="9">
                  <c:v>45.7</c:v>
                </c:pt>
                <c:pt idx="10">
                  <c:v>45.7</c:v>
                </c:pt>
                <c:pt idx="11">
                  <c:v>45.7</c:v>
                </c:pt>
                <c:pt idx="12">
                  <c:v>45.7</c:v>
                </c:pt>
                <c:pt idx="13">
                  <c:v>45.7</c:v>
                </c:pt>
                <c:pt idx="14">
                  <c:v>45.7</c:v>
                </c:pt>
                <c:pt idx="15">
                  <c:v>45.7</c:v>
                </c:pt>
                <c:pt idx="16">
                  <c:v>45.7</c:v>
                </c:pt>
                <c:pt idx="17">
                  <c:v>45.6</c:v>
                </c:pt>
                <c:pt idx="18">
                  <c:v>45.6</c:v>
                </c:pt>
                <c:pt idx="19">
                  <c:v>45.6</c:v>
                </c:pt>
                <c:pt idx="20">
                  <c:v>45.6</c:v>
                </c:pt>
                <c:pt idx="21">
                  <c:v>45.6</c:v>
                </c:pt>
                <c:pt idx="22">
                  <c:v>45.6</c:v>
                </c:pt>
                <c:pt idx="23">
                  <c:v>45.6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32-4CE6-A610-F16A98D0FC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8575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E3-4432-9789-D83A41C9B8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8575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E3-4432-9789-D83A41C9B8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8575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221</c:v>
                </c:pt>
                <c:pt idx="1">
                  <c:v>222</c:v>
                </c:pt>
                <c:pt idx="2">
                  <c:v>222</c:v>
                </c:pt>
                <c:pt idx="3">
                  <c:v>318</c:v>
                </c:pt>
                <c:pt idx="4">
                  <c:v>23</c:v>
                </c:pt>
                <c:pt idx="5">
                  <c:v>23</c:v>
                </c:pt>
                <c:pt idx="6">
                  <c:v>23</c:v>
                </c:pt>
                <c:pt idx="7">
                  <c:v>23</c:v>
                </c:pt>
                <c:pt idx="8">
                  <c:v>23</c:v>
                </c:pt>
                <c:pt idx="9">
                  <c:v>23</c:v>
                </c:pt>
                <c:pt idx="10">
                  <c:v>28</c:v>
                </c:pt>
                <c:pt idx="11">
                  <c:v>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EE3-4432-9789-D83A41C9B80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8575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EE3-4432-9789-D83A41C9B80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8575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39.299999999999997</c:v>
                </c:pt>
                <c:pt idx="1">
                  <c:v>39.299999999999997</c:v>
                </c:pt>
                <c:pt idx="2">
                  <c:v>39.299999999999997</c:v>
                </c:pt>
                <c:pt idx="3">
                  <c:v>41.8</c:v>
                </c:pt>
                <c:pt idx="4">
                  <c:v>42.5</c:v>
                </c:pt>
                <c:pt idx="5">
                  <c:v>42.5</c:v>
                </c:pt>
                <c:pt idx="6">
                  <c:v>42.5</c:v>
                </c:pt>
                <c:pt idx="7">
                  <c:v>42.5</c:v>
                </c:pt>
                <c:pt idx="8">
                  <c:v>42.5</c:v>
                </c:pt>
                <c:pt idx="9">
                  <c:v>42.5</c:v>
                </c:pt>
                <c:pt idx="10">
                  <c:v>42.7</c:v>
                </c:pt>
                <c:pt idx="11">
                  <c:v>42.7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EE3-4432-9789-D83A41C9B8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4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812-4E9B-9480-1A6B689006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5400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D3-47DA-82A9-B6DE72F906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221</c:v>
                </c:pt>
                <c:pt idx="1">
                  <c:v>222</c:v>
                </c:pt>
                <c:pt idx="2">
                  <c:v>222</c:v>
                </c:pt>
                <c:pt idx="3">
                  <c:v>318</c:v>
                </c:pt>
                <c:pt idx="4">
                  <c:v>23</c:v>
                </c:pt>
                <c:pt idx="5">
                  <c:v>23</c:v>
                </c:pt>
                <c:pt idx="6">
                  <c:v>23</c:v>
                </c:pt>
                <c:pt idx="7">
                  <c:v>23</c:v>
                </c:pt>
                <c:pt idx="8">
                  <c:v>23</c:v>
                </c:pt>
                <c:pt idx="9">
                  <c:v>23</c:v>
                </c:pt>
                <c:pt idx="10">
                  <c:v>28</c:v>
                </c:pt>
                <c:pt idx="11">
                  <c:v>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2D-4E35-A7D3-D39CC73100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5400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2B-41C7-9F6A-206BF4FB43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May 6</c:v>
                </c:pt>
                <c:pt idx="1">
                  <c:v>May 7</c:v>
                </c:pt>
                <c:pt idx="2">
                  <c:v>May 7</c:v>
                </c:pt>
                <c:pt idx="3">
                  <c:v>May 10</c:v>
                </c:pt>
                <c:pt idx="4">
                  <c:v>May 11</c:v>
                </c:pt>
                <c:pt idx="5">
                  <c:v>May 12</c:v>
                </c:pt>
                <c:pt idx="6">
                  <c:v>May 12</c:v>
                </c:pt>
                <c:pt idx="7">
                  <c:v>May 14</c:v>
                </c:pt>
                <c:pt idx="8">
                  <c:v>May 14</c:v>
                </c:pt>
                <c:pt idx="9">
                  <c:v>May 17</c:v>
                </c:pt>
                <c:pt idx="10">
                  <c:v>Jun 3</c:v>
                </c:pt>
                <c:pt idx="11">
                  <c:v>Jun 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39.299999999999997</c:v>
                </c:pt>
                <c:pt idx="1">
                  <c:v>39.299999999999997</c:v>
                </c:pt>
                <c:pt idx="2">
                  <c:v>39.299999999999997</c:v>
                </c:pt>
                <c:pt idx="3">
                  <c:v>41.8</c:v>
                </c:pt>
                <c:pt idx="4">
                  <c:v>42.5</c:v>
                </c:pt>
                <c:pt idx="5">
                  <c:v>42.5</c:v>
                </c:pt>
                <c:pt idx="6">
                  <c:v>42.5</c:v>
                </c:pt>
                <c:pt idx="7">
                  <c:v>42.5</c:v>
                </c:pt>
                <c:pt idx="8">
                  <c:v>42.5</c:v>
                </c:pt>
                <c:pt idx="9">
                  <c:v>42.5</c:v>
                </c:pt>
                <c:pt idx="10">
                  <c:v>42.7</c:v>
                </c:pt>
                <c:pt idx="11">
                  <c:v>42.7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BA-4877-BF49-72435282D3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8575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28</c:v>
                </c:pt>
                <c:pt idx="1">
                  <c:v>28</c:v>
                </c:pt>
                <c:pt idx="2">
                  <c:v>26</c:v>
                </c:pt>
                <c:pt idx="3">
                  <c:v>15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2</c:v>
                </c:pt>
                <c:pt idx="8">
                  <c:v>131</c:v>
                </c:pt>
                <c:pt idx="9">
                  <c:v>131</c:v>
                </c:pt>
                <c:pt idx="10">
                  <c:v>2</c:v>
                </c:pt>
                <c:pt idx="11">
                  <c:v>131</c:v>
                </c:pt>
                <c:pt idx="12">
                  <c:v>2</c:v>
                </c:pt>
                <c:pt idx="13">
                  <c:v>131</c:v>
                </c:pt>
                <c:pt idx="14">
                  <c:v>131</c:v>
                </c:pt>
                <c:pt idx="15">
                  <c:v>131</c:v>
                </c:pt>
                <c:pt idx="16">
                  <c:v>2</c:v>
                </c:pt>
                <c:pt idx="17">
                  <c:v>131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6</c:v>
                </c:pt>
                <c:pt idx="27">
                  <c:v>6</c:v>
                </c:pt>
                <c:pt idx="28">
                  <c:v>6</c:v>
                </c:pt>
                <c:pt idx="29">
                  <c:v>6</c:v>
                </c:pt>
                <c:pt idx="30">
                  <c:v>6</c:v>
                </c:pt>
                <c:pt idx="31">
                  <c:v>4</c:v>
                </c:pt>
                <c:pt idx="32">
                  <c:v>4</c:v>
                </c:pt>
                <c:pt idx="3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96-4BC5-92AA-9656A9C37E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8575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Sheet1!$C$2:$C$35</c:f>
              <c:numCache>
                <c:formatCode>General</c:formatCode>
                <c:ptCount val="3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D96-4BC5-92AA-9656A9C37E7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8575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Sheet1!$D$2:$D$35</c:f>
              <c:numCache>
                <c:formatCode>General</c:formatCode>
                <c:ptCount val="34"/>
                <c:pt idx="0">
                  <c:v>267</c:v>
                </c:pt>
                <c:pt idx="1">
                  <c:v>267</c:v>
                </c:pt>
                <c:pt idx="2">
                  <c:v>212</c:v>
                </c:pt>
                <c:pt idx="3">
                  <c:v>191</c:v>
                </c:pt>
                <c:pt idx="4">
                  <c:v>62</c:v>
                </c:pt>
                <c:pt idx="5">
                  <c:v>62</c:v>
                </c:pt>
                <c:pt idx="6">
                  <c:v>62</c:v>
                </c:pt>
                <c:pt idx="7">
                  <c:v>3</c:v>
                </c:pt>
                <c:pt idx="8">
                  <c:v>27414</c:v>
                </c:pt>
                <c:pt idx="9">
                  <c:v>27414</c:v>
                </c:pt>
                <c:pt idx="10">
                  <c:v>3</c:v>
                </c:pt>
                <c:pt idx="11">
                  <c:v>27414</c:v>
                </c:pt>
                <c:pt idx="12">
                  <c:v>3</c:v>
                </c:pt>
                <c:pt idx="13">
                  <c:v>27414</c:v>
                </c:pt>
                <c:pt idx="14">
                  <c:v>27414</c:v>
                </c:pt>
                <c:pt idx="15">
                  <c:v>27414</c:v>
                </c:pt>
                <c:pt idx="16">
                  <c:v>3</c:v>
                </c:pt>
                <c:pt idx="17">
                  <c:v>27414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179</c:v>
                </c:pt>
                <c:pt idx="27">
                  <c:v>179</c:v>
                </c:pt>
                <c:pt idx="28">
                  <c:v>179</c:v>
                </c:pt>
                <c:pt idx="29">
                  <c:v>179</c:v>
                </c:pt>
                <c:pt idx="30">
                  <c:v>179</c:v>
                </c:pt>
                <c:pt idx="31">
                  <c:v>179</c:v>
                </c:pt>
                <c:pt idx="32">
                  <c:v>168</c:v>
                </c:pt>
                <c:pt idx="33">
                  <c:v>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D96-4BC5-92AA-9656A9C37E7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8575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Sheet1!$E$2:$E$35</c:f>
              <c:numCache>
                <c:formatCode>General</c:formatCode>
                <c:ptCount val="34"/>
                <c:pt idx="0">
                  <c:v>4</c:v>
                </c:pt>
                <c:pt idx="1">
                  <c:v>4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D96-4BC5-92AA-9656A9C37E7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8575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Sheet1!$F$2:$F$35</c:f>
              <c:numCache>
                <c:formatCode>General</c:formatCode>
                <c:ptCount val="3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43</c:v>
                </c:pt>
                <c:pt idx="25">
                  <c:v>43</c:v>
                </c:pt>
                <c:pt idx="26">
                  <c:v>43</c:v>
                </c:pt>
                <c:pt idx="27">
                  <c:v>43</c:v>
                </c:pt>
                <c:pt idx="28">
                  <c:v>43</c:v>
                </c:pt>
                <c:pt idx="29">
                  <c:v>0</c:v>
                </c:pt>
                <c:pt idx="30">
                  <c:v>43</c:v>
                </c:pt>
                <c:pt idx="31">
                  <c:v>43</c:v>
                </c:pt>
                <c:pt idx="32">
                  <c:v>43.2</c:v>
                </c:pt>
                <c:pt idx="33">
                  <c:v>43.2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D96-4BC5-92AA-9656A9C37E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4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28</c:v>
                </c:pt>
                <c:pt idx="1">
                  <c:v>28</c:v>
                </c:pt>
                <c:pt idx="2">
                  <c:v>26</c:v>
                </c:pt>
                <c:pt idx="3">
                  <c:v>15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2</c:v>
                </c:pt>
                <c:pt idx="8">
                  <c:v>131</c:v>
                </c:pt>
                <c:pt idx="9">
                  <c:v>131</c:v>
                </c:pt>
                <c:pt idx="10">
                  <c:v>2</c:v>
                </c:pt>
                <c:pt idx="11">
                  <c:v>131</c:v>
                </c:pt>
                <c:pt idx="12">
                  <c:v>2</c:v>
                </c:pt>
                <c:pt idx="13">
                  <c:v>131</c:v>
                </c:pt>
                <c:pt idx="14">
                  <c:v>131</c:v>
                </c:pt>
                <c:pt idx="15">
                  <c:v>131</c:v>
                </c:pt>
                <c:pt idx="16">
                  <c:v>2</c:v>
                </c:pt>
                <c:pt idx="17">
                  <c:v>131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2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6</c:v>
                </c:pt>
                <c:pt idx="27">
                  <c:v>6</c:v>
                </c:pt>
                <c:pt idx="28">
                  <c:v>6</c:v>
                </c:pt>
                <c:pt idx="29">
                  <c:v>6</c:v>
                </c:pt>
                <c:pt idx="30">
                  <c:v>6</c:v>
                </c:pt>
                <c:pt idx="31">
                  <c:v>4</c:v>
                </c:pt>
                <c:pt idx="32">
                  <c:v>4</c:v>
                </c:pt>
                <c:pt idx="3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DD7-4707-A7EA-2A912E78DC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5400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92-47B6-9DA9-86F808B388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267</c:v>
                </c:pt>
                <c:pt idx="1">
                  <c:v>267</c:v>
                </c:pt>
                <c:pt idx="2">
                  <c:v>212</c:v>
                </c:pt>
                <c:pt idx="3">
                  <c:v>191</c:v>
                </c:pt>
                <c:pt idx="4">
                  <c:v>62</c:v>
                </c:pt>
                <c:pt idx="5">
                  <c:v>62</c:v>
                </c:pt>
                <c:pt idx="6">
                  <c:v>62</c:v>
                </c:pt>
                <c:pt idx="7">
                  <c:v>3</c:v>
                </c:pt>
                <c:pt idx="8">
                  <c:v>27414</c:v>
                </c:pt>
                <c:pt idx="9">
                  <c:v>27414</c:v>
                </c:pt>
                <c:pt idx="10">
                  <c:v>3</c:v>
                </c:pt>
                <c:pt idx="11">
                  <c:v>27414</c:v>
                </c:pt>
                <c:pt idx="12">
                  <c:v>3</c:v>
                </c:pt>
                <c:pt idx="13">
                  <c:v>27414</c:v>
                </c:pt>
                <c:pt idx="14">
                  <c:v>27414</c:v>
                </c:pt>
                <c:pt idx="15">
                  <c:v>27414</c:v>
                </c:pt>
                <c:pt idx="16">
                  <c:v>3</c:v>
                </c:pt>
                <c:pt idx="17">
                  <c:v>27414</c:v>
                </c:pt>
                <c:pt idx="18">
                  <c:v>3</c:v>
                </c:pt>
                <c:pt idx="19">
                  <c:v>3</c:v>
                </c:pt>
                <c:pt idx="20">
                  <c:v>3</c:v>
                </c:pt>
                <c:pt idx="21">
                  <c:v>3</c:v>
                </c:pt>
                <c:pt idx="22">
                  <c:v>3</c:v>
                </c:pt>
                <c:pt idx="23">
                  <c:v>3</c:v>
                </c:pt>
                <c:pt idx="24">
                  <c:v>3</c:v>
                </c:pt>
                <c:pt idx="25">
                  <c:v>3</c:v>
                </c:pt>
                <c:pt idx="26">
                  <c:v>179</c:v>
                </c:pt>
                <c:pt idx="27">
                  <c:v>179</c:v>
                </c:pt>
                <c:pt idx="28">
                  <c:v>179</c:v>
                </c:pt>
                <c:pt idx="29">
                  <c:v>179</c:v>
                </c:pt>
                <c:pt idx="30">
                  <c:v>179</c:v>
                </c:pt>
                <c:pt idx="31">
                  <c:v>179</c:v>
                </c:pt>
                <c:pt idx="32">
                  <c:v>168</c:v>
                </c:pt>
                <c:pt idx="33">
                  <c:v>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82A-462D-B49A-F8DAEC4A186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5400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4</c:v>
                </c:pt>
                <c:pt idx="1">
                  <c:v>4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EE7-4DC2-B869-B9DE72D17C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Sheet1!$A$2:$A$35</c:f>
              <c:strCache>
                <c:ptCount val="34"/>
                <c:pt idx="0">
                  <c:v>Apr 13</c:v>
                </c:pt>
                <c:pt idx="1">
                  <c:v>Apr 13</c:v>
                </c:pt>
                <c:pt idx="2">
                  <c:v>Apr 28</c:v>
                </c:pt>
                <c:pt idx="3">
                  <c:v>Apr 29</c:v>
                </c:pt>
                <c:pt idx="4">
                  <c:v>Apr 29</c:v>
                </c:pt>
                <c:pt idx="5">
                  <c:v>Apr 29</c:v>
                </c:pt>
                <c:pt idx="6">
                  <c:v>Apr 29</c:v>
                </c:pt>
                <c:pt idx="7">
                  <c:v>Apr 30</c:v>
                </c:pt>
                <c:pt idx="8">
                  <c:v>Apr 30</c:v>
                </c:pt>
                <c:pt idx="9">
                  <c:v>Apr 30</c:v>
                </c:pt>
                <c:pt idx="10">
                  <c:v>Apr 30</c:v>
                </c:pt>
                <c:pt idx="11">
                  <c:v>Apr 30</c:v>
                </c:pt>
                <c:pt idx="12">
                  <c:v>Apr 30</c:v>
                </c:pt>
                <c:pt idx="13">
                  <c:v>Apr 30</c:v>
                </c:pt>
                <c:pt idx="14">
                  <c:v>Apr 30</c:v>
                </c:pt>
                <c:pt idx="15">
                  <c:v>Apr 30</c:v>
                </c:pt>
                <c:pt idx="16">
                  <c:v>Apr 30</c:v>
                </c:pt>
                <c:pt idx="17">
                  <c:v>Apr 30</c:v>
                </c:pt>
                <c:pt idx="18">
                  <c:v>Apr 30</c:v>
                </c:pt>
                <c:pt idx="19">
                  <c:v>Apr 30</c:v>
                </c:pt>
                <c:pt idx="20">
                  <c:v>Apr 30</c:v>
                </c:pt>
                <c:pt idx="21">
                  <c:v>Apr 30</c:v>
                </c:pt>
                <c:pt idx="22">
                  <c:v>Apr 30</c:v>
                </c:pt>
                <c:pt idx="23">
                  <c:v>Apr 30</c:v>
                </c:pt>
                <c:pt idx="24">
                  <c:v>May 3</c:v>
                </c:pt>
                <c:pt idx="25">
                  <c:v>May 3</c:v>
                </c:pt>
                <c:pt idx="26">
                  <c:v>May 12</c:v>
                </c:pt>
                <c:pt idx="27">
                  <c:v>May 12</c:v>
                </c:pt>
                <c:pt idx="28">
                  <c:v>May 14</c:v>
                </c:pt>
                <c:pt idx="29">
                  <c:v>May 14</c:v>
                </c:pt>
                <c:pt idx="30">
                  <c:v>May 14</c:v>
                </c:pt>
                <c:pt idx="31">
                  <c:v>Jun 4</c:v>
                </c:pt>
                <c:pt idx="32">
                  <c:v>Jun 23</c:v>
                </c:pt>
                <c:pt idx="33">
                  <c:v>Jun 23</c:v>
                </c:pt>
              </c:strCache>
            </c:strRef>
          </c:cat>
          <c:val>
            <c:numRef>
              <c:f>Sheet1!$B$2:$B$35</c:f>
              <c:numCache>
                <c:formatCode>General</c:formatCode>
                <c:ptCount val="3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43</c:v>
                </c:pt>
                <c:pt idx="25">
                  <c:v>43</c:v>
                </c:pt>
                <c:pt idx="26">
                  <c:v>43</c:v>
                </c:pt>
                <c:pt idx="27">
                  <c:v>43</c:v>
                </c:pt>
                <c:pt idx="28">
                  <c:v>43</c:v>
                </c:pt>
                <c:pt idx="29">
                  <c:v>0</c:v>
                </c:pt>
                <c:pt idx="30">
                  <c:v>43</c:v>
                </c:pt>
                <c:pt idx="31">
                  <c:v>43</c:v>
                </c:pt>
                <c:pt idx="32">
                  <c:v>43.2</c:v>
                </c:pt>
                <c:pt idx="33">
                  <c:v>43.2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5C-4D52-8D7A-EA10C41CE5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8575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64</c:v>
                </c:pt>
                <c:pt idx="1">
                  <c:v>64</c:v>
                </c:pt>
                <c:pt idx="2">
                  <c:v>64</c:v>
                </c:pt>
                <c:pt idx="3">
                  <c:v>64</c:v>
                </c:pt>
                <c:pt idx="4">
                  <c:v>64</c:v>
                </c:pt>
                <c:pt idx="5">
                  <c:v>64</c:v>
                </c:pt>
                <c:pt idx="6">
                  <c:v>64</c:v>
                </c:pt>
                <c:pt idx="7">
                  <c:v>64</c:v>
                </c:pt>
                <c:pt idx="8">
                  <c:v>64</c:v>
                </c:pt>
                <c:pt idx="9">
                  <c:v>64</c:v>
                </c:pt>
                <c:pt idx="10">
                  <c:v>64</c:v>
                </c:pt>
                <c:pt idx="11">
                  <c:v>7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7</c:v>
                </c:pt>
                <c:pt idx="19">
                  <c:v>7</c:v>
                </c:pt>
                <c:pt idx="20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A7-46FC-9656-FC8350FAD4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8575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A7-46FC-9656-FC8350FAD48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8575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>581</c:v>
                </c:pt>
                <c:pt idx="1">
                  <c:v>581</c:v>
                </c:pt>
                <c:pt idx="2">
                  <c:v>581</c:v>
                </c:pt>
                <c:pt idx="3">
                  <c:v>581</c:v>
                </c:pt>
                <c:pt idx="4">
                  <c:v>581</c:v>
                </c:pt>
                <c:pt idx="5">
                  <c:v>581</c:v>
                </c:pt>
                <c:pt idx="6">
                  <c:v>581</c:v>
                </c:pt>
                <c:pt idx="7">
                  <c:v>581</c:v>
                </c:pt>
                <c:pt idx="8">
                  <c:v>433</c:v>
                </c:pt>
                <c:pt idx="9">
                  <c:v>433</c:v>
                </c:pt>
                <c:pt idx="10">
                  <c:v>433</c:v>
                </c:pt>
                <c:pt idx="11">
                  <c:v>112</c:v>
                </c:pt>
                <c:pt idx="12">
                  <c:v>99</c:v>
                </c:pt>
                <c:pt idx="13">
                  <c:v>99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102</c:v>
                </c:pt>
                <c:pt idx="19">
                  <c:v>97</c:v>
                </c:pt>
                <c:pt idx="20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A7-46FC-9656-FC8350FAD48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8575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Sheet1!$E$2:$E$22</c:f>
              <c:numCache>
                <c:formatCode>General</c:formatCode>
                <c:ptCount val="2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3A7-46FC-9656-FC8350FAD48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8575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Sheet1!$F$2:$F$22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56.7</c:v>
                </c:pt>
                <c:pt idx="10">
                  <c:v>56.7</c:v>
                </c:pt>
                <c:pt idx="11">
                  <c:v>50.6</c:v>
                </c:pt>
                <c:pt idx="12">
                  <c:v>50.6</c:v>
                </c:pt>
                <c:pt idx="13">
                  <c:v>50.6</c:v>
                </c:pt>
                <c:pt idx="14">
                  <c:v>50.5</c:v>
                </c:pt>
                <c:pt idx="15">
                  <c:v>50.5</c:v>
                </c:pt>
                <c:pt idx="16">
                  <c:v>50.5</c:v>
                </c:pt>
                <c:pt idx="17">
                  <c:v>50.5</c:v>
                </c:pt>
                <c:pt idx="18">
                  <c:v>50.5</c:v>
                </c:pt>
                <c:pt idx="19">
                  <c:v>50.4</c:v>
                </c:pt>
                <c:pt idx="20">
                  <c:v>50.4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3A7-46FC-9656-FC8350FAD4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4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64</c:v>
                </c:pt>
                <c:pt idx="1">
                  <c:v>64</c:v>
                </c:pt>
                <c:pt idx="2">
                  <c:v>64</c:v>
                </c:pt>
                <c:pt idx="3">
                  <c:v>64</c:v>
                </c:pt>
                <c:pt idx="4">
                  <c:v>64</c:v>
                </c:pt>
                <c:pt idx="5">
                  <c:v>64</c:v>
                </c:pt>
                <c:pt idx="6">
                  <c:v>64</c:v>
                </c:pt>
                <c:pt idx="7">
                  <c:v>64</c:v>
                </c:pt>
                <c:pt idx="8">
                  <c:v>64</c:v>
                </c:pt>
                <c:pt idx="9">
                  <c:v>64</c:v>
                </c:pt>
                <c:pt idx="10">
                  <c:v>64</c:v>
                </c:pt>
                <c:pt idx="11">
                  <c:v>7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  <c:pt idx="15">
                  <c:v>7</c:v>
                </c:pt>
                <c:pt idx="16">
                  <c:v>7</c:v>
                </c:pt>
                <c:pt idx="17">
                  <c:v>7</c:v>
                </c:pt>
                <c:pt idx="18">
                  <c:v>7</c:v>
                </c:pt>
                <c:pt idx="19">
                  <c:v>7</c:v>
                </c:pt>
                <c:pt idx="20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6C-46D5-8E49-5EFAAB2B54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5400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B13-458C-B40D-788A4B33CE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581</c:v>
                </c:pt>
                <c:pt idx="1">
                  <c:v>581</c:v>
                </c:pt>
                <c:pt idx="2">
                  <c:v>581</c:v>
                </c:pt>
                <c:pt idx="3">
                  <c:v>581</c:v>
                </c:pt>
                <c:pt idx="4">
                  <c:v>581</c:v>
                </c:pt>
                <c:pt idx="5">
                  <c:v>581</c:v>
                </c:pt>
                <c:pt idx="6">
                  <c:v>581</c:v>
                </c:pt>
                <c:pt idx="7">
                  <c:v>581</c:v>
                </c:pt>
                <c:pt idx="8">
                  <c:v>433</c:v>
                </c:pt>
                <c:pt idx="9">
                  <c:v>433</c:v>
                </c:pt>
                <c:pt idx="10">
                  <c:v>433</c:v>
                </c:pt>
                <c:pt idx="11">
                  <c:v>112</c:v>
                </c:pt>
                <c:pt idx="12">
                  <c:v>99</c:v>
                </c:pt>
                <c:pt idx="13">
                  <c:v>99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102</c:v>
                </c:pt>
                <c:pt idx="19">
                  <c:v>97</c:v>
                </c:pt>
                <c:pt idx="20">
                  <c:v>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38-41EC-882A-BC9D2BC751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5400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2DE-4F5F-A9E2-3EB49F504C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Sheet1!$A$2:$A$22</c:f>
              <c:strCache>
                <c:ptCount val="21"/>
                <c:pt idx="0">
                  <c:v>May 13</c:v>
                </c:pt>
                <c:pt idx="1">
                  <c:v>May 13</c:v>
                </c:pt>
                <c:pt idx="2">
                  <c:v>May 13</c:v>
                </c:pt>
                <c:pt idx="3">
                  <c:v>May 13</c:v>
                </c:pt>
                <c:pt idx="4">
                  <c:v>May 13</c:v>
                </c:pt>
                <c:pt idx="5">
                  <c:v>May 13</c:v>
                </c:pt>
                <c:pt idx="6">
                  <c:v>May 13</c:v>
                </c:pt>
                <c:pt idx="7">
                  <c:v>May 13</c:v>
                </c:pt>
                <c:pt idx="8">
                  <c:v>May 13</c:v>
                </c:pt>
                <c:pt idx="9">
                  <c:v>May 14</c:v>
                </c:pt>
                <c:pt idx="10">
                  <c:v>May 17</c:v>
                </c:pt>
                <c:pt idx="11">
                  <c:v>May 17</c:v>
                </c:pt>
                <c:pt idx="12">
                  <c:v>May 17</c:v>
                </c:pt>
                <c:pt idx="13">
                  <c:v>May 17</c:v>
                </c:pt>
                <c:pt idx="14">
                  <c:v>Jun 3</c:v>
                </c:pt>
                <c:pt idx="15">
                  <c:v>Jun 3</c:v>
                </c:pt>
                <c:pt idx="16">
                  <c:v>Jun 4</c:v>
                </c:pt>
                <c:pt idx="17">
                  <c:v>Jun 8</c:v>
                </c:pt>
                <c:pt idx="18">
                  <c:v>Jun 21</c:v>
                </c:pt>
                <c:pt idx="19">
                  <c:v>Jun 29</c:v>
                </c:pt>
                <c:pt idx="20">
                  <c:v>Jun 29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56.7</c:v>
                </c:pt>
                <c:pt idx="10">
                  <c:v>56.7</c:v>
                </c:pt>
                <c:pt idx="11">
                  <c:v>50.6</c:v>
                </c:pt>
                <c:pt idx="12">
                  <c:v>50.6</c:v>
                </c:pt>
                <c:pt idx="13">
                  <c:v>50.6</c:v>
                </c:pt>
                <c:pt idx="14">
                  <c:v>50.5</c:v>
                </c:pt>
                <c:pt idx="15">
                  <c:v>50.5</c:v>
                </c:pt>
                <c:pt idx="16">
                  <c:v>50.5</c:v>
                </c:pt>
                <c:pt idx="17">
                  <c:v>50.5</c:v>
                </c:pt>
                <c:pt idx="18">
                  <c:v>50.5</c:v>
                </c:pt>
                <c:pt idx="19">
                  <c:v>50.4</c:v>
                </c:pt>
                <c:pt idx="20">
                  <c:v>50.4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772-400C-9D13-952B2FBADE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8575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3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03-4FA8-B080-42903566E7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8575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03-4FA8-B080-42903566E7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8575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104</c:v>
                </c:pt>
                <c:pt idx="1">
                  <c:v>104</c:v>
                </c:pt>
                <c:pt idx="2">
                  <c:v>104</c:v>
                </c:pt>
                <c:pt idx="3">
                  <c:v>104</c:v>
                </c:pt>
                <c:pt idx="4">
                  <c:v>93</c:v>
                </c:pt>
                <c:pt idx="5">
                  <c:v>93</c:v>
                </c:pt>
                <c:pt idx="6">
                  <c:v>91</c:v>
                </c:pt>
                <c:pt idx="7">
                  <c:v>91</c:v>
                </c:pt>
                <c:pt idx="8">
                  <c:v>93</c:v>
                </c:pt>
                <c:pt idx="9">
                  <c:v>93</c:v>
                </c:pt>
                <c:pt idx="10">
                  <c:v>93</c:v>
                </c:pt>
                <c:pt idx="11">
                  <c:v>93</c:v>
                </c:pt>
                <c:pt idx="12">
                  <c:v>91</c:v>
                </c:pt>
                <c:pt idx="13">
                  <c:v>92</c:v>
                </c:pt>
                <c:pt idx="14">
                  <c:v>92</c:v>
                </c:pt>
                <c:pt idx="15">
                  <c:v>93</c:v>
                </c:pt>
                <c:pt idx="16">
                  <c:v>91</c:v>
                </c:pt>
                <c:pt idx="17">
                  <c:v>91</c:v>
                </c:pt>
                <c:pt idx="18">
                  <c:v>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003-4FA8-B080-42903566E7D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8575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Sheet1!$E$2:$E$20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003-4FA8-B080-42903566E7D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8575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Sheet1!$F$2:$F$20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55.6</c:v>
                </c:pt>
                <c:pt idx="5">
                  <c:v>55.6</c:v>
                </c:pt>
                <c:pt idx="6">
                  <c:v>55.3</c:v>
                </c:pt>
                <c:pt idx="7">
                  <c:v>55.3</c:v>
                </c:pt>
                <c:pt idx="8">
                  <c:v>55.6</c:v>
                </c:pt>
                <c:pt idx="9">
                  <c:v>55.6</c:v>
                </c:pt>
                <c:pt idx="10">
                  <c:v>55.6</c:v>
                </c:pt>
                <c:pt idx="11">
                  <c:v>55.6</c:v>
                </c:pt>
                <c:pt idx="12">
                  <c:v>55.3</c:v>
                </c:pt>
                <c:pt idx="13">
                  <c:v>51.8</c:v>
                </c:pt>
                <c:pt idx="14">
                  <c:v>51.8</c:v>
                </c:pt>
                <c:pt idx="15">
                  <c:v>55.6</c:v>
                </c:pt>
                <c:pt idx="16">
                  <c:v>55.3</c:v>
                </c:pt>
                <c:pt idx="17">
                  <c:v>55.3</c:v>
                </c:pt>
                <c:pt idx="18">
                  <c:v>55.3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003-4FA8-B080-42903566E7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4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3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220-468E-9FA0-314421E5E4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5400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F5-4B07-8F8F-7B53E286F6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104</c:v>
                </c:pt>
                <c:pt idx="1">
                  <c:v>104</c:v>
                </c:pt>
                <c:pt idx="2">
                  <c:v>104</c:v>
                </c:pt>
                <c:pt idx="3">
                  <c:v>104</c:v>
                </c:pt>
                <c:pt idx="4">
                  <c:v>93</c:v>
                </c:pt>
                <c:pt idx="5">
                  <c:v>93</c:v>
                </c:pt>
                <c:pt idx="6">
                  <c:v>91</c:v>
                </c:pt>
                <c:pt idx="7">
                  <c:v>91</c:v>
                </c:pt>
                <c:pt idx="8">
                  <c:v>93</c:v>
                </c:pt>
                <c:pt idx="9">
                  <c:v>93</c:v>
                </c:pt>
                <c:pt idx="10">
                  <c:v>93</c:v>
                </c:pt>
                <c:pt idx="11">
                  <c:v>93</c:v>
                </c:pt>
                <c:pt idx="12">
                  <c:v>91</c:v>
                </c:pt>
                <c:pt idx="13">
                  <c:v>92</c:v>
                </c:pt>
                <c:pt idx="14">
                  <c:v>92</c:v>
                </c:pt>
                <c:pt idx="15">
                  <c:v>93</c:v>
                </c:pt>
                <c:pt idx="16">
                  <c:v>91</c:v>
                </c:pt>
                <c:pt idx="17">
                  <c:v>91</c:v>
                </c:pt>
                <c:pt idx="18">
                  <c:v>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D61-44D1-8ABE-456B0592E8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5400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58-4ECA-9615-EA725CEBDE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Sheet1!$A$2:$A$20</c:f>
              <c:strCache>
                <c:ptCount val="19"/>
                <c:pt idx="0">
                  <c:v>May 11</c:v>
                </c:pt>
                <c:pt idx="1">
                  <c:v>May 12</c:v>
                </c:pt>
                <c:pt idx="2">
                  <c:v>May 14</c:v>
                </c:pt>
                <c:pt idx="3">
                  <c:v>May 19</c:v>
                </c:pt>
                <c:pt idx="4">
                  <c:v>May 19</c:v>
                </c:pt>
                <c:pt idx="5">
                  <c:v>May 20</c:v>
                </c:pt>
                <c:pt idx="6">
                  <c:v>May 21</c:v>
                </c:pt>
                <c:pt idx="7">
                  <c:v>May 21</c:v>
                </c:pt>
                <c:pt idx="8">
                  <c:v>May 21</c:v>
                </c:pt>
                <c:pt idx="9">
                  <c:v>May 21</c:v>
                </c:pt>
                <c:pt idx="10">
                  <c:v>May 21</c:v>
                </c:pt>
                <c:pt idx="11">
                  <c:v>May 21</c:v>
                </c:pt>
                <c:pt idx="12">
                  <c:v>May 21</c:v>
                </c:pt>
                <c:pt idx="13">
                  <c:v>May 21</c:v>
                </c:pt>
                <c:pt idx="14">
                  <c:v>May 21</c:v>
                </c:pt>
                <c:pt idx="15">
                  <c:v>May 21</c:v>
                </c:pt>
                <c:pt idx="16">
                  <c:v>Jun 3</c:v>
                </c:pt>
                <c:pt idx="17">
                  <c:v>Jun 3</c:v>
                </c:pt>
                <c:pt idx="18">
                  <c:v>Jun 4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55.6</c:v>
                </c:pt>
                <c:pt idx="5">
                  <c:v>55.6</c:v>
                </c:pt>
                <c:pt idx="6">
                  <c:v>55.3</c:v>
                </c:pt>
                <c:pt idx="7">
                  <c:v>55.3</c:v>
                </c:pt>
                <c:pt idx="8">
                  <c:v>55.6</c:v>
                </c:pt>
                <c:pt idx="9">
                  <c:v>55.6</c:v>
                </c:pt>
                <c:pt idx="10">
                  <c:v>55.6</c:v>
                </c:pt>
                <c:pt idx="11">
                  <c:v>55.6</c:v>
                </c:pt>
                <c:pt idx="12">
                  <c:v>55.3</c:v>
                </c:pt>
                <c:pt idx="13">
                  <c:v>51.8</c:v>
                </c:pt>
                <c:pt idx="14">
                  <c:v>51.8</c:v>
                </c:pt>
                <c:pt idx="15">
                  <c:v>55.6</c:v>
                </c:pt>
                <c:pt idx="16">
                  <c:v>55.3</c:v>
                </c:pt>
                <c:pt idx="17">
                  <c:v>55.3</c:v>
                </c:pt>
                <c:pt idx="18">
                  <c:v>55.3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41-4563-BCA5-92DEDC28D4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8575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13</c:v>
                </c:pt>
                <c:pt idx="1">
                  <c:v>13</c:v>
                </c:pt>
                <c:pt idx="2">
                  <c:v>14</c:v>
                </c:pt>
                <c:pt idx="3">
                  <c:v>14</c:v>
                </c:pt>
                <c:pt idx="4">
                  <c:v>13</c:v>
                </c:pt>
                <c:pt idx="5">
                  <c:v>13</c:v>
                </c:pt>
                <c:pt idx="6">
                  <c:v>13</c:v>
                </c:pt>
                <c:pt idx="7">
                  <c:v>13</c:v>
                </c:pt>
                <c:pt idx="8">
                  <c:v>13</c:v>
                </c:pt>
                <c:pt idx="9">
                  <c:v>12</c:v>
                </c:pt>
                <c:pt idx="10">
                  <c:v>13</c:v>
                </c:pt>
                <c:pt idx="11">
                  <c:v>13</c:v>
                </c:pt>
                <c:pt idx="12">
                  <c:v>13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49-4B9E-B80E-15C69C468D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8575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049-4B9E-B80E-15C69C468DC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8575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290</c:v>
                </c:pt>
                <c:pt idx="1">
                  <c:v>290</c:v>
                </c:pt>
                <c:pt idx="2">
                  <c:v>293</c:v>
                </c:pt>
                <c:pt idx="3">
                  <c:v>203</c:v>
                </c:pt>
                <c:pt idx="4">
                  <c:v>180</c:v>
                </c:pt>
                <c:pt idx="5">
                  <c:v>160</c:v>
                </c:pt>
                <c:pt idx="6">
                  <c:v>160</c:v>
                </c:pt>
                <c:pt idx="7">
                  <c:v>133</c:v>
                </c:pt>
                <c:pt idx="8">
                  <c:v>133</c:v>
                </c:pt>
                <c:pt idx="9">
                  <c:v>154</c:v>
                </c:pt>
                <c:pt idx="10">
                  <c:v>133</c:v>
                </c:pt>
                <c:pt idx="11">
                  <c:v>133</c:v>
                </c:pt>
                <c:pt idx="12">
                  <c:v>133</c:v>
                </c:pt>
                <c:pt idx="13">
                  <c:v>131</c:v>
                </c:pt>
                <c:pt idx="14">
                  <c:v>131</c:v>
                </c:pt>
                <c:pt idx="15">
                  <c:v>131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049-4B9E-B80E-15C69C468DC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8575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Sheet1!$E$2:$E$17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049-4B9E-B80E-15C69C468DC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8575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Sheet1!$F$2:$F$17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41.7</c:v>
                </c:pt>
                <c:pt idx="7">
                  <c:v>44.7</c:v>
                </c:pt>
                <c:pt idx="8">
                  <c:v>44.7</c:v>
                </c:pt>
                <c:pt idx="9">
                  <c:v>41.9</c:v>
                </c:pt>
                <c:pt idx="10">
                  <c:v>44.7</c:v>
                </c:pt>
                <c:pt idx="11">
                  <c:v>44.7</c:v>
                </c:pt>
                <c:pt idx="12">
                  <c:v>44.7</c:v>
                </c:pt>
                <c:pt idx="13">
                  <c:v>44.3</c:v>
                </c:pt>
                <c:pt idx="14">
                  <c:v>44.3</c:v>
                </c:pt>
                <c:pt idx="15">
                  <c:v>44.3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3049-4B9E-B80E-15C69C468D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B4B7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Bugs</c:v>
                </c:pt>
              </c:strCache>
            </c:strRef>
          </c:tx>
          <c:spPr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13</c:v>
                </c:pt>
                <c:pt idx="1">
                  <c:v>13</c:v>
                </c:pt>
                <c:pt idx="2">
                  <c:v>14</c:v>
                </c:pt>
                <c:pt idx="3">
                  <c:v>14</c:v>
                </c:pt>
                <c:pt idx="4">
                  <c:v>13</c:v>
                </c:pt>
                <c:pt idx="5">
                  <c:v>13</c:v>
                </c:pt>
                <c:pt idx="6">
                  <c:v>13</c:v>
                </c:pt>
                <c:pt idx="7">
                  <c:v>13</c:v>
                </c:pt>
                <c:pt idx="8">
                  <c:v>13</c:v>
                </c:pt>
                <c:pt idx="9">
                  <c:v>12</c:v>
                </c:pt>
                <c:pt idx="10">
                  <c:v>13</c:v>
                </c:pt>
                <c:pt idx="11">
                  <c:v>13</c:v>
                </c:pt>
                <c:pt idx="12">
                  <c:v>13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BE7-41D4-A950-9632AECE7B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Vulnerabilities</c:v>
                </c:pt>
              </c:strCache>
            </c:strRef>
          </c:tx>
          <c:spPr>
            <a:ln w="25400" cap="flat">
              <a:solidFill>
                <a:srgbClr val="6A1B9A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A1B9A"/>
              </a:solidFill>
              <a:ln w="9525" cap="flat">
                <a:solidFill>
                  <a:srgbClr val="6A1B9A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23-45C7-B4B2-6D6D133542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Code Smells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290</c:v>
                </c:pt>
                <c:pt idx="1">
                  <c:v>290</c:v>
                </c:pt>
                <c:pt idx="2">
                  <c:v>293</c:v>
                </c:pt>
                <c:pt idx="3">
                  <c:v>203</c:v>
                </c:pt>
                <c:pt idx="4">
                  <c:v>180</c:v>
                </c:pt>
                <c:pt idx="5">
                  <c:v>160</c:v>
                </c:pt>
                <c:pt idx="6">
                  <c:v>160</c:v>
                </c:pt>
                <c:pt idx="7">
                  <c:v>133</c:v>
                </c:pt>
                <c:pt idx="8">
                  <c:v>133</c:v>
                </c:pt>
                <c:pt idx="9">
                  <c:v>154</c:v>
                </c:pt>
                <c:pt idx="10">
                  <c:v>133</c:v>
                </c:pt>
                <c:pt idx="11">
                  <c:v>133</c:v>
                </c:pt>
                <c:pt idx="12">
                  <c:v>133</c:v>
                </c:pt>
                <c:pt idx="13">
                  <c:v>131</c:v>
                </c:pt>
                <c:pt idx="14">
                  <c:v>131</c:v>
                </c:pt>
                <c:pt idx="15">
                  <c:v>131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A9B-4DAB-BC68-634A61A4CE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Security Hotspots</c:v>
                </c:pt>
              </c:strCache>
            </c:strRef>
          </c:tx>
          <c:spPr>
            <a:ln w="25400" cap="flat">
              <a:solidFill>
                <a:srgbClr val="6F51EB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6F51EB"/>
              </a:solidFill>
              <a:ln w="9525" cap="flat">
                <a:solidFill>
                  <a:srgbClr val="6F51EB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1A-41C9-AEFA-82498C92A9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(%)</c:v>
                </c:pt>
              </c:strCache>
            </c:strRef>
          </c:tx>
          <c:spPr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3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May 11</c:v>
                </c:pt>
                <c:pt idx="1">
                  <c:v>May 12</c:v>
                </c:pt>
                <c:pt idx="2">
                  <c:v>May 12</c:v>
                </c:pt>
                <c:pt idx="3">
                  <c:v>May 13</c:v>
                </c:pt>
                <c:pt idx="4">
                  <c:v>May 14</c:v>
                </c:pt>
                <c:pt idx="5">
                  <c:v>May 14</c:v>
                </c:pt>
                <c:pt idx="6">
                  <c:v>May 14</c:v>
                </c:pt>
                <c:pt idx="7">
                  <c:v>May 17</c:v>
                </c:pt>
                <c:pt idx="8">
                  <c:v>May 17</c:v>
                </c:pt>
                <c:pt idx="9">
                  <c:v>May 18</c:v>
                </c:pt>
                <c:pt idx="10">
                  <c:v>May 18</c:v>
                </c:pt>
                <c:pt idx="11">
                  <c:v>May 18</c:v>
                </c:pt>
                <c:pt idx="12">
                  <c:v>Jun 1</c:v>
                </c:pt>
                <c:pt idx="13">
                  <c:v>Jun 3</c:v>
                </c:pt>
                <c:pt idx="14">
                  <c:v>Jun 3</c:v>
                </c:pt>
                <c:pt idx="15">
                  <c:v>Jun 4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41.7</c:v>
                </c:pt>
                <c:pt idx="7">
                  <c:v>44.7</c:v>
                </c:pt>
                <c:pt idx="8">
                  <c:v>44.7</c:v>
                </c:pt>
                <c:pt idx="9">
                  <c:v>41.9</c:v>
                </c:pt>
                <c:pt idx="10">
                  <c:v>44.7</c:v>
                </c:pt>
                <c:pt idx="11">
                  <c:v>44.7</c:v>
                </c:pt>
                <c:pt idx="12">
                  <c:v>44.7</c:v>
                </c:pt>
                <c:pt idx="13">
                  <c:v>44.3</c:v>
                </c:pt>
                <c:pt idx="14">
                  <c:v>44.3</c:v>
                </c:pt>
                <c:pt idx="15">
                  <c:v>44.3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9E-4BCD-A742-9248DBEA5A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7074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4102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2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2.xml"/><Relationship Id="rId3" Type="http://schemas.openxmlformats.org/officeDocument/2006/relationships/image" Target="../media/image2.png"/><Relationship Id="rId7" Type="http://schemas.openxmlformats.org/officeDocument/2006/relationships/chart" Target="../charts/chart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8.xml"/><Relationship Id="rId3" Type="http://schemas.openxmlformats.org/officeDocument/2006/relationships/image" Target="../media/image2.png"/><Relationship Id="rId7" Type="http://schemas.openxmlformats.org/officeDocument/2006/relationships/chart" Target="../charts/chart1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6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4.xml"/><Relationship Id="rId3" Type="http://schemas.openxmlformats.org/officeDocument/2006/relationships/image" Target="../media/image2.png"/><Relationship Id="rId7" Type="http://schemas.openxmlformats.org/officeDocument/2006/relationships/chart" Target="../charts/chart2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2.xml"/><Relationship Id="rId5" Type="http://schemas.openxmlformats.org/officeDocument/2006/relationships/chart" Target="../charts/chart21.xml"/><Relationship Id="rId4" Type="http://schemas.openxmlformats.org/officeDocument/2006/relationships/chart" Target="../charts/char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0.xml"/><Relationship Id="rId3" Type="http://schemas.openxmlformats.org/officeDocument/2006/relationships/image" Target="../media/image2.png"/><Relationship Id="rId7" Type="http://schemas.openxmlformats.org/officeDocument/2006/relationships/chart" Target="../charts/chart29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8.xml"/><Relationship Id="rId5" Type="http://schemas.openxmlformats.org/officeDocument/2006/relationships/chart" Target="../charts/chart27.xml"/><Relationship Id="rId4" Type="http://schemas.openxmlformats.org/officeDocument/2006/relationships/chart" Target="../charts/chart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6.xml"/><Relationship Id="rId3" Type="http://schemas.openxmlformats.org/officeDocument/2006/relationships/image" Target="../media/image2.png"/><Relationship Id="rId7" Type="http://schemas.openxmlformats.org/officeDocument/2006/relationships/chart" Target="../charts/chart3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4.xml"/><Relationship Id="rId5" Type="http://schemas.openxmlformats.org/officeDocument/2006/relationships/chart" Target="../charts/chart33.xml"/><Relationship Id="rId4" Type="http://schemas.openxmlformats.org/officeDocument/2006/relationships/chart" Target="../charts/chart3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228" y="0"/>
            <a:ext cx="3561907" cy="6932428"/>
          </a:xfrm>
          <a:prstGeom prst="rect">
            <a:avLst/>
          </a:prstGeom>
        </p:spPr>
      </p:pic>
      <p:pic>
        <p:nvPicPr>
          <p:cNvPr id="3" name="Image 1" descr="/home/claude/build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1480"/>
            <a:ext cx="1737360" cy="52120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2331720"/>
            <a:ext cx="502920" cy="502920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5" name="Text 1"/>
          <p:cNvSpPr/>
          <p:nvPr/>
        </p:nvSpPr>
        <p:spPr>
          <a:xfrm>
            <a:off x="5029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02920" y="301752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4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Report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502920" y="4617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Reliability &amp; Security Trends Across DXP Projects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0292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30/06/2026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292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900" dirty="0"/>
          </a:p>
        </p:txBody>
      </p:sp>
      <p:sp>
        <p:nvSpPr>
          <p:cNvPr id="10" name="GTBClassificationH974491586">
            <a:extLst>
              <a:ext uri="{FF2B5EF4-FFF2-40B4-BE49-F238E27FC236}">
                <a16:creationId xmlns:a16="http://schemas.microsoft.com/office/drawing/2014/main" id="{8B5A12C8-009F-3192-2B39-D22110CCBC66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GUIDE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SonarQube Metrics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57200" y="10789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metrics captured in every scan and used throughout this report.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481328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" y="1645920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55448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1938528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issues that may cause incorrect behavior or application failures.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40080" y="2679192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— 0 is ideal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42232" y="1481328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06824" y="1645920"/>
            <a:ext cx="146304" cy="146304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3" name="Text 10"/>
          <p:cNvSpPr/>
          <p:nvPr/>
        </p:nvSpPr>
        <p:spPr>
          <a:xfrm>
            <a:off x="4526280" y="155448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325112" y="1938528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security vulnerabilities detected in the source code.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325112" y="2679192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— 0 is ideal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827264" y="1481328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991856" y="164592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5"/>
          <p:cNvSpPr/>
          <p:nvPr/>
        </p:nvSpPr>
        <p:spPr>
          <a:xfrm>
            <a:off x="8211312" y="1554480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010144" y="1938528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issues — bad structure, duplicated logic, unused code, or poor practices.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010144" y="2679192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108960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1792" y="3273552"/>
            <a:ext cx="146304" cy="146304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23" name="Text 20"/>
          <p:cNvSpPr/>
          <p:nvPr/>
        </p:nvSpPr>
        <p:spPr>
          <a:xfrm>
            <a:off x="841248" y="3182112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40080" y="3566160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Security-sensitive code that needs manual review. Not confirmed vulnerabilities.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0080" y="4306824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Lower, and all reviewed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142232" y="3108960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306824" y="3273552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Text 25"/>
          <p:cNvSpPr/>
          <p:nvPr/>
        </p:nvSpPr>
        <p:spPr>
          <a:xfrm>
            <a:off x="4526280" y="3182112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4325112" y="3566160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code covered by unit tests.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325112" y="4306824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is better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827264" y="3108960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991856" y="3273552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3" name="Text 30"/>
          <p:cNvSpPr/>
          <p:nvPr/>
        </p:nvSpPr>
        <p:spPr>
          <a:xfrm>
            <a:off x="8211312" y="3182112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Rating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8010144" y="3566160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based on bugs, converted from 1–5 to A–E.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8010144" y="4306824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best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57200" y="4736592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621792" y="4901184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8" name="Text 35"/>
          <p:cNvSpPr/>
          <p:nvPr/>
        </p:nvSpPr>
        <p:spPr>
          <a:xfrm>
            <a:off x="841248" y="4809744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Rating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640080" y="5193792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based on vulnerabilities, converted from 1–5 to A–E.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40080" y="5934456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best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142232" y="4736592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4306824" y="4901184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3" name="Text 40"/>
          <p:cNvSpPr/>
          <p:nvPr/>
        </p:nvSpPr>
        <p:spPr>
          <a:xfrm>
            <a:off x="4526280" y="4809744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 Rating</a:t>
            </a:r>
            <a:endParaRPr lang="en-US" sz="1350" dirty="0"/>
          </a:p>
        </p:txBody>
      </p:sp>
      <p:sp>
        <p:nvSpPr>
          <p:cNvPr id="44" name="Text 41"/>
          <p:cNvSpPr/>
          <p:nvPr/>
        </p:nvSpPr>
        <p:spPr>
          <a:xfrm>
            <a:off x="4325112" y="5193792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based on technical debt (sqale_rating), renamed in this report.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4325112" y="5934456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best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827264" y="4736592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7991856" y="4901184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8" name="Text 45"/>
          <p:cNvSpPr/>
          <p:nvPr/>
        </p:nvSpPr>
        <p:spPr>
          <a:xfrm>
            <a:off x="8211312" y="4809744"/>
            <a:ext cx="3044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Status</a:t>
            </a:r>
            <a:endParaRPr lang="en-US" sz="1350" dirty="0"/>
          </a:p>
        </p:txBody>
      </p:sp>
      <p:sp>
        <p:nvSpPr>
          <p:cNvPr id="49" name="Text 46"/>
          <p:cNvSpPr/>
          <p:nvPr/>
        </p:nvSpPr>
        <p:spPr>
          <a:xfrm>
            <a:off x="8010144" y="5193792"/>
            <a:ext cx="3227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result for the scan. Common values are OK or ERROR.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8010144" y="5934456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is the goal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Guide</a:t>
            </a:r>
            <a:endParaRPr lang="en-US" sz="800" dirty="0"/>
          </a:p>
        </p:txBody>
      </p:sp>
      <p:sp>
        <p:nvSpPr>
          <p:cNvPr id="53" name="GTBClassificationH1819459565">
            <a:extLst>
              <a:ext uri="{FF2B5EF4-FFF2-40B4-BE49-F238E27FC236}">
                <a16:creationId xmlns:a16="http://schemas.microsoft.com/office/drawing/2014/main" id="{0A2BA15F-8228-0A62-16B5-99B9A250450B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OVERVIEW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 — All Projects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2070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17556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Tracked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670048" y="109728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670048" y="12070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761488" y="17556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Passing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882896" y="109728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882896" y="12070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974336" y="17556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Open Bugs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095744" y="109728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95744" y="12070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187184" y="17556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Vulnerabilities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308592" y="109728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308592" y="12070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52.4%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9400032" y="17556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Coverage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086801"/>
              </p:ext>
            </p:extLst>
          </p:nvPr>
        </p:nvGraphicFramePr>
        <p:xfrm>
          <a:off x="202016" y="2331720"/>
          <a:ext cx="11734801" cy="3291840"/>
        </p:xfrm>
        <a:graphic>
          <a:graphicData uri="http://schemas.openxmlformats.org/drawingml/2006/table">
            <a:tbl>
              <a:tblPr/>
              <a:tblGrid>
                <a:gridCol w="2391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9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42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84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70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513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277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84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5133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Smells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Hotspots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2C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BFF WEB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 RECOVERY PORTAL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 WORKSHOP PORTAL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 Life OTP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4CC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 SALES MOTOR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 SALES VISIT VISA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 TRAVEL INSURANCE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5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800" dirty="0"/>
          </a:p>
        </p:txBody>
      </p:sp>
      <p:sp>
        <p:nvSpPr>
          <p:cNvPr id="23" name="GTBClassificationH390587794">
            <a:extLst>
              <a:ext uri="{FF2B5EF4-FFF2-40B4-BE49-F238E27FC236}">
                <a16:creationId xmlns:a16="http://schemas.microsoft.com/office/drawing/2014/main" id="{0D939C15-DAB2-9AF1-1FD6-5DB2699AC8D0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swirl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732520" y="0"/>
            <a:ext cx="3566160" cy="6858000"/>
          </a:xfrm>
          <a:prstGeom prst="rect">
            <a:avLst/>
          </a:prstGeom>
        </p:spPr>
      </p:pic>
      <p:pic>
        <p:nvPicPr>
          <p:cNvPr id="3" name="Image 1" descr="/home/claude/build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5760"/>
            <a:ext cx="155448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DXP-BFF-WEB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WEB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029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29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RECORDED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0175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30175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COVERAGE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5321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5321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0467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0467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WEB</a:t>
            </a:r>
            <a:endParaRPr lang="en-US" sz="800" dirty="0"/>
          </a:p>
        </p:txBody>
      </p:sp>
      <p:sp>
        <p:nvSpPr>
          <p:cNvPr id="16" name="GTBClassificationH384997247">
            <a:extLst>
              <a:ext uri="{FF2B5EF4-FFF2-40B4-BE49-F238E27FC236}">
                <a16:creationId xmlns:a16="http://schemas.microsoft.com/office/drawing/2014/main" id="{6C2774D1-038F-E060-3B45-24946F5616AC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WEB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— Combined Trend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43000"/>
          <a:ext cx="73152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95528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183880" y="129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SNAPSHOT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183880" y="15361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28, 2026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8183880" y="197510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6"/>
          <p:cNvSpPr/>
          <p:nvPr/>
        </p:nvSpPr>
        <p:spPr>
          <a:xfrm>
            <a:off x="8394192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24128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83880" y="2340864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3" name="Text 9"/>
          <p:cNvSpPr/>
          <p:nvPr/>
        </p:nvSpPr>
        <p:spPr>
          <a:xfrm>
            <a:off x="8394192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24128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83880" y="270662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8394192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241280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83880" y="307238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19" name="Text 15"/>
          <p:cNvSpPr/>
          <p:nvPr/>
        </p:nvSpPr>
        <p:spPr>
          <a:xfrm>
            <a:off x="8394192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0241280" y="3017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183880" y="343814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18"/>
          <p:cNvSpPr/>
          <p:nvPr/>
        </p:nvSpPr>
        <p:spPr>
          <a:xfrm>
            <a:off x="8394192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024128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45.6%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183880" y="3858768"/>
            <a:ext cx="329184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476488" y="402336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2"/>
          <p:cNvSpPr/>
          <p:nvPr/>
        </p:nvSpPr>
        <p:spPr>
          <a:xfrm>
            <a:off x="847648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818388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9573768" y="402336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9" name="Text 25"/>
          <p:cNvSpPr/>
          <p:nvPr/>
        </p:nvSpPr>
        <p:spPr>
          <a:xfrm>
            <a:off x="957376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928116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10671048" y="402336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28"/>
          <p:cNvSpPr/>
          <p:nvPr/>
        </p:nvSpPr>
        <p:spPr>
          <a:xfrm>
            <a:off x="1067104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1037844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8183880" y="5074920"/>
            <a:ext cx="3291840" cy="502920"/>
          </a:xfrm>
          <a:prstGeom prst="roundRect">
            <a:avLst>
              <a:gd name="adj" fmla="val 12727"/>
            </a:avLst>
          </a:prstGeom>
          <a:solidFill>
            <a:srgbClr val="EAFBF1"/>
          </a:solidFill>
          <a:ln/>
        </p:spPr>
      </p:sp>
      <p:sp>
        <p:nvSpPr>
          <p:cNvPr id="35" name="Text 31"/>
          <p:cNvSpPr/>
          <p:nvPr/>
        </p:nvSpPr>
        <p:spPr>
          <a:xfrm>
            <a:off x="8183880" y="5074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OK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WEB</a:t>
            </a:r>
            <a:endParaRPr lang="en-US" sz="800" dirty="0"/>
          </a:p>
        </p:txBody>
      </p:sp>
      <p:sp>
        <p:nvSpPr>
          <p:cNvPr id="38" name="GTBClassificationH109417619">
            <a:extLst>
              <a:ext uri="{FF2B5EF4-FFF2-40B4-BE49-F238E27FC236}">
                <a16:creationId xmlns:a16="http://schemas.microsoft.com/office/drawing/2014/main" id="{3676494A-6C6B-C04C-F905-E55D7A52D2C2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WEB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Trends — Individual Breakdown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2344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00400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30352" y="1444752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279392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16552" y="1234440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2" name="Text 8"/>
          <p:cNvSpPr/>
          <p:nvPr/>
        </p:nvSpPr>
        <p:spPr>
          <a:xfrm>
            <a:off x="4590288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022592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4352544" y="1444752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Shape 10"/>
          <p:cNvSpPr/>
          <p:nvPr/>
        </p:nvSpPr>
        <p:spPr>
          <a:xfrm>
            <a:off x="8101584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38744" y="12344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2"/>
          <p:cNvSpPr/>
          <p:nvPr/>
        </p:nvSpPr>
        <p:spPr>
          <a:xfrm>
            <a:off x="8412480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0844784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graphicFrame>
        <p:nvGraphicFramePr>
          <p:cNvPr id="19" name="Chart 2"/>
          <p:cNvGraphicFramePr/>
          <p:nvPr/>
        </p:nvGraphicFramePr>
        <p:xfrm>
          <a:off x="8174736" y="1444752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Shape 14"/>
          <p:cNvSpPr/>
          <p:nvPr/>
        </p:nvSpPr>
        <p:spPr>
          <a:xfrm>
            <a:off x="457200" y="3410712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94360" y="352958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22" name="Text 16"/>
          <p:cNvSpPr/>
          <p:nvPr/>
        </p:nvSpPr>
        <p:spPr>
          <a:xfrm>
            <a:off x="768096" y="3465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200400" y="3438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24" name="Chart 3"/>
          <p:cNvGraphicFramePr/>
          <p:nvPr/>
        </p:nvGraphicFramePr>
        <p:xfrm>
          <a:off x="530352" y="3739896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Shape 18"/>
          <p:cNvSpPr/>
          <p:nvPr/>
        </p:nvSpPr>
        <p:spPr>
          <a:xfrm>
            <a:off x="4279392" y="3410712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16552" y="352958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0"/>
          <p:cNvSpPr/>
          <p:nvPr/>
        </p:nvSpPr>
        <p:spPr>
          <a:xfrm>
            <a:off x="4590288" y="3465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(%)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7022592" y="3438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45.6%</a:t>
            </a:r>
            <a:endParaRPr lang="en-US" sz="1300" dirty="0"/>
          </a:p>
        </p:txBody>
      </p:sp>
      <p:graphicFrame>
        <p:nvGraphicFramePr>
          <p:cNvPr id="29" name="Chart 4"/>
          <p:cNvGraphicFramePr/>
          <p:nvPr/>
        </p:nvGraphicFramePr>
        <p:xfrm>
          <a:off x="4352544" y="3739896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0" name="Text 22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BFF WEB</a:t>
            </a:r>
            <a:endParaRPr lang="en-US" sz="800" dirty="0"/>
          </a:p>
        </p:txBody>
      </p:sp>
      <p:sp>
        <p:nvSpPr>
          <p:cNvPr id="32" name="GTBClassificationH2118871700">
            <a:extLst>
              <a:ext uri="{FF2B5EF4-FFF2-40B4-BE49-F238E27FC236}">
                <a16:creationId xmlns:a16="http://schemas.microsoft.com/office/drawing/2014/main" id="{7A473BDA-37A8-0FAC-C388-438F08067E54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swirl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732520" y="0"/>
            <a:ext cx="3566160" cy="6858000"/>
          </a:xfrm>
          <a:prstGeom prst="rect">
            <a:avLst/>
          </a:prstGeom>
        </p:spPr>
      </p:pic>
      <p:pic>
        <p:nvPicPr>
          <p:cNvPr id="3" name="Image 1" descr="/home/claude/build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5760"/>
            <a:ext cx="155448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DXP-DH-RECOVERY-PORTAL-V3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RECOVERY PORTAL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029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29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RECORDED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0175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30175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COVERAGE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5321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5321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0467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0467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RECOVERY PORTAL</a:t>
            </a:r>
            <a:endParaRPr lang="en-US" sz="800" dirty="0"/>
          </a:p>
        </p:txBody>
      </p:sp>
      <p:sp>
        <p:nvSpPr>
          <p:cNvPr id="16" name="GTBClassificationH436303399">
            <a:extLst>
              <a:ext uri="{FF2B5EF4-FFF2-40B4-BE49-F238E27FC236}">
                <a16:creationId xmlns:a16="http://schemas.microsoft.com/office/drawing/2014/main" id="{3053EF68-1AC7-C0DA-9B58-BB87BA03C4BA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RECOVERY PORTAL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— Combined Trend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43000"/>
          <a:ext cx="73152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95528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183880" y="129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SNAPSHOT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183880" y="15361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4, 2026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8183880" y="197510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6"/>
          <p:cNvSpPr/>
          <p:nvPr/>
        </p:nvSpPr>
        <p:spPr>
          <a:xfrm>
            <a:off x="8394192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24128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83880" y="2340864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3" name="Text 9"/>
          <p:cNvSpPr/>
          <p:nvPr/>
        </p:nvSpPr>
        <p:spPr>
          <a:xfrm>
            <a:off x="8394192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24128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83880" y="270662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8394192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241280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83880" y="307238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19" name="Text 15"/>
          <p:cNvSpPr/>
          <p:nvPr/>
        </p:nvSpPr>
        <p:spPr>
          <a:xfrm>
            <a:off x="8394192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0241280" y="3017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183880" y="343814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18"/>
          <p:cNvSpPr/>
          <p:nvPr/>
        </p:nvSpPr>
        <p:spPr>
          <a:xfrm>
            <a:off x="8394192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024128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183880" y="3858768"/>
            <a:ext cx="329184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476488" y="402336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2"/>
          <p:cNvSpPr/>
          <p:nvPr/>
        </p:nvSpPr>
        <p:spPr>
          <a:xfrm>
            <a:off x="847648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818388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9573768" y="402336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9" name="Text 25"/>
          <p:cNvSpPr/>
          <p:nvPr/>
        </p:nvSpPr>
        <p:spPr>
          <a:xfrm>
            <a:off x="957376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928116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10671048" y="402336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28"/>
          <p:cNvSpPr/>
          <p:nvPr/>
        </p:nvSpPr>
        <p:spPr>
          <a:xfrm>
            <a:off x="1067104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1037844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8183880" y="5074920"/>
            <a:ext cx="3291840" cy="502920"/>
          </a:xfrm>
          <a:prstGeom prst="roundRect">
            <a:avLst>
              <a:gd name="adj" fmla="val 12727"/>
            </a:avLst>
          </a:prstGeom>
          <a:solidFill>
            <a:srgbClr val="EAFBF1"/>
          </a:solidFill>
          <a:ln/>
        </p:spPr>
      </p:sp>
      <p:sp>
        <p:nvSpPr>
          <p:cNvPr id="35" name="Text 31"/>
          <p:cNvSpPr/>
          <p:nvPr/>
        </p:nvSpPr>
        <p:spPr>
          <a:xfrm>
            <a:off x="8183880" y="5074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OK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RECOVERY PORTAL</a:t>
            </a:r>
            <a:endParaRPr lang="en-US" sz="800" dirty="0"/>
          </a:p>
        </p:txBody>
      </p:sp>
      <p:sp>
        <p:nvSpPr>
          <p:cNvPr id="38" name="GTBClassificationH279408383">
            <a:extLst>
              <a:ext uri="{FF2B5EF4-FFF2-40B4-BE49-F238E27FC236}">
                <a16:creationId xmlns:a16="http://schemas.microsoft.com/office/drawing/2014/main" id="{0305BC1F-960F-6892-3A71-E22E9072EF91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RECOVERY PORTAL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Trends — Individual Breakdown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2344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00400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30352" y="1444752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279392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16552" y="1234440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2" name="Text 8"/>
          <p:cNvSpPr/>
          <p:nvPr/>
        </p:nvSpPr>
        <p:spPr>
          <a:xfrm>
            <a:off x="4590288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022592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4352544" y="1444752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Shape 10"/>
          <p:cNvSpPr/>
          <p:nvPr/>
        </p:nvSpPr>
        <p:spPr>
          <a:xfrm>
            <a:off x="8101584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38744" y="12344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2"/>
          <p:cNvSpPr/>
          <p:nvPr/>
        </p:nvSpPr>
        <p:spPr>
          <a:xfrm>
            <a:off x="8412480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0844784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graphicFrame>
        <p:nvGraphicFramePr>
          <p:cNvPr id="19" name="Chart 2"/>
          <p:cNvGraphicFramePr/>
          <p:nvPr/>
        </p:nvGraphicFramePr>
        <p:xfrm>
          <a:off x="8174736" y="1444752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Shape 14"/>
          <p:cNvSpPr/>
          <p:nvPr/>
        </p:nvSpPr>
        <p:spPr>
          <a:xfrm>
            <a:off x="457200" y="3410712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94360" y="352958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22" name="Text 16"/>
          <p:cNvSpPr/>
          <p:nvPr/>
        </p:nvSpPr>
        <p:spPr>
          <a:xfrm>
            <a:off x="768096" y="3465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200400" y="3438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24" name="Chart 3"/>
          <p:cNvGraphicFramePr/>
          <p:nvPr/>
        </p:nvGraphicFramePr>
        <p:xfrm>
          <a:off x="530352" y="3739896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Shape 18"/>
          <p:cNvSpPr/>
          <p:nvPr/>
        </p:nvSpPr>
        <p:spPr>
          <a:xfrm>
            <a:off x="4279392" y="3410712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16552" y="352958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0"/>
          <p:cNvSpPr/>
          <p:nvPr/>
        </p:nvSpPr>
        <p:spPr>
          <a:xfrm>
            <a:off x="4590288" y="3465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(%)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7022592" y="3438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</a:t>
            </a:r>
            <a:endParaRPr lang="en-US" sz="1300" dirty="0"/>
          </a:p>
        </p:txBody>
      </p:sp>
      <p:graphicFrame>
        <p:nvGraphicFramePr>
          <p:cNvPr id="29" name="Chart 4"/>
          <p:cNvGraphicFramePr/>
          <p:nvPr/>
        </p:nvGraphicFramePr>
        <p:xfrm>
          <a:off x="4352544" y="3739896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0" name="Text 22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RECOVERY PORTAL</a:t>
            </a:r>
            <a:endParaRPr lang="en-US" sz="800" dirty="0"/>
          </a:p>
        </p:txBody>
      </p:sp>
      <p:sp>
        <p:nvSpPr>
          <p:cNvPr id="32" name="GTBClassificationH1708209881">
            <a:extLst>
              <a:ext uri="{FF2B5EF4-FFF2-40B4-BE49-F238E27FC236}">
                <a16:creationId xmlns:a16="http://schemas.microsoft.com/office/drawing/2014/main" id="{8AFB8C02-007A-7E24-53F8-42E2FF44945C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swirl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732520" y="0"/>
            <a:ext cx="3548085" cy="6858000"/>
          </a:xfrm>
          <a:prstGeom prst="rect">
            <a:avLst/>
          </a:prstGeom>
        </p:spPr>
      </p:pic>
      <p:pic>
        <p:nvPicPr>
          <p:cNvPr id="3" name="Image 1" descr="/home/claude/build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5760"/>
            <a:ext cx="155448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DXP-DH-WORKSHOP-PORTAL-V3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WORKSHOP PORTAL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029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29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RECORDED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0175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30175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COVERAGE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5321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5321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0467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0467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WORKSHOP PORTAL</a:t>
            </a:r>
            <a:endParaRPr lang="en-US" sz="800" dirty="0"/>
          </a:p>
        </p:txBody>
      </p:sp>
      <p:sp>
        <p:nvSpPr>
          <p:cNvPr id="16" name="GTBClassificationH1506936080">
            <a:extLst>
              <a:ext uri="{FF2B5EF4-FFF2-40B4-BE49-F238E27FC236}">
                <a16:creationId xmlns:a16="http://schemas.microsoft.com/office/drawing/2014/main" id="{A5085BAD-5C39-AFE8-C198-9EFF0B88DCFB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WORKSHOP PORTAL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— Combined Trend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43000"/>
          <a:ext cx="73152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95528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183880" y="129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SNAPSHOT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183880" y="15361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23, 2026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8183880" y="197510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6"/>
          <p:cNvSpPr/>
          <p:nvPr/>
        </p:nvSpPr>
        <p:spPr>
          <a:xfrm>
            <a:off x="8394192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24128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83880" y="2340864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3" name="Text 9"/>
          <p:cNvSpPr/>
          <p:nvPr/>
        </p:nvSpPr>
        <p:spPr>
          <a:xfrm>
            <a:off x="8394192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24128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83880" y="270662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8394192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241280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83880" y="307238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19" name="Text 15"/>
          <p:cNvSpPr/>
          <p:nvPr/>
        </p:nvSpPr>
        <p:spPr>
          <a:xfrm>
            <a:off x="8394192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0241280" y="3017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183880" y="343814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18"/>
          <p:cNvSpPr/>
          <p:nvPr/>
        </p:nvSpPr>
        <p:spPr>
          <a:xfrm>
            <a:off x="8394192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024128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43.2%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183880" y="3858768"/>
            <a:ext cx="329184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476488" y="4023360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2"/>
          <p:cNvSpPr/>
          <p:nvPr/>
        </p:nvSpPr>
        <p:spPr>
          <a:xfrm>
            <a:off x="847648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818388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9573768" y="402336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9" name="Text 25"/>
          <p:cNvSpPr/>
          <p:nvPr/>
        </p:nvSpPr>
        <p:spPr>
          <a:xfrm>
            <a:off x="957376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928116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10671048" y="402336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28"/>
          <p:cNvSpPr/>
          <p:nvPr/>
        </p:nvSpPr>
        <p:spPr>
          <a:xfrm>
            <a:off x="1067104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1037844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8183880" y="5074920"/>
            <a:ext cx="3291840" cy="502920"/>
          </a:xfrm>
          <a:prstGeom prst="roundRect">
            <a:avLst>
              <a:gd name="adj" fmla="val 12727"/>
            </a:avLst>
          </a:prstGeom>
          <a:solidFill>
            <a:srgbClr val="EAFBF1"/>
          </a:solidFill>
          <a:ln/>
        </p:spPr>
      </p:sp>
      <p:sp>
        <p:nvSpPr>
          <p:cNvPr id="35" name="Text 31"/>
          <p:cNvSpPr/>
          <p:nvPr/>
        </p:nvSpPr>
        <p:spPr>
          <a:xfrm>
            <a:off x="8183880" y="5074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OK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WORKSHOP PORTAL</a:t>
            </a:r>
            <a:endParaRPr lang="en-US" sz="800" dirty="0"/>
          </a:p>
        </p:txBody>
      </p:sp>
      <p:sp>
        <p:nvSpPr>
          <p:cNvPr id="38" name="GTBClassificationH822905447">
            <a:extLst>
              <a:ext uri="{FF2B5EF4-FFF2-40B4-BE49-F238E27FC236}">
                <a16:creationId xmlns:a16="http://schemas.microsoft.com/office/drawing/2014/main" id="{E025A51C-337E-CC5E-42CA-513E9B1FA25B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WORKSHOP PORTAL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Trends — Individual Breakdown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2344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00400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30352" y="1444752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279392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16552" y="1234440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2" name="Text 8"/>
          <p:cNvSpPr/>
          <p:nvPr/>
        </p:nvSpPr>
        <p:spPr>
          <a:xfrm>
            <a:off x="4590288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022592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4352544" y="1444752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Shape 10"/>
          <p:cNvSpPr/>
          <p:nvPr/>
        </p:nvSpPr>
        <p:spPr>
          <a:xfrm>
            <a:off x="8101584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38744" y="12344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2"/>
          <p:cNvSpPr/>
          <p:nvPr/>
        </p:nvSpPr>
        <p:spPr>
          <a:xfrm>
            <a:off x="8412480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0844784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300" dirty="0"/>
          </a:p>
        </p:txBody>
      </p:sp>
      <p:graphicFrame>
        <p:nvGraphicFramePr>
          <p:cNvPr id="19" name="Chart 2"/>
          <p:cNvGraphicFramePr/>
          <p:nvPr/>
        </p:nvGraphicFramePr>
        <p:xfrm>
          <a:off x="8174736" y="1444752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Shape 14"/>
          <p:cNvSpPr/>
          <p:nvPr/>
        </p:nvSpPr>
        <p:spPr>
          <a:xfrm>
            <a:off x="457200" y="3410712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94360" y="352958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22" name="Text 16"/>
          <p:cNvSpPr/>
          <p:nvPr/>
        </p:nvSpPr>
        <p:spPr>
          <a:xfrm>
            <a:off x="768096" y="3465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200400" y="3438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24" name="Chart 3"/>
          <p:cNvGraphicFramePr/>
          <p:nvPr/>
        </p:nvGraphicFramePr>
        <p:xfrm>
          <a:off x="530352" y="3739896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Shape 18"/>
          <p:cNvSpPr/>
          <p:nvPr/>
        </p:nvSpPr>
        <p:spPr>
          <a:xfrm>
            <a:off x="4279392" y="3410712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16552" y="352958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0"/>
          <p:cNvSpPr/>
          <p:nvPr/>
        </p:nvSpPr>
        <p:spPr>
          <a:xfrm>
            <a:off x="4590288" y="3465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(%)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7022592" y="3438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43.2%</a:t>
            </a:r>
            <a:endParaRPr lang="en-US" sz="1300" dirty="0"/>
          </a:p>
        </p:txBody>
      </p:sp>
      <p:graphicFrame>
        <p:nvGraphicFramePr>
          <p:cNvPr id="29" name="Chart 4"/>
          <p:cNvGraphicFramePr/>
          <p:nvPr/>
        </p:nvGraphicFramePr>
        <p:xfrm>
          <a:off x="4352544" y="3739896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0" name="Text 22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 WORKSHOP PORTAL</a:t>
            </a:r>
            <a:endParaRPr lang="en-US" sz="800" dirty="0"/>
          </a:p>
        </p:txBody>
      </p:sp>
      <p:sp>
        <p:nvSpPr>
          <p:cNvPr id="32" name="GTBClassificationH119821520">
            <a:extLst>
              <a:ext uri="{FF2B5EF4-FFF2-40B4-BE49-F238E27FC236}">
                <a16:creationId xmlns:a16="http://schemas.microsoft.com/office/drawing/2014/main" id="{54EB96C6-F152-BEEB-2877-A6B77E8D3AA1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swirl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732520" y="0"/>
            <a:ext cx="3566160" cy="6858000"/>
          </a:xfrm>
          <a:prstGeom prst="rect">
            <a:avLst/>
          </a:prstGeom>
        </p:spPr>
      </p:pic>
      <p:pic>
        <p:nvPicPr>
          <p:cNvPr id="3" name="Image 1" descr="/home/claude/build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5760"/>
            <a:ext cx="155448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DXP-FE-Life-OTP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Life OTP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029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29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RECORDED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0175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30175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COVERAGE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5321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5321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0467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0467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Life OTP</a:t>
            </a:r>
            <a:endParaRPr lang="en-US" sz="800" dirty="0"/>
          </a:p>
        </p:txBody>
      </p:sp>
      <p:sp>
        <p:nvSpPr>
          <p:cNvPr id="16" name="GTBClassificationH1333309678">
            <a:extLst>
              <a:ext uri="{FF2B5EF4-FFF2-40B4-BE49-F238E27FC236}">
                <a16:creationId xmlns:a16="http://schemas.microsoft.com/office/drawing/2014/main" id="{FA444EAB-5E06-86E8-FA2E-C048A615DBED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LIFE OTP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— Combined Trend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73152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30175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scan recorded for this project — trend chart requires multiple data points.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95528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183880" y="129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SNAPSHOT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83880" y="15361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9, 2026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183880" y="197510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8394192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24128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83880" y="2340864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4" name="Text 11"/>
          <p:cNvSpPr/>
          <p:nvPr/>
        </p:nvSpPr>
        <p:spPr>
          <a:xfrm>
            <a:off x="8394192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24128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183880" y="270662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8394192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241280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183880" y="307238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20" name="Text 17"/>
          <p:cNvSpPr/>
          <p:nvPr/>
        </p:nvSpPr>
        <p:spPr>
          <a:xfrm>
            <a:off x="8394192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241280" y="3017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183880" y="343814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3" name="Text 20"/>
          <p:cNvSpPr/>
          <p:nvPr/>
        </p:nvSpPr>
        <p:spPr>
          <a:xfrm>
            <a:off x="8394192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24128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85.6%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183880" y="3858768"/>
            <a:ext cx="329184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476488" y="4023360"/>
            <a:ext cx="512064" cy="512064"/>
          </a:xfrm>
          <a:prstGeom prst="ellipse">
            <a:avLst/>
          </a:prstGeom>
          <a:solidFill>
            <a:srgbClr val="84CC16"/>
          </a:solidFill>
          <a:ln/>
        </p:spPr>
      </p:sp>
      <p:sp>
        <p:nvSpPr>
          <p:cNvPr id="27" name="Text 24"/>
          <p:cNvSpPr/>
          <p:nvPr/>
        </p:nvSpPr>
        <p:spPr>
          <a:xfrm>
            <a:off x="847648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18388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573768" y="402336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0" name="Text 27"/>
          <p:cNvSpPr/>
          <p:nvPr/>
        </p:nvSpPr>
        <p:spPr>
          <a:xfrm>
            <a:off x="957376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928116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0671048" y="402336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3" name="Text 30"/>
          <p:cNvSpPr/>
          <p:nvPr/>
        </p:nvSpPr>
        <p:spPr>
          <a:xfrm>
            <a:off x="1067104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1037844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8183880" y="5074920"/>
            <a:ext cx="3291840" cy="502920"/>
          </a:xfrm>
          <a:prstGeom prst="roundRect">
            <a:avLst>
              <a:gd name="adj" fmla="val 12727"/>
            </a:avLst>
          </a:prstGeom>
          <a:solidFill>
            <a:srgbClr val="EAFBF1"/>
          </a:solidFill>
          <a:ln/>
        </p:spPr>
      </p:sp>
      <p:sp>
        <p:nvSpPr>
          <p:cNvPr id="36" name="Text 33"/>
          <p:cNvSpPr/>
          <p:nvPr/>
        </p:nvSpPr>
        <p:spPr>
          <a:xfrm>
            <a:off x="8183880" y="5074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OK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Life OTP</a:t>
            </a:r>
            <a:endParaRPr lang="en-US" sz="800" dirty="0"/>
          </a:p>
        </p:txBody>
      </p:sp>
      <p:sp>
        <p:nvSpPr>
          <p:cNvPr id="39" name="GTBClassificationH1695622494">
            <a:extLst>
              <a:ext uri="{FF2B5EF4-FFF2-40B4-BE49-F238E27FC236}">
                <a16:creationId xmlns:a16="http://schemas.microsoft.com/office/drawing/2014/main" id="{67F8897E-A2A4-C953-B855-15BB7B3F7625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LIFE OTP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Trends — Individual Breakdown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2344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00400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1892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 point — no trend available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79392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16552" y="1234440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2" name="Text 9"/>
          <p:cNvSpPr/>
          <p:nvPr/>
        </p:nvSpPr>
        <p:spPr>
          <a:xfrm>
            <a:off x="4590288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022592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462272" y="1892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 point — no trend available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101584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38744" y="12344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8412480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0844784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284464" y="1892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 point — no trend available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3410712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94360" y="352958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22" name="Text 19"/>
          <p:cNvSpPr/>
          <p:nvPr/>
        </p:nvSpPr>
        <p:spPr>
          <a:xfrm>
            <a:off x="768096" y="3465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200400" y="3438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40080" y="41879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 point — no trend available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279392" y="3410712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416552" y="352958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4"/>
          <p:cNvSpPr/>
          <p:nvPr/>
        </p:nvSpPr>
        <p:spPr>
          <a:xfrm>
            <a:off x="4590288" y="3465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(%)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022592" y="3438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85.6%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462272" y="41879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 point — no trend available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Life OTP</a:t>
            </a:r>
            <a:endParaRPr lang="en-US" sz="800" dirty="0"/>
          </a:p>
        </p:txBody>
      </p:sp>
      <p:sp>
        <p:nvSpPr>
          <p:cNvPr id="32" name="GTBClassificationH1222688961">
            <a:extLst>
              <a:ext uri="{FF2B5EF4-FFF2-40B4-BE49-F238E27FC236}">
                <a16:creationId xmlns:a16="http://schemas.microsoft.com/office/drawing/2014/main" id="{43274789-63FD-BBEC-5A55-4384AE5F48A9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swirl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732520" y="10633"/>
            <a:ext cx="3579982" cy="6858000"/>
          </a:xfrm>
          <a:prstGeom prst="rect">
            <a:avLst/>
          </a:prstGeom>
        </p:spPr>
      </p:pic>
      <p:pic>
        <p:nvPicPr>
          <p:cNvPr id="3" name="Image 1" descr="/home/claude/build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5760"/>
            <a:ext cx="155448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DXP-FE-SALES-MOTOR-V3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SALES MOTOR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029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29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RECORDED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0175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50.4%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30175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COVERAGE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5321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5321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0467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0467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SALES MOTOR</a:t>
            </a:r>
            <a:endParaRPr lang="en-US" sz="800" dirty="0"/>
          </a:p>
        </p:txBody>
      </p:sp>
      <p:sp>
        <p:nvSpPr>
          <p:cNvPr id="16" name="GTBClassificationH747436702">
            <a:extLst>
              <a:ext uri="{FF2B5EF4-FFF2-40B4-BE49-F238E27FC236}">
                <a16:creationId xmlns:a16="http://schemas.microsoft.com/office/drawing/2014/main" id="{FD690C2B-D876-CF18-DD8A-42E7EEC85EB9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SALES MOTOR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— Combined Trend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43000"/>
          <a:ext cx="73152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95528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183880" y="129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SNAPSHOT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183880" y="15361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29, 2026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8183880" y="197510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6"/>
          <p:cNvSpPr/>
          <p:nvPr/>
        </p:nvSpPr>
        <p:spPr>
          <a:xfrm>
            <a:off x="8394192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24128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83880" y="2340864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3" name="Text 9"/>
          <p:cNvSpPr/>
          <p:nvPr/>
        </p:nvSpPr>
        <p:spPr>
          <a:xfrm>
            <a:off x="8394192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24128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83880" y="270662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8394192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241280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83880" y="307238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19" name="Text 15"/>
          <p:cNvSpPr/>
          <p:nvPr/>
        </p:nvSpPr>
        <p:spPr>
          <a:xfrm>
            <a:off x="8394192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0241280" y="3017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183880" y="343814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18"/>
          <p:cNvSpPr/>
          <p:nvPr/>
        </p:nvSpPr>
        <p:spPr>
          <a:xfrm>
            <a:off x="8394192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024128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50.4%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183880" y="3858768"/>
            <a:ext cx="329184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476488" y="4023360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2"/>
          <p:cNvSpPr/>
          <p:nvPr/>
        </p:nvSpPr>
        <p:spPr>
          <a:xfrm>
            <a:off x="847648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818388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9573768" y="402336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9" name="Text 25"/>
          <p:cNvSpPr/>
          <p:nvPr/>
        </p:nvSpPr>
        <p:spPr>
          <a:xfrm>
            <a:off x="957376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928116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10671048" y="402336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28"/>
          <p:cNvSpPr/>
          <p:nvPr/>
        </p:nvSpPr>
        <p:spPr>
          <a:xfrm>
            <a:off x="1067104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1037844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8183880" y="5074920"/>
            <a:ext cx="3291840" cy="502920"/>
          </a:xfrm>
          <a:prstGeom prst="roundRect">
            <a:avLst>
              <a:gd name="adj" fmla="val 12727"/>
            </a:avLst>
          </a:prstGeom>
          <a:solidFill>
            <a:srgbClr val="EAFBF1"/>
          </a:solidFill>
          <a:ln/>
        </p:spPr>
      </p:sp>
      <p:sp>
        <p:nvSpPr>
          <p:cNvPr id="35" name="Text 31"/>
          <p:cNvSpPr/>
          <p:nvPr/>
        </p:nvSpPr>
        <p:spPr>
          <a:xfrm>
            <a:off x="8183880" y="5074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OK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SALES MOTOR</a:t>
            </a:r>
            <a:endParaRPr lang="en-US" sz="800" dirty="0"/>
          </a:p>
        </p:txBody>
      </p:sp>
      <p:sp>
        <p:nvSpPr>
          <p:cNvPr id="38" name="GTBClassificationH2004406005">
            <a:extLst>
              <a:ext uri="{FF2B5EF4-FFF2-40B4-BE49-F238E27FC236}">
                <a16:creationId xmlns:a16="http://schemas.microsoft.com/office/drawing/2014/main" id="{38D8AB05-FAD6-7754-C240-8AB8FB2D4BD7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SALES MOTOR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Trends — Individual Breakdown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2344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00400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30352" y="1444752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279392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16552" y="1234440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2" name="Text 8"/>
          <p:cNvSpPr/>
          <p:nvPr/>
        </p:nvSpPr>
        <p:spPr>
          <a:xfrm>
            <a:off x="4590288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022592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4352544" y="1444752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Shape 10"/>
          <p:cNvSpPr/>
          <p:nvPr/>
        </p:nvSpPr>
        <p:spPr>
          <a:xfrm>
            <a:off x="8101584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38744" y="12344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2"/>
          <p:cNvSpPr/>
          <p:nvPr/>
        </p:nvSpPr>
        <p:spPr>
          <a:xfrm>
            <a:off x="8412480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0844784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1300" dirty="0"/>
          </a:p>
        </p:txBody>
      </p:sp>
      <p:graphicFrame>
        <p:nvGraphicFramePr>
          <p:cNvPr id="19" name="Chart 2"/>
          <p:cNvGraphicFramePr/>
          <p:nvPr/>
        </p:nvGraphicFramePr>
        <p:xfrm>
          <a:off x="8174736" y="1444752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Shape 14"/>
          <p:cNvSpPr/>
          <p:nvPr/>
        </p:nvSpPr>
        <p:spPr>
          <a:xfrm>
            <a:off x="457200" y="3410712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94360" y="352958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22" name="Text 16"/>
          <p:cNvSpPr/>
          <p:nvPr/>
        </p:nvSpPr>
        <p:spPr>
          <a:xfrm>
            <a:off x="768096" y="3465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200400" y="3438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24" name="Chart 3"/>
          <p:cNvGraphicFramePr/>
          <p:nvPr/>
        </p:nvGraphicFramePr>
        <p:xfrm>
          <a:off x="530352" y="3739896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Shape 18"/>
          <p:cNvSpPr/>
          <p:nvPr/>
        </p:nvSpPr>
        <p:spPr>
          <a:xfrm>
            <a:off x="4279392" y="3410712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16552" y="352958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0"/>
          <p:cNvSpPr/>
          <p:nvPr/>
        </p:nvSpPr>
        <p:spPr>
          <a:xfrm>
            <a:off x="4590288" y="3465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(%)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7022592" y="3438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50.4%</a:t>
            </a:r>
            <a:endParaRPr lang="en-US" sz="1300" dirty="0"/>
          </a:p>
        </p:txBody>
      </p:sp>
      <p:graphicFrame>
        <p:nvGraphicFramePr>
          <p:cNvPr id="29" name="Chart 4"/>
          <p:cNvGraphicFramePr/>
          <p:nvPr/>
        </p:nvGraphicFramePr>
        <p:xfrm>
          <a:off x="4352544" y="3739896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0" name="Text 22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SALES MOTOR</a:t>
            </a:r>
            <a:endParaRPr lang="en-US" sz="800" dirty="0"/>
          </a:p>
        </p:txBody>
      </p:sp>
      <p:sp>
        <p:nvSpPr>
          <p:cNvPr id="32" name="GTBClassificationH1844519321">
            <a:extLst>
              <a:ext uri="{FF2B5EF4-FFF2-40B4-BE49-F238E27FC236}">
                <a16:creationId xmlns:a16="http://schemas.microsoft.com/office/drawing/2014/main" id="{11B6F58F-EB25-0FB8-9A1B-CAD01414BD8B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swirl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732520" y="0"/>
            <a:ext cx="3590615" cy="6858000"/>
          </a:xfrm>
          <a:prstGeom prst="rect">
            <a:avLst/>
          </a:prstGeom>
        </p:spPr>
      </p:pic>
      <p:pic>
        <p:nvPicPr>
          <p:cNvPr id="3" name="Image 1" descr="/home/claude/build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5760"/>
            <a:ext cx="155448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DXP-FE-SALES-VISIT-VISA-V3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SALES VISIT VISA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029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29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RECORDED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0175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30175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COVERAGE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5321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5321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0467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0467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SALES VISIT VISA</a:t>
            </a:r>
            <a:endParaRPr lang="en-US" sz="800" dirty="0"/>
          </a:p>
        </p:txBody>
      </p:sp>
      <p:sp>
        <p:nvSpPr>
          <p:cNvPr id="16" name="GTBClassificationH1204527850">
            <a:extLst>
              <a:ext uri="{FF2B5EF4-FFF2-40B4-BE49-F238E27FC236}">
                <a16:creationId xmlns:a16="http://schemas.microsoft.com/office/drawing/2014/main" id="{5C1E0779-3777-4F9F-8FEE-A62C10748C10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SALES VISIT VISA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— Combined Trend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43000"/>
          <a:ext cx="73152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95528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183880" y="129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SNAPSHOT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183880" y="15361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4, 2026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8183880" y="197510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6"/>
          <p:cNvSpPr/>
          <p:nvPr/>
        </p:nvSpPr>
        <p:spPr>
          <a:xfrm>
            <a:off x="8394192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24128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83880" y="2340864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3" name="Text 9"/>
          <p:cNvSpPr/>
          <p:nvPr/>
        </p:nvSpPr>
        <p:spPr>
          <a:xfrm>
            <a:off x="8394192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24128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83880" y="270662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8394192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241280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83880" y="307238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19" name="Text 15"/>
          <p:cNvSpPr/>
          <p:nvPr/>
        </p:nvSpPr>
        <p:spPr>
          <a:xfrm>
            <a:off x="8394192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0241280" y="3017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183880" y="343814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18"/>
          <p:cNvSpPr/>
          <p:nvPr/>
        </p:nvSpPr>
        <p:spPr>
          <a:xfrm>
            <a:off x="8394192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024128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55.3%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183880" y="3858768"/>
            <a:ext cx="329184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476488" y="4023360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2"/>
          <p:cNvSpPr/>
          <p:nvPr/>
        </p:nvSpPr>
        <p:spPr>
          <a:xfrm>
            <a:off x="847648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818388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9573768" y="402336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9" name="Text 25"/>
          <p:cNvSpPr/>
          <p:nvPr/>
        </p:nvSpPr>
        <p:spPr>
          <a:xfrm>
            <a:off x="957376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928116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10671048" y="402336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28"/>
          <p:cNvSpPr/>
          <p:nvPr/>
        </p:nvSpPr>
        <p:spPr>
          <a:xfrm>
            <a:off x="1067104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1037844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8183880" y="5074920"/>
            <a:ext cx="3291840" cy="502920"/>
          </a:xfrm>
          <a:prstGeom prst="roundRect">
            <a:avLst>
              <a:gd name="adj" fmla="val 12727"/>
            </a:avLst>
          </a:prstGeom>
          <a:solidFill>
            <a:srgbClr val="EAFBF1"/>
          </a:solidFill>
          <a:ln/>
        </p:spPr>
      </p:sp>
      <p:sp>
        <p:nvSpPr>
          <p:cNvPr id="35" name="Text 31"/>
          <p:cNvSpPr/>
          <p:nvPr/>
        </p:nvSpPr>
        <p:spPr>
          <a:xfrm>
            <a:off x="8183880" y="5074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OK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SALES VISIT VISA</a:t>
            </a:r>
            <a:endParaRPr lang="en-US" sz="800" dirty="0"/>
          </a:p>
        </p:txBody>
      </p:sp>
      <p:sp>
        <p:nvSpPr>
          <p:cNvPr id="38" name="GTBClassificationH830353344">
            <a:extLst>
              <a:ext uri="{FF2B5EF4-FFF2-40B4-BE49-F238E27FC236}">
                <a16:creationId xmlns:a16="http://schemas.microsoft.com/office/drawing/2014/main" id="{D694991F-7869-A685-B159-18E8788DBF11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SALES VISIT VISA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Trends — Individual Breakdown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2344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00400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30352" y="1444752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279392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16552" y="1234440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2" name="Text 8"/>
          <p:cNvSpPr/>
          <p:nvPr/>
        </p:nvSpPr>
        <p:spPr>
          <a:xfrm>
            <a:off x="4590288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022592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4352544" y="1444752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Shape 10"/>
          <p:cNvSpPr/>
          <p:nvPr/>
        </p:nvSpPr>
        <p:spPr>
          <a:xfrm>
            <a:off x="8101584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38744" y="12344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2"/>
          <p:cNvSpPr/>
          <p:nvPr/>
        </p:nvSpPr>
        <p:spPr>
          <a:xfrm>
            <a:off x="8412480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0844784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300" dirty="0"/>
          </a:p>
        </p:txBody>
      </p:sp>
      <p:graphicFrame>
        <p:nvGraphicFramePr>
          <p:cNvPr id="19" name="Chart 2"/>
          <p:cNvGraphicFramePr/>
          <p:nvPr/>
        </p:nvGraphicFramePr>
        <p:xfrm>
          <a:off x="8174736" y="1444752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Shape 14"/>
          <p:cNvSpPr/>
          <p:nvPr/>
        </p:nvSpPr>
        <p:spPr>
          <a:xfrm>
            <a:off x="457200" y="3410712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94360" y="352958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22" name="Text 16"/>
          <p:cNvSpPr/>
          <p:nvPr/>
        </p:nvSpPr>
        <p:spPr>
          <a:xfrm>
            <a:off x="768096" y="3465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200400" y="3438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24" name="Chart 3"/>
          <p:cNvGraphicFramePr/>
          <p:nvPr/>
        </p:nvGraphicFramePr>
        <p:xfrm>
          <a:off x="530352" y="3739896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Shape 18"/>
          <p:cNvSpPr/>
          <p:nvPr/>
        </p:nvSpPr>
        <p:spPr>
          <a:xfrm>
            <a:off x="4279392" y="3410712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16552" y="352958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0"/>
          <p:cNvSpPr/>
          <p:nvPr/>
        </p:nvSpPr>
        <p:spPr>
          <a:xfrm>
            <a:off x="4590288" y="3465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(%)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7022592" y="3438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55.3%</a:t>
            </a:r>
            <a:endParaRPr lang="en-US" sz="1300" dirty="0"/>
          </a:p>
        </p:txBody>
      </p:sp>
      <p:graphicFrame>
        <p:nvGraphicFramePr>
          <p:cNvPr id="29" name="Chart 4"/>
          <p:cNvGraphicFramePr/>
          <p:nvPr/>
        </p:nvGraphicFramePr>
        <p:xfrm>
          <a:off x="4352544" y="3739896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0" name="Text 22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SALES VISIT VISA</a:t>
            </a:r>
            <a:endParaRPr lang="en-US" sz="800" dirty="0"/>
          </a:p>
        </p:txBody>
      </p:sp>
      <p:sp>
        <p:nvSpPr>
          <p:cNvPr id="32" name="GTBClassificationH1985128455">
            <a:extLst>
              <a:ext uri="{FF2B5EF4-FFF2-40B4-BE49-F238E27FC236}">
                <a16:creationId xmlns:a16="http://schemas.microsoft.com/office/drawing/2014/main" id="{F3A6D35A-1402-AB03-92B0-ACF696330EE5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swirl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8732520" y="0"/>
            <a:ext cx="3579982" cy="6858000"/>
          </a:xfrm>
          <a:prstGeom prst="rect">
            <a:avLst/>
          </a:prstGeom>
        </p:spPr>
      </p:pic>
      <p:pic>
        <p:nvPicPr>
          <p:cNvPr id="3" name="Image 1" descr="/home/claude/build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5760"/>
            <a:ext cx="155448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DXP-FE-TRAVEL-INSURANCE-V3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502920" y="27889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TRAVEL INSURANCE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5029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5029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RECORDED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0175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30175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COVERAGE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5321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5321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046720" y="4023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046720" y="4526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TRAVEL INSURANCE</a:t>
            </a:r>
            <a:endParaRPr lang="en-US" sz="800" dirty="0"/>
          </a:p>
        </p:txBody>
      </p:sp>
      <p:sp>
        <p:nvSpPr>
          <p:cNvPr id="16" name="GTBClassificationH860649912">
            <a:extLst>
              <a:ext uri="{FF2B5EF4-FFF2-40B4-BE49-F238E27FC236}">
                <a16:creationId xmlns:a16="http://schemas.microsoft.com/office/drawing/2014/main" id="{ED182C97-8C0F-8D04-3A56-9C64E61D6FE3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TRAVEL INSURANCE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— Combined Trend</a:t>
            </a:r>
            <a:endParaRPr lang="en-US" sz="2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143000"/>
          <a:ext cx="731520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955280" y="114300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183880" y="129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SNAPSHOT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8183880" y="15361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4, 2026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8183880" y="1975104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6"/>
          <p:cNvSpPr/>
          <p:nvPr/>
        </p:nvSpPr>
        <p:spPr>
          <a:xfrm>
            <a:off x="8394192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0241280" y="19202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83880" y="2340864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3" name="Text 9"/>
          <p:cNvSpPr/>
          <p:nvPr/>
        </p:nvSpPr>
        <p:spPr>
          <a:xfrm>
            <a:off x="8394192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24128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83880" y="270662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2"/>
          <p:cNvSpPr/>
          <p:nvPr/>
        </p:nvSpPr>
        <p:spPr>
          <a:xfrm>
            <a:off x="8394192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0241280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83880" y="307238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19" name="Text 15"/>
          <p:cNvSpPr/>
          <p:nvPr/>
        </p:nvSpPr>
        <p:spPr>
          <a:xfrm>
            <a:off x="8394192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0241280" y="30175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183880" y="343814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18"/>
          <p:cNvSpPr/>
          <p:nvPr/>
        </p:nvSpPr>
        <p:spPr>
          <a:xfrm>
            <a:off x="8394192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0241280" y="3383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44.3%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183880" y="3858768"/>
            <a:ext cx="3291840" cy="0"/>
          </a:xfrm>
          <a:prstGeom prst="line">
            <a:avLst/>
          </a:prstGeom>
          <a:noFill/>
          <a:ln w="9525">
            <a:solidFill>
              <a:srgbClr val="E8E6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476488" y="4023360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2"/>
          <p:cNvSpPr/>
          <p:nvPr/>
        </p:nvSpPr>
        <p:spPr>
          <a:xfrm>
            <a:off x="847648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818388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9573768" y="402336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9" name="Text 25"/>
          <p:cNvSpPr/>
          <p:nvPr/>
        </p:nvSpPr>
        <p:spPr>
          <a:xfrm>
            <a:off x="957376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928116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10671048" y="4023360"/>
            <a:ext cx="512064" cy="51206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28"/>
          <p:cNvSpPr/>
          <p:nvPr/>
        </p:nvSpPr>
        <p:spPr>
          <a:xfrm>
            <a:off x="10671048" y="4023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33" name="Text 29"/>
          <p:cNvSpPr/>
          <p:nvPr/>
        </p:nvSpPr>
        <p:spPr>
          <a:xfrm>
            <a:off x="10378440" y="4572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dirty="0">
                <a:solidFill>
                  <a:srgbClr val="4B4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8183880" y="5074920"/>
            <a:ext cx="3291840" cy="502920"/>
          </a:xfrm>
          <a:prstGeom prst="roundRect">
            <a:avLst>
              <a:gd name="adj" fmla="val 12727"/>
            </a:avLst>
          </a:prstGeom>
          <a:solidFill>
            <a:srgbClr val="EAFBF1"/>
          </a:solidFill>
          <a:ln/>
        </p:spPr>
      </p:sp>
      <p:sp>
        <p:nvSpPr>
          <p:cNvPr id="35" name="Text 31"/>
          <p:cNvSpPr/>
          <p:nvPr/>
        </p:nvSpPr>
        <p:spPr>
          <a:xfrm>
            <a:off x="8183880" y="5074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Gate: OK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TRAVEL INSURANCE</a:t>
            </a:r>
            <a:endParaRPr lang="en-US" sz="800" dirty="0"/>
          </a:p>
        </p:txBody>
      </p:sp>
      <p:sp>
        <p:nvSpPr>
          <p:cNvPr id="38" name="GTBClassificationH1455457208">
            <a:extLst>
              <a:ext uri="{FF2B5EF4-FFF2-40B4-BE49-F238E27FC236}">
                <a16:creationId xmlns:a16="http://schemas.microsoft.com/office/drawing/2014/main" id="{8BE25FD9-C15A-396F-E9FD-11C8A002447A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20040"/>
            <a:ext cx="123444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9260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TRAVEL INSURANCE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57200" y="5669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Trends — Individual Breakdown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234440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00400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30352" y="1444752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279392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16552" y="1234440"/>
            <a:ext cx="109728" cy="109728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2" name="Text 8"/>
          <p:cNvSpPr/>
          <p:nvPr/>
        </p:nvSpPr>
        <p:spPr>
          <a:xfrm>
            <a:off x="4590288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022592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14" name="Chart 1"/>
          <p:cNvGraphicFramePr/>
          <p:nvPr/>
        </p:nvGraphicFramePr>
        <p:xfrm>
          <a:off x="4352544" y="1444752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Shape 10"/>
          <p:cNvSpPr/>
          <p:nvPr/>
        </p:nvSpPr>
        <p:spPr>
          <a:xfrm>
            <a:off x="8101584" y="1115568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38744" y="12344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2"/>
          <p:cNvSpPr/>
          <p:nvPr/>
        </p:nvSpPr>
        <p:spPr>
          <a:xfrm>
            <a:off x="8412480" y="11704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Smells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0844784" y="11430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1300" dirty="0"/>
          </a:p>
        </p:txBody>
      </p:sp>
      <p:graphicFrame>
        <p:nvGraphicFramePr>
          <p:cNvPr id="19" name="Chart 2"/>
          <p:cNvGraphicFramePr/>
          <p:nvPr/>
        </p:nvGraphicFramePr>
        <p:xfrm>
          <a:off x="8174736" y="1444752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Shape 14"/>
          <p:cNvSpPr/>
          <p:nvPr/>
        </p:nvSpPr>
        <p:spPr>
          <a:xfrm>
            <a:off x="457200" y="3410712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94360" y="3529584"/>
            <a:ext cx="109728" cy="109728"/>
          </a:xfrm>
          <a:prstGeom prst="ellipse">
            <a:avLst/>
          </a:prstGeom>
          <a:solidFill>
            <a:srgbClr val="6F51EB"/>
          </a:solidFill>
          <a:ln/>
        </p:spPr>
      </p:sp>
      <p:sp>
        <p:nvSpPr>
          <p:cNvPr id="22" name="Text 16"/>
          <p:cNvSpPr/>
          <p:nvPr/>
        </p:nvSpPr>
        <p:spPr>
          <a:xfrm>
            <a:off x="768096" y="3465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Hotspots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200400" y="3438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F5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graphicFrame>
        <p:nvGraphicFramePr>
          <p:cNvPr id="24" name="Chart 3"/>
          <p:cNvGraphicFramePr/>
          <p:nvPr/>
        </p:nvGraphicFramePr>
        <p:xfrm>
          <a:off x="530352" y="3739896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Shape 18"/>
          <p:cNvSpPr/>
          <p:nvPr/>
        </p:nvSpPr>
        <p:spPr>
          <a:xfrm>
            <a:off x="4279392" y="3410712"/>
            <a:ext cx="365760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/>
          <a:effectLst>
            <a:outerShdw blurRad="889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16552" y="3529584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Text 20"/>
          <p:cNvSpPr/>
          <p:nvPr/>
        </p:nvSpPr>
        <p:spPr>
          <a:xfrm>
            <a:off x="4590288" y="34655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(%)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7022592" y="343814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44.3%</a:t>
            </a:r>
            <a:endParaRPr lang="en-US" sz="1300" dirty="0"/>
          </a:p>
        </p:txBody>
      </p:sp>
      <p:graphicFrame>
        <p:nvGraphicFramePr>
          <p:cNvPr id="29" name="Chart 4"/>
          <p:cNvGraphicFramePr/>
          <p:nvPr/>
        </p:nvGraphicFramePr>
        <p:xfrm>
          <a:off x="4352544" y="3739896"/>
          <a:ext cx="3511296" cy="1728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0" name="Text 22"/>
          <p:cNvSpPr/>
          <p:nvPr/>
        </p:nvSpPr>
        <p:spPr>
          <a:xfrm>
            <a:off x="45720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8503920" y="6565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74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TRAVEL INSURANCE</a:t>
            </a:r>
            <a:endParaRPr lang="en-US" sz="800" dirty="0"/>
          </a:p>
        </p:txBody>
      </p:sp>
      <p:sp>
        <p:nvSpPr>
          <p:cNvPr id="32" name="GTBClassificationH297864333">
            <a:extLst>
              <a:ext uri="{FF2B5EF4-FFF2-40B4-BE49-F238E27FC236}">
                <a16:creationId xmlns:a16="http://schemas.microsoft.com/office/drawing/2014/main" id="{0C1117F0-A1F4-CE28-19C8-81C55410D69E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E2C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492" y="10633"/>
            <a:ext cx="3498113" cy="6858000"/>
          </a:xfrm>
          <a:prstGeom prst="rect">
            <a:avLst/>
          </a:prstGeom>
        </p:spPr>
      </p:pic>
      <p:pic>
        <p:nvPicPr>
          <p:cNvPr id="3" name="Image 1" descr="/home/claude/build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1480"/>
            <a:ext cx="1737360" cy="5212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2920" y="28346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5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</a:t>
            </a:r>
            <a:endParaRPr lang="en-US" sz="5200" dirty="0"/>
          </a:p>
        </p:txBody>
      </p:sp>
      <p:sp>
        <p:nvSpPr>
          <p:cNvPr id="5" name="Text 1"/>
          <p:cNvSpPr/>
          <p:nvPr/>
        </p:nvSpPr>
        <p:spPr>
          <a:xfrm>
            <a:off x="502920" y="4709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the Technology &amp; Digital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8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Next Level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02920" y="65653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1A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Internal</a:t>
            </a:r>
            <a:endParaRPr lang="en-US" sz="900" dirty="0"/>
          </a:p>
        </p:txBody>
      </p:sp>
      <p:sp>
        <p:nvSpPr>
          <p:cNvPr id="7" name="GTBClassificationH1609440008">
            <a:extLst>
              <a:ext uri="{FF2B5EF4-FFF2-40B4-BE49-F238E27FC236}">
                <a16:creationId xmlns:a16="http://schemas.microsoft.com/office/drawing/2014/main" id="{4F4BF37F-38B4-3E21-1849-AEFC1E038018}"/>
              </a:ext>
            </a:extLst>
          </p:cNvPr>
          <p:cNvSpPr txBox="1"/>
          <p:nvPr/>
        </p:nvSpPr>
        <p:spPr>
          <a:xfrm>
            <a:off x="0" y="0"/>
            <a:ext cx="12192000" cy="41338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vert="horz" wrap="none" rtlCol="0" anchor="t">
            <a:noAutofit/>
          </a:bodyPr>
          <a:lstStyle/>
          <a:p>
            <a:r>
              <a:rPr lang="en-US" sz="1400" b="1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Classification:</a:t>
            </a:r>
            <a:r>
              <a:rPr lang="en-US" sz="1400">
                <a:solidFill>
                  <a:srgbClr val="000000">
                    <a:alpha val="70000"/>
                  </a:srgbClr>
                </a:solidFill>
                <a:latin typeface="arial" panose="020B0604020202020204" pitchFamily="34" charset="0"/>
              </a:rPr>
              <a:t> </a:t>
            </a:r>
            <a:r>
              <a:rPr lang="en-US" sz="1400" b="1">
                <a:solidFill>
                  <a:srgbClr val="6A1B9A">
                    <a:alpha val="70000"/>
                  </a:srgbClr>
                </a:solidFill>
                <a:latin typeface="arial" panose="020B0604020202020204" pitchFamily="34" charset="0"/>
              </a:rPr>
              <a:t>Internal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Internal</attrValue>
  <customPropName>Classification</customPropName>
  <timestamp>16/01/48 09:46:42 ص</timestamp>
  <userName>TAWN\VDR000691</userName>
  <computerName>LTHQISD-A2Y480.TAWN.COM</computerName>
  <guid>{ed99bbcd-cb95-450b-aedd-2fca412b3f64}</guid>
  <hdr>
    <r>
      <fontName>arial</fontName>
      <fontColor>000000</fontColor>
      <fontSize>14</fontSize>
      <b/>
      <text xml:space="preserve">Classification:</text>
    </r>
    <r>
      <fontName>arial</fontName>
      <fontColor>000000</fontColor>
      <fontSize>14</fontSize>
      <text xml:space="preserve"> </text>
    </r>
    <r>
      <fontName>arial</fontName>
      <fontColor>6A1B9A</fontColor>
      <fontSize>14</fontSize>
      <b/>
      <text xml:space="preserve">Internal</text>
    </r>
  </hdr>
</GTBClassification>
</file>

<file path=customXml/itemProps1.xml><?xml version="1.0" encoding="utf-8"?>
<ds:datastoreItem xmlns:ds="http://schemas.openxmlformats.org/officeDocument/2006/customXml" ds:itemID="{E7D812B3-4331-4BF8-8F49-540C288BFC6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1150</Words>
  <Application>Microsoft Office PowerPoint</Application>
  <PresentationFormat>Widescreen</PresentationFormat>
  <Paragraphs>536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SonarQube History Report</dc:title>
  <dc:subject>PptxGenJS Presentation</dc:subject>
  <dc:creator>Tawuniya DXP</dc:creator>
  <cp:keywords>ClassificationData:&lt;Classification:Internal&gt;</cp:keywords>
  <cp:lastModifiedBy>Mohamed Elarief</cp:lastModifiedBy>
  <cp:revision>3</cp:revision>
  <dcterms:created xsi:type="dcterms:W3CDTF">2026-06-30T22:09:37Z</dcterms:created>
  <dcterms:modified xsi:type="dcterms:W3CDTF">2026-07-01T10:10:57Z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Internal</vt:lpwstr>
  </property>
  <property fmtid="{D5CDD505-2E9C-101B-9397-08002B2CF9AE}" pid="3" name="ClassifiedBy">
    <vt:lpwstr>TAWN\VDR000691</vt:lpwstr>
  </property>
  <property fmtid="{D5CDD505-2E9C-101B-9397-08002B2CF9AE}" pid="4" name="ClassificationHost">
    <vt:lpwstr>LTHQISD-A2Y480.TAWN.COM</vt:lpwstr>
  </property>
  <property fmtid="{D5CDD505-2E9C-101B-9397-08002B2CF9AE}" pid="5" name="ClassificationDate">
    <vt:lpwstr>16/01/48 09:46:42 ص</vt:lpwstr>
  </property>
  <property fmtid="{D5CDD505-2E9C-101B-9397-08002B2CF9AE}" pid="6" name="ClassificationGUID">
    <vt:lpwstr>{ed99bbcd-cb95-450b-aedd-2fca412b3f64}</vt:lpwstr>
  </property>
</Properties>
</file>