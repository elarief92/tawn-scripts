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72" r:id="rId15"/>
    <p:sldId id="273" r:id="rId16"/>
    <p:sldId id="274" r:id="rId17"/>
    <p:sldId id="275" r:id="rId18"/>
    <p:sldId id="267" r:id="rId19"/>
    <p:sldId id="268" r:id="rId20"/>
    <p:sldId id="269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071" autoAdjust="0"/>
  </p:normalViewPr>
  <p:slideViewPr>
    <p:cSldViewPr snapToGrid="0" snapToObjects="1">
      <p:cViewPr>
        <p:scale>
          <a:sx n="100" d="100"/>
          <a:sy n="100" d="100"/>
        </p:scale>
        <p:origin x="95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6F51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73-4DBB-BE99-7F2F9DF04B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C73-4DBB-BE99-7F2F9DF04B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C73-4DBB-BE99-7F2F9DF04BB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C73-4DBB-BE99-7F2F9DF04BB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C73-4DBB-BE99-7F2F9DF04BB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C73-4DBB-BE99-7F2F9DF04BB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DC73-4DBB-BE99-7F2F9DF04BB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85.6</c:v>
                </c:pt>
                <c:pt idx="1">
                  <c:v>50.5</c:v>
                </c:pt>
                <c:pt idx="2">
                  <c:v>45.6</c:v>
                </c:pt>
                <c:pt idx="3">
                  <c:v>55.3</c:v>
                </c:pt>
                <c:pt idx="4">
                  <c:v>44.3</c:v>
                </c:pt>
                <c:pt idx="5">
                  <c:v>42.7</c:v>
                </c:pt>
                <c:pt idx="6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C73-4DBB-BE99-7F2F9DF04B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Duplication %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7E-40F2-9564-1CB530E9B72F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7E-40F2-9564-1CB530E9B72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F7E-40F2-9564-1CB530E9B72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F7E-40F2-9564-1CB530E9B72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F7E-40F2-9564-1CB530E9B72F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F7E-40F2-9564-1CB530E9B72F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F7E-40F2-9564-1CB530E9B72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16.2</c:v>
                </c:pt>
                <c:pt idx="2">
                  <c:v>7.5</c:v>
                </c:pt>
                <c:pt idx="3">
                  <c:v>1.5</c:v>
                </c:pt>
                <c:pt idx="4">
                  <c:v>6.9</c:v>
                </c:pt>
                <c:pt idx="5">
                  <c:v>11.4</c:v>
                </c:pt>
                <c:pt idx="6">
                  <c:v>11.9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F7E-40F2-9564-1CB530E9B7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9F2-48FA-8C60-DA0E3339F403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9F2-48FA-8C60-DA0E3339F403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9F2-48FA-8C60-DA0E3339F403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9F2-48FA-8C60-DA0E3339F40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9F2-48FA-8C60-DA0E3339F403}"/>
              </c:ext>
            </c:extLst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9F2-48FA-8C60-DA0E3339F403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9F2-48FA-8C60-DA0E3339F4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7</c:v>
                </c:pt>
                <c:pt idx="2">
                  <c:v>0</c:v>
                </c:pt>
                <c:pt idx="3">
                  <c:v>2</c:v>
                </c:pt>
                <c:pt idx="4">
                  <c:v>13</c:v>
                </c:pt>
                <c:pt idx="5">
                  <c:v>0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9F2-48FA-8C60-DA0E3339F4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B7-4DB1-9CE2-A2CB6EFDC2F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7B7-4DB1-9CE2-A2CB6EFDC2F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7B7-4DB1-9CE2-A2CB6EFDC2F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7B7-4DB1-9CE2-A2CB6EFDC2F0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B7-4DB1-9CE2-A2CB6EFDC2F0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7B7-4DB1-9CE2-A2CB6EFDC2F0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7B7-4DB1-9CE2-A2CB6EFDC2F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</c:v>
                </c:pt>
                <c:pt idx="1">
                  <c:v>100</c:v>
                </c:pt>
                <c:pt idx="2">
                  <c:v>20</c:v>
                </c:pt>
                <c:pt idx="3">
                  <c:v>91</c:v>
                </c:pt>
                <c:pt idx="4">
                  <c:v>131</c:v>
                </c:pt>
                <c:pt idx="5">
                  <c:v>28</c:v>
                </c:pt>
                <c:pt idx="6">
                  <c:v>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7B7-4DB1-9CE2-A2CB6EFDC2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OTP</c:v>
                </c:pt>
              </c:strCache>
            </c:strRef>
          </c:tx>
          <c:spPr>
            <a:ln w="22225">
              <a:solidFill>
                <a:srgbClr val="6A1B9A"/>
              </a:solidFill>
            </a:ln>
            <a:effectLst/>
          </c:spPr>
          <c:marker>
            <c:symbol val="circle"/>
            <c:size val="5"/>
            <c:spPr>
              <a:solidFill>
                <a:srgbClr val="6A1B9A"/>
              </a:solidFill>
              <a:ln>
                <a:solidFill>
                  <a:srgbClr val="6A1B9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75-4ADA-85BD-D31BDC88A7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Motor V3</c:v>
                </c:pt>
              </c:strCache>
            </c:strRef>
          </c:tx>
          <c:spPr>
            <a:ln w="22225">
              <a:solidFill>
                <a:srgbClr val="6F51EB"/>
              </a:solidFill>
            </a:ln>
            <a:effectLst/>
          </c:spPr>
          <c:marker>
            <c:symbol val="circle"/>
            <c:size val="5"/>
            <c:spPr>
              <a:solidFill>
                <a:srgbClr val="6F51EB"/>
              </a:solidFill>
              <a:ln>
                <a:solidFill>
                  <a:srgbClr val="6F51E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75-4ADA-85BD-D31BDC88A7A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BFF Web</c:v>
                </c:pt>
              </c:strCache>
            </c:strRef>
          </c:tx>
          <c:spPr>
            <a:ln w="22225">
              <a:solidFill>
                <a:srgbClr val="22C55E"/>
              </a:solidFill>
            </a:ln>
            <a:effectLst/>
          </c:spPr>
          <c:marker>
            <c:symbol val="circle"/>
            <c:size val="5"/>
            <c:spPr>
              <a:solidFill>
                <a:srgbClr val="22C55E"/>
              </a:solidFill>
              <a:ln>
                <a:solidFill>
                  <a:srgbClr val="22C55E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75-4ADA-85BD-D31BDC88A7A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Visit Visa V3</c:v>
                </c:pt>
              </c:strCache>
            </c:strRef>
          </c:tx>
          <c:spPr>
            <a:ln w="22225">
              <a:solidFill>
                <a:srgbClr val="F59E0B"/>
              </a:solidFill>
            </a:ln>
            <a:effectLst/>
          </c:spPr>
          <c:marker>
            <c:symbol val="circle"/>
            <c:size val="5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275-4ADA-85BD-D31BDC88A7A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Travel Ins V3</c:v>
                </c:pt>
              </c:strCache>
            </c:strRef>
          </c:tx>
          <c:spPr>
            <a:ln w="22225">
              <a:solidFill>
                <a:srgbClr val="EF4444"/>
              </a:solidFill>
            </a:ln>
            <a:effectLst/>
          </c:spPr>
          <c:marker>
            <c:symbol val="circle"/>
            <c:size val="5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4">
                  <c:v>13</c:v>
                </c:pt>
                <c:pt idx="5">
                  <c:v>13</c:v>
                </c:pt>
                <c:pt idx="6">
                  <c:v>13</c:v>
                </c:pt>
                <c:pt idx="7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275-4ADA-85BD-D31BDC88A7A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Recovery Portal V3</c:v>
                </c:pt>
              </c:strCache>
            </c:strRef>
          </c:tx>
          <c:spPr>
            <a:ln w="22225">
              <a:solidFill>
                <a:srgbClr val="707491"/>
              </a:solidFill>
            </a:ln>
            <a:effectLst/>
          </c:spPr>
          <c:marker>
            <c:symbol val="circle"/>
            <c:size val="5"/>
            <c:spPr>
              <a:solidFill>
                <a:srgbClr val="707491"/>
              </a:solidFill>
              <a:ln>
                <a:solidFill>
                  <a:srgbClr val="70749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3">
                  <c:v>6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275-4ADA-85BD-D31BDC88A7A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Workshop V3</c:v>
                </c:pt>
              </c:strCache>
            </c:strRef>
          </c:tx>
          <c:spPr>
            <a:ln w="22225">
              <a:solidFill>
                <a:srgbClr val="1E88E5"/>
              </a:solidFill>
            </a:ln>
            <a:effectLst/>
          </c:spPr>
          <c:marker>
            <c:symbol val="circle"/>
            <c:size val="5"/>
            <c:spPr>
              <a:solidFill>
                <a:srgbClr val="1E88E5"/>
              </a:solidFill>
              <a:ln>
                <a:solidFill>
                  <a:srgbClr val="1E88E5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28</c:v>
                </c:pt>
                <c:pt idx="1">
                  <c:v>28</c:v>
                </c:pt>
                <c:pt idx="2">
                  <c:v>2</c:v>
                </c:pt>
                <c:pt idx="3">
                  <c:v>2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275-4ADA-85BD-D31BDC88A7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 rot="-2700000"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/>
        <c:numFmt formatCode="#,##0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52545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OTP</c:v>
                </c:pt>
              </c:strCache>
            </c:strRef>
          </c:tx>
          <c:spPr>
            <a:ln w="22225">
              <a:solidFill>
                <a:srgbClr val="6A1B9A"/>
              </a:solidFill>
            </a:ln>
            <a:effectLst/>
          </c:spPr>
          <c:marker>
            <c:symbol val="circle"/>
            <c:size val="5"/>
            <c:spPr>
              <a:solidFill>
                <a:srgbClr val="6A1B9A"/>
              </a:solidFill>
              <a:ln>
                <a:solidFill>
                  <a:srgbClr val="6A1B9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DE-43AA-8806-93054BF57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Motor V3</c:v>
                </c:pt>
              </c:strCache>
            </c:strRef>
          </c:tx>
          <c:spPr>
            <a:ln w="22225">
              <a:solidFill>
                <a:srgbClr val="6F51EB"/>
              </a:solidFill>
            </a:ln>
            <a:effectLst/>
          </c:spPr>
          <c:marker>
            <c:symbol val="circle"/>
            <c:size val="5"/>
            <c:spPr>
              <a:solidFill>
                <a:srgbClr val="6F51EB"/>
              </a:solidFill>
              <a:ln>
                <a:solidFill>
                  <a:srgbClr val="6F51E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DE-43AA-8806-93054BF578D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BFF Web</c:v>
                </c:pt>
              </c:strCache>
            </c:strRef>
          </c:tx>
          <c:spPr>
            <a:ln w="22225">
              <a:solidFill>
                <a:srgbClr val="22C55E"/>
              </a:solidFill>
            </a:ln>
            <a:effectLst/>
          </c:spPr>
          <c:marker>
            <c:symbol val="circle"/>
            <c:size val="5"/>
            <c:spPr>
              <a:solidFill>
                <a:srgbClr val="22C55E"/>
              </a:solidFill>
              <a:ln>
                <a:solidFill>
                  <a:srgbClr val="22C55E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8DE-43AA-8806-93054BF578D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Visit Visa V3</c:v>
                </c:pt>
              </c:strCache>
            </c:strRef>
          </c:tx>
          <c:spPr>
            <a:ln w="22225">
              <a:solidFill>
                <a:srgbClr val="F59E0B"/>
              </a:solidFill>
            </a:ln>
            <a:effectLst/>
          </c:spPr>
          <c:marker>
            <c:symbol val="circle"/>
            <c:size val="5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8DE-43AA-8806-93054BF578D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Travel Ins V3</c:v>
                </c:pt>
              </c:strCache>
            </c:strRef>
          </c:tx>
          <c:spPr>
            <a:ln w="22225">
              <a:solidFill>
                <a:srgbClr val="EF4444"/>
              </a:solidFill>
            </a:ln>
            <a:effectLst/>
          </c:spPr>
          <c:marker>
            <c:symbol val="circle"/>
            <c:size val="5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8DE-43AA-8806-93054BF578D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Recovery Portal V3</c:v>
                </c:pt>
              </c:strCache>
            </c:strRef>
          </c:tx>
          <c:spPr>
            <a:ln w="22225">
              <a:solidFill>
                <a:srgbClr val="707491"/>
              </a:solidFill>
            </a:ln>
            <a:effectLst/>
          </c:spPr>
          <c:marker>
            <c:symbol val="circle"/>
            <c:size val="5"/>
            <c:spPr>
              <a:solidFill>
                <a:srgbClr val="707491"/>
              </a:solidFill>
              <a:ln>
                <a:solidFill>
                  <a:srgbClr val="70749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8DE-43AA-8806-93054BF578D3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Workshop V3</c:v>
                </c:pt>
              </c:strCache>
            </c:strRef>
          </c:tx>
          <c:spPr>
            <a:ln w="22225">
              <a:solidFill>
                <a:srgbClr val="1E88E5"/>
              </a:solidFill>
            </a:ln>
            <a:effectLst/>
          </c:spPr>
          <c:marker>
            <c:symbol val="circle"/>
            <c:size val="5"/>
            <c:spPr>
              <a:solidFill>
                <a:srgbClr val="1E88E5"/>
              </a:solidFill>
              <a:ln>
                <a:solidFill>
                  <a:srgbClr val="1E88E5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8DE-43AA-8806-93054BF57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 rot="-2700000"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/>
        <c:numFmt formatCode="#,##0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52545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OTP</c:v>
                </c:pt>
              </c:strCache>
            </c:strRef>
          </c:tx>
          <c:spPr>
            <a:ln w="22225">
              <a:solidFill>
                <a:srgbClr val="6A1B9A"/>
              </a:solidFill>
            </a:ln>
            <a:effectLst/>
          </c:spPr>
          <c:marker>
            <c:symbol val="circle"/>
            <c:size val="5"/>
            <c:spPr>
              <a:solidFill>
                <a:srgbClr val="6A1B9A"/>
              </a:solidFill>
              <a:ln>
                <a:solidFill>
                  <a:srgbClr val="6A1B9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E5-4417-B4CF-A32D93B6AF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Motor V3</c:v>
                </c:pt>
              </c:strCache>
            </c:strRef>
          </c:tx>
          <c:spPr>
            <a:ln w="22225">
              <a:solidFill>
                <a:srgbClr val="6F51EB"/>
              </a:solidFill>
            </a:ln>
            <a:effectLst/>
          </c:spPr>
          <c:marker>
            <c:symbol val="circle"/>
            <c:size val="5"/>
            <c:spPr>
              <a:solidFill>
                <a:srgbClr val="6F51EB"/>
              </a:solidFill>
              <a:ln>
                <a:solidFill>
                  <a:srgbClr val="6F51E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4">
                  <c:v>99</c:v>
                </c:pt>
                <c:pt idx="5">
                  <c:v>99</c:v>
                </c:pt>
                <c:pt idx="6">
                  <c:v>99</c:v>
                </c:pt>
                <c:pt idx="7">
                  <c:v>100</c:v>
                </c:pt>
                <c:pt idx="8">
                  <c:v>100</c:v>
                </c:pt>
                <c:pt idx="9">
                  <c:v>102</c:v>
                </c:pt>
                <c:pt idx="10">
                  <c:v>102</c:v>
                </c:pt>
                <c:pt idx="11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E5-4417-B4CF-A32D93B6AF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BFF Web</c:v>
                </c:pt>
              </c:strCache>
            </c:strRef>
          </c:tx>
          <c:spPr>
            <a:ln w="22225">
              <a:solidFill>
                <a:srgbClr val="22C55E"/>
              </a:solidFill>
            </a:ln>
            <a:effectLst/>
          </c:spPr>
          <c:marker>
            <c:symbol val="circle"/>
            <c:size val="5"/>
            <c:spPr>
              <a:solidFill>
                <a:srgbClr val="22C55E"/>
              </a:solidFill>
              <a:ln>
                <a:solidFill>
                  <a:srgbClr val="22C55E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86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E5-4417-B4CF-A32D93B6AFB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Visit Visa V3</c:v>
                </c:pt>
              </c:strCache>
            </c:strRef>
          </c:tx>
          <c:spPr>
            <a:ln w="22225">
              <a:solidFill>
                <a:srgbClr val="F59E0B"/>
              </a:solidFill>
            </a:ln>
            <a:effectLst/>
          </c:spPr>
          <c:marker>
            <c:symbol val="circle"/>
            <c:size val="5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4">
                  <c:v>104</c:v>
                </c:pt>
                <c:pt idx="5">
                  <c:v>93</c:v>
                </c:pt>
                <c:pt idx="6">
                  <c:v>93</c:v>
                </c:pt>
                <c:pt idx="7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1E5-4417-B4CF-A32D93B6AFB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Travel Ins V3</c:v>
                </c:pt>
              </c:strCache>
            </c:strRef>
          </c:tx>
          <c:spPr>
            <a:ln w="22225">
              <a:solidFill>
                <a:srgbClr val="EF4444"/>
              </a:solidFill>
            </a:ln>
            <a:effectLst/>
          </c:spPr>
          <c:marker>
            <c:symbol val="circle"/>
            <c:size val="5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4">
                  <c:v>133</c:v>
                </c:pt>
                <c:pt idx="5">
                  <c:v>133</c:v>
                </c:pt>
                <c:pt idx="6">
                  <c:v>133</c:v>
                </c:pt>
                <c:pt idx="7">
                  <c:v>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1E5-4417-B4CF-A32D93B6AFB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Recovery Portal V3</c:v>
                </c:pt>
              </c:strCache>
            </c:strRef>
          </c:tx>
          <c:spPr>
            <a:ln w="22225">
              <a:solidFill>
                <a:srgbClr val="707491"/>
              </a:solidFill>
            </a:ln>
            <a:effectLst/>
          </c:spPr>
          <c:marker>
            <c:symbol val="circle"/>
            <c:size val="5"/>
            <c:spPr>
              <a:solidFill>
                <a:srgbClr val="707491"/>
              </a:solidFill>
              <a:ln>
                <a:solidFill>
                  <a:srgbClr val="70749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3">
                  <c:v>318</c:v>
                </c:pt>
                <c:pt idx="4">
                  <c:v>23</c:v>
                </c:pt>
                <c:pt idx="5">
                  <c:v>23</c:v>
                </c:pt>
                <c:pt idx="6">
                  <c:v>23</c:v>
                </c:pt>
                <c:pt idx="7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1E5-4417-B4CF-A32D93B6AFBD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Workshop V3</c:v>
                </c:pt>
              </c:strCache>
            </c:strRef>
          </c:tx>
          <c:spPr>
            <a:ln w="22225">
              <a:solidFill>
                <a:srgbClr val="1E88E5"/>
              </a:solidFill>
            </a:ln>
            <a:effectLst/>
          </c:spPr>
          <c:marker>
            <c:symbol val="circle"/>
            <c:size val="5"/>
            <c:spPr>
              <a:solidFill>
                <a:srgbClr val="1E88E5"/>
              </a:solidFill>
              <a:ln>
                <a:solidFill>
                  <a:srgbClr val="1E88E5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267</c:v>
                </c:pt>
                <c:pt idx="1">
                  <c:v>267</c:v>
                </c:pt>
                <c:pt idx="2">
                  <c:v>3</c:v>
                </c:pt>
                <c:pt idx="3">
                  <c:v>3</c:v>
                </c:pt>
                <c:pt idx="4">
                  <c:v>179</c:v>
                </c:pt>
                <c:pt idx="5">
                  <c:v>179</c:v>
                </c:pt>
                <c:pt idx="6">
                  <c:v>179</c:v>
                </c:pt>
                <c:pt idx="7">
                  <c:v>179</c:v>
                </c:pt>
                <c:pt idx="8">
                  <c:v>179</c:v>
                </c:pt>
                <c:pt idx="9">
                  <c:v>179</c:v>
                </c:pt>
                <c:pt idx="10">
                  <c:v>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1E5-4417-B4CF-A32D93B6AF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 rot="-2700000"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/>
        <c:numFmt formatCode="#,##0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52545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OTP</c:v>
                </c:pt>
              </c:strCache>
            </c:strRef>
          </c:tx>
          <c:spPr>
            <a:ln w="22225">
              <a:solidFill>
                <a:srgbClr val="6A1B9A"/>
              </a:solidFill>
            </a:ln>
            <a:effectLst/>
          </c:spPr>
          <c:marker>
            <c:symbol val="circle"/>
            <c:size val="5"/>
            <c:spPr>
              <a:solidFill>
                <a:srgbClr val="6A1B9A"/>
              </a:solidFill>
              <a:ln>
                <a:solidFill>
                  <a:srgbClr val="6A1B9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85.6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42-4403-BD3A-C4CD7AFF1C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Motor V3</c:v>
                </c:pt>
              </c:strCache>
            </c:strRef>
          </c:tx>
          <c:spPr>
            <a:ln w="22225">
              <a:solidFill>
                <a:srgbClr val="6F51EB"/>
              </a:solidFill>
            </a:ln>
            <a:effectLst/>
          </c:spPr>
          <c:marker>
            <c:symbol val="circle"/>
            <c:size val="5"/>
            <c:spPr>
              <a:solidFill>
                <a:srgbClr val="6F51EB"/>
              </a:solidFill>
              <a:ln>
                <a:solidFill>
                  <a:srgbClr val="6F51E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4">
                  <c:v>50.6</c:v>
                </c:pt>
                <c:pt idx="5">
                  <c:v>50.6</c:v>
                </c:pt>
                <c:pt idx="6">
                  <c:v>50.6</c:v>
                </c:pt>
                <c:pt idx="7">
                  <c:v>50.5</c:v>
                </c:pt>
                <c:pt idx="8">
                  <c:v>50.5</c:v>
                </c:pt>
                <c:pt idx="9">
                  <c:v>50.5</c:v>
                </c:pt>
                <c:pt idx="10">
                  <c:v>50.5</c:v>
                </c:pt>
                <c:pt idx="11">
                  <c:v>50.4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42-4403-BD3A-C4CD7AFF1C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BFF Web</c:v>
                </c:pt>
              </c:strCache>
            </c:strRef>
          </c:tx>
          <c:spPr>
            <a:ln w="22225">
              <a:solidFill>
                <a:srgbClr val="22C55E"/>
              </a:solidFill>
            </a:ln>
            <a:effectLst/>
          </c:spPr>
          <c:marker>
            <c:symbol val="circle"/>
            <c:size val="5"/>
            <c:spPr>
              <a:solidFill>
                <a:srgbClr val="22C55E"/>
              </a:solidFill>
              <a:ln>
                <a:solidFill>
                  <a:srgbClr val="22C55E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45.7</c:v>
                </c:pt>
                <c:pt idx="4">
                  <c:v>45.7</c:v>
                </c:pt>
                <c:pt idx="5">
                  <c:v>45.7</c:v>
                </c:pt>
                <c:pt idx="6">
                  <c:v>45.7</c:v>
                </c:pt>
                <c:pt idx="7">
                  <c:v>45.6</c:v>
                </c:pt>
                <c:pt idx="8">
                  <c:v>45.6</c:v>
                </c:pt>
                <c:pt idx="9">
                  <c:v>45.6</c:v>
                </c:pt>
                <c:pt idx="10">
                  <c:v>45.6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A42-4403-BD3A-C4CD7AFF1CC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Visit Visa V3</c:v>
                </c:pt>
              </c:strCache>
            </c:strRef>
          </c:tx>
          <c:spPr>
            <a:ln w="22225">
              <a:solidFill>
                <a:srgbClr val="F59E0B"/>
              </a:solidFill>
            </a:ln>
            <a:effectLst/>
          </c:spPr>
          <c:marker>
            <c:symbol val="circle"/>
            <c:size val="5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4">
                  <c:v>0</c:v>
                </c:pt>
                <c:pt idx="5">
                  <c:v>55.6</c:v>
                </c:pt>
                <c:pt idx="6">
                  <c:v>55.6</c:v>
                </c:pt>
                <c:pt idx="7">
                  <c:v>55.3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A42-4403-BD3A-C4CD7AFF1CC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Travel Ins V3</c:v>
                </c:pt>
              </c:strCache>
            </c:strRef>
          </c:tx>
          <c:spPr>
            <a:ln w="22225">
              <a:solidFill>
                <a:srgbClr val="EF4444"/>
              </a:solidFill>
            </a:ln>
            <a:effectLst/>
          </c:spPr>
          <c:marker>
            <c:symbol val="circle"/>
            <c:size val="5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4">
                  <c:v>44.7</c:v>
                </c:pt>
                <c:pt idx="5">
                  <c:v>44.7</c:v>
                </c:pt>
                <c:pt idx="6">
                  <c:v>44.7</c:v>
                </c:pt>
                <c:pt idx="7">
                  <c:v>44.3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A42-4403-BD3A-C4CD7AFF1CC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Recovery Portal V3</c:v>
                </c:pt>
              </c:strCache>
            </c:strRef>
          </c:tx>
          <c:spPr>
            <a:ln w="22225">
              <a:solidFill>
                <a:srgbClr val="707491"/>
              </a:solidFill>
            </a:ln>
            <a:effectLst/>
          </c:spPr>
          <c:marker>
            <c:symbol val="circle"/>
            <c:size val="5"/>
            <c:spPr>
              <a:solidFill>
                <a:srgbClr val="707491"/>
              </a:solidFill>
              <a:ln>
                <a:solidFill>
                  <a:srgbClr val="70749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3">
                  <c:v>41.8</c:v>
                </c:pt>
                <c:pt idx="4">
                  <c:v>42.5</c:v>
                </c:pt>
                <c:pt idx="5">
                  <c:v>42.5</c:v>
                </c:pt>
                <c:pt idx="6">
                  <c:v>42.5</c:v>
                </c:pt>
                <c:pt idx="7">
                  <c:v>42.7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A42-4403-BD3A-C4CD7AFF1CC6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Workshop V3</c:v>
                </c:pt>
              </c:strCache>
            </c:strRef>
          </c:tx>
          <c:spPr>
            <a:ln w="22225">
              <a:solidFill>
                <a:srgbClr val="1E88E5"/>
              </a:solidFill>
            </a:ln>
            <a:effectLst/>
          </c:spPr>
          <c:marker>
            <c:symbol val="circle"/>
            <c:size val="5"/>
            <c:spPr>
              <a:solidFill>
                <a:srgbClr val="1E88E5"/>
              </a:solidFill>
              <a:ln>
                <a:solidFill>
                  <a:srgbClr val="1E88E5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43</c:v>
                </c:pt>
                <c:pt idx="3">
                  <c:v>43</c:v>
                </c:pt>
                <c:pt idx="4">
                  <c:v>43</c:v>
                </c:pt>
                <c:pt idx="5">
                  <c:v>43</c:v>
                </c:pt>
                <c:pt idx="6">
                  <c:v>43</c:v>
                </c:pt>
                <c:pt idx="7">
                  <c:v>43</c:v>
                </c:pt>
                <c:pt idx="8">
                  <c:v>43</c:v>
                </c:pt>
                <c:pt idx="9">
                  <c:v>43</c:v>
                </c:pt>
                <c:pt idx="10">
                  <c:v>43.2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A42-4403-BD3A-C4CD7AFF1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 rot="-2700000"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/>
        <c:numFmt formatCode="0&quot;%&quot;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52545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solidFill>
              <a:srgbClr val="EF4444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7</c:v>
                </c:pt>
                <c:pt idx="2">
                  <c:v>0</c:v>
                </c:pt>
                <c:pt idx="3">
                  <c:v>2</c:v>
                </c:pt>
                <c:pt idx="4">
                  <c:v>10</c:v>
                </c:pt>
                <c:pt idx="5">
                  <c:v>0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12-448C-8D29-FE973FF4D6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12-448C-8D29-FE973FF4D6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solidFill>
              <a:srgbClr val="6A1B9A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37</c:v>
                </c:pt>
                <c:pt idx="1">
                  <c:v>95</c:v>
                </c:pt>
                <c:pt idx="2">
                  <c:v>20</c:v>
                </c:pt>
                <c:pt idx="3">
                  <c:v>91</c:v>
                </c:pt>
                <c:pt idx="4">
                  <c:v>131</c:v>
                </c:pt>
                <c:pt idx="5">
                  <c:v>28</c:v>
                </c:pt>
                <c:pt idx="6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12-448C-8D29-FE973FF4D6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333333333"/>
        <c:axId val="444444444"/>
      </c:barChart>
      <c:catAx>
        <c:axId val="333333333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 rot="-2700000"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444444444"/>
        <c:crosses val="autoZero"/>
        <c:auto val="1"/>
        <c:lblAlgn val="ctr"/>
        <c:lblOffset val="100"/>
        <c:noMultiLvlLbl val="1"/>
      </c:catAx>
      <c:valAx>
        <c:axId val="444444444"/>
        <c:scaling>
          <c:orientation val="minMax"/>
        </c:scaling>
        <c:delete val="0"/>
        <c:axPos val="l"/>
        <c:majorGridlines/>
        <c:numFmt formatCode="#,##0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333333333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52545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Coverage %</c:v>
                </c:pt>
              </c:strCache>
            </c:strRef>
          </c:tx>
          <c:spPr>
            <a:ln w="28575">
              <a:solidFill>
                <a:srgbClr val="22C55E"/>
              </a:solidFill>
            </a:ln>
          </c:spPr>
          <c:marker>
            <c:symbol val="circle"/>
            <c:size val="6"/>
            <c:spPr>
              <a:solidFill>
                <a:srgbClr val="22C55E"/>
              </a:solidFill>
            </c:spPr>
          </c:marker>
          <c:dLbls>
            <c:numFmt formatCode="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43</c:v>
                </c:pt>
                <c:pt idx="3">
                  <c:v>43.5</c:v>
                </c:pt>
                <c:pt idx="4">
                  <c:v>37.799999999999997</c:v>
                </c:pt>
                <c:pt idx="5">
                  <c:v>47</c:v>
                </c:pt>
                <c:pt idx="6">
                  <c:v>47</c:v>
                </c:pt>
                <c:pt idx="7">
                  <c:v>46.9</c:v>
                </c:pt>
                <c:pt idx="8">
                  <c:v>56.2</c:v>
                </c:pt>
                <c:pt idx="9">
                  <c:v>46.4</c:v>
                </c:pt>
                <c:pt idx="10">
                  <c:v>46.4</c:v>
                </c:pt>
                <c:pt idx="11">
                  <c:v>50.4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48-4CFE-960C-0D0F3B8091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5555555"/>
        <c:axId val="666666666"/>
      </c:lineChart>
      <c:catAx>
        <c:axId val="555555555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 rot="-2700000"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666666666"/>
        <c:crosses val="autoZero"/>
        <c:auto val="1"/>
        <c:lblAlgn val="ctr"/>
        <c:lblOffset val="100"/>
        <c:noMultiLvlLbl val="1"/>
      </c:catAx>
      <c:valAx>
        <c:axId val="666666666"/>
        <c:scaling>
          <c:orientation val="minMax"/>
        </c:scaling>
        <c:delete val="0"/>
        <c:axPos val="l"/>
        <c:majorGridlines/>
        <c:numFmt formatCode="0&quot;%&quot;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555555555"/>
        <c:crosses val="autoZero"/>
        <c:crossBetween val="between"/>
      </c:valAx>
    </c:plotArea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30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q_unpacked/ppt/media/image3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8778240" y="-1"/>
            <a:ext cx="3509010" cy="6924669"/>
          </a:xfrm>
          <a:prstGeom prst="rect">
            <a:avLst/>
          </a:prstGeom>
        </p:spPr>
      </p:pic>
      <p:pic>
        <p:nvPicPr>
          <p:cNvPr id="3" name="Image 1" descr="/home/claude/sq_unpacked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2103120" cy="6400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19456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02920" y="22128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502920" y="29260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502920" y="3657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Report</a:t>
            </a:r>
            <a:endParaRPr lang="en-US" sz="5400" dirty="0"/>
          </a:p>
        </p:txBody>
      </p:sp>
      <p:sp>
        <p:nvSpPr>
          <p:cNvPr id="8" name="Shape 4"/>
          <p:cNvSpPr/>
          <p:nvPr/>
        </p:nvSpPr>
        <p:spPr>
          <a:xfrm>
            <a:off x="502920" y="4663440"/>
            <a:ext cx="3657600" cy="0"/>
          </a:xfrm>
          <a:prstGeom prst="line">
            <a:avLst/>
          </a:prstGeom>
          <a:noFill/>
          <a:ln w="19050">
            <a:solidFill>
              <a:srgbClr val="A1A5C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800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Governance &amp; Code Quality Enforcement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9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10/06/2026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1100" dirty="0"/>
          </a:p>
        </p:txBody>
      </p:sp>
      <p:sp>
        <p:nvSpPr>
          <p:cNvPr id="12" name="GTBClassificationH1901434320">
            <a:extLst>
              <a:ext uri="{FF2B5EF4-FFF2-40B4-BE49-F238E27FC236}">
                <a16:creationId xmlns:a16="http://schemas.microsoft.com/office/drawing/2014/main" id="{A2E7C953-E952-5728-5CF1-4A9D202B03CD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State — Before CI/CD Governance &amp; SonarQube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CI/CD governance framework across applications.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validation was largely manual and inconsistent.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of security, reliability, and maintainability metrics.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enforcement of quality controls before deployment.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approvals performed without quality gate validation.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naming conventions and release traceability.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3258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96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37960" y="19202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19568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deployment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21945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gate blocking bad code from reaching production.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37960" y="26060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26426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governance visibility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0" y="28803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pane to track security, bugs, and code smells.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37960" y="32918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33284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defect detection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0" y="35661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discovered in production rather than during development.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37960" y="39776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5120" y="4014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 standards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75120" y="42519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followed its own undocumented process.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537960" y="46634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0" y="47000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traceability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675120" y="4937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between requirements, releases, and deployments.</a:t>
            </a:r>
            <a:endParaRPr lang="en-US" sz="1100" dirty="0"/>
          </a:p>
        </p:txBody>
      </p:sp>
      <p:sp>
        <p:nvSpPr>
          <p:cNvPr id="27" name="GTBClassificationH856908150">
            <a:extLst>
              <a:ext uri="{FF2B5EF4-FFF2-40B4-BE49-F238E27FC236}">
                <a16:creationId xmlns:a16="http://schemas.microsoft.com/office/drawing/2014/main" id="{8C24B130-34EB-924F-A2D4-29D835FB10A6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8016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CI/CD governance, security controls, and quality enforcement across all applications.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82880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" y="201168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61288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6072" y="257860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SonarQube Quality Gates across all Java and React CI/CD pipelines.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182880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7992" y="201168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93208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Governance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07992" y="257860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pipeline structure, naming, and deployment controls.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75320" y="182880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39912" y="201168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3991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025128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Enforcement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439912" y="257860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quality through automated gate checks on every build.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4069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6072" y="425196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61288" y="4270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Secret Scanning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76072" y="481888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automated security scanning and secret detection in every pipeline run.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343400" y="4069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07992" y="425196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07992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93208" y="4270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Standards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07992" y="481888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consistent naming for releases and SonarQube projects.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75320" y="4069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439912" y="425196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39912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025128" y="4270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&amp; Compliance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439912" y="481888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full traceability from Bitbucket → Jenkins → Deployment and align with ITQMS.</a:t>
            </a:r>
            <a:endParaRPr lang="en-US" sz="1200" dirty="0"/>
          </a:p>
        </p:txBody>
      </p:sp>
      <p:sp>
        <p:nvSpPr>
          <p:cNvPr id="38" name="GTBClassificationH1854486790">
            <a:extLst>
              <a:ext uri="{FF2B5EF4-FFF2-40B4-BE49-F238E27FC236}">
                <a16:creationId xmlns:a16="http://schemas.microsoft.com/office/drawing/2014/main" id="{E8DD599B-40E9-95BA-6FF9-186A80BC67D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CI/CD Quality Governance Pipeline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80160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 runs through a single standardized pipeline enforcing security, quality, and coverage at every stage.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1148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⬇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1148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0078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87452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87452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87452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16382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33756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33756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33756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2686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80060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0060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80060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8990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26364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26364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26364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55294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72668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72668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🚦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72668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Check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01598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918972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18972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18972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47902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065276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1065276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1065276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114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applies across all environments: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1148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214884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37744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37744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411480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434340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34340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608076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30936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0936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PREPROD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804672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827532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3E2C79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7532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411480" y="47548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Security, Quality &amp; Compliance Controls at Every Stage</a:t>
            </a:r>
            <a:endParaRPr lang="en-US" sz="1200" dirty="0"/>
          </a:p>
        </p:txBody>
      </p:sp>
      <p:sp>
        <p:nvSpPr>
          <p:cNvPr id="55" name="GTBClassificationH931666918">
            <a:extLst>
              <a:ext uri="{FF2B5EF4-FFF2-40B4-BE49-F238E27FC236}">
                <a16:creationId xmlns:a16="http://schemas.microsoft.com/office/drawing/2014/main" id="{1F21EDA6-64E2-7709-B375-C1BD6CF40CC8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 Standard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53492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810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name is aligned only with EPIC Name.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103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2395728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FFF0F0"/>
          </a:solidFill>
          <a:ln w="6350">
            <a:solidFill>
              <a:srgbClr val="FF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3957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EPIC8033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2926080"/>
            <a:ext cx="484632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Release Naming Standard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33649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" y="3657600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F0F8F0"/>
          </a:solidFill>
          <a:ln w="6350">
            <a:solidFill>
              <a:srgbClr val="C0E8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36576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&lt;EPIC NAME&gt; ⇔ R&lt;Num&gt;-&lt;LOB&gt;-v&lt;Maj.Min.Pat&gt;-&lt;Env&gt;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5800" y="4361688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F0F8F0"/>
          </a:solidFill>
          <a:ln w="6350">
            <a:solidFill>
              <a:srgbClr val="C0E8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43616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EPIC8033 ⇔ R25-DXP-v1.0.0-DEV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80760" y="1325880"/>
            <a:ext cx="566928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55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Project Naming Standard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55080" y="1810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355080" y="2103120"/>
            <a:ext cx="5120640" cy="347472"/>
          </a:xfrm>
          <a:prstGeom prst="roundRect">
            <a:avLst>
              <a:gd name="adj" fmla="val 15789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5080" y="21031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&lt;LOB&gt;-&lt;Jenkins Job Name&gt;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55080" y="2514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355080" y="2807208"/>
            <a:ext cx="5120640" cy="347472"/>
          </a:xfrm>
          <a:prstGeom prst="roundRect">
            <a:avLst>
              <a:gd name="adj" fmla="val 15789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55080" y="28072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DXP-BFF-AAMAL-ESERVICES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080760" y="3931920"/>
            <a:ext cx="56692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35508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355080" y="4434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across Jenkins and SonarQube.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traceability between EPICs, releases, and applications.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reporting and governance.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portfolio management.</a:t>
            </a:r>
            <a:endParaRPr lang="en-US" sz="1200" dirty="0"/>
          </a:p>
        </p:txBody>
      </p:sp>
      <p:sp>
        <p:nvSpPr>
          <p:cNvPr id="32" name="GTBClassificationH1119846895">
            <a:extLst>
              <a:ext uri="{FF2B5EF4-FFF2-40B4-BE49-F238E27FC236}">
                <a16:creationId xmlns:a16="http://schemas.microsoft.com/office/drawing/2014/main" id="{652F0AFB-93EA-0AAF-1F13-E0A832A11B9B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Decoration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State — Before PR Decoration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could be reviewed and approved without visibility of code quality results. No SonarQube feedback was visible inside Bitbucket.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633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29077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for Pull Requests targeting the DEV branch.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SonarQube results directly in Bitbucket PRs.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760" y="132588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55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PR Decoration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55080" y="182880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 to developers on code quality.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merging low-quality code into main branches.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more informed code review process.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Quality Gates before PR approval.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code review efficiency and governance.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alignment with ITQMS quality controls.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37490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 Decoration Works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148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1148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14884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37744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37744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34340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34340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8076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0936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30936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04672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27532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7532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Posted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1268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24128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24128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Approved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33" name="GTBClassificationH1520665462">
            <a:extLst>
              <a:ext uri="{FF2B5EF4-FFF2-40B4-BE49-F238E27FC236}">
                <a16:creationId xmlns:a16="http://schemas.microsoft.com/office/drawing/2014/main" id="{3EDB3055-B37D-9058-D451-C2FB0BA5B11F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417320"/>
            <a:ext cx="11338560" cy="457200"/>
          </a:xfrm>
          <a:prstGeom prst="roundRect">
            <a:avLst/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6324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7764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40680" y="1417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1417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0956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7260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18745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063240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97764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40680" y="1874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0" y="1874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0956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37260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2331720"/>
            <a:ext cx="11338560" cy="457200"/>
          </a:xfrm>
          <a:prstGeom prst="rect">
            <a:avLst/>
          </a:prstGeom>
          <a:solidFill>
            <a:srgbClr val="F7F6FB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Motor V3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06324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97764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40680" y="2331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675120" y="2331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90956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37260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11480" y="27889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063240" y="2788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97764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4068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67512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0956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37260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11480" y="3246120"/>
            <a:ext cx="11338560" cy="457200"/>
          </a:xfrm>
          <a:prstGeom prst="rect">
            <a:avLst/>
          </a:prstGeom>
          <a:solidFill>
            <a:srgbClr val="F7F6FB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9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Visa V3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06324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97764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440680" y="32461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675120" y="32461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90956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937260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11480" y="37033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292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V3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3063240" y="3703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397764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544068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667512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90956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937260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411480" y="4160520"/>
            <a:ext cx="11338560" cy="457200"/>
          </a:xfrm>
          <a:prstGeom prst="rect">
            <a:avLst/>
          </a:prstGeom>
          <a:solidFill>
            <a:srgbClr val="F7F6FB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2920" y="4160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Portal V3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3063240" y="4160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397764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544068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66751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790956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93726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411480" y="46177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02920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 V3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3063240" y="4617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397764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5440680" y="4617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6675120" y="4617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790956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937260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411480" y="484632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Passed Quality Gate   |   Coverage threshold: ≥ 40%   |   Duplication threshold: ≤ 20%</a:t>
            </a:r>
            <a:endParaRPr lang="en-US" sz="1100" dirty="0"/>
          </a:p>
        </p:txBody>
      </p:sp>
      <p:sp>
        <p:nvSpPr>
          <p:cNvPr id="72" name="GTBClassificationH1241267316">
            <a:extLst>
              <a:ext uri="{FF2B5EF4-FFF2-40B4-BE49-F238E27FC236}">
                <a16:creationId xmlns:a16="http://schemas.microsoft.com/office/drawing/2014/main" id="{3DB3517B-5F43-759F-5D49-0503A7BCB0B1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Threshold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383280" y="3630168"/>
            <a:ext cx="836676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338328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threshold</a:t>
            </a:r>
            <a:endParaRPr lang="en-US" sz="1100" dirty="0"/>
          </a:p>
        </p:txBody>
      </p:sp>
      <p:sp>
        <p:nvSpPr>
          <p:cNvPr id="14" name="GTBClassificationH421523558">
            <a:extLst>
              <a:ext uri="{FF2B5EF4-FFF2-40B4-BE49-F238E27FC236}">
                <a16:creationId xmlns:a16="http://schemas.microsoft.com/office/drawing/2014/main" id="{04CF01F7-1924-009C-9C46-57A4F5B8E4B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Duplication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Threshold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383280" y="2029968"/>
            <a:ext cx="836676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3383280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threshold</a:t>
            </a:r>
            <a:endParaRPr lang="en-US" sz="1100" dirty="0"/>
          </a:p>
        </p:txBody>
      </p:sp>
      <p:sp>
        <p:nvSpPr>
          <p:cNvPr id="14" name="GTBClassificationH768883221">
            <a:extLst>
              <a:ext uri="{FF2B5EF4-FFF2-40B4-BE49-F238E27FC236}">
                <a16:creationId xmlns:a16="http://schemas.microsoft.com/office/drawing/2014/main" id="{36CA939A-5316-DE54-05A5-18F335BCA0B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Issues (Bugs) by Project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Bugs Allowed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GTBClassificationH1242082137">
            <a:extLst>
              <a:ext uri="{FF2B5EF4-FFF2-40B4-BE49-F238E27FC236}">
                <a16:creationId xmlns:a16="http://schemas.microsoft.com/office/drawing/2014/main" id="{9970028D-F5C7-CF26-BE4B-C7D95017C21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Issues (Code Smells) by Project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Code Smells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GTBClassificationH1256057719">
            <a:extLst>
              <a:ext uri="{FF2B5EF4-FFF2-40B4-BE49-F238E27FC236}">
                <a16:creationId xmlns:a16="http://schemas.microsoft.com/office/drawing/2014/main" id="{57E576ED-C97A-ABF5-9DF3-A727D423CF4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Issues (Bugs) — Trend Over Time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502920" y="1325880"/>
          <a:ext cx="11155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GTBClassificationH421523558">
            <a:extLst>
              <a:ext uri="{FF2B5EF4-FFF2-40B4-BE49-F238E27FC236}">
                <a16:creationId xmlns:a16="http://schemas.microsoft.com/office/drawing/2014/main" id="{04CF01F7-1924-009C-9C46-57A4F5B8E4B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Vulnerabilities — Trend Over Time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502920" y="1325880"/>
          <a:ext cx="11155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GTBClassificationH421523558">
            <a:extLst>
              <a:ext uri="{FF2B5EF4-FFF2-40B4-BE49-F238E27FC236}">
                <a16:creationId xmlns:a16="http://schemas.microsoft.com/office/drawing/2014/main" id="{04CF01F7-1924-009C-9C46-57A4F5B8E4B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Issues (Code Smells) — Trend Over Time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502920" y="1325880"/>
          <a:ext cx="11155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GTBClassificationH421523558">
            <a:extLst>
              <a:ext uri="{FF2B5EF4-FFF2-40B4-BE49-F238E27FC236}">
                <a16:creationId xmlns:a16="http://schemas.microsoft.com/office/drawing/2014/main" id="{04CF01F7-1924-009C-9C46-57A4F5B8E4B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% — Trend Over Time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502920" y="1325880"/>
          <a:ext cx="11155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GTBClassificationH421523558">
            <a:extLst>
              <a:ext uri="{FF2B5EF4-FFF2-40B4-BE49-F238E27FC236}">
                <a16:creationId xmlns:a16="http://schemas.microsoft.com/office/drawing/2014/main" id="{04CF01F7-1924-009C-9C46-57A4F5B8E4B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(Portfolio)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38328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(Portfolio)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26364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Coverage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(Latest Scans)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5256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14400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(Portfolio)</a:t>
            </a:r>
            <a:endParaRPr lang="en-US" sz="1100" dirty="0"/>
          </a:p>
        </p:txBody>
      </p:sp>
      <p:sp>
        <p:nvSpPr>
          <p:cNvPr id="19" name="Shape divider"/>
          <p:cNvSpPr/>
          <p:nvPr/>
        </p:nvSpPr>
        <p:spPr>
          <a:xfrm>
            <a:off x="502920" y="310896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20" name="Text chartL"/>
          <p:cNvSpPr/>
          <p:nvPr/>
        </p:nvSpPr>
        <p:spPr>
          <a:xfrm>
            <a:off x="4114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 by Project</a:t>
            </a:r>
            <a:endParaRPr lang="en-US" sz="1400" dirty="0"/>
          </a:p>
        </p:txBody>
      </p:sp>
      <p:graphicFrame>
        <p:nvGraphicFramePr>
          <p:cNvPr id="21" name="Chart Left"/>
          <p:cNvGraphicFramePr/>
          <p:nvPr/>
        </p:nvGraphicFramePr>
        <p:xfrm>
          <a:off x="411480" y="3658236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chartR"/>
          <p:cNvSpPr/>
          <p:nvPr/>
        </p:nvSpPr>
        <p:spPr>
          <a:xfrm>
            <a:off x="6263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Average Coverage Trend</a:t>
            </a:r>
            <a:endParaRPr lang="en-US" sz="1400" dirty="0"/>
          </a:p>
        </p:txBody>
      </p:sp>
      <p:graphicFrame>
        <p:nvGraphicFramePr>
          <p:cNvPr id="23" name="Chart Right"/>
          <p:cNvGraphicFramePr/>
          <p:nvPr/>
        </p:nvGraphicFramePr>
        <p:xfrm>
          <a:off x="6263640" y="3658236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GTBClassificationDash">
            <a:extLst>
              <a:ext uri="{FF2B5EF4-FFF2-40B4-BE49-F238E27FC236}">
                <a16:creationId xmlns:a16="http://schemas.microsoft.com/office/drawing/2014/main" id="{04CF01F7-1924-009C-9C46-57A4F5B8E4C1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Compliance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38328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26364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5256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14400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" y="310896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Scale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1148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41148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/ very low risk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8892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78892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278892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16636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16636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516636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54380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54380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754380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92124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92124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992124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11480" y="4709160"/>
            <a:ext cx="11338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85800" y="48463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7 DXP applications achieved Security Rating A with 0 vulnerabilities detected. 100% Quality Gate compliance maintained across the entire portfolio.</a:t>
            </a:r>
            <a:endParaRPr lang="en-US" sz="1300" dirty="0"/>
          </a:p>
        </p:txBody>
      </p:sp>
      <p:sp>
        <p:nvSpPr>
          <p:cNvPr id="37" name="GTBClassificationH1648324666">
            <a:extLst>
              <a:ext uri="{FF2B5EF4-FFF2-40B4-BE49-F238E27FC236}">
                <a16:creationId xmlns:a16="http://schemas.microsoft.com/office/drawing/2014/main" id="{7BAAC6E8-3579-2091-1513-8303684B760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Summary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113385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 of </a:t>
            </a: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DXP applications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successfully onboarded to SonarQube, achieving </a:t>
            </a: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Quality Gate compliance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portfolio. All applications achieved </a:t>
            </a: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A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Rating A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Reliability remains the main improvement area —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7 applications rated C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due to identified software defects. Overall test coverage exceeded the 40% governance target.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3063240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1208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14400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applications onboarded successfully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55848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65576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858768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Quality Gate compliance achieved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00216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9944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803136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Security Rating A across all apps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244584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354312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747504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Maintainability Rating 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47091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21208" y="4965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14400" y="481888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improvements needed in 5 apps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55848" y="47091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465576" y="4965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3858768" y="481888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 &amp; Travel Insurance — highest bug count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300216" y="47091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409944" y="4965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803136" y="481888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 V3 — highest technical debt</a:t>
            </a:r>
            <a:endParaRPr lang="en-US" sz="1100" dirty="0"/>
          </a:p>
        </p:txBody>
      </p:sp>
      <p:sp>
        <p:nvSpPr>
          <p:cNvPr id="31" name="GTBClassificationH1795811893">
            <a:extLst>
              <a:ext uri="{FF2B5EF4-FFF2-40B4-BE49-F238E27FC236}">
                <a16:creationId xmlns:a16="http://schemas.microsoft.com/office/drawing/2014/main" id="{B759AADC-FB62-7787-200D-CA87B341904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q_unpacked/ppt/media/image3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8791575" y="19050"/>
            <a:ext cx="3505200" cy="6858000"/>
          </a:xfrm>
          <a:prstGeom prst="rect">
            <a:avLst/>
          </a:prstGeom>
        </p:spPr>
      </p:pic>
      <p:pic>
        <p:nvPicPr>
          <p:cNvPr id="3" name="Image 1" descr="/home/claude/sq_unpacked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210312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194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7200" dirty="0"/>
          </a:p>
        </p:txBody>
      </p:sp>
      <p:sp>
        <p:nvSpPr>
          <p:cNvPr id="5" name="Text 1"/>
          <p:cNvSpPr/>
          <p:nvPr/>
        </p:nvSpPr>
        <p:spPr>
          <a:xfrm>
            <a:off x="502920" y="3154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</a:t>
            </a:r>
            <a:endParaRPr lang="en-US" sz="7200" dirty="0"/>
          </a:p>
        </p:txBody>
      </p:sp>
      <p:sp>
        <p:nvSpPr>
          <p:cNvPr id="6" name="Shape 2"/>
          <p:cNvSpPr/>
          <p:nvPr/>
        </p:nvSpPr>
        <p:spPr>
          <a:xfrm>
            <a:off x="502920" y="4389120"/>
            <a:ext cx="3200400" cy="0"/>
          </a:xfrm>
          <a:prstGeom prst="line">
            <a:avLst/>
          </a:prstGeom>
          <a:noFill/>
          <a:ln w="19050">
            <a:solidFill>
              <a:srgbClr val="A1A5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572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A09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Technology &amp; Digital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A09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Next Level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1100" dirty="0"/>
          </a:p>
        </p:txBody>
      </p:sp>
      <p:sp>
        <p:nvSpPr>
          <p:cNvPr id="9" name="GTBClassificationH774228365">
            <a:extLst>
              <a:ext uri="{FF2B5EF4-FFF2-40B4-BE49-F238E27FC236}">
                <a16:creationId xmlns:a16="http://schemas.microsoft.com/office/drawing/2014/main" id="{4ECB2CC6-9E86-CC36-4E97-8C84EEC18A05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25/12/47 09:01:24 ص</timestamp>
  <userName>TAWN\VDR000691</userName>
  <computerName>LTHQISD-A2Y480.TAWN.COM</computerName>
  <guid>{3cf226fd-977f-4f64-afba-6138625039f0}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/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FA061271-52FD-4FCC-893A-04B44A8473E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1091</Words>
  <Application>Microsoft Office PowerPoint</Application>
  <PresentationFormat>Widescreen</PresentationFormat>
  <Paragraphs>331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</vt:lpstr>
      <vt:lpstr>Calibri</vt:lpstr>
      <vt:lpstr>Courier New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>ClassificationData:&lt;Classification:Internal&gt;</cp:keywords>
  <cp:lastModifiedBy>Mohamed Elarief</cp:lastModifiedBy>
  <cp:revision>4</cp:revision>
  <dcterms:created xsi:type="dcterms:W3CDTF">2026-06-11T05:56:32Z</dcterms:created>
  <dcterms:modified xsi:type="dcterms:W3CDTF">2026-07-01T06:47:23Z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TAWN\VDR000691</vt:lpwstr>
  </property>
  <property fmtid="{D5CDD505-2E9C-101B-9397-08002B2CF9AE}" pid="4" name="ClassificationHost">
    <vt:lpwstr>LTHQISD-A2Y480.TAWN.COM</vt:lpwstr>
  </property>
  <property fmtid="{D5CDD505-2E9C-101B-9397-08002B2CF9AE}" pid="5" name="ClassificationDate">
    <vt:lpwstr>25/12/47 09:01:24 ص</vt:lpwstr>
  </property>
  <property fmtid="{D5CDD505-2E9C-101B-9397-08002B2CF9AE}" pid="6" name="ClassificationGUID">
    <vt:lpwstr>{3cf226fd-977f-4f64-afba-6138625039f0}</vt:lpwstr>
  </property>
</Properties>
</file>