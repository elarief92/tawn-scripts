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2"/>
  </p:sldMasterIdLst>
  <p:notesMasterIdLst>
    <p:notesMasterId r:id="rId2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71" r:id="rId14"/>
    <p:sldId id="272" r:id="rId15"/>
    <p:sldId id="273" r:id="rId16"/>
    <p:sldId id="274" r:id="rId17"/>
    <p:sldId id="275" r:id="rId18"/>
    <p:sldId id="267" r:id="rId19"/>
    <p:sldId id="268" r:id="rId20"/>
    <p:sldId id="269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54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Coverage %</c:v>
                </c:pt>
              </c:strCache>
            </c:strRef>
          </c:tx>
          <c:spPr>
            <a:solidFill>
              <a:srgbClr val="6F51E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C73-4DBB-BE99-7F2F9DF04BBD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DC73-4DBB-BE99-7F2F9DF04BBD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DC73-4DBB-BE99-7F2F9DF04BBD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DC73-4DBB-BE99-7F2F9DF04BBD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DC73-4DBB-BE99-7F2F9DF04BBD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DC73-4DBB-BE99-7F2F9DF04BBD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DC73-4DBB-BE99-7F2F9DF04BB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25254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Life OTP</c:v>
                </c:pt>
                <c:pt idx="1">
                  <c:v>Sales Motor V3</c:v>
                </c:pt>
                <c:pt idx="2">
                  <c:v>BFF Web</c:v>
                </c:pt>
                <c:pt idx="3">
                  <c:v>Visit Visa V3</c:v>
                </c:pt>
                <c:pt idx="4">
                  <c:v>Travel Ins V3</c:v>
                </c:pt>
                <c:pt idx="5">
                  <c:v>Recovery Portal V3</c:v>
                </c:pt>
                <c:pt idx="6">
                  <c:v>Workshop V3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85.6</c:v>
                </c:pt>
                <c:pt idx="1">
                  <c:v>50.5</c:v>
                </c:pt>
                <c:pt idx="2">
                  <c:v>45.6</c:v>
                </c:pt>
                <c:pt idx="3">
                  <c:v>55.3</c:v>
                </c:pt>
                <c:pt idx="4">
                  <c:v>44.3</c:v>
                </c:pt>
                <c:pt idx="5">
                  <c:v>42.7</c:v>
                </c:pt>
                <c:pt idx="6">
                  <c:v>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DC73-4DBB-BE99-7F2F9DF04BB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Duplication %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F7E-40F2-9564-1CB530E9B72F}"/>
              </c:ext>
            </c:extLst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F7E-40F2-9564-1CB530E9B72F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1F7E-40F2-9564-1CB530E9B72F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1F7E-40F2-9564-1CB530E9B72F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1F7E-40F2-9564-1CB530E9B72F}"/>
              </c:ext>
            </c:extLst>
          </c:dPt>
          <c:dPt>
            <c:idx val="5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1F7E-40F2-9564-1CB530E9B72F}"/>
              </c:ext>
            </c:extLst>
          </c:dPt>
          <c:dPt>
            <c:idx val="6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1F7E-40F2-9564-1CB530E9B72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25254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Life OTP</c:v>
                </c:pt>
                <c:pt idx="1">
                  <c:v>Sales Motor V3</c:v>
                </c:pt>
                <c:pt idx="2">
                  <c:v>BFF Web</c:v>
                </c:pt>
                <c:pt idx="3">
                  <c:v>Visit Visa V3</c:v>
                </c:pt>
                <c:pt idx="4">
                  <c:v>Travel Ins V3</c:v>
                </c:pt>
                <c:pt idx="5">
                  <c:v>Recovery Portal V3</c:v>
                </c:pt>
                <c:pt idx="6">
                  <c:v>Workshop V3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16.2</c:v>
                </c:pt>
                <c:pt idx="2">
                  <c:v>7.5</c:v>
                </c:pt>
                <c:pt idx="3">
                  <c:v>1.5</c:v>
                </c:pt>
                <c:pt idx="4">
                  <c:v>6.9</c:v>
                </c:pt>
                <c:pt idx="5">
                  <c:v>11.4</c:v>
                </c:pt>
                <c:pt idx="6">
                  <c:v>11.9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1F7E-40F2-9564-1CB530E9B72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5"/>
          <c:min val="0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Bugs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9F2-48FA-8C60-DA0E3339F403}"/>
              </c:ext>
            </c:extLst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9F2-48FA-8C60-DA0E3339F403}"/>
              </c:ext>
            </c:extLst>
          </c:dPt>
          <c:dPt>
            <c:idx val="2"/>
            <c:invertIfNegative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9F2-48FA-8C60-DA0E3339F403}"/>
              </c:ext>
            </c:extLst>
          </c:dPt>
          <c:dPt>
            <c:idx val="3"/>
            <c:invertIfNegative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9F2-48FA-8C60-DA0E3339F403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A9F2-48FA-8C60-DA0E3339F403}"/>
              </c:ext>
            </c:extLst>
          </c:dPt>
          <c:dPt>
            <c:idx val="5"/>
            <c:invertIfNegative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A9F2-48FA-8C60-DA0E3339F403}"/>
              </c:ext>
            </c:extLst>
          </c:dPt>
          <c:dPt>
            <c:idx val="6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A9F2-48FA-8C60-DA0E3339F40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25254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Life OTP</c:v>
                </c:pt>
                <c:pt idx="1">
                  <c:v>Sales Motor V3</c:v>
                </c:pt>
                <c:pt idx="2">
                  <c:v>BFF Web</c:v>
                </c:pt>
                <c:pt idx="3">
                  <c:v>Visit Visa V3</c:v>
                </c:pt>
                <c:pt idx="4">
                  <c:v>Travel Ins V3</c:v>
                </c:pt>
                <c:pt idx="5">
                  <c:v>Recovery Portal V3</c:v>
                </c:pt>
                <c:pt idx="6">
                  <c:v>Workshop V3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17</c:v>
                </c:pt>
                <c:pt idx="1">
                  <c:v>7</c:v>
                </c:pt>
                <c:pt idx="2">
                  <c:v>0</c:v>
                </c:pt>
                <c:pt idx="3">
                  <c:v>2</c:v>
                </c:pt>
                <c:pt idx="4">
                  <c:v>13</c:v>
                </c:pt>
                <c:pt idx="5">
                  <c:v>0</c:v>
                </c:pt>
                <c:pt idx="6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A9F2-48FA-8C60-DA0E3339F40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Code Smells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7B7-4DB1-9CE2-A2CB6EFDC2F0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87B7-4DB1-9CE2-A2CB6EFDC2F0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87B7-4DB1-9CE2-A2CB6EFDC2F0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87B7-4DB1-9CE2-A2CB6EFDC2F0}"/>
              </c:ext>
            </c:extLst>
          </c:dPt>
          <c:dPt>
            <c:idx val="4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7B7-4DB1-9CE2-A2CB6EFDC2F0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87B7-4DB1-9CE2-A2CB6EFDC2F0}"/>
              </c:ext>
            </c:extLst>
          </c:dPt>
          <c:dPt>
            <c:idx val="6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87B7-4DB1-9CE2-A2CB6EFDC2F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25254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Life OTP</c:v>
                </c:pt>
                <c:pt idx="1">
                  <c:v>Sales Motor V3</c:v>
                </c:pt>
                <c:pt idx="2">
                  <c:v>BFF Web</c:v>
                </c:pt>
                <c:pt idx="3">
                  <c:v>Visit Visa V3</c:v>
                </c:pt>
                <c:pt idx="4">
                  <c:v>Travel Ins V3</c:v>
                </c:pt>
                <c:pt idx="5">
                  <c:v>Recovery Portal V3</c:v>
                </c:pt>
                <c:pt idx="6">
                  <c:v>Workshop V3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37</c:v>
                </c:pt>
                <c:pt idx="1">
                  <c:v>100</c:v>
                </c:pt>
                <c:pt idx="2">
                  <c:v>20</c:v>
                </c:pt>
                <c:pt idx="3">
                  <c:v>91</c:v>
                </c:pt>
                <c:pt idx="4">
                  <c:v>131</c:v>
                </c:pt>
                <c:pt idx="5">
                  <c:v>28</c:v>
                </c:pt>
                <c:pt idx="6">
                  <c:v>179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87B7-4DB1-9CE2-A2CB6EFDC2F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Life OTP</c:v>
                </c:pt>
              </c:strCache>
            </c:strRef>
          </c:tx>
          <c:spPr>
            <a:ln w="22225">
              <a:solidFill>
                <a:srgbClr val="6A1B9A"/>
              </a:solidFill>
            </a:ln>
          </c:spPr>
          <c:marker>
            <c:symbol val="circle"/>
            <c:size val="5"/>
            <c:spPr>
              <a:solidFill>
                <a:srgbClr val="6A1B9A"/>
              </a:solidFill>
              <a:ln>
                <a:solidFill>
                  <a:srgbClr val="6A1B9A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19 Apr</c:v>
                </c:pt>
                <c:pt idx="1">
                  <c:v>26 Apr</c:v>
                </c:pt>
                <c:pt idx="2">
                  <c:v>3 May</c:v>
                </c:pt>
                <c:pt idx="3">
                  <c:v>10 May</c:v>
                </c:pt>
                <c:pt idx="4">
                  <c:v>17 May</c:v>
                </c:pt>
                <c:pt idx="5">
                  <c:v>24 May</c:v>
                </c:pt>
                <c:pt idx="6">
                  <c:v>31 May</c:v>
                </c:pt>
                <c:pt idx="7">
                  <c:v>7 Jun</c:v>
                </c:pt>
                <c:pt idx="8">
                  <c:v>14 Jun</c:v>
                </c:pt>
                <c:pt idx="9">
                  <c:v>21 Jun</c:v>
                </c:pt>
                <c:pt idx="10">
                  <c:v>28 Jun</c:v>
                </c:pt>
                <c:pt idx="11">
                  <c:v>5 Jul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8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9EF-40CE-86D7-D0E380221E0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Sales Motor V3</c:v>
                </c:pt>
              </c:strCache>
            </c:strRef>
          </c:tx>
          <c:spPr>
            <a:ln w="22225">
              <a:solidFill>
                <a:srgbClr val="6F51EB"/>
              </a:solidFill>
            </a:ln>
          </c:spPr>
          <c:marker>
            <c:symbol val="circle"/>
            <c:size val="5"/>
            <c:spPr>
              <a:solidFill>
                <a:srgbClr val="6F51EB"/>
              </a:solidFill>
              <a:ln>
                <a:solidFill>
                  <a:srgbClr val="6F51EB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19 Apr</c:v>
                </c:pt>
                <c:pt idx="1">
                  <c:v>26 Apr</c:v>
                </c:pt>
                <c:pt idx="2">
                  <c:v>3 May</c:v>
                </c:pt>
                <c:pt idx="3">
                  <c:v>10 May</c:v>
                </c:pt>
                <c:pt idx="4">
                  <c:v>17 May</c:v>
                </c:pt>
                <c:pt idx="5">
                  <c:v>24 May</c:v>
                </c:pt>
                <c:pt idx="6">
                  <c:v>31 May</c:v>
                </c:pt>
                <c:pt idx="7">
                  <c:v>7 Jun</c:v>
                </c:pt>
                <c:pt idx="8">
                  <c:v>14 Jun</c:v>
                </c:pt>
                <c:pt idx="9">
                  <c:v>21 Jun</c:v>
                </c:pt>
                <c:pt idx="10">
                  <c:v>28 Jun</c:v>
                </c:pt>
                <c:pt idx="11">
                  <c:v>5 Jul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4">
                  <c:v>7</c:v>
                </c:pt>
                <c:pt idx="5">
                  <c:v>7</c:v>
                </c:pt>
                <c:pt idx="6">
                  <c:v>7</c:v>
                </c:pt>
                <c:pt idx="7">
                  <c:v>7</c:v>
                </c:pt>
                <c:pt idx="8">
                  <c:v>7</c:v>
                </c:pt>
                <c:pt idx="9">
                  <c:v>7</c:v>
                </c:pt>
                <c:pt idx="10">
                  <c:v>7</c:v>
                </c:pt>
                <c:pt idx="11">
                  <c:v>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9EF-40CE-86D7-D0E380221E0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BFF Web</c:v>
                </c:pt>
              </c:strCache>
            </c:strRef>
          </c:tx>
          <c:spPr>
            <a:ln w="22225">
              <a:solidFill>
                <a:srgbClr val="22C55E"/>
              </a:solidFill>
            </a:ln>
          </c:spPr>
          <c:marker>
            <c:symbol val="circle"/>
            <c:size val="5"/>
            <c:spPr>
              <a:solidFill>
                <a:srgbClr val="22C55E"/>
              </a:solidFill>
              <a:ln>
                <a:solidFill>
                  <a:srgbClr val="22C55E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19 Apr</c:v>
                </c:pt>
                <c:pt idx="1">
                  <c:v>26 Apr</c:v>
                </c:pt>
                <c:pt idx="2">
                  <c:v>3 May</c:v>
                </c:pt>
                <c:pt idx="3">
                  <c:v>10 May</c:v>
                </c:pt>
                <c:pt idx="4">
                  <c:v>17 May</c:v>
                </c:pt>
                <c:pt idx="5">
                  <c:v>24 May</c:v>
                </c:pt>
                <c:pt idx="6">
                  <c:v>31 May</c:v>
                </c:pt>
                <c:pt idx="7">
                  <c:v>7 Jun</c:v>
                </c:pt>
                <c:pt idx="8">
                  <c:v>14 Jun</c:v>
                </c:pt>
                <c:pt idx="9">
                  <c:v>21 Jun</c:v>
                </c:pt>
                <c:pt idx="10">
                  <c:v>28 Jun</c:v>
                </c:pt>
                <c:pt idx="11">
                  <c:v>5 Jul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9EF-40CE-86D7-D0E380221E0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Visit Visa V3</c:v>
                </c:pt>
              </c:strCache>
            </c:strRef>
          </c:tx>
          <c:spPr>
            <a:ln w="22225">
              <a:solidFill>
                <a:srgbClr val="F59E0B"/>
              </a:solidFill>
            </a:ln>
          </c:spPr>
          <c:marker>
            <c:symbol val="circle"/>
            <c:size val="5"/>
            <c:spPr>
              <a:solidFill>
                <a:srgbClr val="F59E0B"/>
              </a:solidFill>
              <a:ln>
                <a:solidFill>
                  <a:srgbClr val="F59E0B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19 Apr</c:v>
                </c:pt>
                <c:pt idx="1">
                  <c:v>26 Apr</c:v>
                </c:pt>
                <c:pt idx="2">
                  <c:v>3 May</c:v>
                </c:pt>
                <c:pt idx="3">
                  <c:v>10 May</c:v>
                </c:pt>
                <c:pt idx="4">
                  <c:v>17 May</c:v>
                </c:pt>
                <c:pt idx="5">
                  <c:v>24 May</c:v>
                </c:pt>
                <c:pt idx="6">
                  <c:v>31 May</c:v>
                </c:pt>
                <c:pt idx="7">
                  <c:v>7 Jun</c:v>
                </c:pt>
                <c:pt idx="8">
                  <c:v>14 Jun</c:v>
                </c:pt>
                <c:pt idx="9">
                  <c:v>21 Jun</c:v>
                </c:pt>
                <c:pt idx="10">
                  <c:v>28 Jun</c:v>
                </c:pt>
                <c:pt idx="11">
                  <c:v>5 Jul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C9EF-40CE-86D7-D0E380221E0C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Travel Ins V3</c:v>
                </c:pt>
              </c:strCache>
            </c:strRef>
          </c:tx>
          <c:spPr>
            <a:ln w="22225">
              <a:solidFill>
                <a:srgbClr val="EF4444"/>
              </a:solidFill>
            </a:ln>
          </c:spPr>
          <c:marker>
            <c:symbol val="circle"/>
            <c:size val="5"/>
            <c:spPr>
              <a:solidFill>
                <a:srgbClr val="EF4444"/>
              </a:solidFill>
              <a:ln>
                <a:solidFill>
                  <a:srgbClr val="EF4444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19 Apr</c:v>
                </c:pt>
                <c:pt idx="1">
                  <c:v>26 Apr</c:v>
                </c:pt>
                <c:pt idx="2">
                  <c:v>3 May</c:v>
                </c:pt>
                <c:pt idx="3">
                  <c:v>10 May</c:v>
                </c:pt>
                <c:pt idx="4">
                  <c:v>17 May</c:v>
                </c:pt>
                <c:pt idx="5">
                  <c:v>24 May</c:v>
                </c:pt>
                <c:pt idx="6">
                  <c:v>31 May</c:v>
                </c:pt>
                <c:pt idx="7">
                  <c:v>7 Jun</c:v>
                </c:pt>
                <c:pt idx="8">
                  <c:v>14 Jun</c:v>
                </c:pt>
                <c:pt idx="9">
                  <c:v>21 Jun</c:v>
                </c:pt>
                <c:pt idx="10">
                  <c:v>28 Jun</c:v>
                </c:pt>
                <c:pt idx="11">
                  <c:v>5 Jul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4">
                  <c:v>13</c:v>
                </c:pt>
                <c:pt idx="5">
                  <c:v>13</c:v>
                </c:pt>
                <c:pt idx="6">
                  <c:v>13</c:v>
                </c:pt>
                <c:pt idx="7">
                  <c:v>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C9EF-40CE-86D7-D0E380221E0C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Recovery Portal V3</c:v>
                </c:pt>
              </c:strCache>
            </c:strRef>
          </c:tx>
          <c:spPr>
            <a:ln w="22225">
              <a:solidFill>
                <a:srgbClr val="707491"/>
              </a:solidFill>
            </a:ln>
          </c:spPr>
          <c:marker>
            <c:symbol val="circle"/>
            <c:size val="5"/>
            <c:spPr>
              <a:solidFill>
                <a:srgbClr val="707491"/>
              </a:solidFill>
              <a:ln>
                <a:solidFill>
                  <a:srgbClr val="707491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19 Apr</c:v>
                </c:pt>
                <c:pt idx="1">
                  <c:v>26 Apr</c:v>
                </c:pt>
                <c:pt idx="2">
                  <c:v>3 May</c:v>
                </c:pt>
                <c:pt idx="3">
                  <c:v>10 May</c:v>
                </c:pt>
                <c:pt idx="4">
                  <c:v>17 May</c:v>
                </c:pt>
                <c:pt idx="5">
                  <c:v>24 May</c:v>
                </c:pt>
                <c:pt idx="6">
                  <c:v>31 May</c:v>
                </c:pt>
                <c:pt idx="7">
                  <c:v>7 Jun</c:v>
                </c:pt>
                <c:pt idx="8">
                  <c:v>14 Jun</c:v>
                </c:pt>
                <c:pt idx="9">
                  <c:v>21 Jun</c:v>
                </c:pt>
                <c:pt idx="10">
                  <c:v>28 Jun</c:v>
                </c:pt>
                <c:pt idx="11">
                  <c:v>5 Jul</c:v>
                </c:pt>
              </c:strCache>
            </c:strRef>
          </c:cat>
          <c:val>
            <c:numRef>
              <c:f>Sheet1!$G$2:$G$13</c:f>
              <c:numCache>
                <c:formatCode>General</c:formatCode>
                <c:ptCount val="12"/>
                <c:pt idx="3">
                  <c:v>6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C9EF-40CE-86D7-D0E380221E0C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Workshop V3</c:v>
                </c:pt>
              </c:strCache>
            </c:strRef>
          </c:tx>
          <c:spPr>
            <a:ln w="22225">
              <a:solidFill>
                <a:srgbClr val="1E88E5"/>
              </a:solidFill>
            </a:ln>
          </c:spPr>
          <c:marker>
            <c:symbol val="circle"/>
            <c:size val="5"/>
            <c:spPr>
              <a:solidFill>
                <a:srgbClr val="1E88E5"/>
              </a:solidFill>
              <a:ln>
                <a:solidFill>
                  <a:srgbClr val="1E88E5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19 Apr</c:v>
                </c:pt>
                <c:pt idx="1">
                  <c:v>26 Apr</c:v>
                </c:pt>
                <c:pt idx="2">
                  <c:v>3 May</c:v>
                </c:pt>
                <c:pt idx="3">
                  <c:v>10 May</c:v>
                </c:pt>
                <c:pt idx="4">
                  <c:v>17 May</c:v>
                </c:pt>
                <c:pt idx="5">
                  <c:v>24 May</c:v>
                </c:pt>
                <c:pt idx="6">
                  <c:v>31 May</c:v>
                </c:pt>
                <c:pt idx="7">
                  <c:v>7 Jun</c:v>
                </c:pt>
                <c:pt idx="8">
                  <c:v>14 Jun</c:v>
                </c:pt>
                <c:pt idx="9">
                  <c:v>21 Jun</c:v>
                </c:pt>
                <c:pt idx="10">
                  <c:v>28 Jun</c:v>
                </c:pt>
                <c:pt idx="11">
                  <c:v>5 Jul</c:v>
                </c:pt>
              </c:strCache>
            </c:strRef>
          </c:cat>
          <c:val>
            <c:numRef>
              <c:f>Sheet1!$H$2:$H$13</c:f>
              <c:numCache>
                <c:formatCode>General</c:formatCode>
                <c:ptCount val="12"/>
                <c:pt idx="0">
                  <c:v>28</c:v>
                </c:pt>
                <c:pt idx="1">
                  <c:v>28</c:v>
                </c:pt>
                <c:pt idx="2">
                  <c:v>2</c:v>
                </c:pt>
                <c:pt idx="3">
                  <c:v>2</c:v>
                </c:pt>
                <c:pt idx="4">
                  <c:v>6</c:v>
                </c:pt>
                <c:pt idx="5">
                  <c:v>6</c:v>
                </c:pt>
                <c:pt idx="6">
                  <c:v>6</c:v>
                </c:pt>
                <c:pt idx="7">
                  <c:v>4</c:v>
                </c:pt>
                <c:pt idx="8">
                  <c:v>4</c:v>
                </c:pt>
                <c:pt idx="9">
                  <c:v>4</c:v>
                </c:pt>
                <c:pt idx="10">
                  <c:v>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C9EF-40CE-86D7-D0E380221E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1111111"/>
        <c:axId val="222222222"/>
      </c:lineChart>
      <c:catAx>
        <c:axId val="111111111"/>
        <c:scaling>
          <c:orientation val="minMax"/>
        </c:scaling>
        <c:delete val="0"/>
        <c:axPos val="b"/>
        <c:numFmt formatCode="General" sourceLinked="0"/>
        <c:majorTickMark val="cross"/>
        <c:minorTickMark val="cross"/>
        <c:tickLblPos val="nextTo"/>
        <c:spPr>
          <a:ln>
            <a:solidFill>
              <a:srgbClr val="E8E6F0"/>
            </a:solidFill>
          </a:ln>
        </c:spPr>
        <c:txPr>
          <a:bodyPr rot="-2700000"/>
          <a:lstStyle/>
          <a:p>
            <a:pPr>
              <a:defRPr sz="900">
                <a:solidFill>
                  <a:srgbClr val="707491"/>
                </a:solidFill>
                <a:latin typeface="Calibri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1"/>
      </c:catAx>
      <c:valAx>
        <c:axId val="222222222"/>
        <c:scaling>
          <c:orientation val="minMax"/>
        </c:scaling>
        <c:delete val="0"/>
        <c:axPos val="l"/>
        <c:majorGridlines>
          <c:spPr>
            <a:ln>
              <a:solidFill>
                <a:srgbClr val="E8E6F0"/>
              </a:solidFill>
            </a:ln>
          </c:spPr>
        </c:majorGridlines>
        <c:numFmt formatCode="General" sourceLinked="1"/>
        <c:majorTickMark val="cross"/>
        <c:minorTickMark val="cross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707491"/>
                </a:solidFill>
                <a:latin typeface="Calibri"/>
              </a:defRPr>
            </a:pPr>
            <a:endParaRPr lang="en-US"/>
          </a:p>
        </c:txPr>
        <c:crossAx val="111111111"/>
        <c:crosses val="autoZero"/>
        <c:crossBetween val="midCat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252545"/>
              </a:solidFill>
              <a:latin typeface="Calibri"/>
            </a:defRPr>
          </a:pPr>
          <a:endParaRPr lang="en-US"/>
        </a:p>
      </c:txPr>
    </c:legend>
    <c:plotVisOnly val="1"/>
    <c:dispBlanksAs val="zero"/>
    <c:showDLblsOverMax val="1"/>
  </c:chart>
  <c:spPr>
    <a:noFill/>
    <a:ln>
      <a:noFill/>
    </a:ln>
  </c:sp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Life OTP</c:v>
                </c:pt>
              </c:strCache>
            </c:strRef>
          </c:tx>
          <c:spPr>
            <a:ln w="22225">
              <a:solidFill>
                <a:srgbClr val="6A1B9A"/>
              </a:solidFill>
            </a:ln>
          </c:spPr>
          <c:marker>
            <c:symbol val="circle"/>
            <c:size val="5"/>
            <c:spPr>
              <a:solidFill>
                <a:srgbClr val="6A1B9A"/>
              </a:solidFill>
              <a:ln>
                <a:solidFill>
                  <a:srgbClr val="6A1B9A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19 Apr</c:v>
                </c:pt>
                <c:pt idx="1">
                  <c:v>26 Apr</c:v>
                </c:pt>
                <c:pt idx="2">
                  <c:v>3 May</c:v>
                </c:pt>
                <c:pt idx="3">
                  <c:v>10 May</c:v>
                </c:pt>
                <c:pt idx="4">
                  <c:v>17 May</c:v>
                </c:pt>
                <c:pt idx="5">
                  <c:v>24 May</c:v>
                </c:pt>
                <c:pt idx="6">
                  <c:v>31 May</c:v>
                </c:pt>
                <c:pt idx="7">
                  <c:v>7 Jun</c:v>
                </c:pt>
                <c:pt idx="8">
                  <c:v>14 Jun</c:v>
                </c:pt>
                <c:pt idx="9">
                  <c:v>21 Jun</c:v>
                </c:pt>
                <c:pt idx="10">
                  <c:v>28 Jun</c:v>
                </c:pt>
                <c:pt idx="11">
                  <c:v>5 Jul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8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6E1-409B-A934-EF835BA99F0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Sales Motor V3</c:v>
                </c:pt>
              </c:strCache>
            </c:strRef>
          </c:tx>
          <c:spPr>
            <a:ln w="22225">
              <a:solidFill>
                <a:srgbClr val="6F51EB"/>
              </a:solidFill>
            </a:ln>
          </c:spPr>
          <c:marker>
            <c:symbol val="circle"/>
            <c:size val="5"/>
            <c:spPr>
              <a:solidFill>
                <a:srgbClr val="6F51EB"/>
              </a:solidFill>
              <a:ln>
                <a:solidFill>
                  <a:srgbClr val="6F51EB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19 Apr</c:v>
                </c:pt>
                <c:pt idx="1">
                  <c:v>26 Apr</c:v>
                </c:pt>
                <c:pt idx="2">
                  <c:v>3 May</c:v>
                </c:pt>
                <c:pt idx="3">
                  <c:v>10 May</c:v>
                </c:pt>
                <c:pt idx="4">
                  <c:v>17 May</c:v>
                </c:pt>
                <c:pt idx="5">
                  <c:v>24 May</c:v>
                </c:pt>
                <c:pt idx="6">
                  <c:v>31 May</c:v>
                </c:pt>
                <c:pt idx="7">
                  <c:v>7 Jun</c:v>
                </c:pt>
                <c:pt idx="8">
                  <c:v>14 Jun</c:v>
                </c:pt>
                <c:pt idx="9">
                  <c:v>21 Jun</c:v>
                </c:pt>
                <c:pt idx="10">
                  <c:v>28 Jun</c:v>
                </c:pt>
                <c:pt idx="11">
                  <c:v>5 Jul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6E1-409B-A934-EF835BA99F0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BFF Web</c:v>
                </c:pt>
              </c:strCache>
            </c:strRef>
          </c:tx>
          <c:spPr>
            <a:ln w="22225">
              <a:solidFill>
                <a:srgbClr val="22C55E"/>
              </a:solidFill>
            </a:ln>
          </c:spPr>
          <c:marker>
            <c:symbol val="circle"/>
            <c:size val="5"/>
            <c:spPr>
              <a:solidFill>
                <a:srgbClr val="22C55E"/>
              </a:solidFill>
              <a:ln>
                <a:solidFill>
                  <a:srgbClr val="22C55E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19 Apr</c:v>
                </c:pt>
                <c:pt idx="1">
                  <c:v>26 Apr</c:v>
                </c:pt>
                <c:pt idx="2">
                  <c:v>3 May</c:v>
                </c:pt>
                <c:pt idx="3">
                  <c:v>10 May</c:v>
                </c:pt>
                <c:pt idx="4">
                  <c:v>17 May</c:v>
                </c:pt>
                <c:pt idx="5">
                  <c:v>24 May</c:v>
                </c:pt>
                <c:pt idx="6">
                  <c:v>31 May</c:v>
                </c:pt>
                <c:pt idx="7">
                  <c:v>7 Jun</c:v>
                </c:pt>
                <c:pt idx="8">
                  <c:v>14 Jun</c:v>
                </c:pt>
                <c:pt idx="9">
                  <c:v>21 Jun</c:v>
                </c:pt>
                <c:pt idx="10">
                  <c:v>28 Jun</c:v>
                </c:pt>
                <c:pt idx="11">
                  <c:v>5 Jul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6E1-409B-A934-EF835BA99F0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Visit Visa V3</c:v>
                </c:pt>
              </c:strCache>
            </c:strRef>
          </c:tx>
          <c:spPr>
            <a:ln w="22225">
              <a:solidFill>
                <a:srgbClr val="F59E0B"/>
              </a:solidFill>
            </a:ln>
          </c:spPr>
          <c:marker>
            <c:symbol val="circle"/>
            <c:size val="5"/>
            <c:spPr>
              <a:solidFill>
                <a:srgbClr val="F59E0B"/>
              </a:solidFill>
              <a:ln>
                <a:solidFill>
                  <a:srgbClr val="F59E0B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19 Apr</c:v>
                </c:pt>
                <c:pt idx="1">
                  <c:v>26 Apr</c:v>
                </c:pt>
                <c:pt idx="2">
                  <c:v>3 May</c:v>
                </c:pt>
                <c:pt idx="3">
                  <c:v>10 May</c:v>
                </c:pt>
                <c:pt idx="4">
                  <c:v>17 May</c:v>
                </c:pt>
                <c:pt idx="5">
                  <c:v>24 May</c:v>
                </c:pt>
                <c:pt idx="6">
                  <c:v>31 May</c:v>
                </c:pt>
                <c:pt idx="7">
                  <c:v>7 Jun</c:v>
                </c:pt>
                <c:pt idx="8">
                  <c:v>14 Jun</c:v>
                </c:pt>
                <c:pt idx="9">
                  <c:v>21 Jun</c:v>
                </c:pt>
                <c:pt idx="10">
                  <c:v>28 Jun</c:v>
                </c:pt>
                <c:pt idx="11">
                  <c:v>5 Jul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46E1-409B-A934-EF835BA99F07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Travel Ins V3</c:v>
                </c:pt>
              </c:strCache>
            </c:strRef>
          </c:tx>
          <c:spPr>
            <a:ln w="22225">
              <a:solidFill>
                <a:srgbClr val="EF4444"/>
              </a:solidFill>
            </a:ln>
          </c:spPr>
          <c:marker>
            <c:symbol val="circle"/>
            <c:size val="5"/>
            <c:spPr>
              <a:solidFill>
                <a:srgbClr val="EF4444"/>
              </a:solidFill>
              <a:ln>
                <a:solidFill>
                  <a:srgbClr val="EF4444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19 Apr</c:v>
                </c:pt>
                <c:pt idx="1">
                  <c:v>26 Apr</c:v>
                </c:pt>
                <c:pt idx="2">
                  <c:v>3 May</c:v>
                </c:pt>
                <c:pt idx="3">
                  <c:v>10 May</c:v>
                </c:pt>
                <c:pt idx="4">
                  <c:v>17 May</c:v>
                </c:pt>
                <c:pt idx="5">
                  <c:v>24 May</c:v>
                </c:pt>
                <c:pt idx="6">
                  <c:v>31 May</c:v>
                </c:pt>
                <c:pt idx="7">
                  <c:v>7 Jun</c:v>
                </c:pt>
                <c:pt idx="8">
                  <c:v>14 Jun</c:v>
                </c:pt>
                <c:pt idx="9">
                  <c:v>21 Jun</c:v>
                </c:pt>
                <c:pt idx="10">
                  <c:v>28 Jun</c:v>
                </c:pt>
                <c:pt idx="11">
                  <c:v>5 Jul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46E1-409B-A934-EF835BA99F07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Recovery Portal V3</c:v>
                </c:pt>
              </c:strCache>
            </c:strRef>
          </c:tx>
          <c:spPr>
            <a:ln w="22225">
              <a:solidFill>
                <a:srgbClr val="707491"/>
              </a:solidFill>
            </a:ln>
          </c:spPr>
          <c:marker>
            <c:symbol val="circle"/>
            <c:size val="5"/>
            <c:spPr>
              <a:solidFill>
                <a:srgbClr val="707491"/>
              </a:solidFill>
              <a:ln>
                <a:solidFill>
                  <a:srgbClr val="707491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19 Apr</c:v>
                </c:pt>
                <c:pt idx="1">
                  <c:v>26 Apr</c:v>
                </c:pt>
                <c:pt idx="2">
                  <c:v>3 May</c:v>
                </c:pt>
                <c:pt idx="3">
                  <c:v>10 May</c:v>
                </c:pt>
                <c:pt idx="4">
                  <c:v>17 May</c:v>
                </c:pt>
                <c:pt idx="5">
                  <c:v>24 May</c:v>
                </c:pt>
                <c:pt idx="6">
                  <c:v>31 May</c:v>
                </c:pt>
                <c:pt idx="7">
                  <c:v>7 Jun</c:v>
                </c:pt>
                <c:pt idx="8">
                  <c:v>14 Jun</c:v>
                </c:pt>
                <c:pt idx="9">
                  <c:v>21 Jun</c:v>
                </c:pt>
                <c:pt idx="10">
                  <c:v>28 Jun</c:v>
                </c:pt>
                <c:pt idx="11">
                  <c:v>5 Jul</c:v>
                </c:pt>
              </c:strCache>
            </c:strRef>
          </c:cat>
          <c:val>
            <c:numRef>
              <c:f>Sheet1!$G$2:$G$13</c:f>
              <c:numCache>
                <c:formatCode>General</c:formatCode>
                <c:ptCount val="12"/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46E1-409B-A934-EF835BA99F07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Workshop V3</c:v>
                </c:pt>
              </c:strCache>
            </c:strRef>
          </c:tx>
          <c:spPr>
            <a:ln w="22225">
              <a:solidFill>
                <a:srgbClr val="1E88E5"/>
              </a:solidFill>
            </a:ln>
          </c:spPr>
          <c:marker>
            <c:symbol val="circle"/>
            <c:size val="5"/>
            <c:spPr>
              <a:solidFill>
                <a:srgbClr val="1E88E5"/>
              </a:solidFill>
              <a:ln>
                <a:solidFill>
                  <a:srgbClr val="1E88E5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19 Apr</c:v>
                </c:pt>
                <c:pt idx="1">
                  <c:v>26 Apr</c:v>
                </c:pt>
                <c:pt idx="2">
                  <c:v>3 May</c:v>
                </c:pt>
                <c:pt idx="3">
                  <c:v>10 May</c:v>
                </c:pt>
                <c:pt idx="4">
                  <c:v>17 May</c:v>
                </c:pt>
                <c:pt idx="5">
                  <c:v>24 May</c:v>
                </c:pt>
                <c:pt idx="6">
                  <c:v>31 May</c:v>
                </c:pt>
                <c:pt idx="7">
                  <c:v>7 Jun</c:v>
                </c:pt>
                <c:pt idx="8">
                  <c:v>14 Jun</c:v>
                </c:pt>
                <c:pt idx="9">
                  <c:v>21 Jun</c:v>
                </c:pt>
                <c:pt idx="10">
                  <c:v>28 Jun</c:v>
                </c:pt>
                <c:pt idx="11">
                  <c:v>5 Jul</c:v>
                </c:pt>
              </c:strCache>
            </c:strRef>
          </c:cat>
          <c:val>
            <c:numRef>
              <c:f>Sheet1!$H$2:$H$13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46E1-409B-A934-EF835BA99F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33333333"/>
        <c:axId val="444444444"/>
      </c:lineChart>
      <c:catAx>
        <c:axId val="333333333"/>
        <c:scaling>
          <c:orientation val="minMax"/>
        </c:scaling>
        <c:delete val="0"/>
        <c:axPos val="b"/>
        <c:numFmt formatCode="General" sourceLinked="0"/>
        <c:majorTickMark val="cross"/>
        <c:minorTickMark val="cross"/>
        <c:tickLblPos val="nextTo"/>
        <c:spPr>
          <a:ln>
            <a:solidFill>
              <a:srgbClr val="E8E6F0"/>
            </a:solidFill>
          </a:ln>
        </c:spPr>
        <c:txPr>
          <a:bodyPr rot="-2700000"/>
          <a:lstStyle/>
          <a:p>
            <a:pPr>
              <a:defRPr sz="900">
                <a:solidFill>
                  <a:srgbClr val="707491"/>
                </a:solidFill>
                <a:latin typeface="Calibri"/>
              </a:defRPr>
            </a:pPr>
            <a:endParaRPr lang="en-US"/>
          </a:p>
        </c:txPr>
        <c:crossAx val="444444444"/>
        <c:crosses val="autoZero"/>
        <c:auto val="1"/>
        <c:lblAlgn val="ctr"/>
        <c:lblOffset val="100"/>
        <c:noMultiLvlLbl val="1"/>
      </c:catAx>
      <c:valAx>
        <c:axId val="444444444"/>
        <c:scaling>
          <c:orientation val="minMax"/>
        </c:scaling>
        <c:delete val="0"/>
        <c:axPos val="l"/>
        <c:majorGridlines>
          <c:spPr>
            <a:ln>
              <a:solidFill>
                <a:srgbClr val="E8E6F0"/>
              </a:solidFill>
            </a:ln>
          </c:spPr>
        </c:majorGridlines>
        <c:numFmt formatCode="General" sourceLinked="1"/>
        <c:majorTickMark val="cross"/>
        <c:minorTickMark val="cross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707491"/>
                </a:solidFill>
                <a:latin typeface="Calibri"/>
              </a:defRPr>
            </a:pPr>
            <a:endParaRPr lang="en-US"/>
          </a:p>
        </c:txPr>
        <c:crossAx val="333333333"/>
        <c:crosses val="autoZero"/>
        <c:crossBetween val="midCat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252545"/>
              </a:solidFill>
              <a:latin typeface="Calibri"/>
            </a:defRPr>
          </a:pPr>
          <a:endParaRPr lang="en-US"/>
        </a:p>
      </c:txPr>
    </c:legend>
    <c:plotVisOnly val="1"/>
    <c:dispBlanksAs val="zero"/>
    <c:showDLblsOverMax val="1"/>
  </c:chart>
  <c:spPr>
    <a:noFill/>
    <a:ln>
      <a:noFill/>
    </a:ln>
  </c:sp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Life OTP</c:v>
                </c:pt>
              </c:strCache>
            </c:strRef>
          </c:tx>
          <c:spPr>
            <a:ln w="22225">
              <a:solidFill>
                <a:srgbClr val="6A1B9A"/>
              </a:solidFill>
            </a:ln>
          </c:spPr>
          <c:marker>
            <c:symbol val="circle"/>
            <c:size val="5"/>
            <c:spPr>
              <a:solidFill>
                <a:srgbClr val="6A1B9A"/>
              </a:solidFill>
              <a:ln>
                <a:solidFill>
                  <a:srgbClr val="6A1B9A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19 Apr</c:v>
                </c:pt>
                <c:pt idx="1">
                  <c:v>26 Apr</c:v>
                </c:pt>
                <c:pt idx="2">
                  <c:v>3 May</c:v>
                </c:pt>
                <c:pt idx="3">
                  <c:v>10 May</c:v>
                </c:pt>
                <c:pt idx="4">
                  <c:v>17 May</c:v>
                </c:pt>
                <c:pt idx="5">
                  <c:v>24 May</c:v>
                </c:pt>
                <c:pt idx="6">
                  <c:v>31 May</c:v>
                </c:pt>
                <c:pt idx="7">
                  <c:v>7 Jun</c:v>
                </c:pt>
                <c:pt idx="8">
                  <c:v>14 Jun</c:v>
                </c:pt>
                <c:pt idx="9">
                  <c:v>21 Jun</c:v>
                </c:pt>
                <c:pt idx="10">
                  <c:v>28 Jun</c:v>
                </c:pt>
                <c:pt idx="11">
                  <c:v>5 Jul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8">
                  <c:v>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4BE-4B7D-9347-C7C0B3F5E9A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Sales Motor V3</c:v>
                </c:pt>
              </c:strCache>
            </c:strRef>
          </c:tx>
          <c:spPr>
            <a:ln w="22225">
              <a:solidFill>
                <a:srgbClr val="6F51EB"/>
              </a:solidFill>
            </a:ln>
          </c:spPr>
          <c:marker>
            <c:symbol val="circle"/>
            <c:size val="5"/>
            <c:spPr>
              <a:solidFill>
                <a:srgbClr val="6F51EB"/>
              </a:solidFill>
              <a:ln>
                <a:solidFill>
                  <a:srgbClr val="6F51EB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19 Apr</c:v>
                </c:pt>
                <c:pt idx="1">
                  <c:v>26 Apr</c:v>
                </c:pt>
                <c:pt idx="2">
                  <c:v>3 May</c:v>
                </c:pt>
                <c:pt idx="3">
                  <c:v>10 May</c:v>
                </c:pt>
                <c:pt idx="4">
                  <c:v>17 May</c:v>
                </c:pt>
                <c:pt idx="5">
                  <c:v>24 May</c:v>
                </c:pt>
                <c:pt idx="6">
                  <c:v>31 May</c:v>
                </c:pt>
                <c:pt idx="7">
                  <c:v>7 Jun</c:v>
                </c:pt>
                <c:pt idx="8">
                  <c:v>14 Jun</c:v>
                </c:pt>
                <c:pt idx="9">
                  <c:v>21 Jun</c:v>
                </c:pt>
                <c:pt idx="10">
                  <c:v>28 Jun</c:v>
                </c:pt>
                <c:pt idx="11">
                  <c:v>5 Jul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4">
                  <c:v>99</c:v>
                </c:pt>
                <c:pt idx="5">
                  <c:v>99</c:v>
                </c:pt>
                <c:pt idx="6">
                  <c:v>99</c:v>
                </c:pt>
                <c:pt idx="7">
                  <c:v>100</c:v>
                </c:pt>
                <c:pt idx="8">
                  <c:v>100</c:v>
                </c:pt>
                <c:pt idx="9">
                  <c:v>102</c:v>
                </c:pt>
                <c:pt idx="10">
                  <c:v>102</c:v>
                </c:pt>
                <c:pt idx="11">
                  <c:v>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4BE-4B7D-9347-C7C0B3F5E9A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BFF Web</c:v>
                </c:pt>
              </c:strCache>
            </c:strRef>
          </c:tx>
          <c:spPr>
            <a:ln w="22225">
              <a:solidFill>
                <a:srgbClr val="22C55E"/>
              </a:solidFill>
            </a:ln>
          </c:spPr>
          <c:marker>
            <c:symbol val="circle"/>
            <c:size val="5"/>
            <c:spPr>
              <a:solidFill>
                <a:srgbClr val="22C55E"/>
              </a:solidFill>
              <a:ln>
                <a:solidFill>
                  <a:srgbClr val="22C55E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19 Apr</c:v>
                </c:pt>
                <c:pt idx="1">
                  <c:v>26 Apr</c:v>
                </c:pt>
                <c:pt idx="2">
                  <c:v>3 May</c:v>
                </c:pt>
                <c:pt idx="3">
                  <c:v>10 May</c:v>
                </c:pt>
                <c:pt idx="4">
                  <c:v>17 May</c:v>
                </c:pt>
                <c:pt idx="5">
                  <c:v>24 May</c:v>
                </c:pt>
                <c:pt idx="6">
                  <c:v>31 May</c:v>
                </c:pt>
                <c:pt idx="7">
                  <c:v>7 Jun</c:v>
                </c:pt>
                <c:pt idx="8">
                  <c:v>14 Jun</c:v>
                </c:pt>
                <c:pt idx="9">
                  <c:v>21 Jun</c:v>
                </c:pt>
                <c:pt idx="10">
                  <c:v>28 Jun</c:v>
                </c:pt>
                <c:pt idx="11">
                  <c:v>5 Jul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3">
                  <c:v>86</c:v>
                </c:pt>
                <c:pt idx="4">
                  <c:v>20</c:v>
                </c:pt>
                <c:pt idx="5">
                  <c:v>20</c:v>
                </c:pt>
                <c:pt idx="6">
                  <c:v>20</c:v>
                </c:pt>
                <c:pt idx="7">
                  <c:v>20</c:v>
                </c:pt>
                <c:pt idx="8">
                  <c:v>20</c:v>
                </c:pt>
                <c:pt idx="9">
                  <c:v>20</c:v>
                </c:pt>
                <c:pt idx="10">
                  <c:v>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4BE-4B7D-9347-C7C0B3F5E9A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Visit Visa V3</c:v>
                </c:pt>
              </c:strCache>
            </c:strRef>
          </c:tx>
          <c:spPr>
            <a:ln w="22225">
              <a:solidFill>
                <a:srgbClr val="F59E0B"/>
              </a:solidFill>
            </a:ln>
          </c:spPr>
          <c:marker>
            <c:symbol val="circle"/>
            <c:size val="5"/>
            <c:spPr>
              <a:solidFill>
                <a:srgbClr val="F59E0B"/>
              </a:solidFill>
              <a:ln>
                <a:solidFill>
                  <a:srgbClr val="F59E0B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19 Apr</c:v>
                </c:pt>
                <c:pt idx="1">
                  <c:v>26 Apr</c:v>
                </c:pt>
                <c:pt idx="2">
                  <c:v>3 May</c:v>
                </c:pt>
                <c:pt idx="3">
                  <c:v>10 May</c:v>
                </c:pt>
                <c:pt idx="4">
                  <c:v>17 May</c:v>
                </c:pt>
                <c:pt idx="5">
                  <c:v>24 May</c:v>
                </c:pt>
                <c:pt idx="6">
                  <c:v>31 May</c:v>
                </c:pt>
                <c:pt idx="7">
                  <c:v>7 Jun</c:v>
                </c:pt>
                <c:pt idx="8">
                  <c:v>14 Jun</c:v>
                </c:pt>
                <c:pt idx="9">
                  <c:v>21 Jun</c:v>
                </c:pt>
                <c:pt idx="10">
                  <c:v>28 Jun</c:v>
                </c:pt>
                <c:pt idx="11">
                  <c:v>5 Jul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4">
                  <c:v>104</c:v>
                </c:pt>
                <c:pt idx="5">
                  <c:v>93</c:v>
                </c:pt>
                <c:pt idx="6">
                  <c:v>93</c:v>
                </c:pt>
                <c:pt idx="7">
                  <c:v>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C4BE-4B7D-9347-C7C0B3F5E9A6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Travel Ins V3</c:v>
                </c:pt>
              </c:strCache>
            </c:strRef>
          </c:tx>
          <c:spPr>
            <a:ln w="22225">
              <a:solidFill>
                <a:srgbClr val="EF4444"/>
              </a:solidFill>
            </a:ln>
          </c:spPr>
          <c:marker>
            <c:symbol val="circle"/>
            <c:size val="5"/>
            <c:spPr>
              <a:solidFill>
                <a:srgbClr val="EF4444"/>
              </a:solidFill>
              <a:ln>
                <a:solidFill>
                  <a:srgbClr val="EF4444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19 Apr</c:v>
                </c:pt>
                <c:pt idx="1">
                  <c:v>26 Apr</c:v>
                </c:pt>
                <c:pt idx="2">
                  <c:v>3 May</c:v>
                </c:pt>
                <c:pt idx="3">
                  <c:v>10 May</c:v>
                </c:pt>
                <c:pt idx="4">
                  <c:v>17 May</c:v>
                </c:pt>
                <c:pt idx="5">
                  <c:v>24 May</c:v>
                </c:pt>
                <c:pt idx="6">
                  <c:v>31 May</c:v>
                </c:pt>
                <c:pt idx="7">
                  <c:v>7 Jun</c:v>
                </c:pt>
                <c:pt idx="8">
                  <c:v>14 Jun</c:v>
                </c:pt>
                <c:pt idx="9">
                  <c:v>21 Jun</c:v>
                </c:pt>
                <c:pt idx="10">
                  <c:v>28 Jun</c:v>
                </c:pt>
                <c:pt idx="11">
                  <c:v>5 Jul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4">
                  <c:v>133</c:v>
                </c:pt>
                <c:pt idx="5">
                  <c:v>133</c:v>
                </c:pt>
                <c:pt idx="6">
                  <c:v>133</c:v>
                </c:pt>
                <c:pt idx="7">
                  <c:v>131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C4BE-4B7D-9347-C7C0B3F5E9A6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Recovery Portal V3</c:v>
                </c:pt>
              </c:strCache>
            </c:strRef>
          </c:tx>
          <c:spPr>
            <a:ln w="22225">
              <a:solidFill>
                <a:srgbClr val="707491"/>
              </a:solidFill>
            </a:ln>
          </c:spPr>
          <c:marker>
            <c:symbol val="circle"/>
            <c:size val="5"/>
            <c:spPr>
              <a:solidFill>
                <a:srgbClr val="707491"/>
              </a:solidFill>
              <a:ln>
                <a:solidFill>
                  <a:srgbClr val="707491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19 Apr</c:v>
                </c:pt>
                <c:pt idx="1">
                  <c:v>26 Apr</c:v>
                </c:pt>
                <c:pt idx="2">
                  <c:v>3 May</c:v>
                </c:pt>
                <c:pt idx="3">
                  <c:v>10 May</c:v>
                </c:pt>
                <c:pt idx="4">
                  <c:v>17 May</c:v>
                </c:pt>
                <c:pt idx="5">
                  <c:v>24 May</c:v>
                </c:pt>
                <c:pt idx="6">
                  <c:v>31 May</c:v>
                </c:pt>
                <c:pt idx="7">
                  <c:v>7 Jun</c:v>
                </c:pt>
                <c:pt idx="8">
                  <c:v>14 Jun</c:v>
                </c:pt>
                <c:pt idx="9">
                  <c:v>21 Jun</c:v>
                </c:pt>
                <c:pt idx="10">
                  <c:v>28 Jun</c:v>
                </c:pt>
                <c:pt idx="11">
                  <c:v>5 Jul</c:v>
                </c:pt>
              </c:strCache>
            </c:strRef>
          </c:cat>
          <c:val>
            <c:numRef>
              <c:f>Sheet1!$G$2:$G$13</c:f>
              <c:numCache>
                <c:formatCode>General</c:formatCode>
                <c:ptCount val="12"/>
                <c:pt idx="3">
                  <c:v>318</c:v>
                </c:pt>
                <c:pt idx="4">
                  <c:v>23</c:v>
                </c:pt>
                <c:pt idx="5">
                  <c:v>23</c:v>
                </c:pt>
                <c:pt idx="6">
                  <c:v>23</c:v>
                </c:pt>
                <c:pt idx="7">
                  <c:v>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C4BE-4B7D-9347-C7C0B3F5E9A6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Workshop V3</c:v>
                </c:pt>
              </c:strCache>
            </c:strRef>
          </c:tx>
          <c:spPr>
            <a:ln w="22225">
              <a:solidFill>
                <a:srgbClr val="1E88E5"/>
              </a:solidFill>
            </a:ln>
          </c:spPr>
          <c:marker>
            <c:symbol val="circle"/>
            <c:size val="5"/>
            <c:spPr>
              <a:solidFill>
                <a:srgbClr val="1E88E5"/>
              </a:solidFill>
              <a:ln>
                <a:solidFill>
                  <a:srgbClr val="1E88E5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19 Apr</c:v>
                </c:pt>
                <c:pt idx="1">
                  <c:v>26 Apr</c:v>
                </c:pt>
                <c:pt idx="2">
                  <c:v>3 May</c:v>
                </c:pt>
                <c:pt idx="3">
                  <c:v>10 May</c:v>
                </c:pt>
                <c:pt idx="4">
                  <c:v>17 May</c:v>
                </c:pt>
                <c:pt idx="5">
                  <c:v>24 May</c:v>
                </c:pt>
                <c:pt idx="6">
                  <c:v>31 May</c:v>
                </c:pt>
                <c:pt idx="7">
                  <c:v>7 Jun</c:v>
                </c:pt>
                <c:pt idx="8">
                  <c:v>14 Jun</c:v>
                </c:pt>
                <c:pt idx="9">
                  <c:v>21 Jun</c:v>
                </c:pt>
                <c:pt idx="10">
                  <c:v>28 Jun</c:v>
                </c:pt>
                <c:pt idx="11">
                  <c:v>5 Jul</c:v>
                </c:pt>
              </c:strCache>
            </c:strRef>
          </c:cat>
          <c:val>
            <c:numRef>
              <c:f>Sheet1!$H$2:$H$13</c:f>
              <c:numCache>
                <c:formatCode>General</c:formatCode>
                <c:ptCount val="12"/>
                <c:pt idx="0">
                  <c:v>267</c:v>
                </c:pt>
                <c:pt idx="1">
                  <c:v>267</c:v>
                </c:pt>
                <c:pt idx="2">
                  <c:v>3</c:v>
                </c:pt>
                <c:pt idx="3">
                  <c:v>3</c:v>
                </c:pt>
                <c:pt idx="4">
                  <c:v>179</c:v>
                </c:pt>
                <c:pt idx="5">
                  <c:v>179</c:v>
                </c:pt>
                <c:pt idx="6">
                  <c:v>179</c:v>
                </c:pt>
                <c:pt idx="7">
                  <c:v>179</c:v>
                </c:pt>
                <c:pt idx="8">
                  <c:v>179</c:v>
                </c:pt>
                <c:pt idx="9">
                  <c:v>179</c:v>
                </c:pt>
                <c:pt idx="10">
                  <c:v>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C4BE-4B7D-9347-C7C0B3F5E9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55555555"/>
        <c:axId val="666666666"/>
      </c:lineChart>
      <c:catAx>
        <c:axId val="555555555"/>
        <c:scaling>
          <c:orientation val="minMax"/>
        </c:scaling>
        <c:delete val="0"/>
        <c:axPos val="b"/>
        <c:numFmt formatCode="General" sourceLinked="0"/>
        <c:majorTickMark val="cross"/>
        <c:minorTickMark val="cross"/>
        <c:tickLblPos val="nextTo"/>
        <c:spPr>
          <a:ln>
            <a:solidFill>
              <a:srgbClr val="E8E6F0"/>
            </a:solidFill>
          </a:ln>
        </c:spPr>
        <c:txPr>
          <a:bodyPr rot="-2700000"/>
          <a:lstStyle/>
          <a:p>
            <a:pPr>
              <a:defRPr sz="900">
                <a:solidFill>
                  <a:srgbClr val="707491"/>
                </a:solidFill>
                <a:latin typeface="Calibri"/>
              </a:defRPr>
            </a:pPr>
            <a:endParaRPr lang="en-US"/>
          </a:p>
        </c:txPr>
        <c:crossAx val="666666666"/>
        <c:crosses val="autoZero"/>
        <c:auto val="1"/>
        <c:lblAlgn val="ctr"/>
        <c:lblOffset val="100"/>
        <c:noMultiLvlLbl val="1"/>
      </c:catAx>
      <c:valAx>
        <c:axId val="666666666"/>
        <c:scaling>
          <c:orientation val="minMax"/>
        </c:scaling>
        <c:delete val="0"/>
        <c:axPos val="l"/>
        <c:majorGridlines>
          <c:spPr>
            <a:ln>
              <a:solidFill>
                <a:srgbClr val="E8E6F0"/>
              </a:solidFill>
            </a:ln>
          </c:spPr>
        </c:majorGridlines>
        <c:numFmt formatCode="General" sourceLinked="1"/>
        <c:majorTickMark val="cross"/>
        <c:minorTickMark val="cross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707491"/>
                </a:solidFill>
                <a:latin typeface="Calibri"/>
              </a:defRPr>
            </a:pPr>
            <a:endParaRPr lang="en-US"/>
          </a:p>
        </c:txPr>
        <c:crossAx val="555555555"/>
        <c:crosses val="autoZero"/>
        <c:crossBetween val="midCat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252545"/>
              </a:solidFill>
              <a:latin typeface="Calibri"/>
            </a:defRPr>
          </a:pPr>
          <a:endParaRPr lang="en-US"/>
        </a:p>
      </c:txPr>
    </c:legend>
    <c:plotVisOnly val="1"/>
    <c:dispBlanksAs val="zero"/>
    <c:showDLblsOverMax val="1"/>
  </c:chart>
  <c:spPr>
    <a:noFill/>
    <a:ln>
      <a:noFill/>
    </a:ln>
  </c:spPr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Life OTP</c:v>
                </c:pt>
              </c:strCache>
            </c:strRef>
          </c:tx>
          <c:spPr>
            <a:ln w="22225">
              <a:solidFill>
                <a:srgbClr val="6A1B9A"/>
              </a:solidFill>
            </a:ln>
          </c:spPr>
          <c:marker>
            <c:symbol val="circle"/>
            <c:size val="5"/>
            <c:spPr>
              <a:solidFill>
                <a:srgbClr val="6A1B9A"/>
              </a:solidFill>
              <a:ln>
                <a:solidFill>
                  <a:srgbClr val="6A1B9A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19 Apr</c:v>
                </c:pt>
                <c:pt idx="1">
                  <c:v>26 Apr</c:v>
                </c:pt>
                <c:pt idx="2">
                  <c:v>3 May</c:v>
                </c:pt>
                <c:pt idx="3">
                  <c:v>10 May</c:v>
                </c:pt>
                <c:pt idx="4">
                  <c:v>17 May</c:v>
                </c:pt>
                <c:pt idx="5">
                  <c:v>24 May</c:v>
                </c:pt>
                <c:pt idx="6">
                  <c:v>31 May</c:v>
                </c:pt>
                <c:pt idx="7">
                  <c:v>7 Jun</c:v>
                </c:pt>
                <c:pt idx="8">
                  <c:v>14 Jun</c:v>
                </c:pt>
                <c:pt idx="9">
                  <c:v>21 Jun</c:v>
                </c:pt>
                <c:pt idx="10">
                  <c:v>28 Jun</c:v>
                </c:pt>
                <c:pt idx="11">
                  <c:v>5 Jul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8">
                  <c:v>85.6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D30-44D7-AA88-1841CB9D248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Sales Motor V3</c:v>
                </c:pt>
              </c:strCache>
            </c:strRef>
          </c:tx>
          <c:spPr>
            <a:ln w="22225">
              <a:solidFill>
                <a:srgbClr val="6F51EB"/>
              </a:solidFill>
            </a:ln>
          </c:spPr>
          <c:marker>
            <c:symbol val="circle"/>
            <c:size val="5"/>
            <c:spPr>
              <a:solidFill>
                <a:srgbClr val="6F51EB"/>
              </a:solidFill>
              <a:ln>
                <a:solidFill>
                  <a:srgbClr val="6F51EB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19 Apr</c:v>
                </c:pt>
                <c:pt idx="1">
                  <c:v>26 Apr</c:v>
                </c:pt>
                <c:pt idx="2">
                  <c:v>3 May</c:v>
                </c:pt>
                <c:pt idx="3">
                  <c:v>10 May</c:v>
                </c:pt>
                <c:pt idx="4">
                  <c:v>17 May</c:v>
                </c:pt>
                <c:pt idx="5">
                  <c:v>24 May</c:v>
                </c:pt>
                <c:pt idx="6">
                  <c:v>31 May</c:v>
                </c:pt>
                <c:pt idx="7">
                  <c:v>7 Jun</c:v>
                </c:pt>
                <c:pt idx="8">
                  <c:v>14 Jun</c:v>
                </c:pt>
                <c:pt idx="9">
                  <c:v>21 Jun</c:v>
                </c:pt>
                <c:pt idx="10">
                  <c:v>28 Jun</c:v>
                </c:pt>
                <c:pt idx="11">
                  <c:v>5 Jul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4">
                  <c:v>50.6</c:v>
                </c:pt>
                <c:pt idx="5">
                  <c:v>50.6</c:v>
                </c:pt>
                <c:pt idx="6">
                  <c:v>50.6</c:v>
                </c:pt>
                <c:pt idx="7">
                  <c:v>50.5</c:v>
                </c:pt>
                <c:pt idx="8">
                  <c:v>50.5</c:v>
                </c:pt>
                <c:pt idx="9">
                  <c:v>50.5</c:v>
                </c:pt>
                <c:pt idx="10">
                  <c:v>50.5</c:v>
                </c:pt>
                <c:pt idx="11">
                  <c:v>50.4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D30-44D7-AA88-1841CB9D248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BFF Web</c:v>
                </c:pt>
              </c:strCache>
            </c:strRef>
          </c:tx>
          <c:spPr>
            <a:ln w="22225">
              <a:solidFill>
                <a:srgbClr val="22C55E"/>
              </a:solidFill>
            </a:ln>
          </c:spPr>
          <c:marker>
            <c:symbol val="circle"/>
            <c:size val="5"/>
            <c:spPr>
              <a:solidFill>
                <a:srgbClr val="22C55E"/>
              </a:solidFill>
              <a:ln>
                <a:solidFill>
                  <a:srgbClr val="22C55E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19 Apr</c:v>
                </c:pt>
                <c:pt idx="1">
                  <c:v>26 Apr</c:v>
                </c:pt>
                <c:pt idx="2">
                  <c:v>3 May</c:v>
                </c:pt>
                <c:pt idx="3">
                  <c:v>10 May</c:v>
                </c:pt>
                <c:pt idx="4">
                  <c:v>17 May</c:v>
                </c:pt>
                <c:pt idx="5">
                  <c:v>24 May</c:v>
                </c:pt>
                <c:pt idx="6">
                  <c:v>31 May</c:v>
                </c:pt>
                <c:pt idx="7">
                  <c:v>7 Jun</c:v>
                </c:pt>
                <c:pt idx="8">
                  <c:v>14 Jun</c:v>
                </c:pt>
                <c:pt idx="9">
                  <c:v>21 Jun</c:v>
                </c:pt>
                <c:pt idx="10">
                  <c:v>28 Jun</c:v>
                </c:pt>
                <c:pt idx="11">
                  <c:v>5 Jul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3">
                  <c:v>45.7</c:v>
                </c:pt>
                <c:pt idx="4">
                  <c:v>45.7</c:v>
                </c:pt>
                <c:pt idx="5">
                  <c:v>45.7</c:v>
                </c:pt>
                <c:pt idx="6">
                  <c:v>45.7</c:v>
                </c:pt>
                <c:pt idx="7">
                  <c:v>45.6</c:v>
                </c:pt>
                <c:pt idx="8">
                  <c:v>45.6</c:v>
                </c:pt>
                <c:pt idx="9">
                  <c:v>45.6</c:v>
                </c:pt>
                <c:pt idx="10">
                  <c:v>45.6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D30-44D7-AA88-1841CB9D248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Visit Visa V3</c:v>
                </c:pt>
              </c:strCache>
            </c:strRef>
          </c:tx>
          <c:spPr>
            <a:ln w="22225">
              <a:solidFill>
                <a:srgbClr val="F59E0B"/>
              </a:solidFill>
            </a:ln>
          </c:spPr>
          <c:marker>
            <c:symbol val="circle"/>
            <c:size val="5"/>
            <c:spPr>
              <a:solidFill>
                <a:srgbClr val="F59E0B"/>
              </a:solidFill>
              <a:ln>
                <a:solidFill>
                  <a:srgbClr val="F59E0B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19 Apr</c:v>
                </c:pt>
                <c:pt idx="1">
                  <c:v>26 Apr</c:v>
                </c:pt>
                <c:pt idx="2">
                  <c:v>3 May</c:v>
                </c:pt>
                <c:pt idx="3">
                  <c:v>10 May</c:v>
                </c:pt>
                <c:pt idx="4">
                  <c:v>17 May</c:v>
                </c:pt>
                <c:pt idx="5">
                  <c:v>24 May</c:v>
                </c:pt>
                <c:pt idx="6">
                  <c:v>31 May</c:v>
                </c:pt>
                <c:pt idx="7">
                  <c:v>7 Jun</c:v>
                </c:pt>
                <c:pt idx="8">
                  <c:v>14 Jun</c:v>
                </c:pt>
                <c:pt idx="9">
                  <c:v>21 Jun</c:v>
                </c:pt>
                <c:pt idx="10">
                  <c:v>28 Jun</c:v>
                </c:pt>
                <c:pt idx="11">
                  <c:v>5 Jul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4">
                  <c:v>0</c:v>
                </c:pt>
                <c:pt idx="5">
                  <c:v>55.6</c:v>
                </c:pt>
                <c:pt idx="6">
                  <c:v>55.6</c:v>
                </c:pt>
                <c:pt idx="7">
                  <c:v>55.3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ED30-44D7-AA88-1841CB9D248C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Travel Ins V3</c:v>
                </c:pt>
              </c:strCache>
            </c:strRef>
          </c:tx>
          <c:spPr>
            <a:ln w="22225">
              <a:solidFill>
                <a:srgbClr val="EF4444"/>
              </a:solidFill>
            </a:ln>
          </c:spPr>
          <c:marker>
            <c:symbol val="circle"/>
            <c:size val="5"/>
            <c:spPr>
              <a:solidFill>
                <a:srgbClr val="EF4444"/>
              </a:solidFill>
              <a:ln>
                <a:solidFill>
                  <a:srgbClr val="EF4444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19 Apr</c:v>
                </c:pt>
                <c:pt idx="1">
                  <c:v>26 Apr</c:v>
                </c:pt>
                <c:pt idx="2">
                  <c:v>3 May</c:v>
                </c:pt>
                <c:pt idx="3">
                  <c:v>10 May</c:v>
                </c:pt>
                <c:pt idx="4">
                  <c:v>17 May</c:v>
                </c:pt>
                <c:pt idx="5">
                  <c:v>24 May</c:v>
                </c:pt>
                <c:pt idx="6">
                  <c:v>31 May</c:v>
                </c:pt>
                <c:pt idx="7">
                  <c:v>7 Jun</c:v>
                </c:pt>
                <c:pt idx="8">
                  <c:v>14 Jun</c:v>
                </c:pt>
                <c:pt idx="9">
                  <c:v>21 Jun</c:v>
                </c:pt>
                <c:pt idx="10">
                  <c:v>28 Jun</c:v>
                </c:pt>
                <c:pt idx="11">
                  <c:v>5 Jul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4">
                  <c:v>44.7</c:v>
                </c:pt>
                <c:pt idx="5">
                  <c:v>44.7</c:v>
                </c:pt>
                <c:pt idx="6">
                  <c:v>44.7</c:v>
                </c:pt>
                <c:pt idx="7">
                  <c:v>44.3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ED30-44D7-AA88-1841CB9D248C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Recovery Portal V3</c:v>
                </c:pt>
              </c:strCache>
            </c:strRef>
          </c:tx>
          <c:spPr>
            <a:ln w="22225">
              <a:solidFill>
                <a:srgbClr val="707491"/>
              </a:solidFill>
            </a:ln>
          </c:spPr>
          <c:marker>
            <c:symbol val="circle"/>
            <c:size val="5"/>
            <c:spPr>
              <a:solidFill>
                <a:srgbClr val="707491"/>
              </a:solidFill>
              <a:ln>
                <a:solidFill>
                  <a:srgbClr val="707491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19 Apr</c:v>
                </c:pt>
                <c:pt idx="1">
                  <c:v>26 Apr</c:v>
                </c:pt>
                <c:pt idx="2">
                  <c:v>3 May</c:v>
                </c:pt>
                <c:pt idx="3">
                  <c:v>10 May</c:v>
                </c:pt>
                <c:pt idx="4">
                  <c:v>17 May</c:v>
                </c:pt>
                <c:pt idx="5">
                  <c:v>24 May</c:v>
                </c:pt>
                <c:pt idx="6">
                  <c:v>31 May</c:v>
                </c:pt>
                <c:pt idx="7">
                  <c:v>7 Jun</c:v>
                </c:pt>
                <c:pt idx="8">
                  <c:v>14 Jun</c:v>
                </c:pt>
                <c:pt idx="9">
                  <c:v>21 Jun</c:v>
                </c:pt>
                <c:pt idx="10">
                  <c:v>28 Jun</c:v>
                </c:pt>
                <c:pt idx="11">
                  <c:v>5 Jul</c:v>
                </c:pt>
              </c:strCache>
            </c:strRef>
          </c:cat>
          <c:val>
            <c:numRef>
              <c:f>Sheet1!$G$2:$G$13</c:f>
              <c:numCache>
                <c:formatCode>General</c:formatCode>
                <c:ptCount val="12"/>
                <c:pt idx="3">
                  <c:v>41.8</c:v>
                </c:pt>
                <c:pt idx="4">
                  <c:v>42.5</c:v>
                </c:pt>
                <c:pt idx="5">
                  <c:v>42.5</c:v>
                </c:pt>
                <c:pt idx="6">
                  <c:v>42.5</c:v>
                </c:pt>
                <c:pt idx="7">
                  <c:v>42.7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ED30-44D7-AA88-1841CB9D248C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Workshop V3</c:v>
                </c:pt>
              </c:strCache>
            </c:strRef>
          </c:tx>
          <c:spPr>
            <a:ln w="22225">
              <a:solidFill>
                <a:srgbClr val="1E88E5"/>
              </a:solidFill>
            </a:ln>
          </c:spPr>
          <c:marker>
            <c:symbol val="circle"/>
            <c:size val="5"/>
            <c:spPr>
              <a:solidFill>
                <a:srgbClr val="1E88E5"/>
              </a:solidFill>
              <a:ln>
                <a:solidFill>
                  <a:srgbClr val="1E88E5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19 Apr</c:v>
                </c:pt>
                <c:pt idx="1">
                  <c:v>26 Apr</c:v>
                </c:pt>
                <c:pt idx="2">
                  <c:v>3 May</c:v>
                </c:pt>
                <c:pt idx="3">
                  <c:v>10 May</c:v>
                </c:pt>
                <c:pt idx="4">
                  <c:v>17 May</c:v>
                </c:pt>
                <c:pt idx="5">
                  <c:v>24 May</c:v>
                </c:pt>
                <c:pt idx="6">
                  <c:v>31 May</c:v>
                </c:pt>
                <c:pt idx="7">
                  <c:v>7 Jun</c:v>
                </c:pt>
                <c:pt idx="8">
                  <c:v>14 Jun</c:v>
                </c:pt>
                <c:pt idx="9">
                  <c:v>21 Jun</c:v>
                </c:pt>
                <c:pt idx="10">
                  <c:v>28 Jun</c:v>
                </c:pt>
                <c:pt idx="11">
                  <c:v>5 Jul</c:v>
                </c:pt>
              </c:strCache>
            </c:strRef>
          </c:cat>
          <c:val>
            <c:numRef>
              <c:f>Sheet1!$H$2:$H$13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43</c:v>
                </c:pt>
                <c:pt idx="3">
                  <c:v>43</c:v>
                </c:pt>
                <c:pt idx="4">
                  <c:v>43</c:v>
                </c:pt>
                <c:pt idx="5">
                  <c:v>43</c:v>
                </c:pt>
                <c:pt idx="6">
                  <c:v>43</c:v>
                </c:pt>
                <c:pt idx="7">
                  <c:v>43</c:v>
                </c:pt>
                <c:pt idx="8">
                  <c:v>43</c:v>
                </c:pt>
                <c:pt idx="9">
                  <c:v>43</c:v>
                </c:pt>
                <c:pt idx="10">
                  <c:v>43.2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ED30-44D7-AA88-1841CB9D24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77777777"/>
        <c:axId val="888888888"/>
      </c:lineChart>
      <c:catAx>
        <c:axId val="777777777"/>
        <c:scaling>
          <c:orientation val="minMax"/>
        </c:scaling>
        <c:delete val="0"/>
        <c:axPos val="b"/>
        <c:numFmt formatCode="General" sourceLinked="0"/>
        <c:majorTickMark val="cross"/>
        <c:minorTickMark val="cross"/>
        <c:tickLblPos val="nextTo"/>
        <c:spPr>
          <a:ln>
            <a:solidFill>
              <a:srgbClr val="E8E6F0"/>
            </a:solidFill>
          </a:ln>
        </c:spPr>
        <c:txPr>
          <a:bodyPr rot="-2700000"/>
          <a:lstStyle/>
          <a:p>
            <a:pPr>
              <a:defRPr sz="900">
                <a:solidFill>
                  <a:srgbClr val="707491"/>
                </a:solidFill>
                <a:latin typeface="Calibri"/>
              </a:defRPr>
            </a:pPr>
            <a:endParaRPr lang="en-US"/>
          </a:p>
        </c:txPr>
        <c:crossAx val="888888888"/>
        <c:crosses val="autoZero"/>
        <c:auto val="1"/>
        <c:lblAlgn val="ctr"/>
        <c:lblOffset val="100"/>
        <c:noMultiLvlLbl val="1"/>
      </c:catAx>
      <c:valAx>
        <c:axId val="888888888"/>
        <c:scaling>
          <c:orientation val="minMax"/>
        </c:scaling>
        <c:delete val="0"/>
        <c:axPos val="l"/>
        <c:majorGridlines>
          <c:spPr>
            <a:ln>
              <a:solidFill>
                <a:srgbClr val="E8E6F0"/>
              </a:solidFill>
            </a:ln>
          </c:spPr>
        </c:majorGridlines>
        <c:numFmt formatCode="0%" sourceLinked="0"/>
        <c:majorTickMark val="cross"/>
        <c:minorTickMark val="cross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707491"/>
                </a:solidFill>
                <a:latin typeface="Calibri"/>
              </a:defRPr>
            </a:pPr>
            <a:endParaRPr lang="en-US"/>
          </a:p>
        </c:txPr>
        <c:crossAx val="777777777"/>
        <c:crosses val="autoZero"/>
        <c:crossBetween val="midCat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252545"/>
              </a:solidFill>
              <a:latin typeface="Calibri"/>
            </a:defRPr>
          </a:pPr>
          <a:endParaRPr lang="en-US"/>
        </a:p>
      </c:txPr>
    </c:legend>
    <c:plotVisOnly val="1"/>
    <c:dispBlanksAs val="zero"/>
    <c:showDLblsOverMax val="1"/>
  </c:chart>
  <c:spPr>
    <a:noFill/>
    <a:ln>
      <a:noFill/>
    </a:ln>
  </c:spPr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Sheet1!$B$2</c:f>
              <c:strCache>
                <c:ptCount val="1"/>
                <c:pt idx="0">
                  <c:v>Life OTP</c:v>
                </c:pt>
              </c:strCache>
            </c:strRef>
          </c:tx>
          <c:spPr>
            <a:solidFill>
              <a:srgbClr val="22C55E"/>
            </a:solidFill>
            <a:ln>
              <a:noFill/>
            </a:ln>
          </c:spPr>
          <c:invertIfNegative val="0"/>
          <c:dLbls>
            <c:numFmt formatCode="0%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900" b="1">
                    <a:solidFill>
                      <a:srgbClr val="252545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Life OTP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85.6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73F-4F45-A5FE-79846A8006EE}"/>
            </c:ext>
          </c:extLst>
        </c:ser>
        <c:ser>
          <c:idx val="1"/>
          <c:order val="1"/>
          <c:tx>
            <c:strRef>
              <c:f>Sheet1!$B$3</c:f>
              <c:strCache>
                <c:ptCount val="1"/>
                <c:pt idx="0">
                  <c:v>Sales Motor V3</c:v>
                </c:pt>
              </c:strCache>
            </c:strRef>
          </c:tx>
          <c:spPr>
            <a:solidFill>
              <a:srgbClr val="22C55E"/>
            </a:solidFill>
            <a:ln>
              <a:noFill/>
            </a:ln>
          </c:spPr>
          <c:invertIfNegative val="0"/>
          <c:dLbls>
            <c:numFmt formatCode="0%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900" b="1">
                    <a:solidFill>
                      <a:srgbClr val="252545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Sheet1!$A$3</c:f>
              <c:strCache>
                <c:ptCount val="1"/>
                <c:pt idx="0">
                  <c:v>Sales Motor V3</c:v>
                </c:pt>
              </c:strCache>
            </c:strRef>
          </c:cat>
          <c:val>
            <c:numRef>
              <c:f>Sheet1!$C$3</c:f>
              <c:numCache>
                <c:formatCode>General</c:formatCode>
                <c:ptCount val="1"/>
                <c:pt idx="0">
                  <c:v>50.4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73F-4F45-A5FE-79846A8006EE}"/>
            </c:ext>
          </c:extLst>
        </c:ser>
        <c:ser>
          <c:idx val="2"/>
          <c:order val="2"/>
          <c:tx>
            <c:strRef>
              <c:f>Sheet1!$B$4</c:f>
              <c:strCache>
                <c:ptCount val="1"/>
                <c:pt idx="0">
                  <c:v>BFF Web</c:v>
                </c:pt>
              </c:strCache>
            </c:strRef>
          </c:tx>
          <c:spPr>
            <a:solidFill>
              <a:srgbClr val="22C55E"/>
            </a:solidFill>
            <a:ln>
              <a:noFill/>
            </a:ln>
          </c:spPr>
          <c:invertIfNegative val="0"/>
          <c:dLbls>
            <c:numFmt formatCode="0%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900" b="1">
                    <a:solidFill>
                      <a:srgbClr val="252545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Sheet1!$A$4</c:f>
              <c:strCache>
                <c:ptCount val="1"/>
                <c:pt idx="0">
                  <c:v>BFF Web</c:v>
                </c:pt>
              </c:strCache>
            </c:strRef>
          </c:cat>
          <c:val>
            <c:numRef>
              <c:f>Sheet1!$C$4</c:f>
              <c:numCache>
                <c:formatCode>General</c:formatCode>
                <c:ptCount val="1"/>
                <c:pt idx="0">
                  <c:v>45.6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73F-4F45-A5FE-79846A8006EE}"/>
            </c:ext>
          </c:extLst>
        </c:ser>
        <c:ser>
          <c:idx val="3"/>
          <c:order val="3"/>
          <c:tx>
            <c:strRef>
              <c:f>Sheet1!$B$5</c:f>
              <c:strCache>
                <c:ptCount val="1"/>
                <c:pt idx="0">
                  <c:v>Visit Visa V3</c:v>
                </c:pt>
              </c:strCache>
            </c:strRef>
          </c:tx>
          <c:spPr>
            <a:solidFill>
              <a:srgbClr val="22C55E"/>
            </a:solidFill>
            <a:ln>
              <a:noFill/>
            </a:ln>
          </c:spPr>
          <c:invertIfNegative val="0"/>
          <c:dLbls>
            <c:numFmt formatCode="0%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900" b="1">
                    <a:solidFill>
                      <a:srgbClr val="252545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Sheet1!$A$5</c:f>
              <c:strCache>
                <c:ptCount val="1"/>
                <c:pt idx="0">
                  <c:v>Visit Visa V3</c:v>
                </c:pt>
              </c:strCache>
            </c:strRef>
          </c:cat>
          <c:val>
            <c:numRef>
              <c:f>Sheet1!$C$5</c:f>
              <c:numCache>
                <c:formatCode>General</c:formatCode>
                <c:ptCount val="1"/>
                <c:pt idx="0">
                  <c:v>55.3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73F-4F45-A5FE-79846A8006EE}"/>
            </c:ext>
          </c:extLst>
        </c:ser>
        <c:ser>
          <c:idx val="4"/>
          <c:order val="4"/>
          <c:tx>
            <c:strRef>
              <c:f>Sheet1!$B$6</c:f>
              <c:strCache>
                <c:ptCount val="1"/>
                <c:pt idx="0">
                  <c:v>Travel Ins V3</c:v>
                </c:pt>
              </c:strCache>
            </c:strRef>
          </c:tx>
          <c:spPr>
            <a:solidFill>
              <a:srgbClr val="22C55E"/>
            </a:solidFill>
            <a:ln>
              <a:noFill/>
            </a:ln>
          </c:spPr>
          <c:invertIfNegative val="0"/>
          <c:dLbls>
            <c:numFmt formatCode="0%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900" b="1">
                    <a:solidFill>
                      <a:srgbClr val="252545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Sheet1!$A$6</c:f>
              <c:strCache>
                <c:ptCount val="1"/>
                <c:pt idx="0">
                  <c:v>Travel Ins V3</c:v>
                </c:pt>
              </c:strCache>
            </c:strRef>
          </c:cat>
          <c:val>
            <c:numRef>
              <c:f>Sheet1!$C$6</c:f>
              <c:numCache>
                <c:formatCode>General</c:formatCode>
                <c:ptCount val="1"/>
                <c:pt idx="0">
                  <c:v>44.3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73F-4F45-A5FE-79846A8006EE}"/>
            </c:ext>
          </c:extLst>
        </c:ser>
        <c:ser>
          <c:idx val="5"/>
          <c:order val="5"/>
          <c:tx>
            <c:strRef>
              <c:f>Sheet1!$B$7</c:f>
              <c:strCache>
                <c:ptCount val="1"/>
                <c:pt idx="0">
                  <c:v>Recovery Portal V3</c:v>
                </c:pt>
              </c:strCache>
            </c:strRef>
          </c:tx>
          <c:spPr>
            <a:solidFill>
              <a:srgbClr val="22C55E"/>
            </a:solidFill>
            <a:ln>
              <a:noFill/>
            </a:ln>
          </c:spPr>
          <c:invertIfNegative val="0"/>
          <c:dLbls>
            <c:numFmt formatCode="0%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900" b="1">
                    <a:solidFill>
                      <a:srgbClr val="252545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Sheet1!$A$7</c:f>
              <c:strCache>
                <c:ptCount val="1"/>
                <c:pt idx="0">
                  <c:v>Recovery Portal V3</c:v>
                </c:pt>
              </c:strCache>
            </c:strRef>
          </c:cat>
          <c:val>
            <c:numRef>
              <c:f>Sheet1!$C$7</c:f>
              <c:numCache>
                <c:formatCode>General</c:formatCode>
                <c:ptCount val="1"/>
                <c:pt idx="0">
                  <c:v>42.7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873F-4F45-A5FE-79846A8006EE}"/>
            </c:ext>
          </c:extLst>
        </c:ser>
        <c:ser>
          <c:idx val="6"/>
          <c:order val="6"/>
          <c:tx>
            <c:strRef>
              <c:f>Sheet1!$B$8</c:f>
              <c:strCache>
                <c:ptCount val="1"/>
                <c:pt idx="0">
                  <c:v>Workshop V3</c:v>
                </c:pt>
              </c:strCache>
            </c:strRef>
          </c:tx>
          <c:spPr>
            <a:solidFill>
              <a:srgbClr val="22C55E"/>
            </a:solidFill>
            <a:ln>
              <a:noFill/>
            </a:ln>
          </c:spPr>
          <c:invertIfNegative val="0"/>
          <c:dLbls>
            <c:numFmt formatCode="0%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900" b="1">
                    <a:solidFill>
                      <a:srgbClr val="252545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Sheet1!$A$8</c:f>
              <c:strCache>
                <c:ptCount val="1"/>
                <c:pt idx="0">
                  <c:v>Workshop V3</c:v>
                </c:pt>
              </c:strCache>
            </c:strRef>
          </c:cat>
          <c:val>
            <c:numRef>
              <c:f>Sheet1!$C$8</c:f>
              <c:numCache>
                <c:formatCode>General</c:formatCode>
                <c:ptCount val="1"/>
                <c:pt idx="0">
                  <c:v>43.2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73F-4F45-A5FE-79846A8006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01010101"/>
        <c:axId val="202020202"/>
      </c:barChart>
      <c:catAx>
        <c:axId val="101010101"/>
        <c:scaling>
          <c:orientation val="minMax"/>
        </c:scaling>
        <c:delete val="0"/>
        <c:axPos val="l"/>
        <c:numFmt formatCode="General" sourceLinked="0"/>
        <c:majorTickMark val="cross"/>
        <c:minorTickMark val="cross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252545"/>
                </a:solidFill>
                <a:latin typeface="Calibri"/>
              </a:defRPr>
            </a:pPr>
            <a:endParaRPr lang="en-US"/>
          </a:p>
        </c:txPr>
        <c:crossAx val="202020202"/>
        <c:crosses val="autoZero"/>
        <c:auto val="1"/>
        <c:lblAlgn val="ctr"/>
        <c:lblOffset val="100"/>
        <c:noMultiLvlLbl val="1"/>
      </c:catAx>
      <c:valAx>
        <c:axId val="202020202"/>
        <c:scaling>
          <c:orientation val="minMax"/>
        </c:scaling>
        <c:delete val="0"/>
        <c:axPos val="b"/>
        <c:majorGridlines>
          <c:spPr>
            <a:ln>
              <a:solidFill>
                <a:srgbClr val="E8E6F0"/>
              </a:solidFill>
            </a:ln>
          </c:spPr>
        </c:majorGridlines>
        <c:numFmt formatCode="0%" sourceLinked="0"/>
        <c:majorTickMark val="cross"/>
        <c:minorTickMark val="cross"/>
        <c:tickLblPos val="nextTo"/>
        <c:spPr>
          <a:ln>
            <a:solidFill>
              <a:srgbClr val="E8E6F0"/>
            </a:solidFill>
          </a:ln>
        </c:spPr>
        <c:txPr>
          <a:bodyPr/>
          <a:lstStyle/>
          <a:p>
            <a:pPr>
              <a:defRPr sz="900">
                <a:solidFill>
                  <a:srgbClr val="707491"/>
                </a:solidFill>
                <a:latin typeface="Calibri"/>
              </a:defRPr>
            </a:pPr>
            <a:endParaRPr lang="en-US"/>
          </a:p>
        </c:txPr>
        <c:crossAx val="101010101"/>
        <c:crosses val="autoZero"/>
        <c:crossBetween val="between"/>
      </c:valAx>
    </c:plotArea>
    <c:plotVisOnly val="1"/>
    <c:dispBlanksAs val="zero"/>
    <c:showDLblsOverMax val="1"/>
  </c:chart>
  <c:spPr>
    <a:noFill/>
    <a:ln>
      <a:noFill/>
    </a:ln>
  </c:spPr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Sheet1!$B$2</c:f>
              <c:strCache>
                <c:ptCount val="1"/>
                <c:pt idx="0">
                  <c:v>Life OTP</c:v>
                </c:pt>
              </c:strCache>
            </c:strRef>
          </c:tx>
          <c:spPr>
            <a:solidFill>
              <a:srgbClr val="22C55E"/>
            </a:solidFill>
            <a:ln>
              <a:noFill/>
            </a:ln>
          </c:spPr>
          <c:invertIfNegative val="0"/>
          <c:dLbls>
            <c:numFmt formatCode="0.0%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900" b="1">
                    <a:solidFill>
                      <a:srgbClr val="252545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Life OTP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F1-4D79-9598-661FC9CC8F33}"/>
            </c:ext>
          </c:extLst>
        </c:ser>
        <c:ser>
          <c:idx val="1"/>
          <c:order val="1"/>
          <c:tx>
            <c:strRef>
              <c:f>Sheet1!$B$3</c:f>
              <c:strCache>
                <c:ptCount val="1"/>
                <c:pt idx="0">
                  <c:v>Sales Motor V3</c:v>
                </c:pt>
              </c:strCache>
            </c:strRef>
          </c:tx>
          <c:spPr>
            <a:solidFill>
              <a:srgbClr val="EF4444"/>
            </a:solidFill>
            <a:ln>
              <a:noFill/>
            </a:ln>
          </c:spPr>
          <c:invertIfNegative val="0"/>
          <c:dLbls>
            <c:numFmt formatCode="0.0%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900" b="1">
                    <a:solidFill>
                      <a:srgbClr val="252545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Sheet1!$A$3</c:f>
              <c:strCache>
                <c:ptCount val="1"/>
                <c:pt idx="0">
                  <c:v>Sales Motor V3</c:v>
                </c:pt>
              </c:strCache>
            </c:strRef>
          </c:cat>
          <c:val>
            <c:numRef>
              <c:f>Sheet1!$C$3</c:f>
              <c:numCache>
                <c:formatCode>General</c:formatCode>
                <c:ptCount val="1"/>
                <c:pt idx="0">
                  <c:v>16.100000000000001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5F1-4D79-9598-661FC9CC8F33}"/>
            </c:ext>
          </c:extLst>
        </c:ser>
        <c:ser>
          <c:idx val="2"/>
          <c:order val="2"/>
          <c:tx>
            <c:strRef>
              <c:f>Sheet1!$B$4</c:f>
              <c:strCache>
                <c:ptCount val="1"/>
                <c:pt idx="0">
                  <c:v>BFF Web</c:v>
                </c:pt>
              </c:strCache>
            </c:strRef>
          </c:tx>
          <c:spPr>
            <a:solidFill>
              <a:srgbClr val="F59E0B"/>
            </a:solidFill>
            <a:ln>
              <a:noFill/>
            </a:ln>
          </c:spPr>
          <c:invertIfNegative val="0"/>
          <c:dLbls>
            <c:numFmt formatCode="0.0%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900" b="1">
                    <a:solidFill>
                      <a:srgbClr val="252545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Sheet1!$A$4</c:f>
              <c:strCache>
                <c:ptCount val="1"/>
                <c:pt idx="0">
                  <c:v>BFF Web</c:v>
                </c:pt>
              </c:strCache>
            </c:strRef>
          </c:cat>
          <c:val>
            <c:numRef>
              <c:f>Sheet1!$C$4</c:f>
              <c:numCache>
                <c:formatCode>General</c:formatCode>
                <c:ptCount val="1"/>
                <c:pt idx="0">
                  <c:v>7.5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5F1-4D79-9598-661FC9CC8F33}"/>
            </c:ext>
          </c:extLst>
        </c:ser>
        <c:ser>
          <c:idx val="3"/>
          <c:order val="3"/>
          <c:tx>
            <c:strRef>
              <c:f>Sheet1!$B$5</c:f>
              <c:strCache>
                <c:ptCount val="1"/>
                <c:pt idx="0">
                  <c:v>Visit Visa V3</c:v>
                </c:pt>
              </c:strCache>
            </c:strRef>
          </c:tx>
          <c:spPr>
            <a:solidFill>
              <a:srgbClr val="22C55E"/>
            </a:solidFill>
            <a:ln>
              <a:noFill/>
            </a:ln>
          </c:spPr>
          <c:invertIfNegative val="0"/>
          <c:dLbls>
            <c:numFmt formatCode="0.0%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900" b="1">
                    <a:solidFill>
                      <a:srgbClr val="252545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Sheet1!$A$5</c:f>
              <c:strCache>
                <c:ptCount val="1"/>
                <c:pt idx="0">
                  <c:v>Visit Visa V3</c:v>
                </c:pt>
              </c:strCache>
            </c:strRef>
          </c:cat>
          <c:val>
            <c:numRef>
              <c:f>Sheet1!$C$5</c:f>
              <c:numCache>
                <c:formatCode>General</c:formatCode>
                <c:ptCount val="1"/>
                <c:pt idx="0">
                  <c:v>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5F1-4D79-9598-661FC9CC8F33}"/>
            </c:ext>
          </c:extLst>
        </c:ser>
        <c:ser>
          <c:idx val="4"/>
          <c:order val="4"/>
          <c:tx>
            <c:strRef>
              <c:f>Sheet1!$B$6</c:f>
              <c:strCache>
                <c:ptCount val="1"/>
                <c:pt idx="0">
                  <c:v>Travel Ins V3</c:v>
                </c:pt>
              </c:strCache>
            </c:strRef>
          </c:tx>
          <c:spPr>
            <a:solidFill>
              <a:srgbClr val="F59E0B"/>
            </a:solidFill>
            <a:ln>
              <a:noFill/>
            </a:ln>
          </c:spPr>
          <c:invertIfNegative val="0"/>
          <c:dLbls>
            <c:numFmt formatCode="0.0%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900" b="1">
                    <a:solidFill>
                      <a:srgbClr val="252545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Sheet1!$A$6</c:f>
              <c:strCache>
                <c:ptCount val="1"/>
                <c:pt idx="0">
                  <c:v>Travel Ins V3</c:v>
                </c:pt>
              </c:strCache>
            </c:strRef>
          </c:cat>
          <c:val>
            <c:numRef>
              <c:f>Sheet1!$C$6</c:f>
              <c:numCache>
                <c:formatCode>General</c:formatCode>
                <c:ptCount val="1"/>
                <c:pt idx="0">
                  <c:v>6.9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5F1-4D79-9598-661FC9CC8F33}"/>
            </c:ext>
          </c:extLst>
        </c:ser>
        <c:ser>
          <c:idx val="5"/>
          <c:order val="5"/>
          <c:tx>
            <c:strRef>
              <c:f>Sheet1!$B$7</c:f>
              <c:strCache>
                <c:ptCount val="1"/>
                <c:pt idx="0">
                  <c:v>Recovery Portal V3</c:v>
                </c:pt>
              </c:strCache>
            </c:strRef>
          </c:tx>
          <c:spPr>
            <a:solidFill>
              <a:srgbClr val="EF4444"/>
            </a:solidFill>
            <a:ln>
              <a:noFill/>
            </a:ln>
          </c:spPr>
          <c:invertIfNegative val="0"/>
          <c:dLbls>
            <c:numFmt formatCode="0.0%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900" b="1">
                    <a:solidFill>
                      <a:srgbClr val="252545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Sheet1!$A$7</c:f>
              <c:strCache>
                <c:ptCount val="1"/>
                <c:pt idx="0">
                  <c:v>Recovery Portal V3</c:v>
                </c:pt>
              </c:strCache>
            </c:strRef>
          </c:cat>
          <c:val>
            <c:numRef>
              <c:f>Sheet1!$C$7</c:f>
              <c:numCache>
                <c:formatCode>General</c:formatCode>
                <c:ptCount val="1"/>
                <c:pt idx="0">
                  <c:v>11.4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15F1-4D79-9598-661FC9CC8F33}"/>
            </c:ext>
          </c:extLst>
        </c:ser>
        <c:ser>
          <c:idx val="6"/>
          <c:order val="6"/>
          <c:tx>
            <c:strRef>
              <c:f>Sheet1!$B$8</c:f>
              <c:strCache>
                <c:ptCount val="1"/>
                <c:pt idx="0">
                  <c:v>Workshop V3</c:v>
                </c:pt>
              </c:strCache>
            </c:strRef>
          </c:tx>
          <c:spPr>
            <a:solidFill>
              <a:srgbClr val="EF4444"/>
            </a:solidFill>
            <a:ln>
              <a:noFill/>
            </a:ln>
          </c:spPr>
          <c:invertIfNegative val="0"/>
          <c:dLbls>
            <c:numFmt formatCode="0.0%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900" b="1">
                    <a:solidFill>
                      <a:srgbClr val="252545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Sheet1!$A$8</c:f>
              <c:strCache>
                <c:ptCount val="1"/>
                <c:pt idx="0">
                  <c:v>Workshop V3</c:v>
                </c:pt>
              </c:strCache>
            </c:strRef>
          </c:cat>
          <c:val>
            <c:numRef>
              <c:f>Sheet1!$C$8</c:f>
              <c:numCache>
                <c:formatCode>General</c:formatCode>
                <c:ptCount val="1"/>
                <c:pt idx="0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5F1-4D79-9598-661FC9CC8F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303030303"/>
        <c:axId val="404040404"/>
      </c:barChart>
      <c:catAx>
        <c:axId val="303030303"/>
        <c:scaling>
          <c:orientation val="minMax"/>
        </c:scaling>
        <c:delete val="0"/>
        <c:axPos val="l"/>
        <c:numFmt formatCode="General" sourceLinked="0"/>
        <c:majorTickMark val="cross"/>
        <c:minorTickMark val="cross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252545"/>
                </a:solidFill>
                <a:latin typeface="Calibri"/>
              </a:defRPr>
            </a:pPr>
            <a:endParaRPr lang="en-US"/>
          </a:p>
        </c:txPr>
        <c:crossAx val="404040404"/>
        <c:crosses val="autoZero"/>
        <c:auto val="1"/>
        <c:lblAlgn val="ctr"/>
        <c:lblOffset val="100"/>
        <c:noMultiLvlLbl val="1"/>
      </c:catAx>
      <c:valAx>
        <c:axId val="404040404"/>
        <c:scaling>
          <c:orientation val="minMax"/>
        </c:scaling>
        <c:delete val="0"/>
        <c:axPos val="b"/>
        <c:majorGridlines>
          <c:spPr>
            <a:ln>
              <a:solidFill>
                <a:srgbClr val="E8E6F0"/>
              </a:solidFill>
            </a:ln>
          </c:spPr>
        </c:majorGridlines>
        <c:numFmt formatCode="0.0%" sourceLinked="0"/>
        <c:majorTickMark val="cross"/>
        <c:minorTickMark val="cross"/>
        <c:tickLblPos val="nextTo"/>
        <c:spPr>
          <a:ln>
            <a:solidFill>
              <a:srgbClr val="E8E6F0"/>
            </a:solidFill>
          </a:ln>
        </c:spPr>
        <c:txPr>
          <a:bodyPr/>
          <a:lstStyle/>
          <a:p>
            <a:pPr>
              <a:defRPr sz="900">
                <a:solidFill>
                  <a:srgbClr val="707491"/>
                </a:solidFill>
                <a:latin typeface="Calibri"/>
              </a:defRPr>
            </a:pPr>
            <a:endParaRPr lang="en-US"/>
          </a:p>
        </c:txPr>
        <c:crossAx val="303030303"/>
        <c:crosses val="autoZero"/>
        <c:crossBetween val="between"/>
      </c:valAx>
    </c:plotArea>
    <c:plotVisOnly val="1"/>
    <c:dispBlanksAs val="zero"/>
    <c:showDLblsOverMax val="1"/>
  </c:chart>
  <c:spPr>
    <a:noFill/>
    <a:ln>
      <a:noFill/>
    </a:ln>
  </c:spPr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Sheet1!$B$2</c:f>
              <c:strCache>
                <c:ptCount val="1"/>
                <c:pt idx="0">
                  <c:v>Life OTP</c:v>
                </c:pt>
              </c:strCache>
            </c:strRef>
          </c:tx>
          <c:spPr>
            <a:solidFill>
              <a:srgbClr val="F59E0B"/>
            </a:solidFill>
            <a:ln>
              <a:noFill/>
            </a:ln>
          </c:spPr>
          <c:invertIfNegative val="0"/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900" b="1">
                    <a:solidFill>
                      <a:srgbClr val="252545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Life OTP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096-4D46-843A-6BE3E49D9123}"/>
            </c:ext>
          </c:extLst>
        </c:ser>
        <c:ser>
          <c:idx val="1"/>
          <c:order val="1"/>
          <c:tx>
            <c:strRef>
              <c:f>Sheet1!$B$3</c:f>
              <c:strCache>
                <c:ptCount val="1"/>
                <c:pt idx="0">
                  <c:v>Sales Motor V3</c:v>
                </c:pt>
              </c:strCache>
            </c:strRef>
          </c:tx>
          <c:spPr>
            <a:solidFill>
              <a:srgbClr val="EF4444"/>
            </a:solidFill>
            <a:ln>
              <a:noFill/>
            </a:ln>
          </c:spPr>
          <c:invertIfNegative val="0"/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900" b="1">
                    <a:solidFill>
                      <a:srgbClr val="252545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Sheet1!$A$3</c:f>
              <c:strCache>
                <c:ptCount val="1"/>
                <c:pt idx="0">
                  <c:v>Sales Motor V3</c:v>
                </c:pt>
              </c:strCache>
            </c:strRef>
          </c:cat>
          <c:val>
            <c:numRef>
              <c:f>Sheet1!$C$3</c:f>
              <c:numCache>
                <c:formatCode>General</c:formatCode>
                <c:ptCount val="1"/>
                <c:pt idx="0">
                  <c:v>102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096-4D46-843A-6BE3E49D9123}"/>
            </c:ext>
          </c:extLst>
        </c:ser>
        <c:ser>
          <c:idx val="2"/>
          <c:order val="2"/>
          <c:tx>
            <c:strRef>
              <c:f>Sheet1!$B$4</c:f>
              <c:strCache>
                <c:ptCount val="1"/>
                <c:pt idx="0">
                  <c:v>BFF Web</c:v>
                </c:pt>
              </c:strCache>
            </c:strRef>
          </c:tx>
          <c:spPr>
            <a:solidFill>
              <a:srgbClr val="22C55E"/>
            </a:solidFill>
            <a:ln>
              <a:noFill/>
            </a:ln>
          </c:spPr>
          <c:invertIfNegative val="0"/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900" b="1">
                    <a:solidFill>
                      <a:srgbClr val="252545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Sheet1!$A$4</c:f>
              <c:strCache>
                <c:ptCount val="1"/>
                <c:pt idx="0">
                  <c:v>BFF Web</c:v>
                </c:pt>
              </c:strCache>
            </c:strRef>
          </c:cat>
          <c:val>
            <c:numRef>
              <c:f>Sheet1!$C$4</c:f>
              <c:numCache>
                <c:formatCode>General</c:formatCode>
                <c:ptCount val="1"/>
                <c:pt idx="0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096-4D46-843A-6BE3E49D9123}"/>
            </c:ext>
          </c:extLst>
        </c:ser>
        <c:ser>
          <c:idx val="3"/>
          <c:order val="3"/>
          <c:tx>
            <c:strRef>
              <c:f>Sheet1!$B$5</c:f>
              <c:strCache>
                <c:ptCount val="1"/>
                <c:pt idx="0">
                  <c:v>Visit Visa V3</c:v>
                </c:pt>
              </c:strCache>
            </c:strRef>
          </c:tx>
          <c:spPr>
            <a:solidFill>
              <a:srgbClr val="F59E0B"/>
            </a:solidFill>
            <a:ln>
              <a:noFill/>
            </a:ln>
          </c:spPr>
          <c:invertIfNegative val="0"/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900" b="1">
                    <a:solidFill>
                      <a:srgbClr val="252545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Sheet1!$A$5</c:f>
              <c:strCache>
                <c:ptCount val="1"/>
                <c:pt idx="0">
                  <c:v>Visit Visa V3</c:v>
                </c:pt>
              </c:strCache>
            </c:strRef>
          </c:cat>
          <c:val>
            <c:numRef>
              <c:f>Sheet1!$C$5</c:f>
              <c:numCache>
                <c:formatCode>General</c:formatCode>
                <c:ptCount val="1"/>
                <c:pt idx="0">
                  <c:v>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096-4D46-843A-6BE3E49D9123}"/>
            </c:ext>
          </c:extLst>
        </c:ser>
        <c:ser>
          <c:idx val="4"/>
          <c:order val="4"/>
          <c:tx>
            <c:strRef>
              <c:f>Sheet1!$B$6</c:f>
              <c:strCache>
                <c:ptCount val="1"/>
                <c:pt idx="0">
                  <c:v>Travel Ins V3</c:v>
                </c:pt>
              </c:strCache>
            </c:strRef>
          </c:tx>
          <c:spPr>
            <a:solidFill>
              <a:srgbClr val="EF4444"/>
            </a:solidFill>
            <a:ln>
              <a:noFill/>
            </a:ln>
          </c:spPr>
          <c:invertIfNegative val="0"/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900" b="1">
                    <a:solidFill>
                      <a:srgbClr val="252545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Sheet1!$A$6</c:f>
              <c:strCache>
                <c:ptCount val="1"/>
                <c:pt idx="0">
                  <c:v>Travel Ins V3</c:v>
                </c:pt>
              </c:strCache>
            </c:strRef>
          </c:cat>
          <c:val>
            <c:numRef>
              <c:f>Sheet1!$C$6</c:f>
              <c:numCache>
                <c:formatCode>General</c:formatCode>
                <c:ptCount val="1"/>
                <c:pt idx="0">
                  <c:v>141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096-4D46-843A-6BE3E49D9123}"/>
            </c:ext>
          </c:extLst>
        </c:ser>
        <c:ser>
          <c:idx val="5"/>
          <c:order val="5"/>
          <c:tx>
            <c:strRef>
              <c:f>Sheet1!$B$7</c:f>
              <c:strCache>
                <c:ptCount val="1"/>
                <c:pt idx="0">
                  <c:v>Recovery Portal V3</c:v>
                </c:pt>
              </c:strCache>
            </c:strRef>
          </c:tx>
          <c:spPr>
            <a:solidFill>
              <a:srgbClr val="F59E0B"/>
            </a:solidFill>
            <a:ln>
              <a:noFill/>
            </a:ln>
          </c:spPr>
          <c:invertIfNegative val="0"/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900" b="1">
                    <a:solidFill>
                      <a:srgbClr val="252545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Sheet1!$A$7</c:f>
              <c:strCache>
                <c:ptCount val="1"/>
                <c:pt idx="0">
                  <c:v>Recovery Portal V3</c:v>
                </c:pt>
              </c:strCache>
            </c:strRef>
          </c:cat>
          <c:val>
            <c:numRef>
              <c:f>Sheet1!$C$7</c:f>
              <c:numCache>
                <c:formatCode>General</c:formatCode>
                <c:ptCount val="1"/>
                <c:pt idx="0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8096-4D46-843A-6BE3E49D9123}"/>
            </c:ext>
          </c:extLst>
        </c:ser>
        <c:ser>
          <c:idx val="6"/>
          <c:order val="6"/>
          <c:tx>
            <c:strRef>
              <c:f>Sheet1!$B$8</c:f>
              <c:strCache>
                <c:ptCount val="1"/>
                <c:pt idx="0">
                  <c:v>Workshop V3</c:v>
                </c:pt>
              </c:strCache>
            </c:strRef>
          </c:tx>
          <c:spPr>
            <a:solidFill>
              <a:srgbClr val="F59E0B"/>
            </a:solidFill>
            <a:ln>
              <a:noFill/>
            </a:ln>
          </c:spPr>
          <c:invertIfNegative val="0"/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900" b="1">
                    <a:solidFill>
                      <a:srgbClr val="252545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Sheet1!$A$8</c:f>
              <c:strCache>
                <c:ptCount val="1"/>
                <c:pt idx="0">
                  <c:v>Workshop V3</c:v>
                </c:pt>
              </c:strCache>
            </c:strRef>
          </c:cat>
          <c:val>
            <c:numRef>
              <c:f>Sheet1!$C$8</c:f>
              <c:numCache>
                <c:formatCode>General</c:formatCode>
                <c:ptCount val="1"/>
                <c:pt idx="0">
                  <c:v>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096-4D46-843A-6BE3E49D91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505050505"/>
        <c:axId val="606060606"/>
      </c:barChart>
      <c:catAx>
        <c:axId val="505050505"/>
        <c:scaling>
          <c:orientation val="minMax"/>
        </c:scaling>
        <c:delete val="0"/>
        <c:axPos val="l"/>
        <c:numFmt formatCode="General" sourceLinked="0"/>
        <c:majorTickMark val="cross"/>
        <c:minorTickMark val="cross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252545"/>
                </a:solidFill>
                <a:latin typeface="Calibri"/>
              </a:defRPr>
            </a:pPr>
            <a:endParaRPr lang="en-US"/>
          </a:p>
        </c:txPr>
        <c:crossAx val="606060606"/>
        <c:crosses val="autoZero"/>
        <c:auto val="1"/>
        <c:lblAlgn val="ctr"/>
        <c:lblOffset val="100"/>
        <c:noMultiLvlLbl val="1"/>
      </c:catAx>
      <c:valAx>
        <c:axId val="606060606"/>
        <c:scaling>
          <c:orientation val="minMax"/>
        </c:scaling>
        <c:delete val="0"/>
        <c:axPos val="b"/>
        <c:majorGridlines>
          <c:spPr>
            <a:ln>
              <a:solidFill>
                <a:srgbClr val="E8E6F0"/>
              </a:solidFill>
            </a:ln>
          </c:spPr>
        </c:majorGridlines>
        <c:numFmt formatCode="General" sourceLinked="1"/>
        <c:majorTickMark val="cross"/>
        <c:minorTickMark val="cross"/>
        <c:tickLblPos val="nextTo"/>
        <c:spPr>
          <a:ln>
            <a:solidFill>
              <a:srgbClr val="E8E6F0"/>
            </a:solidFill>
          </a:ln>
        </c:spPr>
        <c:txPr>
          <a:bodyPr/>
          <a:lstStyle/>
          <a:p>
            <a:pPr>
              <a:defRPr sz="900">
                <a:solidFill>
                  <a:srgbClr val="707491"/>
                </a:solidFill>
                <a:latin typeface="Calibri"/>
              </a:defRPr>
            </a:pPr>
            <a:endParaRPr lang="en-US"/>
          </a:p>
        </c:txPr>
        <c:crossAx val="505050505"/>
        <c:crosses val="autoZero"/>
        <c:crossBetween val="between"/>
      </c:valAx>
    </c:plotArea>
    <c:plotVisOnly val="1"/>
    <c:dispBlanksAs val="zero"/>
    <c:showDLblsOverMax val="1"/>
  </c:chart>
  <c:spPr>
    <a:noFill/>
    <a:ln>
      <a:noFill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3302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1.xml"/><Relationship Id="rId4" Type="http://schemas.openxmlformats.org/officeDocument/2006/relationships/chart" Target="../charts/char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E2C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q_unpacked/ppt/media/image3.png"/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8633274" y="3188"/>
            <a:ext cx="3657600" cy="6854812"/>
          </a:xfrm>
          <a:prstGeom prst="rect">
            <a:avLst/>
          </a:prstGeom>
        </p:spPr>
      </p:pic>
      <p:pic>
        <p:nvPicPr>
          <p:cNvPr id="3" name="Image 1" descr="/home/claude/sq_unpacked/ppt/media/imag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20040"/>
            <a:ext cx="2103120" cy="64008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02920" y="2194560"/>
            <a:ext cx="594360" cy="594360"/>
          </a:xfrm>
          <a:prstGeom prst="roundRect">
            <a:avLst>
              <a:gd name="adj" fmla="val 18462"/>
            </a:avLst>
          </a:prstGeom>
          <a:solidFill>
            <a:srgbClr val="6F51EB"/>
          </a:solidFill>
          <a:ln w="12700">
            <a:solidFill>
              <a:srgbClr val="6F51EB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502920" y="2212848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</a:t>
            </a:r>
            <a:endParaRPr lang="en-US" sz="2600" dirty="0"/>
          </a:p>
        </p:txBody>
      </p:sp>
      <p:sp>
        <p:nvSpPr>
          <p:cNvPr id="6" name="Text 2"/>
          <p:cNvSpPr/>
          <p:nvPr/>
        </p:nvSpPr>
        <p:spPr>
          <a:xfrm>
            <a:off x="502920" y="292608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</a:t>
            </a:r>
            <a:endParaRPr lang="en-US" sz="5400" dirty="0"/>
          </a:p>
        </p:txBody>
      </p:sp>
      <p:sp>
        <p:nvSpPr>
          <p:cNvPr id="7" name="Text 3"/>
          <p:cNvSpPr/>
          <p:nvPr/>
        </p:nvSpPr>
        <p:spPr>
          <a:xfrm>
            <a:off x="502920" y="365760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Report</a:t>
            </a:r>
            <a:endParaRPr lang="en-US" sz="5400" dirty="0"/>
          </a:p>
        </p:txBody>
      </p:sp>
      <p:sp>
        <p:nvSpPr>
          <p:cNvPr id="8" name="Shape 4"/>
          <p:cNvSpPr/>
          <p:nvPr/>
        </p:nvSpPr>
        <p:spPr>
          <a:xfrm>
            <a:off x="502920" y="4663440"/>
            <a:ext cx="3657600" cy="0"/>
          </a:xfrm>
          <a:prstGeom prst="line">
            <a:avLst/>
          </a:prstGeom>
          <a:noFill/>
          <a:ln w="19050">
            <a:solidFill>
              <a:srgbClr val="A1A5C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02920" y="4800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Governance &amp; Code Quality Enforcement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502920" y="5486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99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10/06/2026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0" y="653796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Internal</a:t>
            </a:r>
            <a:endParaRPr lang="en-US" sz="1100" dirty="0"/>
          </a:p>
        </p:txBody>
      </p:sp>
      <p:sp>
        <p:nvSpPr>
          <p:cNvPr id="12" name="GTBClassificationH1901434320">
            <a:extLst>
              <a:ext uri="{FF2B5EF4-FFF2-40B4-BE49-F238E27FC236}">
                <a16:creationId xmlns:a16="http://schemas.microsoft.com/office/drawing/2014/main" id="{A2E7C953-E952-5728-5CF1-4A9D202B03CD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</p:spPr>
      </p:sp>
      <p:pic>
        <p:nvPicPr>
          <p:cNvPr id="3" name="Image 0" descr="/home/claude/sq_unpacked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164592"/>
            <a:ext cx="1737360" cy="5212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2011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Implementation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02920" y="65836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State — Before CI/CD Governance &amp; SonarQube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9525">
            <a:solidFill>
              <a:srgbClr val="E8E6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1325880"/>
            <a:ext cx="548640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85800" y="146304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F5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5800" y="1874520"/>
            <a:ext cx="49377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standardized CI/CD governance framework across applications.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 validation was largely manual and inconsistent.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visibility of security, reliability, and maintainability metrics.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enforcement of quality controls before deployment.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 approvals performed without quality gate validation.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naming conventions and release traceability.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63640" y="1325880"/>
            <a:ext cx="548640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537960" y="146304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537960" y="1920240"/>
            <a:ext cx="4937760" cy="548640"/>
          </a:xfrm>
          <a:prstGeom prst="roundRect">
            <a:avLst>
              <a:gd name="adj" fmla="val 13333"/>
            </a:avLst>
          </a:prstGeom>
          <a:solidFill>
            <a:srgbClr val="FFF5F5"/>
          </a:solidFill>
          <a:ln w="6350">
            <a:solidFill>
              <a:srgbClr val="FFD5D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75120" y="195681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deployment risk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675120" y="219456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quality gate blocking bad code from reaching production.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537960" y="2606040"/>
            <a:ext cx="4937760" cy="548640"/>
          </a:xfrm>
          <a:prstGeom prst="roundRect">
            <a:avLst>
              <a:gd name="adj" fmla="val 13333"/>
            </a:avLst>
          </a:prstGeom>
          <a:solidFill>
            <a:srgbClr val="FFF5F5"/>
          </a:solidFill>
          <a:ln w="6350">
            <a:solidFill>
              <a:srgbClr val="FFD5D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75120" y="264261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governance visibility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675120" y="288036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pane to track security, bugs, and code smells.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537960" y="3291840"/>
            <a:ext cx="4937760" cy="548640"/>
          </a:xfrm>
          <a:prstGeom prst="roundRect">
            <a:avLst>
              <a:gd name="adj" fmla="val 13333"/>
            </a:avLst>
          </a:prstGeom>
          <a:solidFill>
            <a:srgbClr val="FFF5F5"/>
          </a:solidFill>
          <a:ln w="6350">
            <a:solidFill>
              <a:srgbClr val="FFD5D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675120" y="332841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defect detection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675120" y="356616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discovered in production rather than during development.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537960" y="3977640"/>
            <a:ext cx="4937760" cy="548640"/>
          </a:xfrm>
          <a:prstGeom prst="roundRect">
            <a:avLst>
              <a:gd name="adj" fmla="val 13333"/>
            </a:avLst>
          </a:prstGeom>
          <a:solidFill>
            <a:srgbClr val="FFF5F5"/>
          </a:solidFill>
          <a:ln w="6350">
            <a:solidFill>
              <a:srgbClr val="FFD5D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675120" y="401421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quality standards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675120" y="425196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team followed its own undocumented process.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537960" y="4663440"/>
            <a:ext cx="4937760" cy="548640"/>
          </a:xfrm>
          <a:prstGeom prst="roundRect">
            <a:avLst>
              <a:gd name="adj" fmla="val 13333"/>
            </a:avLst>
          </a:prstGeom>
          <a:solidFill>
            <a:srgbClr val="FFF5F5"/>
          </a:solidFill>
          <a:ln w="6350">
            <a:solidFill>
              <a:srgbClr val="FFD5D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675120" y="470001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traceability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675120" y="493776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link between requirements, releases, and deployments.</a:t>
            </a:r>
            <a:endParaRPr lang="en-US" sz="1100" dirty="0"/>
          </a:p>
        </p:txBody>
      </p:sp>
      <p:sp>
        <p:nvSpPr>
          <p:cNvPr id="27" name="GTBClassificationH856908150">
            <a:extLst>
              <a:ext uri="{FF2B5EF4-FFF2-40B4-BE49-F238E27FC236}">
                <a16:creationId xmlns:a16="http://schemas.microsoft.com/office/drawing/2014/main" id="{8C24B130-34EB-924F-A2D4-29D835FB10A6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</p:spPr>
      </p:sp>
      <p:pic>
        <p:nvPicPr>
          <p:cNvPr id="3" name="Image 0" descr="/home/claude/sq_unpacked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164592"/>
            <a:ext cx="1737360" cy="5212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2011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Implementation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02920" y="65836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9525">
            <a:solidFill>
              <a:srgbClr val="E8E6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1280160"/>
            <a:ext cx="11338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CI/CD governance, security controls, and quality enforcement across all applications.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11480" y="1828800"/>
            <a:ext cx="370332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76072" y="2011680"/>
            <a:ext cx="475488" cy="475488"/>
          </a:xfrm>
          <a:prstGeom prst="ellipse">
            <a:avLst/>
          </a:prstGeom>
          <a:solidFill>
            <a:srgbClr val="6F51EB"/>
          </a:solidFill>
          <a:ln w="12700">
            <a:solidFill>
              <a:srgbClr val="6F51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6072" y="2011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61288" y="202996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76072" y="2578608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SonarQube Quality Gates across all Java and React CI/CD pipelines.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343400" y="1828800"/>
            <a:ext cx="370332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07992" y="2011680"/>
            <a:ext cx="475488" cy="475488"/>
          </a:xfrm>
          <a:prstGeom prst="ellipse">
            <a:avLst/>
          </a:prstGeom>
          <a:solidFill>
            <a:srgbClr val="6F51EB"/>
          </a:solidFill>
          <a:ln w="12700">
            <a:solidFill>
              <a:srgbClr val="6F51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07992" y="2011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093208" y="202996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Governance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507992" y="2578608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pipeline structure, naming, and deployment controls.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275320" y="1828800"/>
            <a:ext cx="370332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439912" y="2011680"/>
            <a:ext cx="475488" cy="475488"/>
          </a:xfrm>
          <a:prstGeom prst="ellipse">
            <a:avLst/>
          </a:prstGeom>
          <a:solidFill>
            <a:srgbClr val="6F51EB"/>
          </a:solidFill>
          <a:ln w="12700">
            <a:solidFill>
              <a:srgbClr val="6F51E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439912" y="2011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025128" y="202996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 Enforcement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439912" y="2578608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quality through automated gate checks on every build.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11480" y="4069080"/>
            <a:ext cx="370332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76072" y="4251960"/>
            <a:ext cx="475488" cy="475488"/>
          </a:xfrm>
          <a:prstGeom prst="ellipse">
            <a:avLst/>
          </a:prstGeom>
          <a:solidFill>
            <a:srgbClr val="6F51EB"/>
          </a:solidFill>
          <a:ln w="12700">
            <a:solidFill>
              <a:srgbClr val="6F51E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76072" y="4251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161288" y="42702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Secret Scanning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576072" y="4818888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automated security scanning and secret detection in every pipeline run.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343400" y="4069080"/>
            <a:ext cx="370332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507992" y="4251960"/>
            <a:ext cx="475488" cy="475488"/>
          </a:xfrm>
          <a:prstGeom prst="ellipse">
            <a:avLst/>
          </a:prstGeom>
          <a:solidFill>
            <a:srgbClr val="6F51EB"/>
          </a:solidFill>
          <a:ln w="12700">
            <a:solidFill>
              <a:srgbClr val="6F51E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507992" y="4251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5093208" y="42702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Standards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4507992" y="4818888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consistent naming for releases and SonarQube projects.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8275320" y="4069080"/>
            <a:ext cx="370332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8439912" y="4251960"/>
            <a:ext cx="475488" cy="475488"/>
          </a:xfrm>
          <a:prstGeom prst="ellipse">
            <a:avLst/>
          </a:prstGeom>
          <a:solidFill>
            <a:srgbClr val="6F51EB"/>
          </a:solidFill>
          <a:ln w="12700">
            <a:solidFill>
              <a:srgbClr val="6F51E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439912" y="4251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9025128" y="42702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&amp; Compliance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8439912" y="4818888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full traceability from Bitbucket → Jenkins → Deployment and align with ITQMS.</a:t>
            </a:r>
            <a:endParaRPr lang="en-US" sz="1200" dirty="0"/>
          </a:p>
        </p:txBody>
      </p:sp>
      <p:sp>
        <p:nvSpPr>
          <p:cNvPr id="38" name="GTBClassificationH1854486790">
            <a:extLst>
              <a:ext uri="{FF2B5EF4-FFF2-40B4-BE49-F238E27FC236}">
                <a16:creationId xmlns:a16="http://schemas.microsoft.com/office/drawing/2014/main" id="{E8DD599B-40E9-95BA-6FF9-186A80BC67D7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</p:spPr>
      </p:sp>
      <p:pic>
        <p:nvPicPr>
          <p:cNvPr id="3" name="Image 0" descr="/home/claude/sq_unpacked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164592"/>
            <a:ext cx="1737360" cy="5212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2011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Implementation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02920" y="65836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CI/CD Quality Governance Pipeline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9525">
            <a:solidFill>
              <a:srgbClr val="E8E6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1280160"/>
            <a:ext cx="11338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build runs through a single standardized pipeline enforcing security, quality, and coverage at every stage.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11480" y="1920240"/>
            <a:ext cx="1261872" cy="1371600"/>
          </a:xfrm>
          <a:prstGeom prst="roundRect">
            <a:avLst>
              <a:gd name="adj" fmla="val 8696"/>
            </a:avLst>
          </a:prstGeom>
          <a:solidFill>
            <a:srgbClr val="6F51EB"/>
          </a:solidFill>
          <a:ln w="12700">
            <a:solidFill>
              <a:srgbClr val="6F51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11480" y="205740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⬇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11480" y="2578608"/>
            <a:ext cx="1261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700784" y="242316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874520" y="1920240"/>
            <a:ext cx="1261872" cy="1371600"/>
          </a:xfrm>
          <a:prstGeom prst="roundRect">
            <a:avLst>
              <a:gd name="adj" fmla="val 8696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874520" y="205740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🔑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874520" y="2578608"/>
            <a:ext cx="1261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163824" y="242316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3337560" y="1920240"/>
            <a:ext cx="1261872" cy="1371600"/>
          </a:xfrm>
          <a:prstGeom prst="roundRect">
            <a:avLst>
              <a:gd name="adj" fmla="val 869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3337560" y="205740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⚙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3337560" y="2578608"/>
            <a:ext cx="1261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626864" y="242316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4800600" y="1920240"/>
            <a:ext cx="1261872" cy="1371600"/>
          </a:xfrm>
          <a:prstGeom prst="roundRect">
            <a:avLst>
              <a:gd name="adj" fmla="val 869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800600" y="205740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4800600" y="2578608"/>
            <a:ext cx="1261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089904" y="242316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6263640" y="1920240"/>
            <a:ext cx="1261872" cy="1371600"/>
          </a:xfrm>
          <a:prstGeom prst="roundRect">
            <a:avLst>
              <a:gd name="adj" fmla="val 8696"/>
            </a:avLst>
          </a:prstGeom>
          <a:solidFill>
            <a:srgbClr val="3E2C79"/>
          </a:solidFill>
          <a:ln w="12700">
            <a:solidFill>
              <a:srgbClr val="3E2C79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6263640" y="205740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🔍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6263640" y="2578608"/>
            <a:ext cx="1261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552944" y="242316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7726680" y="1920240"/>
            <a:ext cx="1261872" cy="1371600"/>
          </a:xfrm>
          <a:prstGeom prst="roundRect">
            <a:avLst>
              <a:gd name="adj" fmla="val 8696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7726680" y="205740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🚦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7726680" y="2578608"/>
            <a:ext cx="1261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Check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9015984" y="242316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9189720" y="1920240"/>
            <a:ext cx="1261872" cy="1371600"/>
          </a:xfrm>
          <a:prstGeom prst="roundRect">
            <a:avLst>
              <a:gd name="adj" fmla="val 8696"/>
            </a:avLst>
          </a:prstGeom>
          <a:solidFill>
            <a:srgbClr val="6F51EB"/>
          </a:solidFill>
          <a:ln w="12700">
            <a:solidFill>
              <a:srgbClr val="6F51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9189720" y="205740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📦</a:t>
            </a:r>
            <a:endParaRPr lang="en-US" sz="2200" dirty="0"/>
          </a:p>
        </p:txBody>
      </p:sp>
      <p:sp>
        <p:nvSpPr>
          <p:cNvPr id="34" name="Text 31"/>
          <p:cNvSpPr/>
          <p:nvPr/>
        </p:nvSpPr>
        <p:spPr>
          <a:xfrm>
            <a:off x="9189720" y="2578608"/>
            <a:ext cx="1261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10479024" y="242316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6" name="Shape 33"/>
          <p:cNvSpPr/>
          <p:nvPr/>
        </p:nvSpPr>
        <p:spPr>
          <a:xfrm>
            <a:off x="10652760" y="1920240"/>
            <a:ext cx="1261872" cy="1371600"/>
          </a:xfrm>
          <a:prstGeom prst="roundRect">
            <a:avLst>
              <a:gd name="adj" fmla="val 869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10652760" y="205740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🚀</a:t>
            </a:r>
            <a:endParaRPr lang="en-US" sz="2200" dirty="0"/>
          </a:p>
        </p:txBody>
      </p:sp>
      <p:sp>
        <p:nvSpPr>
          <p:cNvPr id="38" name="Text 35"/>
          <p:cNvSpPr/>
          <p:nvPr/>
        </p:nvSpPr>
        <p:spPr>
          <a:xfrm>
            <a:off x="10652760" y="2578608"/>
            <a:ext cx="1261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411480" y="3703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applies across all environments: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411480" y="4069080"/>
            <a:ext cx="1737360" cy="502920"/>
          </a:xfrm>
          <a:prstGeom prst="roundRect">
            <a:avLst>
              <a:gd name="adj" fmla="val 21818"/>
            </a:avLst>
          </a:prstGeom>
          <a:solidFill>
            <a:srgbClr val="DDD8F5"/>
          </a:solidFill>
          <a:ln w="6350">
            <a:solidFill>
              <a:srgbClr val="A1A5C8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11480" y="40690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E2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2148840" y="416052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2377440" y="4069080"/>
            <a:ext cx="1737360" cy="502920"/>
          </a:xfrm>
          <a:prstGeom prst="roundRect">
            <a:avLst>
              <a:gd name="adj" fmla="val 21818"/>
            </a:avLst>
          </a:prstGeom>
          <a:solidFill>
            <a:srgbClr val="DDD8F5"/>
          </a:solidFill>
          <a:ln w="6350">
            <a:solidFill>
              <a:srgbClr val="A1A5C8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2377440" y="40690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E2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4114800" y="416052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6" name="Shape 43"/>
          <p:cNvSpPr/>
          <p:nvPr/>
        </p:nvSpPr>
        <p:spPr>
          <a:xfrm>
            <a:off x="4343400" y="4069080"/>
            <a:ext cx="1737360" cy="502920"/>
          </a:xfrm>
          <a:prstGeom prst="roundRect">
            <a:avLst>
              <a:gd name="adj" fmla="val 21818"/>
            </a:avLst>
          </a:prstGeom>
          <a:solidFill>
            <a:srgbClr val="DDD8F5"/>
          </a:solidFill>
          <a:ln w="6350">
            <a:solidFill>
              <a:srgbClr val="A1A5C8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343400" y="40690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E2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</a:t>
            </a:r>
            <a:endParaRPr lang="en-US" sz="1300" dirty="0"/>
          </a:p>
        </p:txBody>
      </p:sp>
      <p:sp>
        <p:nvSpPr>
          <p:cNvPr id="48" name="Text 45"/>
          <p:cNvSpPr/>
          <p:nvPr/>
        </p:nvSpPr>
        <p:spPr>
          <a:xfrm>
            <a:off x="6080760" y="416052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9" name="Shape 46"/>
          <p:cNvSpPr/>
          <p:nvPr/>
        </p:nvSpPr>
        <p:spPr>
          <a:xfrm>
            <a:off x="6309360" y="4069080"/>
            <a:ext cx="1737360" cy="502920"/>
          </a:xfrm>
          <a:prstGeom prst="roundRect">
            <a:avLst>
              <a:gd name="adj" fmla="val 21818"/>
            </a:avLst>
          </a:prstGeom>
          <a:solidFill>
            <a:srgbClr val="DDD8F5"/>
          </a:solidFill>
          <a:ln w="6350">
            <a:solidFill>
              <a:srgbClr val="A1A5C8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6309360" y="40690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E2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PREPROD</a:t>
            </a:r>
            <a:endParaRPr lang="en-US" sz="1300" dirty="0"/>
          </a:p>
        </p:txBody>
      </p:sp>
      <p:sp>
        <p:nvSpPr>
          <p:cNvPr id="51" name="Text 48"/>
          <p:cNvSpPr/>
          <p:nvPr/>
        </p:nvSpPr>
        <p:spPr>
          <a:xfrm>
            <a:off x="8046720" y="416052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52" name="Shape 49"/>
          <p:cNvSpPr/>
          <p:nvPr/>
        </p:nvSpPr>
        <p:spPr>
          <a:xfrm>
            <a:off x="8275320" y="4069080"/>
            <a:ext cx="1737360" cy="502920"/>
          </a:xfrm>
          <a:prstGeom prst="roundRect">
            <a:avLst>
              <a:gd name="adj" fmla="val 21818"/>
            </a:avLst>
          </a:prstGeom>
          <a:solidFill>
            <a:srgbClr val="3E2C79"/>
          </a:solidFill>
          <a:ln w="6350">
            <a:solidFill>
              <a:srgbClr val="A1A5C8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8275320" y="40690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</a:t>
            </a:r>
            <a:endParaRPr lang="en-US" sz="1300" dirty="0"/>
          </a:p>
        </p:txBody>
      </p:sp>
      <p:sp>
        <p:nvSpPr>
          <p:cNvPr id="54" name="Text 51"/>
          <p:cNvSpPr/>
          <p:nvPr/>
        </p:nvSpPr>
        <p:spPr>
          <a:xfrm>
            <a:off x="411480" y="475488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by Security, Quality &amp; Compliance Controls at Every Stage</a:t>
            </a:r>
            <a:endParaRPr lang="en-US" sz="1200" dirty="0"/>
          </a:p>
        </p:txBody>
      </p:sp>
      <p:sp>
        <p:nvSpPr>
          <p:cNvPr id="55" name="GTBClassificationH931666918">
            <a:extLst>
              <a:ext uri="{FF2B5EF4-FFF2-40B4-BE49-F238E27FC236}">
                <a16:creationId xmlns:a16="http://schemas.microsoft.com/office/drawing/2014/main" id="{1F21EDA6-64E2-7709-B375-C1BD6CF40CC8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</p:spPr>
      </p:sp>
      <p:pic>
        <p:nvPicPr>
          <p:cNvPr id="3" name="Image 0" descr="/home/claude/sq_unpacked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164592"/>
            <a:ext cx="1737360" cy="5212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2011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Implementation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02920" y="65836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Convention Standard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9525">
            <a:solidFill>
              <a:srgbClr val="E8E6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1325880"/>
            <a:ext cx="5349240" cy="512064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85800" y="14630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5800" y="181051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name is aligned only with EPIC Name.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5800" y="21031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85800" y="2395728"/>
            <a:ext cx="4846320" cy="347472"/>
          </a:xfrm>
          <a:prstGeom prst="roundRect">
            <a:avLst>
              <a:gd name="adj" fmla="val 15789"/>
            </a:avLst>
          </a:prstGeom>
          <a:solidFill>
            <a:srgbClr val="FFF0F0"/>
          </a:solidFill>
          <a:ln w="6350">
            <a:solidFill>
              <a:srgbClr val="FFD0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" y="239572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EPIC8033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85800" y="2926080"/>
            <a:ext cx="4846320" cy="0"/>
          </a:xfrm>
          <a:prstGeom prst="line">
            <a:avLst/>
          </a:prstGeom>
          <a:noFill/>
          <a:ln w="9525">
            <a:solidFill>
              <a:srgbClr val="E8E6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5800" y="30175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Release Naming Standard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85800" y="336499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85800" y="3657600"/>
            <a:ext cx="4846320" cy="347472"/>
          </a:xfrm>
          <a:prstGeom prst="roundRect">
            <a:avLst>
              <a:gd name="adj" fmla="val 15789"/>
            </a:avLst>
          </a:prstGeom>
          <a:solidFill>
            <a:srgbClr val="F0F8F0"/>
          </a:solidFill>
          <a:ln w="6350">
            <a:solidFill>
              <a:srgbClr val="C0E8C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5800" y="365760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&lt;EPIC NAME&gt; ⇔ R&lt;Num&gt;-&lt;LOB&gt;-v&lt;Maj.Min.Pat&gt;-&lt;Env&gt;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85800" y="40690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85800" y="4361688"/>
            <a:ext cx="4846320" cy="347472"/>
          </a:xfrm>
          <a:prstGeom prst="roundRect">
            <a:avLst>
              <a:gd name="adj" fmla="val 15789"/>
            </a:avLst>
          </a:prstGeom>
          <a:solidFill>
            <a:srgbClr val="F0F8F0"/>
          </a:solidFill>
          <a:ln w="6350">
            <a:solidFill>
              <a:srgbClr val="C0E8C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85800" y="436168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EPIC8033 ⇔ R25-DXP-v1.0.0-DEV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080760" y="1325880"/>
            <a:ext cx="5669280" cy="2423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355080" y="14630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F5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Project Naming Standard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355080" y="181051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355080" y="2103120"/>
            <a:ext cx="5120640" cy="347472"/>
          </a:xfrm>
          <a:prstGeom prst="roundRect">
            <a:avLst>
              <a:gd name="adj" fmla="val 15789"/>
            </a:avLst>
          </a:prstGeom>
          <a:solidFill>
            <a:srgbClr val="DDD8F5"/>
          </a:solidFill>
          <a:ln w="6350">
            <a:solidFill>
              <a:srgbClr val="A1A5C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355080" y="210312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E2C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&lt;LOB&gt;-&lt;Jenkins Job Name&gt;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355080" y="25146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355080" y="2807208"/>
            <a:ext cx="5120640" cy="347472"/>
          </a:xfrm>
          <a:prstGeom prst="roundRect">
            <a:avLst>
              <a:gd name="adj" fmla="val 15789"/>
            </a:avLst>
          </a:prstGeom>
          <a:solidFill>
            <a:srgbClr val="DDD8F5"/>
          </a:solidFill>
          <a:ln w="6350">
            <a:solidFill>
              <a:srgbClr val="A1A5C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355080" y="280720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E2C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DXP-BFF-AAMAL-ESERVICES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080760" y="3931920"/>
            <a:ext cx="566928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6355080" y="40690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6355080" y="443484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naming across Jenkins and SonarQube.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traceability between EPICs, releases, and applications.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reporting and governance.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portfolio management.</a:t>
            </a:r>
            <a:endParaRPr lang="en-US" sz="1200" dirty="0"/>
          </a:p>
        </p:txBody>
      </p:sp>
      <p:sp>
        <p:nvSpPr>
          <p:cNvPr id="32" name="GTBClassificationH1119846895">
            <a:extLst>
              <a:ext uri="{FF2B5EF4-FFF2-40B4-BE49-F238E27FC236}">
                <a16:creationId xmlns:a16="http://schemas.microsoft.com/office/drawing/2014/main" id="{652F0AFB-93EA-0AAF-1F13-E0A832A11B9B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</p:spPr>
      </p:sp>
      <p:pic>
        <p:nvPicPr>
          <p:cNvPr id="3" name="Image 0" descr="/home/claude/sq_unpacked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164592"/>
            <a:ext cx="1737360" cy="5212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2011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Implementation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02920" y="65836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Decoration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9525">
            <a:solidFill>
              <a:srgbClr val="E8E6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1325880"/>
            <a:ext cx="53492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85800" y="14630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State — Before PR Decoration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5800" y="18288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 could be reviewed and approved without visibility of code quality results. No SonarQube feedback was visible inside Bitbucket.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5800" y="26334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Usage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85800" y="2907792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 for Pull Requests targeting the DEV branch.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SonarQube results directly in Bitbucket PRs.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080760" y="1325880"/>
            <a:ext cx="56692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355080" y="14630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of PR Decoration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355080" y="1828800"/>
            <a:ext cx="51206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feedback to developers on code quality.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merging low-quality code into main branches.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and more informed code review process.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Quality Gates before PR approval.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code review efficiency and governance.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alignment with ITQMS quality controls.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11480" y="374904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PR Decoration Works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11480" y="4206240"/>
            <a:ext cx="1737360" cy="914400"/>
          </a:xfrm>
          <a:prstGeom prst="roundRect">
            <a:avLst>
              <a:gd name="adj" fmla="val 10000"/>
            </a:avLst>
          </a:prstGeom>
          <a:solidFill>
            <a:srgbClr val="6F51EB"/>
          </a:solidFill>
          <a:ln w="12700">
            <a:solidFill>
              <a:srgbClr val="6F51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11480" y="4224528"/>
            <a:ext cx="1737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PR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2148840" y="452628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2377440" y="4206240"/>
            <a:ext cx="1737360" cy="914400"/>
          </a:xfrm>
          <a:prstGeom prst="roundRect">
            <a:avLst>
              <a:gd name="adj" fmla="val 10000"/>
            </a:avLst>
          </a:prstGeom>
          <a:solidFill>
            <a:srgbClr val="3E2C79"/>
          </a:solidFill>
          <a:ln w="12700">
            <a:solidFill>
              <a:srgbClr val="3E2C79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2377440" y="4224528"/>
            <a:ext cx="1737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114800" y="452628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4343400" y="4206240"/>
            <a:ext cx="1737360" cy="914400"/>
          </a:xfrm>
          <a:prstGeom prst="roundRect">
            <a:avLst>
              <a:gd name="adj" fmla="val 10000"/>
            </a:avLst>
          </a:prstGeom>
          <a:solidFill>
            <a:srgbClr val="3E2C79"/>
          </a:solidFill>
          <a:ln w="12700">
            <a:solidFill>
              <a:srgbClr val="3E2C79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4343400" y="4224528"/>
            <a:ext cx="1737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080760" y="452628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309360" y="4206240"/>
            <a:ext cx="1737360" cy="91440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6309360" y="4224528"/>
            <a:ext cx="1737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046720" y="452628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8275320" y="4206240"/>
            <a:ext cx="1737360" cy="914400"/>
          </a:xfrm>
          <a:prstGeom prst="roundRect">
            <a:avLst>
              <a:gd name="adj" fmla="val 100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8275320" y="4224528"/>
            <a:ext cx="1737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Posted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0012680" y="452628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10241280" y="4206240"/>
            <a:ext cx="1737360" cy="91440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10241280" y="4224528"/>
            <a:ext cx="1737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Approved /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1100" dirty="0"/>
          </a:p>
        </p:txBody>
      </p:sp>
      <p:sp>
        <p:nvSpPr>
          <p:cNvPr id="33" name="GTBClassificationH1520665462">
            <a:extLst>
              <a:ext uri="{FF2B5EF4-FFF2-40B4-BE49-F238E27FC236}">
                <a16:creationId xmlns:a16="http://schemas.microsoft.com/office/drawing/2014/main" id="{3EDB3055-B37D-9058-D451-C2FB0BA5B11F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</p:spPr>
      </p:sp>
      <p:pic>
        <p:nvPicPr>
          <p:cNvPr id="3" name="Image 0" descr="/home/claude/sq_unpacked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164592"/>
            <a:ext cx="1737360" cy="5212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2011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Implementation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02920" y="65836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Status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9525">
            <a:solidFill>
              <a:srgbClr val="E8E6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1417320"/>
            <a:ext cx="11338560" cy="457200"/>
          </a:xfrm>
          <a:prstGeom prst="roundRect">
            <a:avLst/>
          </a:prstGeom>
          <a:solidFill>
            <a:srgbClr val="3E2C79"/>
          </a:solidFill>
          <a:ln w="12700">
            <a:solidFill>
              <a:srgbClr val="3E2C7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14173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063240" y="14173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977640" y="1417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Vulnerabilities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40680" y="14173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Smells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675120" y="14173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%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909560" y="1417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Duplication %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372600" y="1417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11480" y="1874520"/>
            <a:ext cx="1133856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8E6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" y="1874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OTP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063240" y="18745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977640" y="1874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440680" y="18745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675120" y="18745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85.6%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909560" y="1874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9372600" y="1874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✓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11480" y="2331720"/>
            <a:ext cx="11338560" cy="457200"/>
          </a:xfrm>
          <a:prstGeom prst="rect">
            <a:avLst/>
          </a:prstGeom>
          <a:solidFill>
            <a:srgbClr val="F7F6FB"/>
          </a:solidFill>
          <a:ln w="5080">
            <a:solidFill>
              <a:srgbClr val="E8E6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2920" y="2331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Motor V3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063240" y="23317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3977640" y="2331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440680" y="23317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675120" y="23317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50.5%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7909560" y="2331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16.2%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9372600" y="2331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✓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411480" y="2788920"/>
            <a:ext cx="1133856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8E6F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02920" y="2788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BFF Web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3063240" y="27889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3977640" y="2788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5440680" y="27889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6675120" y="27889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45.6%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7909560" y="2788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7.5%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9372600" y="2788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✓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411480" y="3246120"/>
            <a:ext cx="11338560" cy="457200"/>
          </a:xfrm>
          <a:prstGeom prst="rect">
            <a:avLst/>
          </a:prstGeom>
          <a:solidFill>
            <a:srgbClr val="F7F6FB"/>
          </a:solidFill>
          <a:ln w="5080">
            <a:solidFill>
              <a:srgbClr val="E8E6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02920" y="3246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Visa V3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3063240" y="32461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3977640" y="3246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5440680" y="32461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6675120" y="32461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55.3%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7909560" y="3246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1.5%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9372600" y="3246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✓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411480" y="3703320"/>
            <a:ext cx="1133856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8E6F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02920" y="37033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Insurance V3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3063240" y="37033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3977640" y="3703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51" name="Text 48"/>
          <p:cNvSpPr/>
          <p:nvPr/>
        </p:nvSpPr>
        <p:spPr>
          <a:xfrm>
            <a:off x="5440680" y="37033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</a:t>
            </a:r>
            <a:endParaRPr lang="en-US" sz="1200" dirty="0"/>
          </a:p>
        </p:txBody>
      </p:sp>
      <p:sp>
        <p:nvSpPr>
          <p:cNvPr id="52" name="Text 49"/>
          <p:cNvSpPr/>
          <p:nvPr/>
        </p:nvSpPr>
        <p:spPr>
          <a:xfrm>
            <a:off x="6675120" y="37033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44.3%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7909560" y="3703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6.9%</a:t>
            </a:r>
            <a:endParaRPr lang="en-US" sz="1200" dirty="0"/>
          </a:p>
        </p:txBody>
      </p:sp>
      <p:sp>
        <p:nvSpPr>
          <p:cNvPr id="54" name="Text 51"/>
          <p:cNvSpPr/>
          <p:nvPr/>
        </p:nvSpPr>
        <p:spPr>
          <a:xfrm>
            <a:off x="9372600" y="3703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✓</a:t>
            </a:r>
            <a:endParaRPr lang="en-US" sz="1200" dirty="0"/>
          </a:p>
        </p:txBody>
      </p:sp>
      <p:sp>
        <p:nvSpPr>
          <p:cNvPr id="55" name="Shape 52"/>
          <p:cNvSpPr/>
          <p:nvPr/>
        </p:nvSpPr>
        <p:spPr>
          <a:xfrm>
            <a:off x="411480" y="4160520"/>
            <a:ext cx="11338560" cy="457200"/>
          </a:xfrm>
          <a:prstGeom prst="rect">
            <a:avLst/>
          </a:prstGeom>
          <a:solidFill>
            <a:srgbClr val="F7F6FB"/>
          </a:solidFill>
          <a:ln w="5080">
            <a:solidFill>
              <a:srgbClr val="E8E6F0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502920" y="4160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Portal V3</a:t>
            </a:r>
            <a:endParaRPr lang="en-US" sz="1200" dirty="0"/>
          </a:p>
        </p:txBody>
      </p:sp>
      <p:sp>
        <p:nvSpPr>
          <p:cNvPr id="57" name="Text 54"/>
          <p:cNvSpPr/>
          <p:nvPr/>
        </p:nvSpPr>
        <p:spPr>
          <a:xfrm>
            <a:off x="3063240" y="41605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58" name="Text 55"/>
          <p:cNvSpPr/>
          <p:nvPr/>
        </p:nvSpPr>
        <p:spPr>
          <a:xfrm>
            <a:off x="3977640" y="4160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59" name="Text 56"/>
          <p:cNvSpPr/>
          <p:nvPr/>
        </p:nvSpPr>
        <p:spPr>
          <a:xfrm>
            <a:off x="5440680" y="41605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200" dirty="0"/>
          </a:p>
        </p:txBody>
      </p:sp>
      <p:sp>
        <p:nvSpPr>
          <p:cNvPr id="60" name="Text 57"/>
          <p:cNvSpPr/>
          <p:nvPr/>
        </p:nvSpPr>
        <p:spPr>
          <a:xfrm>
            <a:off x="6675120" y="41605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42.7%</a:t>
            </a:r>
            <a:endParaRPr lang="en-US" sz="1200" dirty="0"/>
          </a:p>
        </p:txBody>
      </p:sp>
      <p:sp>
        <p:nvSpPr>
          <p:cNvPr id="61" name="Text 58"/>
          <p:cNvSpPr/>
          <p:nvPr/>
        </p:nvSpPr>
        <p:spPr>
          <a:xfrm>
            <a:off x="7909560" y="4160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11.4%</a:t>
            </a:r>
            <a:endParaRPr lang="en-US" sz="1200" dirty="0"/>
          </a:p>
        </p:txBody>
      </p:sp>
      <p:sp>
        <p:nvSpPr>
          <p:cNvPr id="62" name="Text 59"/>
          <p:cNvSpPr/>
          <p:nvPr/>
        </p:nvSpPr>
        <p:spPr>
          <a:xfrm>
            <a:off x="9372600" y="4160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✓</a:t>
            </a:r>
            <a:endParaRPr lang="en-US" sz="1200" dirty="0"/>
          </a:p>
        </p:txBody>
      </p:sp>
      <p:sp>
        <p:nvSpPr>
          <p:cNvPr id="63" name="Shape 60"/>
          <p:cNvSpPr/>
          <p:nvPr/>
        </p:nvSpPr>
        <p:spPr>
          <a:xfrm>
            <a:off x="411480" y="4617720"/>
            <a:ext cx="1133856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8E6F0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502920" y="4617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Portal V3</a:t>
            </a:r>
            <a:endParaRPr lang="en-US" sz="1200" dirty="0"/>
          </a:p>
        </p:txBody>
      </p:sp>
      <p:sp>
        <p:nvSpPr>
          <p:cNvPr id="65" name="Text 62"/>
          <p:cNvSpPr/>
          <p:nvPr/>
        </p:nvSpPr>
        <p:spPr>
          <a:xfrm>
            <a:off x="3063240" y="46177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66" name="Text 63"/>
          <p:cNvSpPr/>
          <p:nvPr/>
        </p:nvSpPr>
        <p:spPr>
          <a:xfrm>
            <a:off x="3977640" y="4617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67" name="Text 64"/>
          <p:cNvSpPr/>
          <p:nvPr/>
        </p:nvSpPr>
        <p:spPr>
          <a:xfrm>
            <a:off x="5440680" y="46177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179</a:t>
            </a:r>
            <a:endParaRPr lang="en-US" sz="1200" dirty="0"/>
          </a:p>
        </p:txBody>
      </p:sp>
      <p:sp>
        <p:nvSpPr>
          <p:cNvPr id="68" name="Text 65"/>
          <p:cNvSpPr/>
          <p:nvPr/>
        </p:nvSpPr>
        <p:spPr>
          <a:xfrm>
            <a:off x="6675120" y="46177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</a:t>
            </a:r>
            <a:endParaRPr lang="en-US" sz="1200" dirty="0"/>
          </a:p>
        </p:txBody>
      </p:sp>
      <p:sp>
        <p:nvSpPr>
          <p:cNvPr id="69" name="Text 66"/>
          <p:cNvSpPr/>
          <p:nvPr/>
        </p:nvSpPr>
        <p:spPr>
          <a:xfrm>
            <a:off x="7909560" y="4617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11.9%</a:t>
            </a:r>
            <a:endParaRPr lang="en-US" sz="1200" dirty="0"/>
          </a:p>
        </p:txBody>
      </p:sp>
      <p:sp>
        <p:nvSpPr>
          <p:cNvPr id="70" name="Text 67"/>
          <p:cNvSpPr/>
          <p:nvPr/>
        </p:nvSpPr>
        <p:spPr>
          <a:xfrm>
            <a:off x="9372600" y="4617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✓</a:t>
            </a:r>
            <a:endParaRPr lang="en-US" sz="1200" dirty="0"/>
          </a:p>
        </p:txBody>
      </p:sp>
      <p:sp>
        <p:nvSpPr>
          <p:cNvPr id="71" name="Text 68"/>
          <p:cNvSpPr/>
          <p:nvPr/>
        </p:nvSpPr>
        <p:spPr>
          <a:xfrm>
            <a:off x="411480" y="4846320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= Passed Quality Gate   |   Coverage threshold: ≥ 40%   |   Duplication threshold: ≤ 20%</a:t>
            </a:r>
            <a:endParaRPr lang="en-US" sz="1100" dirty="0"/>
          </a:p>
        </p:txBody>
      </p:sp>
      <p:sp>
        <p:nvSpPr>
          <p:cNvPr id="72" name="GTBClassificationH1241267316">
            <a:extLst>
              <a:ext uri="{FF2B5EF4-FFF2-40B4-BE49-F238E27FC236}">
                <a16:creationId xmlns:a16="http://schemas.microsoft.com/office/drawing/2014/main" id="{3DB3517B-5F43-759F-5D49-0503A7BCB0B1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</p:spPr>
      </p:sp>
      <p:pic>
        <p:nvPicPr>
          <p:cNvPr id="3" name="Image 0" descr="/home/claude/sq_unpacked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164592"/>
            <a:ext cx="1737360" cy="5212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2011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Implementation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02920" y="65836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Status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9525">
            <a:solidFill>
              <a:srgbClr val="E8E6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132588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94360" y="1463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4360" y="17830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40%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594360" y="23957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Threshold</a:t>
            </a:r>
            <a:endParaRPr lang="en-US" sz="11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3383280" y="1325880"/>
          <a:ext cx="836676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Shape 8"/>
          <p:cNvSpPr/>
          <p:nvPr/>
        </p:nvSpPr>
        <p:spPr>
          <a:xfrm>
            <a:off x="3383280" y="3630168"/>
            <a:ext cx="8366760" cy="0"/>
          </a:xfrm>
          <a:prstGeom prst="line">
            <a:avLst/>
          </a:prstGeom>
          <a:noFill/>
          <a:ln w="19050">
            <a:solidFill>
              <a:srgbClr val="EF4444"/>
            </a:solidFill>
            <a:prstDash val="dash"/>
          </a:ln>
        </p:spPr>
      </p:sp>
      <p:sp>
        <p:nvSpPr>
          <p:cNvPr id="13" name="Text 9"/>
          <p:cNvSpPr/>
          <p:nvPr/>
        </p:nvSpPr>
        <p:spPr>
          <a:xfrm>
            <a:off x="3383280" y="34564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threshold</a:t>
            </a:r>
            <a:endParaRPr lang="en-US" sz="1100" dirty="0"/>
          </a:p>
        </p:txBody>
      </p:sp>
      <p:sp>
        <p:nvSpPr>
          <p:cNvPr id="14" name="GTBClassificationH421523558">
            <a:extLst>
              <a:ext uri="{FF2B5EF4-FFF2-40B4-BE49-F238E27FC236}">
                <a16:creationId xmlns:a16="http://schemas.microsoft.com/office/drawing/2014/main" id="{04CF01F7-1924-009C-9C46-57A4F5B8E4B7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</p:spPr>
      </p:sp>
      <p:pic>
        <p:nvPicPr>
          <p:cNvPr id="3" name="Image 0" descr="/home/claude/sq_unpacked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164592"/>
            <a:ext cx="1737360" cy="5212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2011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Implementation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02920" y="65836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Duplication Status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9525">
            <a:solidFill>
              <a:srgbClr val="E8E6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132588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94360" y="1463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4360" y="17830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20%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594360" y="23957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Threshold</a:t>
            </a:r>
            <a:endParaRPr lang="en-US" sz="11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3383280" y="1325880"/>
          <a:ext cx="836676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Shape 8"/>
          <p:cNvSpPr/>
          <p:nvPr/>
        </p:nvSpPr>
        <p:spPr>
          <a:xfrm>
            <a:off x="3383280" y="2029968"/>
            <a:ext cx="8366760" cy="0"/>
          </a:xfrm>
          <a:prstGeom prst="line">
            <a:avLst/>
          </a:prstGeom>
          <a:noFill/>
          <a:ln w="19050">
            <a:solidFill>
              <a:srgbClr val="EF4444"/>
            </a:solidFill>
            <a:prstDash val="dash"/>
          </a:ln>
        </p:spPr>
      </p:sp>
      <p:sp>
        <p:nvSpPr>
          <p:cNvPr id="13" name="Text 9"/>
          <p:cNvSpPr/>
          <p:nvPr/>
        </p:nvSpPr>
        <p:spPr>
          <a:xfrm>
            <a:off x="3383280" y="18470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threshold</a:t>
            </a:r>
            <a:endParaRPr lang="en-US" sz="1100" dirty="0"/>
          </a:p>
        </p:txBody>
      </p:sp>
      <p:sp>
        <p:nvSpPr>
          <p:cNvPr id="14" name="GTBClassificationH768883221">
            <a:extLst>
              <a:ext uri="{FF2B5EF4-FFF2-40B4-BE49-F238E27FC236}">
                <a16:creationId xmlns:a16="http://schemas.microsoft.com/office/drawing/2014/main" id="{36CA939A-5316-DE54-05A5-18F335BCA0BA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</p:spPr>
      </p:sp>
      <p:pic>
        <p:nvPicPr>
          <p:cNvPr id="3" name="Image 0" descr="/home/claude/sq_unpacked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164592"/>
            <a:ext cx="1737360" cy="5212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2011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Implementation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02920" y="65836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Issues (Bugs) by Project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9525">
            <a:solidFill>
              <a:srgbClr val="E8E6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132588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94360" y="1463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4360" y="17830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6F5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300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594360" y="23957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Bugs Allowed</a:t>
            </a:r>
            <a:endParaRPr lang="en-US" sz="11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3383280" y="1325880"/>
          <a:ext cx="836676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GTBClassificationH1242082137">
            <a:extLst>
              <a:ext uri="{FF2B5EF4-FFF2-40B4-BE49-F238E27FC236}">
                <a16:creationId xmlns:a16="http://schemas.microsoft.com/office/drawing/2014/main" id="{9970028D-F5C7-CF26-BE4B-C7D95017C21A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</p:spPr>
      </p:sp>
      <p:pic>
        <p:nvPicPr>
          <p:cNvPr id="3" name="Image 0" descr="/home/claude/sq_unpacked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164592"/>
            <a:ext cx="1737360" cy="5212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2011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Implementation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02920" y="65836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 Issues (Code Smells) by Project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9525">
            <a:solidFill>
              <a:srgbClr val="E8E6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132588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94360" y="1463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4360" y="17830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6F5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300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594360" y="23957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Code Smells</a:t>
            </a:r>
            <a:endParaRPr lang="en-US" sz="11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3383280" y="1325880"/>
          <a:ext cx="836676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GTBClassificationH1256057719">
            <a:extLst>
              <a:ext uri="{FF2B5EF4-FFF2-40B4-BE49-F238E27FC236}">
                <a16:creationId xmlns:a16="http://schemas.microsoft.com/office/drawing/2014/main" id="{57E576ED-C97A-ABF5-9DF3-A727D423CF47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</p:spPr>
      </p:sp>
      <p:pic>
        <p:nvPicPr>
          <p:cNvPr id="3" name="Image 0" descr="/home/claude/sq_unpacked/ppt/media/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64592"/>
            <a:ext cx="1737360" cy="5212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2011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Implementation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02920" y="65836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Issues (Bugs) — Trend Over Time — All Projects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9525">
            <a:solidFill>
              <a:srgbClr val="E8E6F0"/>
            </a:solidFill>
            <a:prstDash val="solid"/>
          </a:ln>
        </p:spPr>
      </p:sp>
      <p:graphicFrame>
        <p:nvGraphicFramePr>
          <p:cNvPr id="11" name="Chart 0"/>
          <p:cNvGraphicFramePr/>
          <p:nvPr/>
        </p:nvGraphicFramePr>
        <p:xfrm>
          <a:off x="411480" y="1280000"/>
          <a:ext cx="11246040" cy="4937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GTBClassificationH421523558">
            <a:extLst>
              <a:ext uri="{FF2B5EF4-FFF2-40B4-BE49-F238E27FC236}">
                <a16:creationId xmlns:a16="http://schemas.microsoft.com/office/drawing/2014/main" id="{04CF01F7-1924-009C-9C46-57A4F5B8E4B7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</p:spPr>
      </p:sp>
      <p:pic>
        <p:nvPicPr>
          <p:cNvPr id="3" name="Image 0" descr="/home/claude/sq_unpacked/ppt/media/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64592"/>
            <a:ext cx="1737360" cy="5212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2011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Implementation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02920" y="65836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Vulnerabilities — Trend Over Time — All Projects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9525">
            <a:solidFill>
              <a:srgbClr val="E8E6F0"/>
            </a:solidFill>
            <a:prstDash val="solid"/>
          </a:ln>
        </p:spPr>
      </p:sp>
      <p:graphicFrame>
        <p:nvGraphicFramePr>
          <p:cNvPr id="11" name="Chart 0"/>
          <p:cNvGraphicFramePr/>
          <p:nvPr/>
        </p:nvGraphicFramePr>
        <p:xfrm>
          <a:off x="411480" y="1280000"/>
          <a:ext cx="11246040" cy="4937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GTBClassificationH421523558">
            <a:extLst>
              <a:ext uri="{FF2B5EF4-FFF2-40B4-BE49-F238E27FC236}">
                <a16:creationId xmlns:a16="http://schemas.microsoft.com/office/drawing/2014/main" id="{04CF01F7-1924-009C-9C46-57A4F5B8E4B7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</p:spPr>
      </p:sp>
      <p:pic>
        <p:nvPicPr>
          <p:cNvPr id="3" name="Image 0" descr="/home/claude/sq_unpacked/ppt/media/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64592"/>
            <a:ext cx="1737360" cy="5212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2011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Implementation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02920" y="65836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 Issues (Code Smells) — Trend Over Time — All Projects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9525">
            <a:solidFill>
              <a:srgbClr val="E8E6F0"/>
            </a:solidFill>
            <a:prstDash val="solid"/>
          </a:ln>
        </p:spPr>
      </p:sp>
      <p:graphicFrame>
        <p:nvGraphicFramePr>
          <p:cNvPr id="11" name="Chart 0"/>
          <p:cNvGraphicFramePr/>
          <p:nvPr/>
        </p:nvGraphicFramePr>
        <p:xfrm>
          <a:off x="411480" y="1280000"/>
          <a:ext cx="11246040" cy="4937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GTBClassificationH421523558">
            <a:extLst>
              <a:ext uri="{FF2B5EF4-FFF2-40B4-BE49-F238E27FC236}">
                <a16:creationId xmlns:a16="http://schemas.microsoft.com/office/drawing/2014/main" id="{04CF01F7-1924-009C-9C46-57A4F5B8E4B7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</p:spPr>
      </p:sp>
      <p:pic>
        <p:nvPicPr>
          <p:cNvPr id="3" name="Image 0" descr="/home/claude/sq_unpacked/ppt/media/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64592"/>
            <a:ext cx="1737360" cy="5212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2011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Implementation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02920" y="65836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 % — Trend Over Time — All Projects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9525">
            <a:solidFill>
              <a:srgbClr val="E8E6F0"/>
            </a:solidFill>
            <a:prstDash val="solid"/>
          </a:ln>
        </p:spPr>
      </p:sp>
      <p:graphicFrame>
        <p:nvGraphicFramePr>
          <p:cNvPr id="11" name="Chart 0"/>
          <p:cNvGraphicFramePr/>
          <p:nvPr/>
        </p:nvGraphicFramePr>
        <p:xfrm>
          <a:off x="411480" y="1280000"/>
          <a:ext cx="11246040" cy="4937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GTBClassificationH421523558">
            <a:extLst>
              <a:ext uri="{FF2B5EF4-FFF2-40B4-BE49-F238E27FC236}">
                <a16:creationId xmlns:a16="http://schemas.microsoft.com/office/drawing/2014/main" id="{04CF01F7-1924-009C-9C46-57A4F5B8E4B7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ecutive Dashboard"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F0"/>
            </a:solidFill>
          </a:ln>
        </p:spPr>
      </p:sp>
      <p:sp>
        <p:nvSpPr>
          <p:cNvPr id="3" name="clf"/>
          <p:cNvSpPr txBox="1"/>
          <p:nvPr/>
        </p:nvSpPr>
        <p:spPr>
          <a:xfrm>
            <a:off x="0" y="0"/>
            <a:ext cx="12192000" cy="380000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1000" b="1">
                <a:solidFill>
                  <a:srgbClr val="000000">
                    <a:alpha val="60000"/>
                  </a:srgbClr>
                </a:solidFill>
                <a:latin typeface="Calibri"/>
              </a:rPr>
              <a:t>Classification: </a:t>
            </a:r>
            <a:r>
              <a:rPr lang="en-US" sz="1000" b="1">
                <a:solidFill>
                  <a:srgbClr val="6A1B9A">
                    <a:alpha val="70000"/>
                  </a:srgbClr>
                </a:solidFill>
                <a:latin typeface="Calibri"/>
              </a:rPr>
              <a:t>Internal</a:t>
            </a:r>
          </a:p>
        </p:txBody>
      </p:sp>
      <p:pic>
        <p:nvPicPr>
          <p:cNvPr id="4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64592"/>
            <a:ext cx="1737360" cy="521208"/>
          </a:xfrm>
          <a:prstGeom prst="rect">
            <a:avLst/>
          </a:prstGeom>
        </p:spPr>
      </p:pic>
      <p:sp>
        <p:nvSpPr>
          <p:cNvPr id="5" name="title"/>
          <p:cNvSpPr/>
          <p:nvPr/>
        </p:nvSpPr>
        <p:spPr>
          <a:xfrm>
            <a:off x="411480" y="164592"/>
            <a:ext cx="920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buNone/>
            </a:pPr>
            <a:r>
              <a:rPr lang="en-US" sz="2200" b="1" dirty="0">
                <a:solidFill>
                  <a:srgbClr val="252545"/>
                </a:solidFill>
                <a:latin typeface="Calibri"/>
              </a:rPr>
              <a:t>SonarQube Implementation</a:t>
            </a:r>
          </a:p>
        </p:txBody>
      </p:sp>
      <p:sp>
        <p:nvSpPr>
          <p:cNvPr id="6" name="sub"/>
          <p:cNvSpPr/>
          <p:nvPr/>
        </p:nvSpPr>
        <p:spPr>
          <a:xfrm>
            <a:off x="411480" y="630000"/>
            <a:ext cx="920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buNone/>
            </a:pPr>
            <a:r>
              <a:rPr lang="en-US" sz="1400" b="1" dirty="0">
                <a:solidFill>
                  <a:srgbClr val="A1A5C8"/>
                </a:solidFill>
                <a:latin typeface="Calibri"/>
              </a:rPr>
              <a:t>Executive Quality Summary — Latest Scan Results</a:t>
            </a:r>
          </a:p>
        </p:txBody>
      </p:sp>
      <p:sp>
        <p:nvSpPr>
          <p:cNvPr id="7" name="div1"/>
          <p:cNvSpPr/>
          <p:nvPr/>
        </p:nvSpPr>
        <p:spPr>
          <a:xfrm>
            <a:off x="411480" y="1097280"/>
            <a:ext cx="11369160" cy="0"/>
          </a:xfrm>
          <a:prstGeom prst="line">
            <a:avLst/>
          </a:prstGeom>
          <a:noFill/>
          <a:ln w="9525">
            <a:solidFill>
              <a:srgbClr val="E8E6F0"/>
            </a:solidFill>
          </a:ln>
        </p:spPr>
      </p:sp>
      <p:sp>
        <p:nvSpPr>
          <p:cNvPr id="10" name="kpi1bg"/>
          <p:cNvSpPr/>
          <p:nvPr/>
        </p:nvSpPr>
        <p:spPr>
          <a:xfrm>
            <a:off x="411480" y="1188720"/>
            <a:ext cx="256032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8E6F0"/>
            </a:solidFill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kpi1val"/>
          <p:cNvSpPr/>
          <p:nvPr/>
        </p:nvSpPr>
        <p:spPr>
          <a:xfrm>
            <a:off x="411480" y="1230000"/>
            <a:ext cx="2560320" cy="540000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algn="ctr">
              <a:buNone/>
            </a:pPr>
            <a:r>
              <a:rPr lang="en-US" sz="2600" b="1">
                <a:solidFill>
                  <a:srgbClr val="22C55E"/>
                </a:solidFill>
                <a:latin typeface="Calibri"/>
              </a:rPr>
              <a:t>52.4%</a:t>
            </a:r>
          </a:p>
        </p:txBody>
      </p:sp>
      <p:sp>
        <p:nvSpPr>
          <p:cNvPr id="12" name="kpi1lbl"/>
          <p:cNvSpPr/>
          <p:nvPr/>
        </p:nvSpPr>
        <p:spPr>
          <a:xfrm>
            <a:off x="411480" y="1770000"/>
            <a:ext cx="2560320" cy="320040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algn="ctr">
              <a:buNone/>
            </a:pPr>
            <a:r>
              <a:rPr lang="en-US" sz="1000">
                <a:solidFill>
                  <a:srgbClr val="707491"/>
                </a:solidFill>
                <a:latin typeface="Calibri"/>
              </a:rPr>
              <a:t>Avg Coverage</a:t>
            </a:r>
          </a:p>
          <a:p>
            <a:pPr algn="ctr">
              <a:buNone/>
            </a:pPr>
            <a:r>
              <a:rPr lang="en-US" sz="900">
                <a:solidFill>
                  <a:srgbClr val="A1A5C8"/>
                </a:solidFill>
                <a:latin typeface="Calibri"/>
              </a:rPr>
              <a:t>Target ≥ 40%</a:t>
            </a:r>
          </a:p>
        </p:txBody>
      </p:sp>
      <p:sp>
        <p:nvSpPr>
          <p:cNvPr id="13" name="kpi2bg"/>
          <p:cNvSpPr/>
          <p:nvPr/>
        </p:nvSpPr>
        <p:spPr>
          <a:xfrm>
            <a:off x="3200160" y="1188720"/>
            <a:ext cx="256032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8E6F0"/>
            </a:solidFill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kpi2val"/>
          <p:cNvSpPr/>
          <p:nvPr/>
        </p:nvSpPr>
        <p:spPr>
          <a:xfrm>
            <a:off x="3200160" y="1230000"/>
            <a:ext cx="2560320" cy="540000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algn="ctr">
              <a:buNone/>
            </a:pPr>
            <a:r>
              <a:rPr lang="en-US" sz="2600" b="1">
                <a:solidFill>
                  <a:srgbClr val="F59E0B"/>
                </a:solidFill>
                <a:latin typeface="Calibri"/>
              </a:rPr>
              <a:t>7.9%</a:t>
            </a:r>
          </a:p>
        </p:txBody>
      </p:sp>
      <p:sp>
        <p:nvSpPr>
          <p:cNvPr id="15" name="kpi2lbl"/>
          <p:cNvSpPr/>
          <p:nvPr/>
        </p:nvSpPr>
        <p:spPr>
          <a:xfrm>
            <a:off x="3200160" y="1770000"/>
            <a:ext cx="2560320" cy="320040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algn="ctr">
              <a:buNone/>
            </a:pPr>
            <a:r>
              <a:rPr lang="en-US" sz="1000">
                <a:solidFill>
                  <a:srgbClr val="707491"/>
                </a:solidFill>
                <a:latin typeface="Calibri"/>
              </a:rPr>
              <a:t>Avg Duplication</a:t>
            </a:r>
          </a:p>
          <a:p>
            <a:pPr algn="ctr">
              <a:buNone/>
            </a:pPr>
            <a:r>
              <a:rPr lang="en-US" sz="900">
                <a:solidFill>
                  <a:srgbClr val="A1A5C8"/>
                </a:solidFill>
                <a:latin typeface="Calibri"/>
              </a:rPr>
              <a:t>Target ≤ 3%</a:t>
            </a:r>
          </a:p>
        </p:txBody>
      </p:sp>
      <p:sp>
        <p:nvSpPr>
          <p:cNvPr id="16" name="kpi3bg"/>
          <p:cNvSpPr/>
          <p:nvPr/>
        </p:nvSpPr>
        <p:spPr>
          <a:xfrm>
            <a:off x="5988840" y="1188720"/>
            <a:ext cx="256032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8E6F0"/>
            </a:solidFill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kpi3val"/>
          <p:cNvSpPr/>
          <p:nvPr/>
        </p:nvSpPr>
        <p:spPr>
          <a:xfrm>
            <a:off x="5988840" y="1230000"/>
            <a:ext cx="2560320" cy="540000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algn="ctr">
              <a:buNone/>
            </a:pPr>
            <a:r>
              <a:rPr lang="en-US" sz="2600" b="1">
                <a:solidFill>
                  <a:srgbClr val="EF4444"/>
                </a:solidFill>
                <a:latin typeface="Calibri"/>
              </a:rPr>
              <a:t>490</a:t>
            </a:r>
          </a:p>
        </p:txBody>
      </p:sp>
      <p:sp>
        <p:nvSpPr>
          <p:cNvPr id="18" name="kpi3lbl"/>
          <p:cNvSpPr/>
          <p:nvPr/>
        </p:nvSpPr>
        <p:spPr>
          <a:xfrm>
            <a:off x="5988840" y="1770000"/>
            <a:ext cx="2560320" cy="320040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algn="ctr">
              <a:buNone/>
            </a:pPr>
            <a:r>
              <a:rPr lang="en-US" sz="1000">
                <a:solidFill>
                  <a:srgbClr val="707491"/>
                </a:solidFill>
                <a:latin typeface="Calibri"/>
              </a:rPr>
              <a:t>Total Issues</a:t>
            </a:r>
          </a:p>
          <a:p>
            <a:pPr algn="ctr">
              <a:buNone/>
            </a:pPr>
            <a:r>
              <a:rPr lang="en-US" sz="900">
                <a:solidFill>
                  <a:srgbClr val="A1A5C8"/>
                </a:solidFill>
                <a:latin typeface="Calibri"/>
              </a:rPr>
              <a:t>Bugs + Vulns + Smells</a:t>
            </a:r>
          </a:p>
        </p:txBody>
      </p:sp>
      <p:sp>
        <p:nvSpPr>
          <p:cNvPr id="19" name="kpi4bg"/>
          <p:cNvSpPr/>
          <p:nvPr/>
        </p:nvSpPr>
        <p:spPr>
          <a:xfrm>
            <a:off x="8777520" y="1188720"/>
            <a:ext cx="2560320" cy="960120"/>
          </a:xfrm>
          <a:prstGeom prst="roundRect">
            <a:avLst>
              <a:gd name="adj" fmla="val 10000"/>
            </a:avLst>
          </a:prstGeom>
          <a:solidFill>
            <a:srgbClr val="252545"/>
          </a:solidFill>
          <a:ln w="6350">
            <a:solidFill>
              <a:srgbClr val="6A1B9A"/>
            </a:solidFill>
          </a:ln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kpi4val"/>
          <p:cNvSpPr/>
          <p:nvPr/>
        </p:nvSpPr>
        <p:spPr>
          <a:xfrm>
            <a:off x="8777520" y="1230000"/>
            <a:ext cx="2560320" cy="540000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algn="ctr">
              <a:buNone/>
            </a:pPr>
            <a:r>
              <a:rPr lang="en-US" sz="26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1" name="kpi4lbl"/>
          <p:cNvSpPr/>
          <p:nvPr/>
        </p:nvSpPr>
        <p:spPr>
          <a:xfrm>
            <a:off x="8777520" y="1770000"/>
            <a:ext cx="2560320" cy="320040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algn="ctr">
              <a:buNone/>
            </a:pPr>
            <a:r>
              <a:rPr lang="en-US" sz="1000">
                <a:solidFill>
                  <a:srgbClr val="A1A5C8"/>
                </a:solidFill>
                <a:latin typeface="Calibri"/>
              </a:rPr>
              <a:t>Projects Scanned</a:t>
            </a:r>
          </a:p>
          <a:p>
            <a:pPr algn="ctr">
              <a:buNone/>
            </a:pPr>
            <a:r>
              <a:rPr lang="en-US" sz="900">
                <a:solidFill>
                  <a:srgbClr val="707491"/>
                </a:solidFill>
                <a:latin typeface="Calibri"/>
              </a:rPr>
              <a:t>100% QG Compliance</a:t>
            </a:r>
          </a:p>
        </p:txBody>
      </p:sp>
      <p:sp>
        <p:nvSpPr>
          <p:cNvPr id="22" name="leg1dot"/>
          <p:cNvSpPr/>
          <p:nvPr/>
        </p:nvSpPr>
        <p:spPr>
          <a:xfrm>
            <a:off x="411480" y="2200000"/>
            <a:ext cx="180000" cy="1800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23" name="leg1txt"/>
          <p:cNvSpPr/>
          <p:nvPr/>
        </p:nvSpPr>
        <p:spPr>
          <a:xfrm>
            <a:off x="620000" y="2185000"/>
            <a:ext cx="1800000" cy="240000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>
              <a:buNone/>
            </a:pPr>
            <a:r>
              <a:rPr lang="en-US" sz="900">
                <a:solidFill>
                  <a:srgbClr val="252545"/>
                </a:solidFill>
                <a:latin typeface="Calibri"/>
              </a:rPr>
              <a:t>On Target</a:t>
            </a:r>
          </a:p>
        </p:txBody>
      </p:sp>
      <p:sp>
        <p:nvSpPr>
          <p:cNvPr id="24" name="leg2dot"/>
          <p:cNvSpPr/>
          <p:nvPr/>
        </p:nvSpPr>
        <p:spPr>
          <a:xfrm>
            <a:off x="2560000" y="2200000"/>
            <a:ext cx="180000" cy="1800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25" name="leg2txt"/>
          <p:cNvSpPr/>
          <p:nvPr/>
        </p:nvSpPr>
        <p:spPr>
          <a:xfrm>
            <a:off x="2760000" y="2185000"/>
            <a:ext cx="1800000" cy="240000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>
              <a:buNone/>
            </a:pPr>
            <a:r>
              <a:rPr lang="en-US" sz="900">
                <a:solidFill>
                  <a:srgbClr val="252545"/>
                </a:solidFill>
                <a:latin typeface="Calibri"/>
              </a:rPr>
              <a:t>Needs Attention</a:t>
            </a:r>
          </a:p>
        </p:txBody>
      </p:sp>
      <p:sp>
        <p:nvSpPr>
          <p:cNvPr id="26" name="leg3dot"/>
          <p:cNvSpPr/>
          <p:nvPr/>
        </p:nvSpPr>
        <p:spPr>
          <a:xfrm>
            <a:off x="4720000" y="2200000"/>
            <a:ext cx="180000" cy="1800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27" name="leg3txt"/>
          <p:cNvSpPr/>
          <p:nvPr/>
        </p:nvSpPr>
        <p:spPr>
          <a:xfrm>
            <a:off x="4920000" y="2185000"/>
            <a:ext cx="1800000" cy="240000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>
              <a:buNone/>
            </a:pPr>
            <a:r>
              <a:rPr lang="en-US" sz="900">
                <a:solidFill>
                  <a:srgbClr val="252545"/>
                </a:solidFill>
                <a:latin typeface="Calibri"/>
              </a:rPr>
              <a:t>Action Required</a:t>
            </a:r>
          </a:p>
        </p:txBody>
      </p:sp>
      <p:sp>
        <p:nvSpPr>
          <p:cNvPr id="30" name="c1lbl"/>
          <p:cNvSpPr/>
          <p:nvPr/>
        </p:nvSpPr>
        <p:spPr>
          <a:xfrm>
            <a:off x="411480" y="2440000"/>
            <a:ext cx="3657600" cy="300000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algn="ctr">
              <a:buNone/>
            </a:pPr>
            <a:r>
              <a:rPr lang="en-US" sz="1300" b="1">
                <a:solidFill>
                  <a:srgbClr val="252545"/>
                </a:solidFill>
                <a:latin typeface="Calibri"/>
              </a:rPr>
              <a:t>Test Coverage %</a:t>
            </a:r>
          </a:p>
        </p:txBody>
      </p:sp>
      <p:sp>
        <p:nvSpPr>
          <p:cNvPr id="31" name="c1sub"/>
          <p:cNvSpPr/>
          <p:nvPr/>
        </p:nvSpPr>
        <p:spPr>
          <a:xfrm>
            <a:off x="411480" y="2720000"/>
            <a:ext cx="3657600" cy="220000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algn="ctr">
              <a:buNone/>
            </a:pPr>
            <a:r>
              <a:rPr lang="en-US" sz="900" i="1">
                <a:solidFill>
                  <a:srgbClr val="A1A5C8"/>
                </a:solidFill>
                <a:latin typeface="Calibri"/>
              </a:rPr>
              <a:t>Target ≥ 40% | Green = On Track</a:t>
            </a:r>
          </a:p>
        </p:txBody>
      </p:sp>
      <p:graphicFrame>
        <p:nvGraphicFramePr>
          <p:cNvPr id="32" name="ChartCov"/>
          <p:cNvGraphicFramePr/>
          <p:nvPr/>
        </p:nvGraphicFramePr>
        <p:xfrm>
          <a:off x="411480" y="2940000"/>
          <a:ext cx="3657600" cy="3818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3" name="c2lbl"/>
          <p:cNvSpPr/>
          <p:nvPr/>
        </p:nvSpPr>
        <p:spPr>
          <a:xfrm>
            <a:off x="4267200" y="2440000"/>
            <a:ext cx="3657600" cy="300000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algn="ctr">
              <a:buNone/>
            </a:pPr>
            <a:r>
              <a:rPr lang="en-US" sz="1300" b="1">
                <a:solidFill>
                  <a:srgbClr val="252545"/>
                </a:solidFill>
                <a:latin typeface="Calibri"/>
              </a:rPr>
              <a:t>Code Duplication %</a:t>
            </a:r>
          </a:p>
        </p:txBody>
      </p:sp>
      <p:sp>
        <p:nvSpPr>
          <p:cNvPr id="34" name="c2sub"/>
          <p:cNvSpPr/>
          <p:nvPr/>
        </p:nvSpPr>
        <p:spPr>
          <a:xfrm>
            <a:off x="4267200" y="2720000"/>
            <a:ext cx="3657600" cy="220000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algn="ctr">
              <a:buNone/>
            </a:pPr>
            <a:r>
              <a:rPr lang="en-US" sz="900" i="1">
                <a:solidFill>
                  <a:srgbClr val="A1A5C8"/>
                </a:solidFill>
                <a:latin typeface="Calibri"/>
              </a:rPr>
              <a:t>Target ≤ 3% | Red = Action Required</a:t>
            </a:r>
          </a:p>
        </p:txBody>
      </p:sp>
      <p:graphicFrame>
        <p:nvGraphicFramePr>
          <p:cNvPr id="35" name="ChartDup"/>
          <p:cNvGraphicFramePr/>
          <p:nvPr/>
        </p:nvGraphicFramePr>
        <p:xfrm>
          <a:off x="4267200" y="2940000"/>
          <a:ext cx="3657600" cy="3818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6" name="c3lbl"/>
          <p:cNvSpPr/>
          <p:nvPr/>
        </p:nvSpPr>
        <p:spPr>
          <a:xfrm>
            <a:off x="8122920" y="2440000"/>
            <a:ext cx="3657600" cy="300000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algn="ctr">
              <a:buNone/>
            </a:pPr>
            <a:r>
              <a:rPr lang="en-US" sz="1300" b="1">
                <a:solidFill>
                  <a:srgbClr val="252545"/>
                </a:solidFill>
                <a:latin typeface="Calibri"/>
              </a:rPr>
              <a:t>Total Issues</a:t>
            </a:r>
          </a:p>
        </p:txBody>
      </p:sp>
      <p:sp>
        <p:nvSpPr>
          <p:cNvPr id="37" name="c3sub"/>
          <p:cNvSpPr/>
          <p:nvPr/>
        </p:nvSpPr>
        <p:spPr>
          <a:xfrm>
            <a:off x="8122920" y="2720000"/>
            <a:ext cx="3657600" cy="220000"/>
          </a:xfrm>
          <a:prstGeom prst="rect">
            <a:avLst/>
          </a:prstGeom>
          <a:noFill/>
          <a:ln/>
        </p:spPr>
        <p:txBody>
          <a:bodyPr lIns="0" tIns="0" rIns="0" bIns="0" rtlCol="0" anchor="ctr"/>
          <a:lstStyle/>
          <a:p>
            <a:pPr algn="ctr">
              <a:buNone/>
            </a:pPr>
            <a:r>
              <a:rPr lang="en-US" sz="900" i="1">
                <a:solidFill>
                  <a:srgbClr val="A1A5C8"/>
                </a:solidFill>
                <a:latin typeface="Calibri"/>
              </a:rPr>
              <a:t>Bugs + Vulnerabilities + Code Smells</a:t>
            </a:r>
          </a:p>
        </p:txBody>
      </p:sp>
      <p:graphicFrame>
        <p:nvGraphicFramePr>
          <p:cNvPr id="38" name="ChartIss"/>
          <p:cNvGraphicFramePr/>
          <p:nvPr/>
        </p:nvGraphicFramePr>
        <p:xfrm>
          <a:off x="8122920" y="2940000"/>
          <a:ext cx="3657600" cy="3818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</p:spPr>
      </p:sp>
      <p:pic>
        <p:nvPicPr>
          <p:cNvPr id="3" name="Image 0" descr="/home/claude/sq_unpacked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164592"/>
            <a:ext cx="1737360" cy="5212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2011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Implementation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02920" y="65836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Compliance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9525">
            <a:solidFill>
              <a:srgbClr val="E8E6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132588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02920" y="149047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F5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02920" y="19842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91840" y="132588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383280" y="149047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7/7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3383280" y="19842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A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172200" y="132588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263640" y="149047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6263640" y="19842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Vulnerabilities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9052560" y="132588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9144000" y="149047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E2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9144000" y="19842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11480" y="310896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Rating Scale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11480" y="3566160"/>
            <a:ext cx="2194560" cy="914400"/>
          </a:xfrm>
          <a:prstGeom prst="roundRect">
            <a:avLst>
              <a:gd name="adj" fmla="val 120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11480" y="35844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3000" dirty="0"/>
          </a:p>
        </p:txBody>
      </p:sp>
      <p:sp>
        <p:nvSpPr>
          <p:cNvPr id="22" name="Text 19"/>
          <p:cNvSpPr/>
          <p:nvPr/>
        </p:nvSpPr>
        <p:spPr>
          <a:xfrm>
            <a:off x="411480" y="4069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/ very low risk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2788920" y="3566160"/>
            <a:ext cx="2194560" cy="914400"/>
          </a:xfrm>
          <a:prstGeom prst="roundRect">
            <a:avLst>
              <a:gd name="adj" fmla="val 12000"/>
            </a:avLst>
          </a:prstGeom>
          <a:solidFill>
            <a:srgbClr val="86EFAC"/>
          </a:solidFill>
          <a:ln w="12700">
            <a:solidFill>
              <a:srgbClr val="86EFAC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2788920" y="35844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3000" dirty="0"/>
          </a:p>
        </p:txBody>
      </p:sp>
      <p:sp>
        <p:nvSpPr>
          <p:cNvPr id="25" name="Text 22"/>
          <p:cNvSpPr/>
          <p:nvPr/>
        </p:nvSpPr>
        <p:spPr>
          <a:xfrm>
            <a:off x="2788920" y="4069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166360" y="3566160"/>
            <a:ext cx="2194560" cy="914400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5166360" y="35844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3000" dirty="0"/>
          </a:p>
        </p:txBody>
      </p:sp>
      <p:sp>
        <p:nvSpPr>
          <p:cNvPr id="28" name="Text 25"/>
          <p:cNvSpPr/>
          <p:nvPr/>
        </p:nvSpPr>
        <p:spPr>
          <a:xfrm>
            <a:off x="5166360" y="4069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7543800" y="3566160"/>
            <a:ext cx="2194560" cy="914400"/>
          </a:xfrm>
          <a:prstGeom prst="roundRect">
            <a:avLst>
              <a:gd name="adj" fmla="val 12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7543800" y="35844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3000" dirty="0"/>
          </a:p>
        </p:txBody>
      </p:sp>
      <p:sp>
        <p:nvSpPr>
          <p:cNvPr id="31" name="Text 28"/>
          <p:cNvSpPr/>
          <p:nvPr/>
        </p:nvSpPr>
        <p:spPr>
          <a:xfrm>
            <a:off x="7543800" y="4069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9921240" y="3566160"/>
            <a:ext cx="2194560" cy="914400"/>
          </a:xfrm>
          <a:prstGeom prst="roundRect">
            <a:avLst>
              <a:gd name="adj" fmla="val 12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9921240" y="35844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3000" dirty="0"/>
          </a:p>
        </p:txBody>
      </p:sp>
      <p:sp>
        <p:nvSpPr>
          <p:cNvPr id="34" name="Text 31"/>
          <p:cNvSpPr/>
          <p:nvPr/>
        </p:nvSpPr>
        <p:spPr>
          <a:xfrm>
            <a:off x="9921240" y="4069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risk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11480" y="4709160"/>
            <a:ext cx="113385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685800" y="484632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All 7 DXP applications achieved Security Rating A with 0 vulnerabilities detected. 100% Quality Gate compliance maintained across the entire portfolio.</a:t>
            </a:r>
            <a:endParaRPr lang="en-US" sz="1300" dirty="0"/>
          </a:p>
        </p:txBody>
      </p:sp>
      <p:sp>
        <p:nvSpPr>
          <p:cNvPr id="37" name="GTBClassificationH1648324666">
            <a:extLst>
              <a:ext uri="{FF2B5EF4-FFF2-40B4-BE49-F238E27FC236}">
                <a16:creationId xmlns:a16="http://schemas.microsoft.com/office/drawing/2014/main" id="{7BAAC6E8-3579-2091-1513-8303684B760A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</p:spPr>
      </p:sp>
      <p:pic>
        <p:nvPicPr>
          <p:cNvPr id="3" name="Image 0" descr="/home/claude/sq_unpacked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164592"/>
            <a:ext cx="1737360" cy="5212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2011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Implementation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02920" y="65836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Summary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9525">
            <a:solidFill>
              <a:srgbClr val="E8E6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1325880"/>
            <a:ext cx="113385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85800" y="146304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total of </a:t>
            </a:r>
            <a:r>
              <a:rPr lang="en-US" sz="1300" b="1" dirty="0">
                <a:solidFill>
                  <a:srgbClr val="6F5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DXP applications</a:t>
            </a:r>
            <a:r>
              <a:rPr lang="en-US" sz="13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were successfully onboarded to SonarQube, achieving </a:t>
            </a: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Quality Gate compliance</a:t>
            </a:r>
            <a:r>
              <a:rPr lang="en-US" sz="13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across the portfolio. All applications achieved </a:t>
            </a: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Rating A</a:t>
            </a:r>
            <a:r>
              <a:rPr lang="en-US" sz="13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 Rating A</a:t>
            </a:r>
            <a:r>
              <a:rPr lang="en-US" sz="13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Reliability remains the main improvement area — </a:t>
            </a: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of 7 applications rated C</a:t>
            </a:r>
            <a:r>
              <a:rPr lang="en-US" sz="13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due to identified software defects. Overall test coverage exceeded the 40% governance target.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1480" y="3063240"/>
            <a:ext cx="11338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11480" y="3520440"/>
            <a:ext cx="2743200" cy="1005840"/>
          </a:xfrm>
          <a:prstGeom prst="roundRect">
            <a:avLst>
              <a:gd name="adj" fmla="val 10909"/>
            </a:avLst>
          </a:prstGeom>
          <a:solidFill>
            <a:srgbClr val="F0FDF4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21208" y="377647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914400" y="3630168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applications onboarded successfully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355848" y="3520440"/>
            <a:ext cx="2743200" cy="1005840"/>
          </a:xfrm>
          <a:prstGeom prst="roundRect">
            <a:avLst>
              <a:gd name="adj" fmla="val 10909"/>
            </a:avLst>
          </a:prstGeom>
          <a:solidFill>
            <a:srgbClr val="F0FDF4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465576" y="377647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3858768" y="3630168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Quality Gate compliance achieved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300216" y="3520440"/>
            <a:ext cx="2743200" cy="1005840"/>
          </a:xfrm>
          <a:prstGeom prst="roundRect">
            <a:avLst>
              <a:gd name="adj" fmla="val 10909"/>
            </a:avLst>
          </a:prstGeom>
          <a:solidFill>
            <a:srgbClr val="F0FDF4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409944" y="377647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6803136" y="3630168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Security Rating A across all apps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9244584" y="3520440"/>
            <a:ext cx="2743200" cy="1005840"/>
          </a:xfrm>
          <a:prstGeom prst="roundRect">
            <a:avLst>
              <a:gd name="adj" fmla="val 10909"/>
            </a:avLst>
          </a:prstGeom>
          <a:solidFill>
            <a:srgbClr val="F0FDF4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9354312" y="377647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9747504" y="3630168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Maintainability Rating A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11480" y="4709160"/>
            <a:ext cx="2743200" cy="1005840"/>
          </a:xfrm>
          <a:prstGeom prst="roundRect">
            <a:avLst>
              <a:gd name="adj" fmla="val 10909"/>
            </a:avLst>
          </a:prstGeom>
          <a:solidFill>
            <a:srgbClr val="FFFBEB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521208" y="496519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⚠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914400" y="4818888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improvements needed in 5 apps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355848" y="4709160"/>
            <a:ext cx="2743200" cy="1005840"/>
          </a:xfrm>
          <a:prstGeom prst="roundRect">
            <a:avLst>
              <a:gd name="adj" fmla="val 10909"/>
            </a:avLst>
          </a:prstGeom>
          <a:solidFill>
            <a:srgbClr val="FFFBEB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3465576" y="496519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⚠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3858768" y="4818888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OTP &amp; Travel Insurance — highest bug count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300216" y="4709160"/>
            <a:ext cx="2743200" cy="1005840"/>
          </a:xfrm>
          <a:prstGeom prst="roundRect">
            <a:avLst>
              <a:gd name="adj" fmla="val 10909"/>
            </a:avLst>
          </a:prstGeom>
          <a:solidFill>
            <a:srgbClr val="FFFBEB"/>
          </a:solidFill>
          <a:ln w="6350">
            <a:solidFill>
              <a:srgbClr val="E8E6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6409944" y="496519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⚠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6803136" y="4818888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Portal V3 — highest technical debt</a:t>
            </a:r>
            <a:endParaRPr lang="en-US" sz="1100" dirty="0"/>
          </a:p>
        </p:txBody>
      </p:sp>
      <p:sp>
        <p:nvSpPr>
          <p:cNvPr id="31" name="GTBClassificationH1795811893">
            <a:extLst>
              <a:ext uri="{FF2B5EF4-FFF2-40B4-BE49-F238E27FC236}">
                <a16:creationId xmlns:a16="http://schemas.microsoft.com/office/drawing/2014/main" id="{B759AADC-FB62-7787-200D-CA87B341904A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E2C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/home/claude/sq_unpacked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20040"/>
            <a:ext cx="2103120" cy="6400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2920" y="21945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</a:t>
            </a:r>
            <a:endParaRPr lang="en-US" sz="7200" dirty="0"/>
          </a:p>
        </p:txBody>
      </p:sp>
      <p:sp>
        <p:nvSpPr>
          <p:cNvPr id="5" name="Text 1"/>
          <p:cNvSpPr/>
          <p:nvPr/>
        </p:nvSpPr>
        <p:spPr>
          <a:xfrm>
            <a:off x="502920" y="315468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C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You.</a:t>
            </a:r>
            <a:endParaRPr lang="en-US" sz="7200" dirty="0"/>
          </a:p>
        </p:txBody>
      </p:sp>
      <p:sp>
        <p:nvSpPr>
          <p:cNvPr id="6" name="Shape 2"/>
          <p:cNvSpPr/>
          <p:nvPr/>
        </p:nvSpPr>
        <p:spPr>
          <a:xfrm>
            <a:off x="502920" y="4389120"/>
            <a:ext cx="3200400" cy="0"/>
          </a:xfrm>
          <a:prstGeom prst="line">
            <a:avLst/>
          </a:prstGeom>
          <a:noFill/>
          <a:ln w="19050">
            <a:solidFill>
              <a:srgbClr val="A1A5C8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02920" y="45720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dirty="0">
                <a:solidFill>
                  <a:srgbClr val="A09A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the Technology &amp; Digital</a:t>
            </a:r>
            <a:endParaRPr lang="en-US" sz="15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500" dirty="0">
                <a:solidFill>
                  <a:srgbClr val="A09A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Next Level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0" y="653796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Internal</a:t>
            </a:r>
            <a:endParaRPr lang="en-US" sz="1100" dirty="0"/>
          </a:p>
        </p:txBody>
      </p:sp>
      <p:sp>
        <p:nvSpPr>
          <p:cNvPr id="9" name="GTBClassificationH774228365">
            <a:extLst>
              <a:ext uri="{FF2B5EF4-FFF2-40B4-BE49-F238E27FC236}">
                <a16:creationId xmlns:a16="http://schemas.microsoft.com/office/drawing/2014/main" id="{4ECB2CC6-9E86-CC36-4E97-8C84EEC18A05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  <p:pic>
        <p:nvPicPr>
          <p:cNvPr id="10" name="Image 0" descr="/home/claude/sq_unpacked/ppt/media/image3.png">
            <a:extLst>
              <a:ext uri="{FF2B5EF4-FFF2-40B4-BE49-F238E27FC236}">
                <a16:creationId xmlns:a16="http://schemas.microsoft.com/office/drawing/2014/main" id="{89FB609C-5F90-B62E-48A4-FBF03FDCCB0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>
            <a:off x="8633274" y="3188"/>
            <a:ext cx="3657600" cy="68548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GTBClassification>
  <attrValue xml:space="preserve">Internal</attrValue>
  <customPropName>Classification</customPropName>
  <timestamp>25/12/47 09:01:24 ص</timestamp>
  <userName>TAWN\VDR000691</userName>
  <computerName>LTHQISD-A2Y480.TAWN.COM</computerName>
  <guid>{3cf226fd-977f-4f64-afba-6138625039f0}</guid>
  <hdr>
    <r>
      <fontName>arial</fontName>
      <fontColor>000000</fontColor>
      <fontSize>14</fontSize>
      <b/>
      <text xml:space="preserve">Classification:</text>
    </r>
    <r>
      <fontName>arial</fontName>
      <fontColor>000000</fontColor>
      <fontSize>14</fontSize>
      <text xml:space="preserve"/>
    </r>
    <r>
      <fontName>arial</fontName>
      <fontColor>6A1B9A</fontColor>
      <fontSize>14</fontSize>
      <b/>
      <text xml:space="preserve">Internal</text>
    </r>
  </hdr>
</GTBClassification>
</file>

<file path=customXml/itemProps1.xml><?xml version="1.0" encoding="utf-8"?>
<ds:datastoreItem xmlns:ds="http://schemas.openxmlformats.org/officeDocument/2006/customXml" ds:itemID="{FA061271-52FD-4FCC-893A-04B44A8473E8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1144</Words>
  <Application>Microsoft Office PowerPoint</Application>
  <PresentationFormat>Widescreen</PresentationFormat>
  <Paragraphs>338</Paragraphs>
  <Slides>19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Arial</vt:lpstr>
      <vt:lpstr>Calibri</vt:lpstr>
      <vt:lpstr>Courier New</vt:lpstr>
      <vt:lpstr>Segoe UI Emoji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keywords>ClassificationData:&lt;Classification:Internal&gt;</cp:keywords>
  <cp:lastModifiedBy>Mohamed Elarief</cp:lastModifiedBy>
  <cp:revision>4</cp:revision>
  <dcterms:created xsi:type="dcterms:W3CDTF">2026-06-11T05:56:32Z</dcterms:created>
  <dcterms:modified xsi:type="dcterms:W3CDTF">2026-07-01T11:00:45Z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">
    <vt:lpwstr>Internal</vt:lpwstr>
  </property>
  <property fmtid="{D5CDD505-2E9C-101B-9397-08002B2CF9AE}" pid="3" name="ClassifiedBy">
    <vt:lpwstr>TAWN\VDR000691</vt:lpwstr>
  </property>
  <property fmtid="{D5CDD505-2E9C-101B-9397-08002B2CF9AE}" pid="4" name="ClassificationHost">
    <vt:lpwstr>LTHQISD-A2Y480.TAWN.COM</vt:lpwstr>
  </property>
  <property fmtid="{D5CDD505-2E9C-101B-9397-08002B2CF9AE}" pid="5" name="ClassificationDate">
    <vt:lpwstr>25/12/47 09:01:24 ص</vt:lpwstr>
  </property>
  <property fmtid="{D5CDD505-2E9C-101B-9397-08002B2CF9AE}" pid="6" name="ClassificationGUID">
    <vt:lpwstr>{3cf226fd-977f-4f64-afba-6138625039f0}</vt:lpwstr>
  </property>
</Properties>
</file>